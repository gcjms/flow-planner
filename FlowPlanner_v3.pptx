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6.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package/2006/relationships/metadata/thumbnail" Target="docProps/thumbnail.jpeg"/><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16776654" r:id="rId3"/>
    <p:sldId id="400" r:id="rId5"/>
    <p:sldId id="16774727" r:id="rId6"/>
    <p:sldId id="16776740" r:id="rId7"/>
    <p:sldId id="16776714" r:id="rId8"/>
    <p:sldId id="16776716" r:id="rId9"/>
    <p:sldId id="16776720" r:id="rId10"/>
    <p:sldId id="16776717" r:id="rId11"/>
    <p:sldId id="16776723" r:id="rId12"/>
    <p:sldId id="16776761" r:id="rId13"/>
    <p:sldId id="16776762" r:id="rId14"/>
    <p:sldId id="16776766" r:id="rId15"/>
    <p:sldId id="16776725" r:id="rId16"/>
    <p:sldId id="16776767" r:id="rId44"/>
    <p:sldId id="16776726" r:id="rId17"/>
    <p:sldId id="16776727" r:id="rId18"/>
    <p:sldId id="16776764" r:id="rId19"/>
    <p:sldId id="16776765" r:id="rId20"/>
    <p:sldId id="16776758" r:id="rId21"/>
    <p:sldId id="16776763" r:id="rId22"/>
    <p:sldId id="16776756" r:id="rId23"/>
    <p:sldId id="16776752" r:id="rId24"/>
    <p:sldId id="16776755" r:id="rId25"/>
    <p:sldId id="16776753" r:id="rId26"/>
    <p:sldId id="16776741" r:id="rId27"/>
    <p:sldId id="16776746" r:id="rId28"/>
    <p:sldId id="16776749" r:id="rId29"/>
    <p:sldId id="16776748" r:id="rId30"/>
    <p:sldId id="16776742" r:id="rId31"/>
    <p:sldId id="16776750" r:id="rId32"/>
    <p:sldId id="16776744" r:id="rId33"/>
    <p:sldId id="16776757" r:id="rId34"/>
  </p:sldIdLst>
  <p:sldSz cx="10969625" cy="6170295"/>
  <p:notesSz cx="6858000" cy="9144000"/>
  <p:custDataLst>
    <p:tags r:id="rId43"/>
  </p:custDataLst>
  <p:defaultTextStyle>
    <a:defPPr>
      <a:defRPr lang="de-DE"/>
    </a:defPPr>
    <a:lvl1pPr algn="l" rtl="0" fontAlgn="base">
      <a:spcBef>
        <a:spcPct val="0"/>
      </a:spcBef>
      <a:spcAft>
        <a:spcPct val="0"/>
      </a:spcAft>
      <a:defRPr kern="1200">
        <a:solidFill>
          <a:schemeClr val="tx1"/>
        </a:solidFill>
        <a:latin typeface="Bosch Office Sans" pitchFamily="34" charset="0"/>
        <a:ea typeface="+mn-ea"/>
        <a:cs typeface="+mn-cs"/>
      </a:defRPr>
    </a:lvl1pPr>
    <a:lvl2pPr marL="410845" algn="l" rtl="0" fontAlgn="base">
      <a:spcBef>
        <a:spcPct val="0"/>
      </a:spcBef>
      <a:spcAft>
        <a:spcPct val="0"/>
      </a:spcAft>
      <a:defRPr kern="1200">
        <a:solidFill>
          <a:schemeClr val="tx1"/>
        </a:solidFill>
        <a:latin typeface="Bosch Office Sans" pitchFamily="34" charset="0"/>
        <a:ea typeface="+mn-ea"/>
        <a:cs typeface="+mn-cs"/>
      </a:defRPr>
    </a:lvl2pPr>
    <a:lvl3pPr marL="822325" algn="l" rtl="0" fontAlgn="base">
      <a:spcBef>
        <a:spcPct val="0"/>
      </a:spcBef>
      <a:spcAft>
        <a:spcPct val="0"/>
      </a:spcAft>
      <a:defRPr kern="1200">
        <a:solidFill>
          <a:schemeClr val="tx1"/>
        </a:solidFill>
        <a:latin typeface="Bosch Office Sans" pitchFamily="34" charset="0"/>
        <a:ea typeface="+mn-ea"/>
        <a:cs typeface="+mn-cs"/>
      </a:defRPr>
    </a:lvl3pPr>
    <a:lvl4pPr marL="1233170" algn="l" rtl="0" fontAlgn="base">
      <a:spcBef>
        <a:spcPct val="0"/>
      </a:spcBef>
      <a:spcAft>
        <a:spcPct val="0"/>
      </a:spcAft>
      <a:defRPr kern="1200">
        <a:solidFill>
          <a:schemeClr val="tx1"/>
        </a:solidFill>
        <a:latin typeface="Bosch Office Sans" pitchFamily="34" charset="0"/>
        <a:ea typeface="+mn-ea"/>
        <a:cs typeface="+mn-cs"/>
      </a:defRPr>
    </a:lvl4pPr>
    <a:lvl5pPr marL="1644650" algn="l" rtl="0" fontAlgn="base">
      <a:spcBef>
        <a:spcPct val="0"/>
      </a:spcBef>
      <a:spcAft>
        <a:spcPct val="0"/>
      </a:spcAft>
      <a:defRPr kern="1200">
        <a:solidFill>
          <a:schemeClr val="tx1"/>
        </a:solidFill>
        <a:latin typeface="Bosch Office Sans" pitchFamily="34" charset="0"/>
        <a:ea typeface="+mn-ea"/>
        <a:cs typeface="+mn-cs"/>
      </a:defRPr>
    </a:lvl5pPr>
    <a:lvl6pPr marL="2055495" algn="l" defTabSz="822325" rtl="0" eaLnBrk="1" latinLnBrk="0" hangingPunct="1">
      <a:defRPr kern="1200">
        <a:solidFill>
          <a:schemeClr val="tx1"/>
        </a:solidFill>
        <a:latin typeface="Bosch Office Sans" pitchFamily="34" charset="0"/>
        <a:ea typeface="+mn-ea"/>
        <a:cs typeface="+mn-cs"/>
      </a:defRPr>
    </a:lvl6pPr>
    <a:lvl7pPr marL="2466975" algn="l" defTabSz="822325" rtl="0" eaLnBrk="1" latinLnBrk="0" hangingPunct="1">
      <a:defRPr kern="1200">
        <a:solidFill>
          <a:schemeClr val="tx1"/>
        </a:solidFill>
        <a:latin typeface="Bosch Office Sans" pitchFamily="34" charset="0"/>
        <a:ea typeface="+mn-ea"/>
        <a:cs typeface="+mn-cs"/>
      </a:defRPr>
    </a:lvl7pPr>
    <a:lvl8pPr marL="2877820" algn="l" defTabSz="822325" rtl="0" eaLnBrk="1" latinLnBrk="0" hangingPunct="1">
      <a:defRPr kern="1200">
        <a:solidFill>
          <a:schemeClr val="tx1"/>
        </a:solidFill>
        <a:latin typeface="Bosch Office Sans" pitchFamily="34" charset="0"/>
        <a:ea typeface="+mn-ea"/>
        <a:cs typeface="+mn-cs"/>
      </a:defRPr>
    </a:lvl8pPr>
    <a:lvl9pPr marL="3289300" algn="l" defTabSz="822325" rtl="0" eaLnBrk="1" latinLnBrk="0" hangingPunct="1">
      <a:defRPr kern="1200">
        <a:solidFill>
          <a:schemeClr val="tx1"/>
        </a:solidFill>
        <a:latin typeface="Bosch Office Sans" pitchFamily="3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0F0"/>
    <a:srgbClr val="00FF00"/>
    <a:srgbClr val="004975"/>
    <a:srgbClr val="BFE8FF"/>
    <a:srgbClr val="B0E1FF"/>
    <a:srgbClr val="EDEDED"/>
    <a:srgbClr val="D6DB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0" d="100"/>
          <a:sy n="100" d="100"/>
        </p:scale>
        <p:origin x="37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ableStyles" Target="tableStyles.xml"/><Relationship Id="rId38" Type="http://schemas.openxmlformats.org/officeDocument/2006/relationships/customXml" Target="../customXml/item1.xml"/><Relationship Id="rId39" Type="http://schemas.openxmlformats.org/officeDocument/2006/relationships/customXml" Target="../customXml/item2.xml"/><Relationship Id="rId40" Type="http://schemas.openxmlformats.org/officeDocument/2006/relationships/customXml" Target="../customXml/item3.xml"/><Relationship Id="rId41" Type="http://schemas.openxmlformats.org/officeDocument/2006/relationships/customXml" Target="../customXml/item4.xml"/><Relationship Id="rId42" Type="http://schemas.openxmlformats.org/officeDocument/2006/relationships/customXml" Target="../customXml/item5.xml"/><Relationship Id="rId43" Type="http://schemas.openxmlformats.org/officeDocument/2006/relationships/tags" Target="tags/tag6.xml"/><Relationship Id="rId44"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007911F-CEAF-4F0B-98BD-EFB38C6572AA}" type="datetimeFigureOut">
              <a:rPr lang="de-DE" smtClean="0"/>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endParaRPr lang="de-DE"/>
          </a:p>
          <a:p>
            <a:pPr lvl="1"/>
            <a:r>
              <a:rPr lang="de-DE"/>
              <a:t>Zweite Ebene</a:t>
            </a:r>
            <a:endParaRPr lang="de-DE"/>
          </a:p>
          <a:p>
            <a:pPr lvl="2"/>
            <a:r>
              <a:rPr lang="de-DE"/>
              <a:t>Dritte Ebene</a:t>
            </a:r>
            <a:endParaRPr lang="de-DE"/>
          </a:p>
          <a:p>
            <a:pPr lvl="3"/>
            <a:r>
              <a:rPr lang="de-DE"/>
              <a:t>Vierte Ebene</a:t>
            </a:r>
            <a:endParaRPr lang="de-DE"/>
          </a:p>
          <a:p>
            <a:pPr lvl="4"/>
            <a:r>
              <a:rPr lang="de-DE"/>
              <a:t>Fünfte Ebene</a:t>
            </a:r>
            <a:endParaRPr lang="de-DE"/>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2D48B2-9EB0-4B37-9B35-FC11E2EA535A}" type="slidenum">
              <a:rPr lang="de-DE" smtClean="0"/>
            </a:fld>
            <a:endParaRPr lang="de-D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t>[~30秒] 各位领导、各位同事，大家好。我是来自BCSC/EPA的高超。</a:t>
            </a:r>
            <a:br/>
            <a:br/>
            <a:r>
              <a:t>今天给大家汇报的项目叫Flow Planner，全称是"基于安全引导的自适应流匹配自动驾驶规划方案"。</a:t>
            </a:r>
            <a:br/>
            <a:br/>
            <a:r>
              <a:t>听起来名字很长，但核心做的事情很直白：我们要用最新一代的生成式AI技术来做自动驾驶的轨迹规划——也就是让车自己决定接下来怎么走。而且不只是做到学术上paper好看，还要能真正部署到车上。</a:t>
            </a:r>
            <a:br/>
            <a:br/>
            <a:r>
              <a:t>今天的汇报大约20分钟，我会先讲技术背景，帮大家建立直觉；然后介绍我们的技术方案和三个创新点；最后展示价值和资源需求。</a:t>
            </a:r>
            <a:endParaRPr lang="en-US"/>
          </a:p>
        </p:txBody>
      </p:sp>
      <p:sp>
        <p:nvSpPr>
          <p:cNvPr id="4" name="灯片编号占位符 3"/>
          <p:cNvSpPr>
            <a:spLocks noGrp="1"/>
          </p:cNvSpPr>
          <p:nvPr>
            <p:ph type="sldNum" sz="quarter" idx="5"/>
          </p:nvPr>
        </p:nvSpPr>
        <p:spPr/>
        <p:txBody>
          <a:bodyPr/>
          <a:lstStyle/>
          <a:p>
            <a:fld id="{492D48B2-9EB0-4B37-9B35-FC11E2EA535A}" type="slidenum">
              <a:rPr lang="de-DE" smtClean="0"/>
            </a:fld>
            <a:endParaRPr lang="de-D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[~10秒] 这是今天的提纲，共四个部分。我们先从技术背景开始。</a:t>
            </a:r>
            <a:endParaRPr lang="en-US"/>
          </a:p>
        </p:txBody>
      </p:sp>
      <p:sp>
        <p:nvSpPr>
          <p:cNvPr id="4" name="Slide Number Placeholder 3"/>
          <p:cNvSpPr>
            <a:spLocks noGrp="1"/>
          </p:cNvSpPr>
          <p:nvPr>
            <p:ph type="sldNum" sz="quarter" idx="5"/>
          </p:nvPr>
        </p:nvSpPr>
        <p:spPr/>
        <p:txBody>
          <a:bodyPr/>
          <a:lstStyle/>
          <a:p>
            <a:fld id="{492D48B2-9EB0-4B37-9B35-FC11E2EA535A}" type="slidenum">
              <a:rPr lang="de-DE" smtClean="0"/>
            </a:fld>
            <a:endParaRPr lang="de-D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[~1分钟] 从行业大趋势来看，自动驾驶规划正在从"写规则"变成"学经验"。</a:t>
            </a:r>
            <a:br/>
            <a:br/>
            <a:r>
              <a:t>传统做法是工程师手写if-else规则——"前方有车减速，距离小于5米刹车"。简单场景还行，但到了复杂交互场景，比如有人突然横穿马路同时旁边有车在变道，规则根本写不完，写了也测不完。</a:t>
            </a:r>
            <a:br/>
            <a:br/>
            <a:r>
              <a:t>现在整个行业都在转向数据驱动。Tesla的FSD v12已经是端到端方案，Waymo的EMMA也走了端到端路线。学术顶会上生成式规划方法已经成为绝对主流。</a:t>
            </a:r>
            <a:br/>
            <a:br/>
            <a:r>
              <a:t>Flow Planner作为纯学习方法首次突破了nuPlan Val14的90分大关，这是一个标志性的成果。但—这里有一个大的"但是"——学术上跑分高不等于能上车。从benchmark到实车部署还有很大的gap。安全性怎么保证？不同场景怎么适应？公司数据怎么用？这些就是我们这个项目要解决的问题。</a:t>
            </a:r>
            <a:endParaRPr lang="en-US"/>
          </a:p>
        </p:txBody>
      </p:sp>
      <p:sp>
        <p:nvSpPr>
          <p:cNvPr id="4" name="Slide Number Placeholder 3"/>
          <p:cNvSpPr>
            <a:spLocks noGrp="1"/>
          </p:cNvSpPr>
          <p:nvPr>
            <p:ph type="sldNum" sz="quarter" idx="5"/>
          </p:nvPr>
        </p:nvSpPr>
        <p:spPr/>
        <p:txBody>
          <a:bodyPr/>
          <a:lstStyle/>
          <a:p>
            <a:fld id="{492D48B2-9EB0-4B37-9B35-FC11E2EA535A}" type="slidenum">
              <a:rPr lang="de-DE" smtClean="0"/>
            </a:fld>
            <a:endParaRPr lang="de-D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[~2分钟] 这一页是整个汇报的知识铺垫，我会讲得稍微细一些。</a:t>
            </a:r>
            <a:br/>
            <a:br/>
            <a:r>
              <a:t>自动驾驶的规划模块，说白了就是回答一个问题：接下来8秒内，车应该怎么走？</a:t>
            </a:r>
            <a:br/>
            <a:br/>
            <a:r>
              <a:t>第一代方法是回归式方法。原理很直接：你给模型输入周围的车辆位置、车道线、路口结构这些信息，它直接输出一串坐标点——"往前走5米、右转30度"这样的。技术上就是一个监督学习的回归问题，用L2损失去拟合专家司机的驾驶轨迹。这类方法的优点是快，5毫秒就出结果。但致命缺陷是只能输出一条轨迹。你到了一个十字路口，左转和直行可能都合理，但回归式方法只能给你一个答案，这就是所谓的"模式崩塌"问题。代表工作PlanTF和PLUTO，性能在84到89分之间。</a:t>
            </a:r>
            <a:br/>
            <a:br/>
            <a:r>
              <a:t>所以出现了第二代：生成式方法。核心思想不再是预测一条轨迹，而是学习整个轨迹分布，从中采样多条候选，再选最优的执行。</a:t>
            </a:r>
            <a:br/>
            <a:br/>
            <a:r>
              <a:t>生成式方法有三条技术路线，我依次介绍：</a:t>
            </a:r>
            <a:br/>
            <a:br/>
            <a:r>
              <a:t>第一条是扩散模型Diffusion Model，这个大家可能听说过，DALL-E和Stable Diffusion画图用的就是这个技术。在规划领域也是类似的原理：训练时先给轨迹逐步加高斯噪声，加到最后变成一团随机噪声；然后训练一个去噪网络，学会把噪声一步一步擦干净，恢复出合理轨迹。问题是这个"擦除"过程需要20到100步迭代，每步都要跑一次网络推理，所以延迟大概100毫秒，对实时性要求很高的驾驶场景来说太慢了。代表工作是ICLR 2025的Diffusion Planner，性能89.87。</a:t>
            </a:r>
            <a:br/>
            <a:br/>
            <a:r>
              <a:t>这里值得一提的是地平线的HSD技术，它用了一个很聪明的trick叫Truncated Diffusion——不从纯噪声开始去噪，而是从"专家轨迹加一点点噪声"的中间状态开始。这样反向去噪只需要3到5步就够了。核心思想就四个字："少加少去"。这个思路很巧妙，但本质上还是在Diffusion框架内做优化。</a:t>
            </a:r>
            <a:br/>
            <a:br/>
            <a:r>
              <a:t>第二条是自回归方法，就像ChatGPT写文章一样逐个token生成轨迹点。但连续轨迹和离散文本不一样，串行生成会累积误差，效果一般。</a:t>
            </a:r>
            <a:br/>
            <a:br/>
            <a:r>
              <a:t>第三条就是我们选择的Flow Matching。它不走Diffusion那条弯路，而是基于最优传输理论，直接学习一条从噪声到轨迹的最短直线路径。打个比方：Diffusion是迷宫里绕来绕去找出口，Flow Matching是GPS直接给你画一条直线。路径直意味着用很少的步数就能精确到达——只需要4步。NeurIPS 2025的Flow Planner用这个方法拿到了90.43分，是纯学习方法的SOTA。</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[~1.5分钟] 我们的基线是Flow Planner，NeurIPS 2025发表，纯学习方法排名第一。</a:t>
            </a:r>
            <a:br/>
            <a:br/>
            <a:r>
              <a:t>模型非常轻量，只有1428万参数，相当于一个中等大小的ResNet。整体分两部分：</a:t>
            </a:r>
            <a:br/>
            <a:br/>
            <a:r>
              <a:t>编码器负责理解世界：把周围的车辆、车道线、路口结构等信息分别编码成特征向量。用的是MLP-Mixer结构，五个通道分别处理ego历史轨迹、周围37个最近的agent、70条车道线、路由信息和静态障碍物。</a:t>
            </a:r>
            <a:br/>
            <a:br/>
            <a:r>
              <a:t>解码器负责生成轨迹：4层DiT Block——这个DiT后面我会专门解释——接收编码器的输出，通过4步Flow Matching ODE求解，生成未来8秒的驾驶轨迹。</a:t>
            </a:r>
            <a:br/>
            <a:br/>
            <a:r>
              <a:t>一个关键设计是CFG——Classifier-Free Guidance。简单说就是推理时同时跑"看到周围车"和"看不到周围车"两个版本，然后加权融合。这样通过调节权重w就能控制模型对周围环境的敏感程度。Flow Planner默认w=1.8。</a:t>
            </a:r>
            <a:br/>
            <a:br/>
            <a:r>
              <a:t>对比Diffusion Planner：推理快5倍，性能更高，参数更少。这个基线本身就非常强。</a:t>
            </a:r>
            <a:endParaRPr lang="en-US"/>
          </a:p>
        </p:txBody>
      </p:sp>
      <p:sp>
        <p:nvSpPr>
          <p:cNvPr id="4" name="Slide Number Placeholder 3"/>
          <p:cNvSpPr>
            <a:spLocks noGrp="1"/>
          </p:cNvSpPr>
          <p:nvPr>
            <p:ph type="sldNum" sz="quarter" idx="5"/>
          </p:nvPr>
        </p:nvSpPr>
        <p:spPr/>
        <p:txBody>
          <a:bodyPr/>
          <a:lstStyle/>
          <a:p>
            <a:fld id="{492D48B2-9EB0-4B37-9B35-FC11E2EA535A}" type="slidenum">
              <a:rPr lang="de-DE" smtClean="0"/>
            </a:fld>
            <a:endParaRPr lang="de-D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[~1分钟] 第一个问题来了。Flow Planner的CFG权重是写死的w=1.8。</a:t>
            </a:r>
            <a:br/>
            <a:br/>
            <a:r>
              <a:t>这是什么概念呢？打个比方：就像开车的方向盘灵敏度。高速公路上空旷直道，方向盘灵敏度低一点就好，太灵敏反而手抖一下就歪了。但到了拥堵路口需要频繁转向并道，灵敏度太低就反应不过来了。</a:t>
            </a:r>
            <a:br/>
            <a:br/>
            <a:r>
              <a:t>CFG权重就类似这个灵敏度，它控制模型对周围车辆的响应强度。但Flow Planner用了固定的1.8，不区分场景。</a:t>
            </a:r>
            <a:br/>
            <a:br/>
            <a:r>
              <a:t>我们做了一个实验验证这一点：把CFG权重从1.0调到2.5，NR Score提升了整整9分——从71.2%到80.2%。但问题是不同场景的最优权重完全不同，你用2.5虽然路口场景好了，直道场景反而会变差。固定权重注定是一种妥协。</a:t>
            </a:r>
            <a:br/>
            <a:br/>
            <a:r>
              <a:t>所以这就引出了我们的第一个创新点：让模型根据场景复杂度自动调节CFG权重。</a:t>
            </a:r>
            <a:endParaRPr lang="en-US"/>
          </a:p>
        </p:txBody>
      </p:sp>
      <p:sp>
        <p:nvSpPr>
          <p:cNvPr id="4" name="Slide Number Placeholder 3"/>
          <p:cNvSpPr>
            <a:spLocks noGrp="1"/>
          </p:cNvSpPr>
          <p:nvPr>
            <p:ph type="sldNum" sz="quarter" idx="5"/>
          </p:nvPr>
        </p:nvSpPr>
        <p:spPr/>
        <p:txBody>
          <a:bodyPr/>
          <a:lstStyle/>
          <a:p>
            <a:fld id="{492D48B2-9EB0-4B37-9B35-FC11E2EA535A}" type="slidenum">
              <a:rPr lang="de-DE" smtClean="0"/>
            </a:fld>
            <a:endParaRPr lang="de-D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[~50秒] 第二个问题：安全性。</a:t>
            </a:r>
            <a:br/>
            <a:br/>
            <a:r>
              <a:t>Flow Planner本质是纯模仿学习——它只学了专家怎么开的，但不显式理解什么是危险。</a:t>
            </a:r>
            <a:br/>
            <a:br/>
            <a:r>
              <a:t>我这里有一个真实案例：Diffusion Planner在后方有快车逼近的情况下仍然执行变道，结果直接碰撞。还有对向来车时速度控制不当也碰撞。这些情况专家驾驶数据里虽然有正确示范，但模型没有100%学到。</a:t>
            </a:r>
            <a:br/>
            <a:br/>
            <a:r>
              <a:t>现有的解决方案是事后裁剪——先让模型生成轨迹，然后用规则检查"这条轨迹会不会撞上"，会撞就剪掉。但裁剪完的轨迹可能不连贯、不自然。</a:t>
            </a:r>
            <a:br/>
            <a:br/>
            <a:r>
              <a:t>实车部署的硬性要求是：安全不能靠运气。所以我们提出第二个创新点：在轨迹生成过程中就注入安全约束，不是事后补救而是事前预防。</a:t>
            </a:r>
            <a:endParaRPr lang="en-US"/>
          </a:p>
        </p:txBody>
      </p:sp>
      <p:sp>
        <p:nvSpPr>
          <p:cNvPr id="4" name="Slide Number Placeholder 3"/>
          <p:cNvSpPr>
            <a:spLocks noGrp="1"/>
          </p:cNvSpPr>
          <p:nvPr>
            <p:ph type="sldNum" sz="quarter" idx="5"/>
          </p:nvPr>
        </p:nvSpPr>
        <p:spPr/>
        <p:txBody>
          <a:bodyPr/>
          <a:lstStyle/>
          <a:p>
            <a:fld id="{492D48B2-9EB0-4B37-9B35-FC11E2EA535A}" type="slidenum">
              <a:rPr lang="de-DE" smtClean="0"/>
            </a:fld>
            <a:endParaRPr lang="de-D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[~40秒] 第三个问题很直接：数据域差异。</a:t>
            </a:r>
            <a:br/>
            <a:br/>
            <a:r>
              <a:t>nuPlan是在波士顿、匹兹堡这些美国城市采集的数据。我们公司的实际运营场景在中国，有很大差异——交通规则不同、驾驶习惯不同、路口结构不同、传感器配置也不同。</a:t>
            </a:r>
            <a:br/>
            <a:br/>
            <a:r>
              <a:t>简单类比就是：在美国考了驾照直接来中国开车，肯定不行的，得重新适应。模型也一样，直接迁移性能必然大幅下降。</a:t>
            </a:r>
            <a:br/>
            <a:br/>
            <a:r>
              <a:t>所以我们需要一套系统性的跨域迁移方案。这是创新点3。</a:t>
            </a:r>
            <a:endParaRPr lang="en-US"/>
          </a:p>
        </p:txBody>
      </p:sp>
      <p:sp>
        <p:nvSpPr>
          <p:cNvPr id="4" name="Slide Number Placeholder 3"/>
          <p:cNvSpPr>
            <a:spLocks noGrp="1"/>
          </p:cNvSpPr>
          <p:nvPr>
            <p:ph type="sldNum" sz="quarter" idx="5"/>
          </p:nvPr>
        </p:nvSpPr>
        <p:spPr/>
        <p:txBody>
          <a:bodyPr/>
          <a:lstStyle/>
          <a:p>
            <a:fld id="{492D48B2-9EB0-4B37-9B35-FC11E2EA535A}" type="slidenum">
              <a:rPr lang="de-DE" smtClean="0"/>
            </a:fld>
            <a:endParaRPr lang="de-D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[~30秒] 这是技术方案的全景图。三个创新点分别解决不同的问题：自适应CFG解决引导力度固定的问题，安全约束解决碰撞风险问题，跨域迁移解决数据域差异问题。三者互相独立又协同工作，可以逐步实现和验证。</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[~1分钟] 创新点2：Safety-Guided Flow Matching。</a:t>
            </a:r>
            <a:br/>
            <a:br/>
            <a:r>
              <a:t>核心思想用一句话说：给规划器加装一个安全护栏。</a:t>
            </a:r>
            <a:br/>
            <a:br/>
            <a:r>
              <a:t>技术上怎么实现？在Flow Matching的每一步ODE求解之后，额外做一步操作：计算当前轨迹离周围障碍物有多远，计算一个安全梯度方向——也就是"往哪个方向挪会更安全"，然后把轨迹往安全方向微调一下。公式很简洁：安全速度等于原始流速度加上lambda乘以安全梯度。</a:t>
            </a:r>
            <a:br/>
            <a:br/>
            <a:r>
              <a:t>这个方案最大的优点是即插即用——完全不需要重新训练模型，不改变模型结构，零额外训练成本。而且安全约束参与了整个生成过程，轨迹是"一边生成一边避碰"的，比事后裁剪自然得多。</a:t>
            </a:r>
            <a:br/>
            <a:br/>
            <a:r>
              <a:t>类比一下就是：Flow Matching是GPS负责规划路线，安全引导是避障雷达负责避开危险，两者同时工作。</a:t>
            </a:r>
            <a:endParaRPr lang="en-US"/>
          </a:p>
        </p:txBody>
      </p:sp>
      <p:sp>
        <p:nvSpPr>
          <p:cNvPr id="4" name="Slide Number Placeholder 3"/>
          <p:cNvSpPr>
            <a:spLocks noGrp="1"/>
          </p:cNvSpPr>
          <p:nvPr>
            <p:ph type="sldNum" sz="quarter" idx="5"/>
          </p:nvPr>
        </p:nvSpPr>
        <p:spPr/>
        <p:txBody>
          <a:bodyPr/>
          <a:lstStyle/>
          <a:p>
            <a:fld id="{492D48B2-9EB0-4B37-9B35-FC11E2EA535A}" type="slidenum">
              <a:rPr lang="de-DE" smtClean="0"/>
            </a:fld>
            <a:endParaRPr lang="de-D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[~50秒] 创新点3：跨域迁移学习。</a:t>
            </a:r>
            <a:br/>
            <a:br/>
            <a:r>
              <a:t>核心策略是两阶段训练。第一阶段在nuPlan大规模数据上预训练——4个城市、100万以上场景，让模型学会通用驾驶能力：跟车、变道、转弯、避障这些基本功。</a:t>
            </a:r>
            <a:br/>
            <a:br/>
            <a:r>
              <a:t>第二阶段用公司数据微调。关键是不全部从头训练，而是冻结编码器的浅层保留通用特征提取能力，只微调深层和解码器。另外用Domain-Adaptive Normalization处理数据分布差异。</a:t>
            </a:r>
            <a:br/>
            <a:br/>
            <a:r>
              <a:t>好处很明显：不需要从零收集百万级数据，用开源数据学通用能力，少量公司数据就能适配本地场景。大幅降低数据成本和开发周期。</a:t>
            </a:r>
            <a:endParaRPr lang="en-US"/>
          </a:p>
        </p:txBody>
      </p:sp>
      <p:sp>
        <p:nvSpPr>
          <p:cNvPr id="4" name="Slide Number Placeholder 3"/>
          <p:cNvSpPr>
            <a:spLocks noGrp="1"/>
          </p:cNvSpPr>
          <p:nvPr>
            <p:ph type="sldNum" sz="quarter" idx="5"/>
          </p:nvPr>
        </p:nvSpPr>
        <p:spPr/>
        <p:txBody>
          <a:bodyPr/>
          <a:lstStyle/>
          <a:p>
            <a:fld id="{492D48B2-9EB0-4B37-9B35-FC11E2EA535A}" type="slidenum">
              <a:rPr lang="de-DE" smtClean="0"/>
            </a:fld>
            <a:endParaRPr lang="de-D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[~30秒] 时间规划分四个阶段共10个月。前3个月完成基线复现，4到6月开发核心创新，7到8月做跨域迁移和部署优化，最后两个月实车验证和论文撰写。每个阶段都有明确的量化目标。</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这一页特别重要，解释 Flow Planner 和我们组现有工作的关系。我们之前做的超让决策标签，本质上就是在解决纵向博弈问题。Flow Planner 不是要推翻这个方向，而是把它从打标签加写规则，升级到端到端生成轨迹。之前是先给场景打一个超或让的标签，然后用规则把标签转成轨迹——中间有信息损失。现在 Flow Planner 直接从场景生成轨迹，决策和规划一体化。而且之前积累的超让标签数据不是白做的——它们可以直接用来训练创新点1的自适应CFG权重：超的场景对应高CFG，让的场景对应低CFG。所以这不是换方向，是升级。超让标签提供博弈经验，Flow Planner 把这些经验转化为可执行的轨迹。</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这一页讲工程价值。三个方面：学术创新价值可以发顶会论文；工程落地价值包括自适应CFG、安全约束和跨域迁移；安全性方面有真实案例对比。最后强调和公司业务的直接关联。</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最后看一下资源需求。计算资源方面，训练需要 A100 或 A800 4到8卡，日常开发用 RTX 4090 就够了，再加上大容量 SSD 存数据。数据方面主要用开源的 nuPlan 数据集，1500小时驾驶数据覆盖4个城市，加上 InterPlan 用来测试博弈场景。人力方面需要1到2名研究生做核心算法，1名教师指导。预期成果：发表1到2篇顶会论文，Val14 NR 超过91，InterPlan 超过65，推理延迟控制在50毫秒以内。</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这一页是风险评估。我把风险分成技术风险和项目风险两类，每个风险都配了具体的应对策略。重点是让大家看到：我们不是没想过可能出问题，而是每个风险都有预案。特别强调最后一行：总体评估技术路线可行，风险可控。</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以上就是我的整个汇报。总结一下 Flow Planner 的四大核心优势：第一，用 Flow Matching 替代 Diffusion，推理只需要4步，速度提升数十倍；第二，多模态 Joint Attention 增强了车辆、车道、轨迹之间的交互建模；第三，CFG 引导机制动态增强对周围环境的响应；第四，细粒度轨迹 Token 实现了更精细的时间窗口建模。谢谢大家，欢迎提问。</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[~1.5分钟] 这页我想从技术原理层面解释清楚，为什么Flow Matching只需要4步而Diffusion需要20步。</a:t>
            </a:r>
            <a:br/>
            <a:br/>
            <a:r>
              <a:t>Diffusion的反向去噪路径，从数学上看本质是一条弯曲的曲线。从纯噪声到目标轨迹，它走的是一条弯弯曲曲的路。弯曲意味着什么？意味着你用大步长去离散化会偏离真实路径很远，误差很大。所以你必须用很多很小的步才能精确追踪这条曲线，这就是需要20到100步的根本数学原因。</a:t>
            </a:r>
            <a:br/>
            <a:br/>
            <a:r>
              <a:t>Flow Matching的突破在哪里？它直接定义了一条近似直线的路径。用线性插值的方式——从时间0的噪声到时间1的目标轨迹，中间走的就是一条直线。然后训练网络去学习沿着这条直线的速度场。</a:t>
            </a:r>
            <a:br/>
            <a:br/>
            <a:r>
              <a:t>直线路径的好处非常直观：曲率低、离散化误差小，所以4步Midpoint ODE求解器就能达到很高的精度。</a:t>
            </a:r>
            <a:br/>
            <a:br/>
            <a:r>
              <a:t>大家看这个对比表：推理步数从20步降到4步，延迟从100毫秒降到20毫秒，性能还更高。这就是我们选择Flow Matching的核心技术理由。</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这一页解释一个核心问题：为什么自动驾驶规划必须用生成模型，而不是传统的回归模型。</a:t>
            </a:r>
          </a:p>
          <a:p>
            <a:r>
              <a:t>我们来看一个具体场景：前方有一辆静止的车挡住了路，你可以选择左绕，也可以选择右绕。训练数据里，大约一半司机选了左绕，另一半选了右绕——都是正确的决策。</a:t>
            </a:r>
          </a:p>
          <a:p>
            <a:r>
              <a:t>但如果我们用回归模型来学习呢？回归模型用的是 L2 Loss，它的数学最优解是所有 GT 的均值。左绕的坐标是负3，右绕是正3，均值是0——也就是说模型会输出"直行"。直接撞上去了。这就是所谓的 Mode Averaging 问题：两个合理模式的均值，本身不是一个合理的模式。</a:t>
            </a:r>
          </a:p>
          <a:p>
            <a:r>
              <a:t>生成模型就不会有这个问题。它学到的是完整的概率分布——一个双峰分布，左边一个峰、右边一个峰，中间概率密度接近零。每次采样都会落在某个峰附近，要么左绕要么右绕，永远不会采样到中间"直行撞车"的轨迹。</a:t>
            </a:r>
          </a:p>
          <a:p>
            <a:r>
              <a:t>总结就是：不是训练数据不好，而是回归模型的数学性质决定了它无法利用数据中的多样性。这就是我们选择生成模型的根本原因。</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这一页我来讲 Diffusion Model 的核心原理，也就是加噪和去噪这两个过程。</a:t>
            </a:r>
          </a:p>
          <a:p>
            <a:r>
              <a:t>先看训练。训练分两步：前向加噪和反向去噪。前向加噪其实不需要学习，是纯数学操作——我们拿到一条真实的 GT 轨迹 x₀，然后按照一个预定义的噪声调度表，逐步往上面加噪声。公式很简单，就是用一个系数把原始轨迹和随机噪声做加权混合。随着时间步 t 越来越大，噪声越来越多，到最后 t 等于 T 的时候，原始轨迹的信息就完全被淹没了，变成了纯高斯噪声。</a:t>
            </a:r>
          </a:p>
          <a:p>
            <a:r>
              <a:t>反向去噪才是我们真正要训练的部分。具体做法是：随机选一个时间步 t，构造出加噪后的 x_t，然后把它喂给模型，让模型去猜"这一步加的噪声是什么"。Loss 就是模型预测的噪声和真实噪声之间的 MSE。这里有一个关键区别要注意：Diffusion 是预测噪声，而我们后面要讲的 Flow Matching 是直接预测干净的轨迹，思路是不一样的。</a:t>
            </a:r>
          </a:p>
          <a:p>
            <a:r>
              <a:t>推理的时候就是从纯噪声开始，一步一步去噪。每一步调用一次模型预测当前的噪声，然后减掉一点，得到稍微清晰一点的结果，再送回去继续去噪。这个过程需要重复 20 到 100 步，所以推理延迟大约 100 毫秒，对实时驾驶来说是太慢了。</a:t>
            </a:r>
          </a:p>
          <a:p>
            <a:r>
              <a:t>最后简单提一下 Truncated Diffusion，这是地平线 HSD 用的技术。它的核心改进是不从纯噪声出发，而是从"专家轨迹加少量噪声"的中间状态开始去噪，这样只需要 3 到 5 步就能完成，快了 4 到 6 倍。思路就是"少加噪、少去噪"，牺牲一点多样性换取速度。</a:t>
            </a:r>
          </a:p>
          <a:p>
            <a:r>
              <a:t>总结一下：Diffusion 的核心瓶颈就是去噪路径比较弯曲，所以需要很多步，推理速度慢。这就引出了我们下一页要讲的 Flow Matching。</a:t>
            </a:r>
          </a:p>
        </p:txBody>
      </p:sp>
      <p:sp>
        <p:nvSpPr>
          <p:cNvPr id="4" name="Slide Number Placeholder 3"/>
          <p:cNvSpPr>
            <a:spLocks noGrp="1"/>
          </p:cNvSpPr>
          <p:nvPr>
            <p:ph type="sldNum" sz="quarter" idx="5"/>
          </p:nvPr>
        </p:nvSpPr>
        <p:spPr/>
        <p:txBody>
          <a:bodyPr/>
          <a:lstStyle/>
          <a:p>
            <a:fld id="{492D48B2-9EB0-4B37-9B35-FC11E2EA535A}" type="slidenum">
              <a:rPr lang="de-DE" smtClean="0"/>
            </a:fld>
            <a:endParaRPr lang="de-DE"/>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接下来看 Flow Matching，也就是我们选择的方案。和 Diffusion 相比，它的原理更直观，推理也更快。</a:t>
            </a:r>
          </a:p>
          <a:p>
            <a:r>
              <a:t>先看训练过程。每一个 training step 是这样的：我们先准备好真实的 GT 轨迹 x₁，然后随机采一个和它同形状的噪声向量 x₀。接着随机选一个进度 t，比如 0.3。然后做一个线性插值：x_t 等于 0.7 乘以噪声加上 0.3 乘以 GT——也就是说，我们构造了一个"30%真实 70%噪声"的半成品。把这个半成品和进度 t 一起喂给模型，让模型猜"原始的干净轨迹长什么样"。Loss 就是模型预测和真实 GT 之间的 MSE。</a:t>
            </a:r>
          </a:p>
          <a:p>
            <a:r>
              <a:t>注意这里和 Diffusion 的关键区别：Flow Matching 的模型是直接预测干净轨迹，而不是预测噪声或速度。这一点让训练目标更直接，收敛也更稳定。</a:t>
            </a:r>
          </a:p>
          <a:p>
            <a:r>
              <a:t>推理的时候就很优雅了。我们从纯噪声 x₀ 出发，分 4 步走到最终轨迹。具体来说，在每个时间点 t，模型会给出一个速度方向 v，然后我们沿着这个方向走一小步。从 t=0 走到 t=0.25，再到 0.5，0.75，最后到 1.0 就得到了最终轨迹。整个过程只需要 4 次前向传播，推理延迟大约 20 毫秒，完全满足实时驾驶的要求。</a:t>
            </a:r>
          </a:p>
          <a:p>
            <a:r>
              <a:t>大家看下面的训练和推理对比表。训练时 t 是随机采样的，输入是噪声和 GT 的混合半成品，模型预测干净轨迹来和 GT 算 Loss；推理时 t 是固定的 4 步，输入是上一步 ODE 的输出，模型预测速度方向来走一小步，不需要 GT。</a:t>
            </a:r>
          </a:p>
          <a:p>
            <a:r>
              <a:t>总结一下：t 就是一个进度条，告诉模型"现在糊了多少"；x_t 是被糊住的半成品；而模型就是一个"修复师"，不管你糊成什么样，都能帮你还原出来。这就是 Flow Matching 的核心思想。</a:t>
            </a:r>
          </a:p>
        </p:txBody>
      </p:sp>
      <p:sp>
        <p:nvSpPr>
          <p:cNvPr id="4" name="Slide Number Placeholder 3"/>
          <p:cNvSpPr>
            <a:spLocks noGrp="1"/>
          </p:cNvSpPr>
          <p:nvPr>
            <p:ph type="sldNum" sz="quarter" idx="5"/>
          </p:nvPr>
        </p:nvSpPr>
        <p:spPr/>
        <p:txBody>
          <a:bodyPr/>
          <a:lstStyle/>
          <a:p>
            <a:fld id="{492D48B2-9EB0-4B37-9B35-FC11E2EA535A}" type="slidenum">
              <a:rPr lang="de-DE" smtClean="0"/>
            </a:fld>
            <a:endParaRPr lang="de-DE"/>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[~40秒] 做一个总结对比。三种方法各有特点：</a:t>
            </a:r>
            <a:br/>
            <a:r>
              <a:t>回归式最快但只能单模态，Diffusion支持多模态但太慢，Flow Matching兼具两者优势——既快又能生成多样化的轨迹。</a:t>
            </a:r>
            <a:br/>
            <a:r>
              <a:t>选择Flow Matching等于同时拿到了最优性能、最快速度和最友好的部署条件。</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这一页我来介绍 Flow Planner 里两个最核心的技术机制：DiT 和 CFG。这两个东西听起来很学术，但思路其实很直观。</a:t>
            </a:r>
          </a:p>
          <a:p>
            <a:r>
              <a:t>先说 DiT，全称 Diffusion Transformer。普通的 Transformer 处理所有输入都用同一套方式，但自动驾驶场景千变万化——高速直道和拥堵路口完全是两回事。DiT 做了两个关键改进：</a:t>
            </a:r>
          </a:p>
          <a:p>
            <a:r>
              <a:t>第一个叫 AdaLN，自适应层归一化。大家这样理解：同一个厨师，做川菜的时候自动调重口味，做粤菜自动调清淡——模型的处理方式会根据当前是什么时间步、什么场景来动态调整。这样一来模型在不同场景下就有了不同的"处理风格"。</a:t>
            </a:r>
          </a:p>
          <a:p>
            <a:r>
              <a:t>第二个是 Gate 门控。类比开会——紧急情况大家大声发言，日常例会小声讨论。技术上就是每一层的输出乘以一个由条件控制的系数，让条件来决定每一层"说话的音量"。</a:t>
            </a:r>
          </a:p>
          <a:p>
            <a:r>
              <a:t>接下来是 CFG，这个特别重要。CFG 全称 Classifier-Free Guidance，它是增强模型对周围车辆感知能力的关键机制。核心思想非常巧妙：让模型同时学会两种模式——"看到周围车辆"和"假装周围没车"。</a:t>
            </a:r>
          </a:p>
          <a:p>
            <a:r>
              <a:t>训练时，30%的概率随机把邻居车辆的信息屏蔽掉，让模型学会在没有周围信息的情况下也能规划；70%正常保留所有信息。这样一个模型就同时掌握了两种能力。</a:t>
            </a:r>
          </a:p>
          <a:p>
            <a:r>
              <a:t>推理的时候最精彩：同一个场景跑两遍——一遍给完整信息，一遍屏蔽邻居。然后对比两个结果的差异，再乘以一个权重 w 放大。这个差异代表什么？就是"因为看到了周围的车，模型做出了什么调整"。放大这个差异，就等于增强了模型对周围环境的反应。</a:t>
            </a:r>
          </a:p>
          <a:p>
            <a:r>
              <a:t>打个比方：闭着眼开车和睁着眼开车，差别就是你对周围环境的感知。CFG 就是把这个差别放大，让模型更积极地避让和跟车。w 越大反应越强烈。</a:t>
            </a:r>
          </a:p>
          <a:p>
            <a:r>
              <a:t>但问题是——现在 w 是写死的 1.8，不管什么场景都一样。空旷直道和拥堵路口用同一个力度显然不合理。这就引出了我们创新点1：让 w 根据场景自适应调整。</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[~1分钟] Flow Planner论文自身有三个设计创新，我快速过一下。</a:t>
            </a:r>
            <a:br/>
            <a:br/>
            <a:r>
              <a:t>第一个是轨迹Token化：把8秒80帧的轨迹切成7个重叠的Token。每个Token覆盖2秒也就是20帧，相邻Token重叠1秒。推理后对重叠区域取平均来保证连贯性。这样做的好处是模型可以在Token级别学习局部时序模式，比直接预测80个坐标点更精细。</a:t>
            </a:r>
            <a:br/>
            <a:br/>
            <a:r>
              <a:t>第二个是多模态Joint Attention：邻居车辆、车道线、轨迹Token三种不同模态的信息统一投影到同一个维度，做联合注意力运算。还加了距离感知的bias，越近的东西注意力权重越大。</a:t>
            </a:r>
            <a:br/>
            <a:br/>
            <a:r>
              <a:t>第三个是Flow Matching和CFG的巧妙结合：FM负责高效生成，CFG负责增强交互，两者互补。</a:t>
            </a:r>
            <a:br/>
            <a:br/>
            <a:r>
              <a:t>理解了这些技术基础之后，接下来我讲我们发现的三个关键问题——也就是我们做这个项目的动机。</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这一页讲为什么 Flow Planner 特别适合博弈建模，对比两个有名的博弈方法。GameFormer 用 Level-K 博弈论，就像下棋推演对手走法，但纯学习版只有13分，必须靠规则兜底。BeTOP 用辫子拓扑建模谁先谁后，思路新颖但需要额外标注和推理模块，工程太复杂。Flow Planner 完全不需要显式博弈模块，多模态生成、CFG、Joint Attention三个机制天然实现了交互能力——这是隐式博弈，交互能力从架构中自然涌现。InterPlan数据最有说服力：行人横穿场景比Diffusion Planner高66%。</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 Id="rId3"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 Id="rId3"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 Id="rId3" Type="http://schemas.openxmlformats.org/officeDocument/2006/relationships/image" Target="../media/image4.png"/><Relationship Id="rId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 Id="rId3" Type="http://schemas.openxmlformats.org/officeDocument/2006/relationships/image" Target="../media/image4.png"/><Relationship Id="rId4"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 Id="rId3" Type="http://schemas.openxmlformats.org/officeDocument/2006/relationships/image" Target="../media/image4.png"/><Relationship Id="rId4"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 Id="rId3" Type="http://schemas.openxmlformats.org/officeDocument/2006/relationships/image" Target="../media/image9.png"/><Relationship Id="rId4"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Title horizontal ">
    <p:spTree>
      <p:nvGrpSpPr>
        <p:cNvPr id="1" name=""/>
        <p:cNvGrpSpPr/>
        <p:nvPr/>
      </p:nvGrpSpPr>
      <p:grpSpPr>
        <a:xfrm>
          <a:off x="0" y="0"/>
          <a:ext cx="0" cy="0"/>
          <a:chOff x="0" y="0"/>
          <a:chExt cx="0" cy="0"/>
        </a:xfrm>
      </p:grpSpPr>
      <p:pic>
        <p:nvPicPr>
          <p:cNvPr id="9" name="Logo"/>
          <p:cNvPicPr>
            <a:picLocks noSelect="1"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779054" y="5676108"/>
            <a:ext cx="1015200" cy="276683"/>
          </a:xfrm>
          <a:prstGeom prst="rect">
            <a:avLst/>
          </a:prstGeom>
        </p:spPr>
      </p:pic>
      <p:sp>
        <p:nvSpPr>
          <p:cNvPr id="8" name="Title 1"/>
          <p:cNvSpPr>
            <a:spLocks noGrp="1"/>
          </p:cNvSpPr>
          <p:nvPr>
            <p:ph type="ctrTitle" hasCustomPrompt="1"/>
          </p:nvPr>
        </p:nvSpPr>
        <p:spPr>
          <a:xfrm>
            <a:off x="547200" y="2602898"/>
            <a:ext cx="9268637" cy="1507549"/>
          </a:xfrm>
          <a:ln w="0">
            <a:noFill/>
          </a:ln>
          <a:effectLst/>
        </p:spPr>
        <p:txBody>
          <a:bodyPr anchor="b" anchorCtr="0">
            <a:normAutofit/>
          </a:bodyPr>
          <a:lstStyle>
            <a:lvl1pPr algn="l">
              <a:lnSpc>
                <a:spcPct val="100000"/>
              </a:lnSpc>
              <a:defRPr sz="4000" b="1" kern="0" cap="none" baseline="0">
                <a:solidFill>
                  <a:schemeClr val="tx1"/>
                </a:solidFill>
              </a:defRPr>
            </a:lvl1pPr>
          </a:lstStyle>
          <a:p>
            <a:r>
              <a:rPr lang="en-US" noProof="1"/>
              <a:t>Presentation title</a:t>
            </a:r>
            <a:endParaRPr lang="en-US" noProof="1"/>
          </a:p>
        </p:txBody>
      </p:sp>
      <p:sp>
        <p:nvSpPr>
          <p:cNvPr id="7" name="Text Placeholder 2"/>
          <p:cNvSpPr>
            <a:spLocks noGrp="1"/>
          </p:cNvSpPr>
          <p:nvPr>
            <p:ph type="body" sz="quarter" idx="1" hasCustomPrompt="1"/>
          </p:nvPr>
        </p:nvSpPr>
        <p:spPr>
          <a:xfrm>
            <a:off x="547200" y="4241130"/>
            <a:ext cx="9268637" cy="1254369"/>
          </a:xfrm>
        </p:spPr>
        <p:txBody>
          <a:bodyPr>
            <a:normAutofit/>
          </a:bodyPr>
          <a:lstStyle>
            <a:lvl1pPr marL="0" indent="0">
              <a:buFontTx/>
              <a:buNone/>
              <a:defRPr sz="2400"/>
            </a:lvl1pPr>
            <a:lvl2pPr marL="457200" indent="0">
              <a:buFontTx/>
              <a:buNone/>
              <a:defRPr/>
            </a:lvl2pPr>
            <a:lvl3pPr marL="914400" indent="0">
              <a:buFontTx/>
              <a:buNone/>
              <a:defRPr/>
            </a:lvl3pPr>
            <a:lvl4pPr marL="1371600" indent="0">
              <a:buFontTx/>
              <a:buNone/>
              <a:defRPr/>
            </a:lvl4pPr>
            <a:lvl5pPr marL="1371600" indent="0">
              <a:buFontTx/>
              <a:buNone/>
              <a:defRPr/>
            </a:lvl5pPr>
          </a:lstStyle>
          <a:p>
            <a:pPr lvl="0"/>
            <a:r>
              <a:rPr lang="en-US" noProof="1"/>
              <a:t>Name, Department, Date</a:t>
            </a:r>
            <a:endParaRPr lang="en-US" noProof="1"/>
          </a:p>
        </p:txBody>
      </p:sp>
      <p:pic>
        <p:nvPicPr>
          <p:cNvPr id="4" name="SuperGraphic"/>
          <p:cNvPicPr>
            <a:picLocks noSelect="1" noChangeAspect="1"/>
          </p:cNvPicPr>
          <p:nvPr userDrawn="1"/>
        </p:nvPicPr>
        <p:blipFill>
          <a:blip r:embed="rId3">
            <a:extLst>
              <a:ext uri="{28A0092B-C50C-407E-A947-70E740481C1C}">
                <a14:useLocalDpi xmlns:a14="http://schemas.microsoft.com/office/drawing/2010/main" val="0"/>
              </a:ext>
            </a:extLst>
          </a:blip>
          <a:stretch>
            <a:fillRect/>
          </a:stretch>
        </p:blipFill>
        <p:spPr>
          <a:xfrm>
            <a:off x="-1" y="0"/>
            <a:ext cx="10969200" cy="2056725"/>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showMasterSp="0" userDrawn="1">
  <p:cSld name="Title vertical ">
    <p:spTree>
      <p:nvGrpSpPr>
        <p:cNvPr id="1" name=""/>
        <p:cNvGrpSpPr/>
        <p:nvPr/>
      </p:nvGrpSpPr>
      <p:grpSpPr>
        <a:xfrm>
          <a:off x="0" y="0"/>
          <a:ext cx="0" cy="0"/>
          <a:chOff x="0" y="0"/>
          <a:chExt cx="0" cy="0"/>
        </a:xfrm>
      </p:grpSpPr>
      <p:pic>
        <p:nvPicPr>
          <p:cNvPr id="9" name="Logo"/>
          <p:cNvPicPr>
            <a:picLocks noSelect="1"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779054" y="5676108"/>
            <a:ext cx="1015200" cy="276683"/>
          </a:xfrm>
          <a:prstGeom prst="rect">
            <a:avLst/>
          </a:prstGeom>
        </p:spPr>
      </p:pic>
      <p:sp>
        <p:nvSpPr>
          <p:cNvPr id="8" name="Title 1"/>
          <p:cNvSpPr>
            <a:spLocks noGrp="1"/>
          </p:cNvSpPr>
          <p:nvPr>
            <p:ph type="ctrTitle" hasCustomPrompt="1"/>
          </p:nvPr>
        </p:nvSpPr>
        <p:spPr>
          <a:xfrm>
            <a:off x="3289593" y="1152144"/>
            <a:ext cx="7132831" cy="2044365"/>
          </a:xfrm>
          <a:ln w="0">
            <a:noFill/>
          </a:ln>
          <a:effectLst/>
        </p:spPr>
        <p:txBody>
          <a:bodyPr anchor="b" anchorCtr="0">
            <a:normAutofit/>
          </a:bodyPr>
          <a:lstStyle>
            <a:lvl1pPr algn="l">
              <a:lnSpc>
                <a:spcPct val="100000"/>
              </a:lnSpc>
              <a:defRPr sz="4000" b="1" kern="0" cap="none" baseline="0">
                <a:solidFill>
                  <a:schemeClr val="tx1"/>
                </a:solidFill>
              </a:defRPr>
            </a:lvl1pPr>
          </a:lstStyle>
          <a:p>
            <a:r>
              <a:rPr lang="en-US" noProof="1"/>
              <a:t>Presentation title</a:t>
            </a:r>
            <a:endParaRPr lang="en-US" noProof="1"/>
          </a:p>
        </p:txBody>
      </p:sp>
      <p:sp>
        <p:nvSpPr>
          <p:cNvPr id="4" name="Text Placeholder 2"/>
          <p:cNvSpPr>
            <a:spLocks noGrp="1"/>
          </p:cNvSpPr>
          <p:nvPr>
            <p:ph type="body" sz="quarter" idx="1" hasCustomPrompt="1"/>
          </p:nvPr>
        </p:nvSpPr>
        <p:spPr>
          <a:xfrm>
            <a:off x="3289593" y="3327191"/>
            <a:ext cx="7132831" cy="1254369"/>
          </a:xfrm>
        </p:spPr>
        <p:txBody>
          <a:bodyPr>
            <a:normAutofit/>
          </a:bodyPr>
          <a:lstStyle>
            <a:lvl1pPr marL="0" indent="0">
              <a:buFontTx/>
              <a:buNone/>
              <a:defRPr sz="2400"/>
            </a:lvl1pPr>
            <a:lvl2pPr marL="457200" indent="0">
              <a:buFontTx/>
              <a:buNone/>
              <a:defRPr/>
            </a:lvl2pPr>
            <a:lvl3pPr marL="914400" indent="0">
              <a:buFontTx/>
              <a:buNone/>
              <a:defRPr/>
            </a:lvl3pPr>
            <a:lvl4pPr marL="1371600" indent="0">
              <a:buFontTx/>
              <a:buNone/>
              <a:defRPr/>
            </a:lvl4pPr>
            <a:lvl5pPr marL="1371600" indent="0">
              <a:buFontTx/>
              <a:buNone/>
              <a:defRPr/>
            </a:lvl5pPr>
          </a:lstStyle>
          <a:p>
            <a:pPr lvl="0"/>
            <a:r>
              <a:rPr lang="en-US" noProof="1"/>
              <a:t>Name, Department, Date</a:t>
            </a:r>
            <a:endParaRPr lang="en-US" noProof="1"/>
          </a:p>
        </p:txBody>
      </p:sp>
      <p:pic>
        <p:nvPicPr>
          <p:cNvPr id="3" name="SuperGraphic"/>
          <p:cNvPicPr>
            <a:picLocks noSelect="1"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2742494" cy="6170613"/>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showMasterSp="0" userDrawn="1">
  <p:cSld name="Chapter horizontal ">
    <p:spTree>
      <p:nvGrpSpPr>
        <p:cNvPr id="1" name=""/>
        <p:cNvGrpSpPr/>
        <p:nvPr/>
      </p:nvGrpSpPr>
      <p:grpSpPr>
        <a:xfrm>
          <a:off x="0" y="0"/>
          <a:ext cx="0" cy="0"/>
          <a:chOff x="0" y="0"/>
          <a:chExt cx="0" cy="0"/>
        </a:xfrm>
      </p:grpSpPr>
      <p:pic>
        <p:nvPicPr>
          <p:cNvPr id="9" name="Logo"/>
          <p:cNvPicPr>
            <a:picLocks noSelect="1"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779054" y="5676108"/>
            <a:ext cx="1015200" cy="276683"/>
          </a:xfrm>
          <a:prstGeom prst="rect">
            <a:avLst/>
          </a:prstGeom>
        </p:spPr>
      </p:pic>
      <p:sp>
        <p:nvSpPr>
          <p:cNvPr id="6" name="Chapter_title"/>
          <p:cNvSpPr>
            <a:spLocks noGrp="1"/>
          </p:cNvSpPr>
          <p:nvPr>
            <p:ph type="body" sz="quarter" idx="15" hasCustomPrompt="1"/>
          </p:nvPr>
        </p:nvSpPr>
        <p:spPr>
          <a:xfrm>
            <a:off x="547200" y="2602896"/>
            <a:ext cx="9268637" cy="2892602"/>
          </a:xfrm>
          <a:ln w="0">
            <a:noFill/>
          </a:ln>
          <a:effectLst/>
        </p:spPr>
        <p:txBody>
          <a:bodyPr anchor="t" anchorCtr="0">
            <a:normAutofit/>
          </a:bodyPr>
          <a:lstStyle>
            <a:lvl1pPr marL="0" indent="0" algn="l">
              <a:lnSpc>
                <a:spcPct val="100000"/>
              </a:lnSpc>
              <a:spcBef>
                <a:spcPts val="0"/>
              </a:spcBef>
              <a:buFontTx/>
              <a:buNone/>
              <a:defRPr sz="4000" b="1" kern="0" cap="none" baseline="0">
                <a:solidFill>
                  <a:schemeClr val="tx1"/>
                </a:solidFill>
              </a:defRPr>
            </a:lvl1pPr>
          </a:lstStyle>
          <a:p>
            <a:r>
              <a:rPr lang="en-US" noProof="1"/>
              <a:t>Chapter title</a:t>
            </a:r>
            <a:endParaRPr lang="en-US" noProof="1"/>
          </a:p>
        </p:txBody>
      </p:sp>
      <p:sp>
        <p:nvSpPr>
          <p:cNvPr id="3" name="RectangleCol"/>
          <p:cNvSpPr>
            <a:spLocks noSelect="1" noChangeAspect="1"/>
          </p:cNvSpPr>
          <p:nvPr userDrawn="1"/>
        </p:nvSpPr>
        <p:spPr>
          <a:xfrm>
            <a:off x="0" y="99"/>
            <a:ext cx="10969625" cy="2055600"/>
          </a:xfrm>
          <a:prstGeom prst="rect">
            <a:avLst/>
          </a:prstGeom>
          <a:solidFill>
            <a:schemeClr val="accent1"/>
          </a:solidFill>
          <a:ln w="9525" cap="flat" cmpd="sng" algn="ctr">
            <a:noFill/>
            <a:prstDash val="solid"/>
          </a:ln>
          <a:effectLst/>
        </p:spPr>
        <p:txBody>
          <a:bodyPr rtlCol="0" anchor="ctr"/>
          <a:lstStyle/>
          <a:p>
            <a:pPr marL="0" marR="0" indent="0" algn="ctr" defTabSz="914400" eaLnBrk="1" fontAlgn="auto" latinLnBrk="0" hangingPunct="1">
              <a:lnSpc>
                <a:spcPct val="100000"/>
              </a:lnSpc>
              <a:spcBef>
                <a:spcPts val="0"/>
              </a:spcBef>
              <a:spcAft>
                <a:spcPts val="0"/>
              </a:spcAft>
              <a:buClrTx/>
              <a:buSzTx/>
              <a:buFontTx/>
              <a:buNone/>
            </a:pPr>
            <a:endParaRPr kumimoji="0" lang="de-DE" sz="1800" b="0" i="0" u="none" strike="noStrike" kern="0" cap="none" spc="0" normalizeH="0" baseline="0" noProof="0">
              <a:ln>
                <a:noFill/>
              </a:ln>
              <a:solidFill>
                <a:srgbClr val="000000"/>
              </a:solidFill>
              <a:effectLst/>
              <a:uLnTx/>
              <a:uFillTx/>
              <a:latin typeface="Bosch Office Sans"/>
              <a:ea typeface="+mn-ea"/>
              <a:cs typeface="+mn-cs"/>
            </a:endParaRPr>
          </a:p>
        </p:txBody>
      </p:sp>
      <p:sp>
        <p:nvSpPr>
          <p:cNvPr id="4" name="Text Placeholder 3"/>
          <p:cNvSpPr>
            <a:spLocks noGrp="1"/>
          </p:cNvSpPr>
          <p:nvPr>
            <p:ph type="ctrTitle" hasCustomPrompt="1"/>
          </p:nvPr>
        </p:nvSpPr>
        <p:spPr>
          <a:xfrm>
            <a:off x="465781" y="98"/>
            <a:ext cx="2207942" cy="2055600"/>
          </a:xfrm>
        </p:spPr>
        <p:txBody>
          <a:bodyPr bIns="72000" anchor="ctr"/>
          <a:lstStyle>
            <a:lvl1pPr marL="0" indent="0">
              <a:lnSpc>
                <a:spcPct val="100000"/>
              </a:lnSpc>
              <a:spcBef>
                <a:spcPts val="500"/>
              </a:spcBef>
              <a:buFontTx/>
              <a:buNone/>
              <a:defRPr sz="15000" b="1" kern="0" baseline="0">
                <a:solidFill>
                  <a:schemeClr val="bg1"/>
                </a:solidFill>
              </a:defRPr>
            </a:lvl1pPr>
            <a:lvl2pPr marL="198120" indent="0">
              <a:buFontTx/>
              <a:buNone/>
              <a:defRPr/>
            </a:lvl2pPr>
            <a:lvl3pPr marL="414020" indent="0">
              <a:buFontTx/>
              <a:buNone/>
              <a:defRPr/>
            </a:lvl3pPr>
            <a:lvl4pPr marL="612140" indent="0">
              <a:buFontTx/>
              <a:buNone/>
              <a:defRPr/>
            </a:lvl4pPr>
            <a:lvl5pPr marL="612140" indent="0">
              <a:buFontTx/>
              <a:buNone/>
              <a:defRPr/>
            </a:lvl5pPr>
          </a:lstStyle>
          <a:p>
            <a:pPr lvl="0"/>
            <a:r>
              <a:rPr lang="en-US"/>
              <a:t>00</a:t>
            </a:r>
            <a:endParaRPr lang="en-US"/>
          </a:p>
        </p:txBody>
      </p:sp>
      <p:pic>
        <p:nvPicPr>
          <p:cNvPr id="7" name="SuperGraphic"/>
          <p:cNvPicPr>
            <a:picLocks noSelect="1"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6102000"/>
            <a:ext cx="10969200" cy="68556"/>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showMasterSp="0" userDrawn="1">
  <p:cSld name="Chapter vertical ">
    <p:spTree>
      <p:nvGrpSpPr>
        <p:cNvPr id="1" name=""/>
        <p:cNvGrpSpPr/>
        <p:nvPr/>
      </p:nvGrpSpPr>
      <p:grpSpPr>
        <a:xfrm>
          <a:off x="0" y="0"/>
          <a:ext cx="0" cy="0"/>
          <a:chOff x="0" y="0"/>
          <a:chExt cx="0" cy="0"/>
        </a:xfrm>
      </p:grpSpPr>
      <p:pic>
        <p:nvPicPr>
          <p:cNvPr id="7" name="Logo"/>
          <p:cNvPicPr>
            <a:picLocks noSelect="1"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779054" y="5676108"/>
            <a:ext cx="1015200" cy="276683"/>
          </a:xfrm>
          <a:prstGeom prst="rect">
            <a:avLst/>
          </a:prstGeom>
        </p:spPr>
      </p:pic>
      <p:sp>
        <p:nvSpPr>
          <p:cNvPr id="6" name="Chapter_title"/>
          <p:cNvSpPr>
            <a:spLocks noGrp="1"/>
          </p:cNvSpPr>
          <p:nvPr>
            <p:ph type="body" sz="quarter" idx="15" hasCustomPrompt="1"/>
          </p:nvPr>
        </p:nvSpPr>
        <p:spPr>
          <a:xfrm>
            <a:off x="3279831" y="1200075"/>
            <a:ext cx="7072741" cy="3142785"/>
          </a:xfrm>
          <a:ln w="0">
            <a:noFill/>
          </a:ln>
          <a:effectLst/>
        </p:spPr>
        <p:txBody>
          <a:bodyPr anchor="t" anchorCtr="0">
            <a:normAutofit/>
          </a:bodyPr>
          <a:lstStyle>
            <a:lvl1pPr marL="0" indent="0" algn="l">
              <a:lnSpc>
                <a:spcPct val="100000"/>
              </a:lnSpc>
              <a:spcBef>
                <a:spcPts val="0"/>
              </a:spcBef>
              <a:buFontTx/>
              <a:buNone/>
              <a:defRPr sz="4000" b="1" kern="0" cap="none" baseline="0">
                <a:solidFill>
                  <a:schemeClr val="tx1"/>
                </a:solidFill>
              </a:defRPr>
            </a:lvl1pPr>
          </a:lstStyle>
          <a:p>
            <a:r>
              <a:rPr lang="en-US" noProof="1"/>
              <a:t>Chapter title</a:t>
            </a:r>
            <a:endParaRPr lang="en-US" noProof="1"/>
          </a:p>
        </p:txBody>
      </p:sp>
      <p:sp>
        <p:nvSpPr>
          <p:cNvPr id="3" name="RectangleCol"/>
          <p:cNvSpPr>
            <a:spLocks noSelect="1" noChangeAspect="1"/>
          </p:cNvSpPr>
          <p:nvPr userDrawn="1"/>
        </p:nvSpPr>
        <p:spPr>
          <a:xfrm>
            <a:off x="-1" y="99"/>
            <a:ext cx="2739600" cy="6170514"/>
          </a:xfrm>
          <a:prstGeom prst="rect">
            <a:avLst/>
          </a:prstGeom>
          <a:solidFill>
            <a:schemeClr val="accent1"/>
          </a:solidFill>
          <a:ln w="9525" cap="flat" cmpd="sng" algn="ctr">
            <a:noFill/>
            <a:prstDash val="solid"/>
          </a:ln>
          <a:effectLst/>
        </p:spPr>
        <p:txBody>
          <a:bodyPr rtlCol="0" anchor="ctr"/>
          <a:lstStyle/>
          <a:p>
            <a:pPr marL="0" marR="0" indent="0" algn="ctr" defTabSz="914400" eaLnBrk="1" fontAlgn="auto" latinLnBrk="0" hangingPunct="1">
              <a:lnSpc>
                <a:spcPct val="100000"/>
              </a:lnSpc>
              <a:spcBef>
                <a:spcPts val="0"/>
              </a:spcBef>
              <a:spcAft>
                <a:spcPts val="0"/>
              </a:spcAft>
              <a:buClrTx/>
              <a:buSzTx/>
              <a:buFontTx/>
              <a:buNone/>
            </a:pPr>
            <a:endParaRPr kumimoji="0" lang="de-DE" sz="1800" b="0" i="0" u="none" strike="noStrike" kern="0" cap="none" spc="0" normalizeH="0" baseline="0" noProof="0">
              <a:ln>
                <a:noFill/>
              </a:ln>
              <a:solidFill>
                <a:srgbClr val="000000"/>
              </a:solidFill>
              <a:effectLst/>
              <a:uLnTx/>
              <a:uFillTx/>
              <a:latin typeface="Bosch Office Sans"/>
              <a:ea typeface="+mn-ea"/>
              <a:cs typeface="+mn-cs"/>
            </a:endParaRPr>
          </a:p>
        </p:txBody>
      </p:sp>
      <p:sp>
        <p:nvSpPr>
          <p:cNvPr id="4" name="Text Placeholder 3"/>
          <p:cNvSpPr>
            <a:spLocks noGrp="1"/>
          </p:cNvSpPr>
          <p:nvPr>
            <p:ph type="ctrTitle" hasCustomPrompt="1"/>
          </p:nvPr>
        </p:nvSpPr>
        <p:spPr>
          <a:xfrm>
            <a:off x="464400" y="99"/>
            <a:ext cx="2207942" cy="2055600"/>
          </a:xfrm>
        </p:spPr>
        <p:txBody>
          <a:bodyPr bIns="72000" anchor="ctr"/>
          <a:lstStyle>
            <a:lvl1pPr marL="0" indent="0">
              <a:lnSpc>
                <a:spcPct val="100000"/>
              </a:lnSpc>
              <a:spcBef>
                <a:spcPts val="500"/>
              </a:spcBef>
              <a:buFontTx/>
              <a:buNone/>
              <a:defRPr sz="15000" b="1" kern="0" baseline="0">
                <a:solidFill>
                  <a:schemeClr val="bg1"/>
                </a:solidFill>
              </a:defRPr>
            </a:lvl1pPr>
            <a:lvl2pPr marL="198120" indent="0">
              <a:buFontTx/>
              <a:buNone/>
              <a:defRPr/>
            </a:lvl2pPr>
            <a:lvl3pPr marL="414020" indent="0">
              <a:buFontTx/>
              <a:buNone/>
              <a:defRPr/>
            </a:lvl3pPr>
            <a:lvl4pPr marL="612140" indent="0">
              <a:buFontTx/>
              <a:buNone/>
              <a:defRPr/>
            </a:lvl4pPr>
            <a:lvl5pPr marL="612140" indent="0">
              <a:buFontTx/>
              <a:buNone/>
              <a:defRPr/>
            </a:lvl5pPr>
          </a:lstStyle>
          <a:p>
            <a:pPr lvl="0"/>
            <a:r>
              <a:rPr lang="en-US"/>
              <a:t>00</a:t>
            </a:r>
            <a:endParaRPr lang="en-US"/>
          </a:p>
        </p:txBody>
      </p:sp>
      <p:pic>
        <p:nvPicPr>
          <p:cNvPr id="5" name="SuperGraphic"/>
          <p:cNvPicPr>
            <a:picLocks noSelect="1" noChangeAspect="1"/>
          </p:cNvPicPr>
          <p:nvPr userDrawn="1"/>
        </p:nvPicPr>
        <p:blipFill>
          <a:blip r:embed="rId3">
            <a:extLst>
              <a:ext uri="{28A0092B-C50C-407E-A947-70E740481C1C}">
                <a14:useLocalDpi xmlns:a14="http://schemas.microsoft.com/office/drawing/2010/main" val="0"/>
              </a:ext>
            </a:extLst>
          </a:blip>
          <a:stretch>
            <a:fillRect/>
          </a:stretch>
        </p:blipFill>
        <p:spPr>
          <a:xfrm>
            <a:off x="10900799" y="0"/>
            <a:ext cx="68562" cy="6170613"/>
          </a:xfrm>
          <a:prstGeom prst="rect">
            <a:avLst/>
          </a:prstGeom>
        </p:spPr>
      </p:pic>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showMasterSp="0" userDrawn="1">
  <p:cSld name="Full picture without text ">
    <p:spTree>
      <p:nvGrpSpPr>
        <p:cNvPr id="1" name=""/>
        <p:cNvGrpSpPr/>
        <p:nvPr/>
      </p:nvGrpSpPr>
      <p:grpSpPr>
        <a:xfrm>
          <a:off x="0" y="0"/>
          <a:ext cx="0" cy="0"/>
          <a:chOff x="0" y="0"/>
          <a:chExt cx="0" cy="0"/>
        </a:xfrm>
      </p:grpSpPr>
      <p:pic>
        <p:nvPicPr>
          <p:cNvPr id="6" name="Logo"/>
          <p:cNvPicPr>
            <a:picLocks noSelect="1"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779054" y="5676108"/>
            <a:ext cx="1015200" cy="276683"/>
          </a:xfrm>
          <a:prstGeom prst="rect">
            <a:avLst/>
          </a:prstGeom>
        </p:spPr>
      </p:pic>
      <p:pic>
        <p:nvPicPr>
          <p:cNvPr id="7" name="SuperGraphic"/>
          <p:cNvPicPr>
            <a:picLocks noSelect="1"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6102000"/>
            <a:ext cx="10969200" cy="68556"/>
          </a:xfrm>
          <a:prstGeom prst="rect">
            <a:avLst/>
          </a:prstGeom>
        </p:spPr>
      </p:pic>
      <p:sp>
        <p:nvSpPr>
          <p:cNvPr id="5" name="Picture Placeholder 4"/>
          <p:cNvSpPr>
            <a:spLocks noGrp="1"/>
          </p:cNvSpPr>
          <p:nvPr>
            <p:ph type="pic" sz="quarter" idx="1" hasCustomPrompt="1"/>
          </p:nvPr>
        </p:nvSpPr>
        <p:spPr>
          <a:xfrm>
            <a:off x="0" y="0"/>
            <a:ext cx="10969625" cy="5536800"/>
          </a:xfrm>
          <a:blipFill dpi="0" rotWithShape="1">
            <a:blip r:embed="rId4">
              <a:alphaModFix amt="70000"/>
            </a:blip>
            <a:srcRect/>
            <a:stretch>
              <a:fillRect/>
            </a:stretch>
          </a:blipFill>
        </p:spPr>
        <p:txBody>
          <a:bodyPr anchor="ctr"/>
          <a:lstStyle>
            <a:lvl1pPr marL="0" indent="0" algn="ctr">
              <a:lnSpc>
                <a:spcPct val="600000"/>
              </a:lnSpc>
              <a:buFontTx/>
              <a:buNone/>
              <a:defRPr sz="900"/>
            </a:lvl1pPr>
          </a:lstStyle>
          <a:p>
            <a:r>
              <a:rPr lang="en-US" noProof="1"/>
              <a:t>Insert photo</a:t>
            </a:r>
            <a:endParaRPr lang="en-US" noProof="1"/>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showMasterSp="0" userDrawn="1">
  <p:cSld name="Full picture with text ">
    <p:spTree>
      <p:nvGrpSpPr>
        <p:cNvPr id="1" name=""/>
        <p:cNvGrpSpPr/>
        <p:nvPr/>
      </p:nvGrpSpPr>
      <p:grpSpPr>
        <a:xfrm>
          <a:off x="0" y="0"/>
          <a:ext cx="0" cy="0"/>
          <a:chOff x="0" y="0"/>
          <a:chExt cx="0" cy="0"/>
        </a:xfrm>
      </p:grpSpPr>
      <p:pic>
        <p:nvPicPr>
          <p:cNvPr id="6" name="Logo"/>
          <p:cNvPicPr>
            <a:picLocks noSelect="1"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779054" y="5676108"/>
            <a:ext cx="1015200" cy="276683"/>
          </a:xfrm>
          <a:prstGeom prst="rect">
            <a:avLst/>
          </a:prstGeom>
        </p:spPr>
      </p:pic>
      <p:pic>
        <p:nvPicPr>
          <p:cNvPr id="7" name="SuperGraphic"/>
          <p:cNvPicPr>
            <a:picLocks noSelect="1"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6102000"/>
            <a:ext cx="10969200" cy="68556"/>
          </a:xfrm>
          <a:prstGeom prst="rect">
            <a:avLst/>
          </a:prstGeom>
        </p:spPr>
      </p:pic>
      <p:sp>
        <p:nvSpPr>
          <p:cNvPr id="9" name="Picture Placeholder 4"/>
          <p:cNvSpPr>
            <a:spLocks noGrp="1"/>
          </p:cNvSpPr>
          <p:nvPr>
            <p:ph type="pic" sz="quarter" idx="1" hasCustomPrompt="1"/>
          </p:nvPr>
        </p:nvSpPr>
        <p:spPr>
          <a:xfrm>
            <a:off x="0" y="0"/>
            <a:ext cx="10969625" cy="5536800"/>
          </a:xfrm>
          <a:blipFill dpi="0" rotWithShape="1">
            <a:blip r:embed="rId4">
              <a:alphaModFix amt="70000"/>
            </a:blip>
            <a:srcRect/>
            <a:stretch>
              <a:fillRect/>
            </a:stretch>
          </a:blipFill>
        </p:spPr>
        <p:txBody>
          <a:bodyPr anchor="ctr"/>
          <a:lstStyle>
            <a:lvl1pPr marL="0" indent="0" algn="ctr">
              <a:lnSpc>
                <a:spcPct val="600000"/>
              </a:lnSpc>
              <a:buFontTx/>
              <a:buNone/>
              <a:defRPr sz="900"/>
            </a:lvl1pPr>
          </a:lstStyle>
          <a:p>
            <a:r>
              <a:rPr lang="en-US" noProof="1"/>
              <a:t>Insert photo</a:t>
            </a:r>
            <a:endParaRPr lang="en-US" noProof="1"/>
          </a:p>
        </p:txBody>
      </p:sp>
      <p:sp>
        <p:nvSpPr>
          <p:cNvPr id="3" name="Text Placeholder 2"/>
          <p:cNvSpPr>
            <a:spLocks noGrp="1"/>
          </p:cNvSpPr>
          <p:nvPr>
            <p:ph type="body" sz="quarter" idx="2" hasCustomPrompt="1"/>
          </p:nvPr>
        </p:nvSpPr>
        <p:spPr>
          <a:xfrm>
            <a:off x="406800" y="1036800"/>
            <a:ext cx="3780000" cy="2484000"/>
          </a:xfrm>
          <a:solidFill>
            <a:schemeClr val="bg1"/>
          </a:solidFill>
        </p:spPr>
        <p:txBody>
          <a:bodyPr lIns="252000" tIns="216000" rIns="252000" bIns="216000">
            <a:normAutofit/>
          </a:bodyPr>
          <a:lstStyle>
            <a:lvl1pPr marL="0" indent="0">
              <a:buFontTx/>
              <a:buNone/>
              <a:defRPr/>
            </a:lvl1pPr>
            <a:lvl2pPr marL="198120" indent="0">
              <a:buFontTx/>
              <a:buNone/>
              <a:defRPr/>
            </a:lvl2pPr>
            <a:lvl3pPr marL="414020" indent="0">
              <a:buFontTx/>
              <a:buNone/>
              <a:defRPr/>
            </a:lvl3pPr>
            <a:lvl4pPr marL="612140" indent="0">
              <a:buFontTx/>
              <a:buNone/>
              <a:defRPr/>
            </a:lvl4pPr>
            <a:lvl5pPr marL="612140" indent="0">
              <a:buFontTx/>
              <a:buNone/>
              <a:defRPr/>
            </a:lvl5pPr>
          </a:lstStyle>
          <a:p>
            <a:pPr lvl="0"/>
            <a:r>
              <a:rPr lang="en-US" noProof="1"/>
              <a:t>Add Text</a:t>
            </a:r>
            <a:endParaRPr lang="en-US" noProof="1"/>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showMasterSp="0" userDrawn="1">
  <p:cSld name="Split horizontal ">
    <p:spTree>
      <p:nvGrpSpPr>
        <p:cNvPr id="1" name=""/>
        <p:cNvGrpSpPr/>
        <p:nvPr/>
      </p:nvGrpSpPr>
      <p:grpSpPr>
        <a:xfrm>
          <a:off x="0" y="0"/>
          <a:ext cx="0" cy="0"/>
          <a:chOff x="0" y="0"/>
          <a:chExt cx="0" cy="0"/>
        </a:xfrm>
      </p:grpSpPr>
      <p:pic>
        <p:nvPicPr>
          <p:cNvPr id="8" name="Logo"/>
          <p:cNvPicPr>
            <a:picLocks noSelect="1"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779054" y="5676108"/>
            <a:ext cx="1015200" cy="276683"/>
          </a:xfrm>
          <a:prstGeom prst="rect">
            <a:avLst/>
          </a:prstGeom>
        </p:spPr>
      </p:pic>
      <p:pic>
        <p:nvPicPr>
          <p:cNvPr id="7" name="SuperGraphic"/>
          <p:cNvPicPr>
            <a:picLocks noSelect="1"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6102000"/>
            <a:ext cx="10969200" cy="68556"/>
          </a:xfrm>
          <a:prstGeom prst="rect">
            <a:avLst/>
          </a:prstGeom>
        </p:spPr>
      </p:pic>
      <p:sp>
        <p:nvSpPr>
          <p:cNvPr id="5" name="Picture Placeholder 4"/>
          <p:cNvSpPr>
            <a:spLocks noGrp="1"/>
          </p:cNvSpPr>
          <p:nvPr>
            <p:ph type="pic" sz="quarter" idx="1" hasCustomPrompt="1"/>
          </p:nvPr>
        </p:nvSpPr>
        <p:spPr>
          <a:xfrm>
            <a:off x="0" y="0"/>
            <a:ext cx="10969625" cy="3085200"/>
          </a:xfrm>
          <a:blipFill dpi="0" rotWithShape="1">
            <a:blip r:embed="rId4">
              <a:alphaModFix amt="70000"/>
            </a:blip>
            <a:srcRect/>
            <a:stretch>
              <a:fillRect/>
            </a:stretch>
          </a:blipFill>
        </p:spPr>
        <p:txBody>
          <a:bodyPr anchor="ctr"/>
          <a:lstStyle>
            <a:lvl1pPr marL="0" indent="0" algn="ctr">
              <a:lnSpc>
                <a:spcPct val="600000"/>
              </a:lnSpc>
              <a:buFontTx/>
              <a:buNone/>
              <a:defRPr sz="900"/>
            </a:lvl1pPr>
          </a:lstStyle>
          <a:p>
            <a:r>
              <a:rPr lang="en-US" noProof="1"/>
              <a:t>Insert photo</a:t>
            </a:r>
            <a:endParaRPr lang="en-US" noProof="1"/>
          </a:p>
        </p:txBody>
      </p:sp>
      <p:sp>
        <p:nvSpPr>
          <p:cNvPr id="4" name="Text Placeholder 2"/>
          <p:cNvSpPr>
            <a:spLocks noGrp="1"/>
          </p:cNvSpPr>
          <p:nvPr>
            <p:ph type="body" sz="quarter" idx="2" hasCustomPrompt="1"/>
          </p:nvPr>
        </p:nvSpPr>
        <p:spPr>
          <a:xfrm>
            <a:off x="205199" y="3495705"/>
            <a:ext cx="10558800" cy="2041094"/>
          </a:xfrm>
        </p:spPr>
        <p:txBody>
          <a:bodyPr lIns="0" tIns="0" rIns="0" bIns="0">
            <a:normAutofit/>
          </a:bodyPr>
          <a:lstStyle>
            <a:lvl1pPr marL="0" indent="0">
              <a:buFontTx/>
              <a:buNone/>
              <a:defRPr/>
            </a:lvl1pPr>
            <a:lvl2pPr marL="198120" indent="0">
              <a:buFontTx/>
              <a:buNone/>
              <a:defRPr/>
            </a:lvl2pPr>
            <a:lvl3pPr marL="414020" indent="0">
              <a:buFontTx/>
              <a:buNone/>
              <a:defRPr/>
            </a:lvl3pPr>
            <a:lvl4pPr marL="612140" indent="0">
              <a:buFontTx/>
              <a:buNone/>
              <a:defRPr/>
            </a:lvl4pPr>
            <a:lvl5pPr marL="612140" indent="0">
              <a:buFontTx/>
              <a:buNone/>
              <a:defRPr/>
            </a:lvl5pPr>
          </a:lstStyle>
          <a:p>
            <a:pPr lvl="0"/>
            <a:r>
              <a:rPr lang="en-US" noProof="1"/>
              <a:t>Add Text</a:t>
            </a:r>
            <a:endParaRPr lang="en-US" noProof="1"/>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showMasterSp="0" userDrawn="1">
  <p:cSld name="Split vertical ">
    <p:spTree>
      <p:nvGrpSpPr>
        <p:cNvPr id="1" name=""/>
        <p:cNvGrpSpPr/>
        <p:nvPr/>
      </p:nvGrpSpPr>
      <p:grpSpPr>
        <a:xfrm>
          <a:off x="0" y="0"/>
          <a:ext cx="0" cy="0"/>
          <a:chOff x="0" y="0"/>
          <a:chExt cx="0" cy="0"/>
        </a:xfrm>
      </p:grpSpPr>
      <p:pic>
        <p:nvPicPr>
          <p:cNvPr id="7" name="Logo"/>
          <p:cNvPicPr>
            <a:picLocks noSelect="1"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779054" y="5676108"/>
            <a:ext cx="1015200" cy="276683"/>
          </a:xfrm>
          <a:prstGeom prst="rect">
            <a:avLst/>
          </a:prstGeom>
        </p:spPr>
      </p:pic>
      <p:sp>
        <p:nvSpPr>
          <p:cNvPr id="5" name="Picture Placeholder 4"/>
          <p:cNvSpPr>
            <a:spLocks noGrp="1"/>
          </p:cNvSpPr>
          <p:nvPr>
            <p:ph type="pic" sz="quarter" idx="1" hasCustomPrompt="1"/>
          </p:nvPr>
        </p:nvSpPr>
        <p:spPr>
          <a:xfrm>
            <a:off x="0" y="0"/>
            <a:ext cx="5486400" cy="6170400"/>
          </a:xfrm>
          <a:blipFill dpi="0" rotWithShape="1">
            <a:blip r:embed="rId3">
              <a:alphaModFix amt="70000"/>
            </a:blip>
            <a:srcRect/>
            <a:stretch>
              <a:fillRect/>
            </a:stretch>
          </a:blipFill>
        </p:spPr>
        <p:txBody>
          <a:bodyPr anchor="ctr"/>
          <a:lstStyle>
            <a:lvl1pPr marL="0" indent="0" algn="ctr">
              <a:lnSpc>
                <a:spcPct val="600000"/>
              </a:lnSpc>
              <a:buFontTx/>
              <a:buNone/>
              <a:defRPr sz="900"/>
            </a:lvl1pPr>
          </a:lstStyle>
          <a:p>
            <a:r>
              <a:rPr lang="en-US" noProof="1"/>
              <a:t>Insert photo</a:t>
            </a:r>
            <a:endParaRPr lang="en-US" noProof="1"/>
          </a:p>
        </p:txBody>
      </p:sp>
      <p:sp>
        <p:nvSpPr>
          <p:cNvPr id="4" name="Text Placeholder 2"/>
          <p:cNvSpPr>
            <a:spLocks noGrp="1"/>
          </p:cNvSpPr>
          <p:nvPr>
            <p:ph type="body" sz="quarter" idx="2" hasCustomPrompt="1"/>
          </p:nvPr>
        </p:nvSpPr>
        <p:spPr>
          <a:xfrm>
            <a:off x="5895302" y="410492"/>
            <a:ext cx="4596486" cy="5126308"/>
          </a:xfrm>
        </p:spPr>
        <p:txBody>
          <a:bodyPr lIns="0" tIns="0" rIns="0" bIns="0">
            <a:normAutofit/>
          </a:bodyPr>
          <a:lstStyle>
            <a:lvl1pPr marL="0" indent="0">
              <a:buFontTx/>
              <a:buNone/>
              <a:defRPr/>
            </a:lvl1pPr>
            <a:lvl2pPr marL="198120" indent="0">
              <a:buFontTx/>
              <a:buNone/>
              <a:defRPr/>
            </a:lvl2pPr>
            <a:lvl3pPr marL="414020" indent="0">
              <a:buFontTx/>
              <a:buNone/>
              <a:defRPr/>
            </a:lvl3pPr>
            <a:lvl4pPr marL="612140" indent="0">
              <a:buFontTx/>
              <a:buNone/>
              <a:defRPr/>
            </a:lvl4pPr>
            <a:lvl5pPr marL="612140" indent="0">
              <a:buFontTx/>
              <a:buNone/>
              <a:defRPr/>
            </a:lvl5pPr>
          </a:lstStyle>
          <a:p>
            <a:pPr lvl="0"/>
            <a:r>
              <a:rPr lang="en-US" noProof="1"/>
              <a:t>Add Text</a:t>
            </a:r>
            <a:endParaRPr lang="en-US" noProof="1"/>
          </a:p>
        </p:txBody>
      </p:sp>
      <p:pic>
        <p:nvPicPr>
          <p:cNvPr id="6" name="SuperGraphic"/>
          <p:cNvPicPr>
            <a:picLocks noSelect="1" noChangeAspect="1"/>
          </p:cNvPicPr>
          <p:nvPr userDrawn="1"/>
        </p:nvPicPr>
        <p:blipFill>
          <a:blip r:embed="rId4">
            <a:extLst>
              <a:ext uri="{28A0092B-C50C-407E-A947-70E740481C1C}">
                <a14:useLocalDpi xmlns:a14="http://schemas.microsoft.com/office/drawing/2010/main" val="0"/>
              </a:ext>
            </a:extLst>
          </a:blip>
          <a:stretch>
            <a:fillRect/>
          </a:stretch>
        </p:blipFill>
        <p:spPr>
          <a:xfrm>
            <a:off x="10900799" y="0"/>
            <a:ext cx="68562" cy="6170613"/>
          </a:xfrm>
          <a:prstGeom prst="rect">
            <a:avLst/>
          </a:prstGeom>
        </p:spPr>
      </p:pic>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1 Content ">
    <p:spTree>
      <p:nvGrpSpPr>
        <p:cNvPr id="1" name=""/>
        <p:cNvGrpSpPr/>
        <p:nvPr/>
      </p:nvGrpSpPr>
      <p:grpSpPr>
        <a:xfrm>
          <a:off x="0" y="0"/>
          <a:ext cx="0" cy="0"/>
          <a:chOff x="0" y="0"/>
          <a:chExt cx="0" cy="0"/>
        </a:xfrm>
      </p:grpSpPr>
      <p:sp>
        <p:nvSpPr>
          <p:cNvPr id="13" name="Title 1"/>
          <p:cNvSpPr>
            <a:spLocks noGrp="1"/>
          </p:cNvSpPr>
          <p:nvPr>
            <p:ph type="title" hasCustomPrompt="1"/>
          </p:nvPr>
        </p:nvSpPr>
        <p:spPr>
          <a:xfrm>
            <a:off x="205200" y="648000"/>
            <a:ext cx="10558800" cy="388800"/>
          </a:xfrm>
        </p:spPr>
        <p:txBody>
          <a:bodyPr/>
          <a:lstStyle>
            <a:lvl1pPr>
              <a:defRPr kern="1200" baseline="0"/>
            </a:lvl1pPr>
          </a:lstStyle>
          <a:p>
            <a:r>
              <a:rPr lang="en-US" noProof="1"/>
              <a:t>Add Slide Title</a:t>
            </a:r>
            <a:endParaRPr lang="en-US" noProof="1"/>
          </a:p>
        </p:txBody>
      </p:sp>
      <p:sp>
        <p:nvSpPr>
          <p:cNvPr id="15" name="Chapter_titleonly"/>
          <p:cNvSpPr>
            <a:spLocks noGrp="1"/>
          </p:cNvSpPr>
          <p:nvPr>
            <p:ph type="body" sz="quarter" idx="15" hasCustomPrompt="1"/>
          </p:nvPr>
        </p:nvSpPr>
        <p:spPr>
          <a:xfrm>
            <a:off x="205200" y="259200"/>
            <a:ext cx="10558800" cy="388800"/>
          </a:xfrm>
        </p:spPr>
        <p:txBody>
          <a:bodyPr/>
          <a:lstStyle>
            <a:lvl1pPr marL="0" indent="0">
              <a:lnSpc>
                <a:spcPct val="89000"/>
              </a:lnSpc>
              <a:spcBef>
                <a:spcPts val="0"/>
              </a:spcBef>
              <a:buNone/>
              <a:defRPr sz="2800" kern="0" baseline="0">
                <a:solidFill>
                  <a:schemeClr val="tx1"/>
                </a:solidFill>
              </a:defRPr>
            </a:lvl1pPr>
            <a:lvl2pPr marL="233680" indent="0">
              <a:buNone/>
              <a:defRPr sz="2800"/>
            </a:lvl2pPr>
            <a:lvl3pPr marL="525780" indent="0">
              <a:buNone/>
              <a:defRPr sz="2800"/>
            </a:lvl3pPr>
            <a:lvl4pPr marL="748665" indent="0">
              <a:buNone/>
              <a:defRPr sz="2800"/>
            </a:lvl4pPr>
            <a:lvl5pPr marL="748665" indent="0">
              <a:buNone/>
              <a:defRPr sz="2800"/>
            </a:lvl5pPr>
          </a:lstStyle>
          <a:p>
            <a:pPr lvl="0"/>
            <a:r>
              <a:rPr lang="en-US" noProof="1"/>
              <a:t>Add Chapter Title</a:t>
            </a:r>
            <a:endParaRPr lang="en-US" noProof="1"/>
          </a:p>
        </p:txBody>
      </p:sp>
      <p:sp>
        <p:nvSpPr>
          <p:cNvPr id="10" name="AttachmentRemark"/>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Bosch Office Sans" pitchFamily="34" charset="0"/>
              </a:rPr>
              <a:t> </a:t>
            </a:r>
            <a:endParaRPr lang="en-US" sz="550" b="0" i="0" u="none" strike="noStrike" kern="0" baseline="0" noProof="1">
              <a:solidFill>
                <a:srgbClr val="000000"/>
              </a:solidFill>
              <a:latin typeface="Bosch Office Sans" pitchFamily="34" charset="0"/>
            </a:endParaRPr>
          </a:p>
        </p:txBody>
      </p:sp>
      <p:sp>
        <p:nvSpPr>
          <p:cNvPr id="5" name="Inhaltsplatzhalter 4"/>
          <p:cNvSpPr>
            <a:spLocks noGrp="1"/>
          </p:cNvSpPr>
          <p:nvPr>
            <p:ph sz="quarter" idx="1" hasCustomPrompt="1"/>
          </p:nvPr>
        </p:nvSpPr>
        <p:spPr>
          <a:xfrm>
            <a:off x="205200" y="1296000"/>
            <a:ext cx="10558800" cy="4240800"/>
          </a:xfrm>
        </p:spPr>
        <p:txBody>
          <a:bodyPr/>
          <a:lstStyle>
            <a:lvl1pPr>
              <a:defRPr/>
            </a:lvl1pPr>
          </a:lstStyle>
          <a:p>
            <a:pPr lvl="0"/>
            <a:r>
              <a:rPr lang="en-US" noProof="1"/>
              <a:t>Add Text</a:t>
            </a:r>
            <a:endParaRPr lang="en-US" noProof="1"/>
          </a:p>
          <a:p>
            <a:pPr lvl="1"/>
            <a:r>
              <a:rPr lang="en-US" noProof="1"/>
              <a:t>Zweite Ebene</a:t>
            </a:r>
            <a:endParaRPr lang="en-US" noProof="1"/>
          </a:p>
          <a:p>
            <a:pPr lvl="2"/>
            <a:r>
              <a:rPr lang="en-US" noProof="1"/>
              <a:t>Dritte Ebene</a:t>
            </a:r>
            <a:endParaRPr lang="en-US" noProof="1"/>
          </a:p>
          <a:p>
            <a:pPr lvl="3"/>
            <a:r>
              <a:rPr lang="en-US" noProof="1"/>
              <a:t>Vierte Ebene</a:t>
            </a:r>
            <a:endParaRPr lang="en-US" noProof="1"/>
          </a:p>
          <a:p>
            <a:pPr lvl="4"/>
            <a:r>
              <a:rPr lang="en-US" noProof="1"/>
              <a:t>Fünfte Ebene</a:t>
            </a:r>
            <a:endParaRPr lang="en-US" noProof="1"/>
          </a:p>
        </p:txBody>
      </p:sp>
      <p:sp>
        <p:nvSpPr>
          <p:cNvPr id="2" name="Slide Number Placeholder 1"/>
          <p:cNvSpPr>
            <a:spLocks noGrp="1"/>
          </p:cNvSpPr>
          <p:nvPr>
            <p:ph type="sldNum" sz="quarter" idx="12"/>
          </p:nvPr>
        </p:nvSpPr>
        <p:spPr/>
        <p:txBody>
          <a:bodyPr/>
          <a:lstStyle/>
          <a:p>
            <a:fld id="{4898AEC0-503E-4FA4-859C-D0F72D6E3F79}" type="slidenum">
              <a:rPr lang="en-US" noProof="1" smtClean="0"/>
            </a:fld>
            <a:endParaRPr lang="en-US" noProof="1"/>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2 Vertical contents ">
    <p:spTree>
      <p:nvGrpSpPr>
        <p:cNvPr id="1" name=""/>
        <p:cNvGrpSpPr/>
        <p:nvPr/>
      </p:nvGrpSpPr>
      <p:grpSpPr>
        <a:xfrm>
          <a:off x="0" y="0"/>
          <a:ext cx="0" cy="0"/>
          <a:chOff x="0" y="0"/>
          <a:chExt cx="0" cy="0"/>
        </a:xfrm>
      </p:grpSpPr>
      <p:sp>
        <p:nvSpPr>
          <p:cNvPr id="17" name="Chapter_titleonly"/>
          <p:cNvSpPr>
            <a:spLocks noGrp="1"/>
          </p:cNvSpPr>
          <p:nvPr>
            <p:ph type="body" sz="quarter" idx="15" hasCustomPrompt="1"/>
          </p:nvPr>
        </p:nvSpPr>
        <p:spPr>
          <a:xfrm>
            <a:off x="205200" y="259200"/>
            <a:ext cx="10558800" cy="388800"/>
          </a:xfrm>
        </p:spPr>
        <p:txBody>
          <a:bodyPr/>
          <a:lstStyle>
            <a:lvl1pPr marL="0" indent="0">
              <a:lnSpc>
                <a:spcPct val="89000"/>
              </a:lnSpc>
              <a:spcBef>
                <a:spcPts val="0"/>
              </a:spcBef>
              <a:buNone/>
              <a:defRPr sz="2800" kern="0" baseline="0">
                <a:solidFill>
                  <a:schemeClr val="tx1"/>
                </a:solidFill>
              </a:defRPr>
            </a:lvl1pPr>
            <a:lvl2pPr marL="233680" indent="0">
              <a:buNone/>
              <a:defRPr sz="2800"/>
            </a:lvl2pPr>
            <a:lvl3pPr marL="525780" indent="0">
              <a:buNone/>
              <a:defRPr sz="2800"/>
            </a:lvl3pPr>
            <a:lvl4pPr marL="748665" indent="0">
              <a:buNone/>
              <a:defRPr sz="2800"/>
            </a:lvl4pPr>
            <a:lvl5pPr marL="748665" indent="0">
              <a:buNone/>
              <a:defRPr sz="2800"/>
            </a:lvl5pPr>
          </a:lstStyle>
          <a:p>
            <a:pPr lvl="0"/>
            <a:r>
              <a:rPr lang="en-US" noProof="1"/>
              <a:t>Add Chapter Title</a:t>
            </a:r>
            <a:endParaRPr lang="en-US" noProof="1"/>
          </a:p>
        </p:txBody>
      </p:sp>
      <p:sp>
        <p:nvSpPr>
          <p:cNvPr id="13" name="Title 1"/>
          <p:cNvSpPr>
            <a:spLocks noGrp="1"/>
          </p:cNvSpPr>
          <p:nvPr>
            <p:ph type="title" hasCustomPrompt="1"/>
          </p:nvPr>
        </p:nvSpPr>
        <p:spPr>
          <a:xfrm>
            <a:off x="205200" y="648000"/>
            <a:ext cx="10558800" cy="388800"/>
          </a:xfrm>
        </p:spPr>
        <p:txBody>
          <a:bodyPr/>
          <a:lstStyle>
            <a:lvl1pPr>
              <a:defRPr kern="1200" baseline="0"/>
            </a:lvl1pPr>
          </a:lstStyle>
          <a:p>
            <a:r>
              <a:rPr lang="en-US" noProof="1"/>
              <a:t>Add Slide Title</a:t>
            </a:r>
            <a:endParaRPr lang="en-US" noProof="1"/>
          </a:p>
        </p:txBody>
      </p:sp>
      <p:sp>
        <p:nvSpPr>
          <p:cNvPr id="3" name="Content Placeholder 1"/>
          <p:cNvSpPr>
            <a:spLocks noGrp="1"/>
          </p:cNvSpPr>
          <p:nvPr>
            <p:ph sz="half" idx="1" hasCustomPrompt="1"/>
          </p:nvPr>
        </p:nvSpPr>
        <p:spPr>
          <a:xfrm>
            <a:off x="205200" y="1296000"/>
            <a:ext cx="4914000" cy="4240800"/>
          </a:xfrm>
        </p:spPr>
        <p:txBody>
          <a:bodyPr/>
          <a:lstStyle>
            <a:lvl1pPr>
              <a:defRPr/>
            </a:lvl1pPr>
          </a:lstStyle>
          <a:p>
            <a:pPr lvl="0"/>
            <a:r>
              <a:rPr lang="en-US" noProof="1"/>
              <a:t>Add Text</a:t>
            </a:r>
            <a:endParaRPr lang="en-US" noProof="1"/>
          </a:p>
          <a:p>
            <a:pPr lvl="1"/>
            <a:r>
              <a:rPr lang="en-US" noProof="1"/>
              <a:t>Zweite Ebene</a:t>
            </a:r>
            <a:endParaRPr lang="en-US" noProof="1"/>
          </a:p>
          <a:p>
            <a:pPr lvl="2"/>
            <a:r>
              <a:rPr lang="en-US" noProof="1"/>
              <a:t>Dritte Ebene</a:t>
            </a:r>
            <a:endParaRPr lang="en-US" noProof="1"/>
          </a:p>
          <a:p>
            <a:pPr lvl="3"/>
            <a:r>
              <a:rPr lang="en-US" noProof="1"/>
              <a:t>Vierte Ebene</a:t>
            </a:r>
            <a:endParaRPr lang="en-US" noProof="1"/>
          </a:p>
          <a:p>
            <a:pPr lvl="4"/>
            <a:r>
              <a:rPr lang="en-US" noProof="1"/>
              <a:t>Fünfte Ebene</a:t>
            </a:r>
            <a:endParaRPr lang="en-US" noProof="1"/>
          </a:p>
        </p:txBody>
      </p:sp>
      <p:sp>
        <p:nvSpPr>
          <p:cNvPr id="4" name="Content Placeholder 2"/>
          <p:cNvSpPr>
            <a:spLocks noGrp="1"/>
          </p:cNvSpPr>
          <p:nvPr>
            <p:ph sz="half" idx="2" hasCustomPrompt="1"/>
          </p:nvPr>
        </p:nvSpPr>
        <p:spPr>
          <a:xfrm>
            <a:off x="5853600" y="1295999"/>
            <a:ext cx="4914000" cy="4240800"/>
          </a:xfrm>
        </p:spPr>
        <p:txBody>
          <a:bodyPr/>
          <a:lstStyle>
            <a:lvl1pPr>
              <a:defRPr/>
            </a:lvl1pPr>
          </a:lstStyle>
          <a:p>
            <a:pPr lvl="0"/>
            <a:r>
              <a:rPr lang="en-US" noProof="1"/>
              <a:t>Add Text </a:t>
            </a:r>
            <a:endParaRPr lang="en-US" noProof="1"/>
          </a:p>
          <a:p>
            <a:pPr lvl="1"/>
            <a:r>
              <a:rPr lang="en-US" noProof="1"/>
              <a:t>Zweite Ebene</a:t>
            </a:r>
            <a:endParaRPr lang="en-US" noProof="1"/>
          </a:p>
          <a:p>
            <a:pPr lvl="2"/>
            <a:r>
              <a:rPr lang="en-US" noProof="1"/>
              <a:t>Dritte Ebene</a:t>
            </a:r>
            <a:endParaRPr lang="en-US" noProof="1"/>
          </a:p>
          <a:p>
            <a:pPr lvl="3"/>
            <a:r>
              <a:rPr lang="en-US" noProof="1"/>
              <a:t>Vierte Ebene</a:t>
            </a:r>
            <a:endParaRPr lang="en-US" noProof="1"/>
          </a:p>
          <a:p>
            <a:pPr lvl="4"/>
            <a:r>
              <a:rPr lang="en-US" noProof="1"/>
              <a:t>Fünfte Ebene</a:t>
            </a:r>
            <a:endParaRPr lang="en-US" noProof="1"/>
          </a:p>
        </p:txBody>
      </p:sp>
      <p:sp>
        <p:nvSpPr>
          <p:cNvPr id="12" name="AttachmentRemark"/>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Bosch Office Sans" pitchFamily="34" charset="0"/>
              </a:rPr>
              <a:t> </a:t>
            </a:r>
            <a:endParaRPr lang="en-US" sz="550" b="0" i="0" u="none" strike="noStrike" kern="0" baseline="0" noProof="1">
              <a:solidFill>
                <a:srgbClr val="000000"/>
              </a:solidFill>
              <a:latin typeface="Bosch Office Sans" pitchFamily="34" charset="0"/>
            </a:endParaRPr>
          </a:p>
        </p:txBody>
      </p:sp>
      <p:sp>
        <p:nvSpPr>
          <p:cNvPr id="2" name="Slide Number Placeholder 1"/>
          <p:cNvSpPr>
            <a:spLocks noGrp="1"/>
          </p:cNvSpPr>
          <p:nvPr>
            <p:ph type="sldNum" sz="quarter" idx="12"/>
          </p:nvPr>
        </p:nvSpPr>
        <p:spPr/>
        <p:txBody>
          <a:bodyPr/>
          <a:lstStyle/>
          <a:p>
            <a:fld id="{4898AEC0-503E-4FA4-859C-D0F72D6E3F79}" type="slidenum">
              <a:rPr lang="en-US" noProof="1" smtClean="0"/>
            </a:fld>
            <a:endParaRPr lang="en-US" noProof="1"/>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3 Vertical contents ">
    <p:spTree>
      <p:nvGrpSpPr>
        <p:cNvPr id="1" name=""/>
        <p:cNvGrpSpPr/>
        <p:nvPr/>
      </p:nvGrpSpPr>
      <p:grpSpPr>
        <a:xfrm>
          <a:off x="0" y="0"/>
          <a:ext cx="0" cy="0"/>
          <a:chOff x="0" y="0"/>
          <a:chExt cx="0" cy="0"/>
        </a:xfrm>
      </p:grpSpPr>
      <p:sp>
        <p:nvSpPr>
          <p:cNvPr id="18" name="Chapter_titleonly"/>
          <p:cNvSpPr>
            <a:spLocks noGrp="1"/>
          </p:cNvSpPr>
          <p:nvPr>
            <p:ph type="body" sz="quarter" idx="15" hasCustomPrompt="1"/>
          </p:nvPr>
        </p:nvSpPr>
        <p:spPr>
          <a:xfrm>
            <a:off x="205200" y="259200"/>
            <a:ext cx="10558800" cy="388800"/>
          </a:xfrm>
        </p:spPr>
        <p:txBody>
          <a:bodyPr/>
          <a:lstStyle>
            <a:lvl1pPr marL="0" indent="0">
              <a:lnSpc>
                <a:spcPct val="89000"/>
              </a:lnSpc>
              <a:spcBef>
                <a:spcPts val="0"/>
              </a:spcBef>
              <a:buNone/>
              <a:defRPr sz="2800" kern="0" baseline="0">
                <a:solidFill>
                  <a:schemeClr val="tx1"/>
                </a:solidFill>
              </a:defRPr>
            </a:lvl1pPr>
            <a:lvl2pPr marL="233680" indent="0">
              <a:buNone/>
              <a:defRPr sz="2800"/>
            </a:lvl2pPr>
            <a:lvl3pPr marL="525780" indent="0">
              <a:buNone/>
              <a:defRPr sz="2800"/>
            </a:lvl3pPr>
            <a:lvl4pPr marL="748665" indent="0">
              <a:buNone/>
              <a:defRPr sz="2800"/>
            </a:lvl4pPr>
            <a:lvl5pPr marL="748665" indent="0">
              <a:buNone/>
              <a:defRPr sz="2800"/>
            </a:lvl5pPr>
          </a:lstStyle>
          <a:p>
            <a:pPr lvl="0"/>
            <a:r>
              <a:rPr lang="en-US" noProof="1"/>
              <a:t>Add Chapter Title</a:t>
            </a:r>
            <a:endParaRPr lang="en-US" noProof="1"/>
          </a:p>
        </p:txBody>
      </p:sp>
      <p:sp>
        <p:nvSpPr>
          <p:cNvPr id="14" name="Title 1"/>
          <p:cNvSpPr>
            <a:spLocks noGrp="1"/>
          </p:cNvSpPr>
          <p:nvPr>
            <p:ph type="title" hasCustomPrompt="1"/>
          </p:nvPr>
        </p:nvSpPr>
        <p:spPr>
          <a:xfrm>
            <a:off x="205200" y="648000"/>
            <a:ext cx="10558800" cy="388800"/>
          </a:xfrm>
        </p:spPr>
        <p:txBody>
          <a:bodyPr/>
          <a:lstStyle>
            <a:lvl1pPr>
              <a:defRPr kern="1200" baseline="0"/>
            </a:lvl1pPr>
          </a:lstStyle>
          <a:p>
            <a:r>
              <a:rPr lang="en-US" noProof="1"/>
              <a:t>Add Slide Title</a:t>
            </a:r>
            <a:endParaRPr lang="en-US" noProof="1"/>
          </a:p>
        </p:txBody>
      </p:sp>
      <p:sp>
        <p:nvSpPr>
          <p:cNvPr id="3" name="Content Placeholder 1"/>
          <p:cNvSpPr>
            <a:spLocks noGrp="1"/>
          </p:cNvSpPr>
          <p:nvPr>
            <p:ph sz="half" idx="1" hasCustomPrompt="1"/>
          </p:nvPr>
        </p:nvSpPr>
        <p:spPr>
          <a:xfrm>
            <a:off x="205200" y="1296000"/>
            <a:ext cx="3168000" cy="4240800"/>
          </a:xfrm>
        </p:spPr>
        <p:txBody>
          <a:bodyPr/>
          <a:lstStyle>
            <a:lvl1pPr>
              <a:defRPr/>
            </a:lvl1pPr>
          </a:lstStyle>
          <a:p>
            <a:pPr lvl="0"/>
            <a:r>
              <a:rPr lang="en-US" noProof="1"/>
              <a:t>Add Text </a:t>
            </a:r>
            <a:endParaRPr lang="en-US" noProof="1"/>
          </a:p>
          <a:p>
            <a:pPr lvl="1"/>
            <a:r>
              <a:rPr lang="en-US" noProof="1"/>
              <a:t>Zweite Ebene</a:t>
            </a:r>
            <a:endParaRPr lang="en-US" noProof="1"/>
          </a:p>
          <a:p>
            <a:pPr lvl="2"/>
            <a:r>
              <a:rPr lang="en-US" noProof="1"/>
              <a:t>Dritte Ebene</a:t>
            </a:r>
            <a:endParaRPr lang="en-US" noProof="1"/>
          </a:p>
          <a:p>
            <a:pPr lvl="3"/>
            <a:r>
              <a:rPr lang="en-US" noProof="1"/>
              <a:t>Vierte Ebene</a:t>
            </a:r>
            <a:endParaRPr lang="en-US" noProof="1"/>
          </a:p>
          <a:p>
            <a:pPr lvl="4"/>
            <a:r>
              <a:rPr lang="en-US" noProof="1"/>
              <a:t>Fünfte Ebene</a:t>
            </a:r>
            <a:endParaRPr lang="en-US" noProof="1"/>
          </a:p>
        </p:txBody>
      </p:sp>
      <p:sp>
        <p:nvSpPr>
          <p:cNvPr id="47" name="Content Placeholder 2"/>
          <p:cNvSpPr>
            <a:spLocks noGrp="1"/>
          </p:cNvSpPr>
          <p:nvPr>
            <p:ph sz="half" idx="2" hasCustomPrompt="1"/>
          </p:nvPr>
        </p:nvSpPr>
        <p:spPr>
          <a:xfrm>
            <a:off x="3900600" y="1296000"/>
            <a:ext cx="3168000" cy="4240800"/>
          </a:xfrm>
        </p:spPr>
        <p:txBody>
          <a:bodyPr/>
          <a:lstStyle>
            <a:lvl1pPr>
              <a:defRPr/>
            </a:lvl1pPr>
          </a:lstStyle>
          <a:p>
            <a:pPr lvl="0"/>
            <a:r>
              <a:rPr lang="en-US" noProof="1"/>
              <a:t>Add Text </a:t>
            </a:r>
            <a:endParaRPr lang="en-US" noProof="1"/>
          </a:p>
          <a:p>
            <a:pPr lvl="1"/>
            <a:r>
              <a:rPr lang="en-US" noProof="1"/>
              <a:t>Zweite Ebene</a:t>
            </a:r>
            <a:endParaRPr lang="en-US" noProof="1"/>
          </a:p>
          <a:p>
            <a:pPr lvl="2"/>
            <a:r>
              <a:rPr lang="en-US" noProof="1"/>
              <a:t>Dritte Ebene</a:t>
            </a:r>
            <a:endParaRPr lang="en-US" noProof="1"/>
          </a:p>
          <a:p>
            <a:pPr lvl="3"/>
            <a:r>
              <a:rPr lang="en-US" noProof="1"/>
              <a:t>Vierte Ebene</a:t>
            </a:r>
            <a:endParaRPr lang="en-US" noProof="1"/>
          </a:p>
          <a:p>
            <a:pPr lvl="4"/>
            <a:r>
              <a:rPr lang="en-US" noProof="1"/>
              <a:t>Fünfte Ebene</a:t>
            </a:r>
            <a:endParaRPr lang="en-US" noProof="1"/>
          </a:p>
        </p:txBody>
      </p:sp>
      <p:sp>
        <p:nvSpPr>
          <p:cNvPr id="4" name="Content Placeholder 3"/>
          <p:cNvSpPr>
            <a:spLocks noGrp="1"/>
          </p:cNvSpPr>
          <p:nvPr>
            <p:ph sz="half" idx="3" hasCustomPrompt="1"/>
          </p:nvPr>
        </p:nvSpPr>
        <p:spPr>
          <a:xfrm>
            <a:off x="7596000" y="1295999"/>
            <a:ext cx="3168000" cy="4240800"/>
          </a:xfrm>
        </p:spPr>
        <p:txBody>
          <a:bodyPr/>
          <a:lstStyle>
            <a:lvl1pPr>
              <a:defRPr/>
            </a:lvl1pPr>
          </a:lstStyle>
          <a:p>
            <a:pPr lvl="0"/>
            <a:r>
              <a:rPr lang="en-US" noProof="1"/>
              <a:t>Add Text </a:t>
            </a:r>
            <a:endParaRPr lang="en-US" noProof="1"/>
          </a:p>
          <a:p>
            <a:pPr lvl="1"/>
            <a:r>
              <a:rPr lang="en-US" noProof="1"/>
              <a:t>Zweite Ebene</a:t>
            </a:r>
            <a:endParaRPr lang="en-US" noProof="1"/>
          </a:p>
          <a:p>
            <a:pPr lvl="2"/>
            <a:r>
              <a:rPr lang="en-US" noProof="1"/>
              <a:t>Dritte Ebene</a:t>
            </a:r>
            <a:endParaRPr lang="en-US" noProof="1"/>
          </a:p>
          <a:p>
            <a:pPr lvl="3"/>
            <a:r>
              <a:rPr lang="en-US" noProof="1"/>
              <a:t>Vierte Ebene</a:t>
            </a:r>
            <a:endParaRPr lang="en-US" noProof="1"/>
          </a:p>
          <a:p>
            <a:pPr lvl="4"/>
            <a:r>
              <a:rPr lang="en-US" noProof="1"/>
              <a:t>Fünfte Ebene</a:t>
            </a:r>
            <a:endParaRPr lang="en-US" noProof="1"/>
          </a:p>
        </p:txBody>
      </p:sp>
      <p:sp>
        <p:nvSpPr>
          <p:cNvPr id="13" name="AttachmentRemark"/>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Bosch Office Sans" pitchFamily="34" charset="0"/>
              </a:rPr>
              <a:t> </a:t>
            </a:r>
            <a:endParaRPr lang="en-US" sz="550" b="0" i="0" u="none" strike="noStrike" kern="0" baseline="0" noProof="1">
              <a:solidFill>
                <a:srgbClr val="000000"/>
              </a:solidFill>
              <a:latin typeface="Bosch Office Sans" pitchFamily="34" charset="0"/>
            </a:endParaRPr>
          </a:p>
        </p:txBody>
      </p:sp>
      <p:sp>
        <p:nvSpPr>
          <p:cNvPr id="2" name="Slide Number Placeholder 1"/>
          <p:cNvSpPr>
            <a:spLocks noGrp="1"/>
          </p:cNvSpPr>
          <p:nvPr>
            <p:ph type="sldNum" sz="quarter" idx="12"/>
          </p:nvPr>
        </p:nvSpPr>
        <p:spPr/>
        <p:txBody>
          <a:bodyPr/>
          <a:lstStyle/>
          <a:p>
            <a:fld id="{4898AEC0-503E-4FA4-859C-D0F72D6E3F79}" type="slidenum">
              <a:rPr lang="en-US" noProof="1" smtClean="0"/>
            </a:fld>
            <a:endParaRPr lang="en-US" noProof="1"/>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4 Vertical contents ">
    <p:spTree>
      <p:nvGrpSpPr>
        <p:cNvPr id="1" name=""/>
        <p:cNvGrpSpPr/>
        <p:nvPr/>
      </p:nvGrpSpPr>
      <p:grpSpPr>
        <a:xfrm>
          <a:off x="0" y="0"/>
          <a:ext cx="0" cy="0"/>
          <a:chOff x="0" y="0"/>
          <a:chExt cx="0" cy="0"/>
        </a:xfrm>
      </p:grpSpPr>
      <p:sp>
        <p:nvSpPr>
          <p:cNvPr id="19" name="Chapter_titleonly"/>
          <p:cNvSpPr>
            <a:spLocks noGrp="1"/>
          </p:cNvSpPr>
          <p:nvPr>
            <p:ph type="body" sz="quarter" idx="15" hasCustomPrompt="1"/>
          </p:nvPr>
        </p:nvSpPr>
        <p:spPr>
          <a:xfrm>
            <a:off x="205200" y="259200"/>
            <a:ext cx="10558800" cy="388800"/>
          </a:xfrm>
        </p:spPr>
        <p:txBody>
          <a:bodyPr/>
          <a:lstStyle>
            <a:lvl1pPr marL="0" indent="0">
              <a:lnSpc>
                <a:spcPct val="89000"/>
              </a:lnSpc>
              <a:spcBef>
                <a:spcPts val="0"/>
              </a:spcBef>
              <a:buNone/>
              <a:defRPr sz="2800" kern="0" baseline="0">
                <a:solidFill>
                  <a:schemeClr val="tx1"/>
                </a:solidFill>
              </a:defRPr>
            </a:lvl1pPr>
            <a:lvl2pPr marL="233680" indent="0">
              <a:buNone/>
              <a:defRPr sz="2800"/>
            </a:lvl2pPr>
            <a:lvl3pPr marL="525780" indent="0">
              <a:buNone/>
              <a:defRPr sz="2800"/>
            </a:lvl3pPr>
            <a:lvl4pPr marL="748665" indent="0">
              <a:buNone/>
              <a:defRPr sz="2800"/>
            </a:lvl4pPr>
            <a:lvl5pPr marL="748665" indent="0">
              <a:buNone/>
              <a:defRPr sz="2800"/>
            </a:lvl5pPr>
          </a:lstStyle>
          <a:p>
            <a:pPr lvl="0"/>
            <a:r>
              <a:rPr lang="en-US" noProof="1"/>
              <a:t>Add Chapter Title</a:t>
            </a:r>
            <a:endParaRPr lang="en-US" noProof="1"/>
          </a:p>
        </p:txBody>
      </p:sp>
      <p:sp>
        <p:nvSpPr>
          <p:cNvPr id="15" name="Title 1"/>
          <p:cNvSpPr>
            <a:spLocks noGrp="1"/>
          </p:cNvSpPr>
          <p:nvPr>
            <p:ph type="title" hasCustomPrompt="1"/>
          </p:nvPr>
        </p:nvSpPr>
        <p:spPr>
          <a:xfrm>
            <a:off x="205200" y="648000"/>
            <a:ext cx="10558800" cy="388800"/>
          </a:xfrm>
        </p:spPr>
        <p:txBody>
          <a:bodyPr/>
          <a:lstStyle>
            <a:lvl1pPr>
              <a:defRPr kern="1200" baseline="0"/>
            </a:lvl1pPr>
          </a:lstStyle>
          <a:p>
            <a:r>
              <a:rPr lang="en-US" noProof="1"/>
              <a:t>Add Slide Title</a:t>
            </a:r>
            <a:endParaRPr lang="en-US" noProof="1"/>
          </a:p>
        </p:txBody>
      </p:sp>
      <p:sp>
        <p:nvSpPr>
          <p:cNvPr id="5" name="Content Placeholder 1"/>
          <p:cNvSpPr>
            <a:spLocks noGrp="1"/>
          </p:cNvSpPr>
          <p:nvPr>
            <p:ph sz="half" idx="1" hasCustomPrompt="1"/>
          </p:nvPr>
        </p:nvSpPr>
        <p:spPr>
          <a:xfrm>
            <a:off x="205200" y="1295399"/>
            <a:ext cx="2541600" cy="4240800"/>
          </a:xfrm>
        </p:spPr>
        <p:txBody>
          <a:bodyPr/>
          <a:lstStyle>
            <a:lvl1pPr>
              <a:defRPr/>
            </a:lvl1pPr>
          </a:lstStyle>
          <a:p>
            <a:pPr lvl="0"/>
            <a:r>
              <a:rPr lang="en-US" noProof="1"/>
              <a:t>Add Text </a:t>
            </a:r>
            <a:endParaRPr lang="en-US" noProof="1"/>
          </a:p>
          <a:p>
            <a:pPr lvl="1"/>
            <a:r>
              <a:rPr lang="en-US" noProof="1"/>
              <a:t>Zweite Ebene</a:t>
            </a:r>
            <a:endParaRPr lang="en-US" noProof="1"/>
          </a:p>
          <a:p>
            <a:pPr lvl="2"/>
            <a:r>
              <a:rPr lang="en-US" noProof="1"/>
              <a:t>Dritte Ebene</a:t>
            </a:r>
            <a:endParaRPr lang="en-US" noProof="1"/>
          </a:p>
          <a:p>
            <a:pPr lvl="3"/>
            <a:r>
              <a:rPr lang="en-US" noProof="1"/>
              <a:t>Vierte Ebene</a:t>
            </a:r>
            <a:endParaRPr lang="en-US" noProof="1"/>
          </a:p>
          <a:p>
            <a:pPr lvl="4"/>
            <a:r>
              <a:rPr lang="en-US" noProof="1"/>
              <a:t>Fünfte Ebene</a:t>
            </a:r>
            <a:endParaRPr lang="en-US" noProof="1"/>
          </a:p>
        </p:txBody>
      </p:sp>
      <p:sp>
        <p:nvSpPr>
          <p:cNvPr id="6" name="Content Placeholder 2"/>
          <p:cNvSpPr>
            <a:spLocks noGrp="1"/>
          </p:cNvSpPr>
          <p:nvPr>
            <p:ph sz="half" idx="2" hasCustomPrompt="1"/>
          </p:nvPr>
        </p:nvSpPr>
        <p:spPr>
          <a:xfrm>
            <a:off x="2877600" y="1295400"/>
            <a:ext cx="2541600" cy="4240800"/>
          </a:xfrm>
        </p:spPr>
        <p:txBody>
          <a:bodyPr/>
          <a:lstStyle>
            <a:lvl1pPr>
              <a:defRPr/>
            </a:lvl1pPr>
          </a:lstStyle>
          <a:p>
            <a:pPr lvl="0"/>
            <a:r>
              <a:rPr lang="en-US" noProof="1"/>
              <a:t>Add Text </a:t>
            </a:r>
            <a:endParaRPr lang="en-US" noProof="1"/>
          </a:p>
          <a:p>
            <a:pPr lvl="1"/>
            <a:r>
              <a:rPr lang="en-US" noProof="1"/>
              <a:t>Zweite Ebene</a:t>
            </a:r>
            <a:endParaRPr lang="en-US" noProof="1"/>
          </a:p>
          <a:p>
            <a:pPr lvl="2"/>
            <a:r>
              <a:rPr lang="en-US" noProof="1"/>
              <a:t>Dritte Ebene</a:t>
            </a:r>
            <a:endParaRPr lang="en-US" noProof="1"/>
          </a:p>
          <a:p>
            <a:pPr lvl="3"/>
            <a:r>
              <a:rPr lang="en-US" noProof="1"/>
              <a:t>Vierte Ebene</a:t>
            </a:r>
            <a:endParaRPr lang="en-US" noProof="1"/>
          </a:p>
          <a:p>
            <a:pPr lvl="4"/>
            <a:r>
              <a:rPr lang="en-US" noProof="1"/>
              <a:t>Fünfte Ebene</a:t>
            </a:r>
            <a:endParaRPr lang="en-US" noProof="1"/>
          </a:p>
        </p:txBody>
      </p:sp>
      <p:sp>
        <p:nvSpPr>
          <p:cNvPr id="8" name="Content Placeholder 3"/>
          <p:cNvSpPr>
            <a:spLocks noGrp="1"/>
          </p:cNvSpPr>
          <p:nvPr>
            <p:ph sz="half" idx="3" hasCustomPrompt="1"/>
          </p:nvPr>
        </p:nvSpPr>
        <p:spPr>
          <a:xfrm>
            <a:off x="5550000" y="1295399"/>
            <a:ext cx="2541600" cy="4240800"/>
          </a:xfrm>
        </p:spPr>
        <p:txBody>
          <a:bodyPr/>
          <a:lstStyle>
            <a:lvl1pPr>
              <a:defRPr/>
            </a:lvl1pPr>
          </a:lstStyle>
          <a:p>
            <a:pPr lvl="0"/>
            <a:r>
              <a:rPr lang="en-US" noProof="1"/>
              <a:t>Add Text </a:t>
            </a:r>
            <a:endParaRPr lang="en-US" noProof="1"/>
          </a:p>
          <a:p>
            <a:pPr lvl="1"/>
            <a:r>
              <a:rPr lang="en-US" noProof="1"/>
              <a:t>Zweite Ebene</a:t>
            </a:r>
            <a:endParaRPr lang="en-US" noProof="1"/>
          </a:p>
          <a:p>
            <a:pPr lvl="2"/>
            <a:r>
              <a:rPr lang="en-US" noProof="1"/>
              <a:t>Dritte Ebene</a:t>
            </a:r>
            <a:endParaRPr lang="en-US" noProof="1"/>
          </a:p>
          <a:p>
            <a:pPr lvl="3"/>
            <a:r>
              <a:rPr lang="en-US" noProof="1"/>
              <a:t>Vierte Ebene</a:t>
            </a:r>
            <a:endParaRPr lang="en-US" noProof="1"/>
          </a:p>
          <a:p>
            <a:pPr lvl="4"/>
            <a:r>
              <a:rPr lang="en-US" noProof="1"/>
              <a:t>Fünfte Ebene</a:t>
            </a:r>
            <a:endParaRPr lang="en-US" noProof="1"/>
          </a:p>
        </p:txBody>
      </p:sp>
      <p:sp>
        <p:nvSpPr>
          <p:cNvPr id="9" name="Content Placeholder 4"/>
          <p:cNvSpPr>
            <a:spLocks noGrp="1"/>
          </p:cNvSpPr>
          <p:nvPr>
            <p:ph sz="half" idx="4" hasCustomPrompt="1"/>
          </p:nvPr>
        </p:nvSpPr>
        <p:spPr>
          <a:xfrm>
            <a:off x="8222400" y="1295400"/>
            <a:ext cx="2541600" cy="4240800"/>
          </a:xfrm>
        </p:spPr>
        <p:txBody>
          <a:bodyPr/>
          <a:lstStyle>
            <a:lvl1pPr>
              <a:defRPr/>
            </a:lvl1pPr>
          </a:lstStyle>
          <a:p>
            <a:pPr lvl="0"/>
            <a:r>
              <a:rPr lang="en-US" noProof="1"/>
              <a:t>Add Text</a:t>
            </a:r>
            <a:endParaRPr lang="en-US" noProof="1"/>
          </a:p>
          <a:p>
            <a:pPr lvl="1"/>
            <a:r>
              <a:rPr lang="en-US" noProof="1"/>
              <a:t>Zweite Ebene</a:t>
            </a:r>
            <a:endParaRPr lang="en-US" noProof="1"/>
          </a:p>
          <a:p>
            <a:pPr lvl="2"/>
            <a:r>
              <a:rPr lang="en-US" noProof="1"/>
              <a:t>Dritte Ebene</a:t>
            </a:r>
            <a:endParaRPr lang="en-US" noProof="1"/>
          </a:p>
          <a:p>
            <a:pPr lvl="3"/>
            <a:r>
              <a:rPr lang="en-US" noProof="1"/>
              <a:t>Vierte Ebene</a:t>
            </a:r>
            <a:endParaRPr lang="en-US" noProof="1"/>
          </a:p>
          <a:p>
            <a:pPr lvl="4"/>
            <a:r>
              <a:rPr lang="en-US" noProof="1"/>
              <a:t>Fünfte Ebene</a:t>
            </a:r>
            <a:endParaRPr lang="en-US" noProof="1"/>
          </a:p>
        </p:txBody>
      </p:sp>
      <p:sp>
        <p:nvSpPr>
          <p:cNvPr id="14" name="AttachmentRemark"/>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Bosch Office Sans" pitchFamily="34" charset="0"/>
              </a:rPr>
              <a:t> </a:t>
            </a:r>
            <a:endParaRPr lang="en-US" sz="550" b="0" i="0" u="none" strike="noStrike" kern="0" baseline="0" noProof="1">
              <a:solidFill>
                <a:srgbClr val="000000"/>
              </a:solidFill>
              <a:latin typeface="Bosch Office Sans" pitchFamily="34" charset="0"/>
            </a:endParaRPr>
          </a:p>
        </p:txBody>
      </p:sp>
      <p:sp>
        <p:nvSpPr>
          <p:cNvPr id="2" name="Slide Number Placeholder 1"/>
          <p:cNvSpPr>
            <a:spLocks noGrp="1"/>
          </p:cNvSpPr>
          <p:nvPr>
            <p:ph type="sldNum" sz="quarter" idx="12"/>
          </p:nvPr>
        </p:nvSpPr>
        <p:spPr/>
        <p:txBody>
          <a:bodyPr/>
          <a:lstStyle/>
          <a:p>
            <a:fld id="{4898AEC0-503E-4FA4-859C-D0F72D6E3F79}" type="slidenum">
              <a:rPr lang="en-US" noProof="1" smtClean="0"/>
            </a:fld>
            <a:endParaRPr lang="en-US" noProof="1"/>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2 Horizontal contents ">
    <p:spTree>
      <p:nvGrpSpPr>
        <p:cNvPr id="1" name=""/>
        <p:cNvGrpSpPr/>
        <p:nvPr/>
      </p:nvGrpSpPr>
      <p:grpSpPr>
        <a:xfrm>
          <a:off x="0" y="0"/>
          <a:ext cx="0" cy="0"/>
          <a:chOff x="0" y="0"/>
          <a:chExt cx="0" cy="0"/>
        </a:xfrm>
      </p:grpSpPr>
      <p:sp>
        <p:nvSpPr>
          <p:cNvPr id="17" name="Chapter_titleonly"/>
          <p:cNvSpPr>
            <a:spLocks noGrp="1"/>
          </p:cNvSpPr>
          <p:nvPr>
            <p:ph type="body" sz="quarter" idx="15" hasCustomPrompt="1"/>
          </p:nvPr>
        </p:nvSpPr>
        <p:spPr>
          <a:xfrm>
            <a:off x="205200" y="259200"/>
            <a:ext cx="10558800" cy="388800"/>
          </a:xfrm>
        </p:spPr>
        <p:txBody>
          <a:bodyPr/>
          <a:lstStyle>
            <a:lvl1pPr marL="0" indent="0">
              <a:lnSpc>
                <a:spcPct val="89000"/>
              </a:lnSpc>
              <a:spcBef>
                <a:spcPts val="0"/>
              </a:spcBef>
              <a:buNone/>
              <a:defRPr sz="2800" kern="0" baseline="0">
                <a:solidFill>
                  <a:schemeClr val="tx1"/>
                </a:solidFill>
              </a:defRPr>
            </a:lvl1pPr>
            <a:lvl2pPr marL="233680" indent="0">
              <a:buNone/>
              <a:defRPr sz="2800"/>
            </a:lvl2pPr>
            <a:lvl3pPr marL="525780" indent="0">
              <a:buNone/>
              <a:defRPr sz="2800"/>
            </a:lvl3pPr>
            <a:lvl4pPr marL="748665" indent="0">
              <a:buNone/>
              <a:defRPr sz="2800"/>
            </a:lvl4pPr>
            <a:lvl5pPr marL="748665" indent="0">
              <a:buNone/>
              <a:defRPr sz="2800"/>
            </a:lvl5pPr>
          </a:lstStyle>
          <a:p>
            <a:pPr lvl="0"/>
            <a:r>
              <a:rPr lang="en-US" noProof="1"/>
              <a:t>Add Chapter Title</a:t>
            </a:r>
            <a:endParaRPr lang="en-US" noProof="1"/>
          </a:p>
        </p:txBody>
      </p:sp>
      <p:sp>
        <p:nvSpPr>
          <p:cNvPr id="13" name="Title 1"/>
          <p:cNvSpPr>
            <a:spLocks noGrp="1"/>
          </p:cNvSpPr>
          <p:nvPr>
            <p:ph type="title" hasCustomPrompt="1"/>
          </p:nvPr>
        </p:nvSpPr>
        <p:spPr>
          <a:xfrm>
            <a:off x="205200" y="648000"/>
            <a:ext cx="10558800" cy="388800"/>
          </a:xfrm>
        </p:spPr>
        <p:txBody>
          <a:bodyPr/>
          <a:lstStyle>
            <a:lvl1pPr>
              <a:defRPr kern="1200" baseline="0"/>
            </a:lvl1pPr>
          </a:lstStyle>
          <a:p>
            <a:r>
              <a:rPr lang="en-US" noProof="1"/>
              <a:t>Add Slide Title</a:t>
            </a:r>
            <a:endParaRPr lang="en-US" noProof="1"/>
          </a:p>
        </p:txBody>
      </p:sp>
      <p:sp>
        <p:nvSpPr>
          <p:cNvPr id="5" name="Content Placeholder 1"/>
          <p:cNvSpPr>
            <a:spLocks noGrp="1"/>
          </p:cNvSpPr>
          <p:nvPr>
            <p:ph sz="half" idx="1" hasCustomPrompt="1"/>
          </p:nvPr>
        </p:nvSpPr>
        <p:spPr>
          <a:xfrm>
            <a:off x="205200" y="1296000"/>
            <a:ext cx="10558800" cy="2055600"/>
          </a:xfrm>
        </p:spPr>
        <p:txBody>
          <a:bodyPr/>
          <a:lstStyle>
            <a:lvl1pPr>
              <a:defRPr/>
            </a:lvl1pPr>
          </a:lstStyle>
          <a:p>
            <a:pPr lvl="0"/>
            <a:r>
              <a:rPr lang="en-US" noProof="1"/>
              <a:t>Add Text </a:t>
            </a:r>
            <a:endParaRPr lang="en-US" noProof="1"/>
          </a:p>
          <a:p>
            <a:pPr lvl="1"/>
            <a:r>
              <a:rPr lang="en-US" noProof="1"/>
              <a:t>Zweite Ebene</a:t>
            </a:r>
            <a:endParaRPr lang="en-US" noProof="1"/>
          </a:p>
          <a:p>
            <a:pPr lvl="2"/>
            <a:r>
              <a:rPr lang="en-US" noProof="1"/>
              <a:t>Dritte Ebene</a:t>
            </a:r>
            <a:endParaRPr lang="en-US" noProof="1"/>
          </a:p>
          <a:p>
            <a:pPr lvl="3"/>
            <a:r>
              <a:rPr lang="en-US" noProof="1"/>
              <a:t>Vierte Ebene</a:t>
            </a:r>
            <a:endParaRPr lang="en-US" noProof="1"/>
          </a:p>
          <a:p>
            <a:pPr lvl="4"/>
            <a:r>
              <a:rPr lang="en-US" noProof="1"/>
              <a:t>Fünfte Ebene</a:t>
            </a:r>
            <a:endParaRPr lang="en-US" noProof="1"/>
          </a:p>
        </p:txBody>
      </p:sp>
      <p:sp>
        <p:nvSpPr>
          <p:cNvPr id="6" name="Content Placeholder 2"/>
          <p:cNvSpPr>
            <a:spLocks noGrp="1"/>
          </p:cNvSpPr>
          <p:nvPr>
            <p:ph sz="half" idx="2" hasCustomPrompt="1"/>
          </p:nvPr>
        </p:nvSpPr>
        <p:spPr>
          <a:xfrm>
            <a:off x="205200" y="3481200"/>
            <a:ext cx="10558800" cy="2055600"/>
          </a:xfrm>
        </p:spPr>
        <p:txBody>
          <a:bodyPr/>
          <a:lstStyle>
            <a:lvl1pPr>
              <a:defRPr/>
            </a:lvl1pPr>
          </a:lstStyle>
          <a:p>
            <a:pPr lvl="0"/>
            <a:r>
              <a:rPr lang="en-US" noProof="1"/>
              <a:t>Add Text </a:t>
            </a:r>
            <a:endParaRPr lang="en-US" noProof="1"/>
          </a:p>
          <a:p>
            <a:pPr lvl="1"/>
            <a:r>
              <a:rPr lang="en-US" noProof="1"/>
              <a:t>Zweite Ebene</a:t>
            </a:r>
            <a:endParaRPr lang="en-US" noProof="1"/>
          </a:p>
          <a:p>
            <a:pPr lvl="2"/>
            <a:r>
              <a:rPr lang="en-US" noProof="1"/>
              <a:t>Dritte Ebene</a:t>
            </a:r>
            <a:endParaRPr lang="en-US" noProof="1"/>
          </a:p>
          <a:p>
            <a:pPr lvl="3"/>
            <a:r>
              <a:rPr lang="en-US" noProof="1"/>
              <a:t>Vierte Ebene</a:t>
            </a:r>
            <a:endParaRPr lang="en-US" noProof="1"/>
          </a:p>
          <a:p>
            <a:pPr lvl="4"/>
            <a:r>
              <a:rPr lang="en-US" noProof="1"/>
              <a:t>Fünfte Ebene</a:t>
            </a:r>
            <a:endParaRPr lang="en-US" noProof="1"/>
          </a:p>
        </p:txBody>
      </p:sp>
      <p:sp>
        <p:nvSpPr>
          <p:cNvPr id="12" name="AttachmentRemark"/>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Bosch Office Sans" pitchFamily="34" charset="0"/>
              </a:rPr>
              <a:t> </a:t>
            </a:r>
            <a:endParaRPr lang="en-US" sz="550" b="0" i="0" u="none" strike="noStrike" kern="0" baseline="0" noProof="1">
              <a:solidFill>
                <a:srgbClr val="000000"/>
              </a:solidFill>
              <a:latin typeface="Bosch Office Sans" pitchFamily="34" charset="0"/>
            </a:endParaRPr>
          </a:p>
        </p:txBody>
      </p:sp>
      <p:sp>
        <p:nvSpPr>
          <p:cNvPr id="2" name="Slide Number Placeholder 1"/>
          <p:cNvSpPr>
            <a:spLocks noGrp="1"/>
          </p:cNvSpPr>
          <p:nvPr>
            <p:ph type="sldNum" sz="quarter" idx="12"/>
          </p:nvPr>
        </p:nvSpPr>
        <p:spPr/>
        <p:txBody>
          <a:bodyPr/>
          <a:lstStyle/>
          <a:p>
            <a:fld id="{4898AEC0-503E-4FA4-859C-D0F72D6E3F79}" type="slidenum">
              <a:rPr lang="en-US" noProof="1" smtClean="0"/>
            </a:fld>
            <a:endParaRPr lang="en-US" noProof="1"/>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2 x 2 Contents ">
    <p:spTree>
      <p:nvGrpSpPr>
        <p:cNvPr id="1" name=""/>
        <p:cNvGrpSpPr/>
        <p:nvPr/>
      </p:nvGrpSpPr>
      <p:grpSpPr>
        <a:xfrm>
          <a:off x="0" y="0"/>
          <a:ext cx="0" cy="0"/>
          <a:chOff x="0" y="0"/>
          <a:chExt cx="0" cy="0"/>
        </a:xfrm>
      </p:grpSpPr>
      <p:sp>
        <p:nvSpPr>
          <p:cNvPr id="19" name="Chapter_titleonly"/>
          <p:cNvSpPr>
            <a:spLocks noGrp="1"/>
          </p:cNvSpPr>
          <p:nvPr>
            <p:ph type="body" sz="quarter" idx="15" hasCustomPrompt="1"/>
          </p:nvPr>
        </p:nvSpPr>
        <p:spPr>
          <a:xfrm>
            <a:off x="205200" y="259200"/>
            <a:ext cx="10558800" cy="388800"/>
          </a:xfrm>
        </p:spPr>
        <p:txBody>
          <a:bodyPr/>
          <a:lstStyle>
            <a:lvl1pPr marL="0" indent="0">
              <a:lnSpc>
                <a:spcPct val="89000"/>
              </a:lnSpc>
              <a:spcBef>
                <a:spcPts val="0"/>
              </a:spcBef>
              <a:buNone/>
              <a:defRPr sz="2800" kern="0" baseline="0">
                <a:solidFill>
                  <a:schemeClr val="tx1"/>
                </a:solidFill>
              </a:defRPr>
            </a:lvl1pPr>
            <a:lvl2pPr marL="233680" indent="0">
              <a:buNone/>
              <a:defRPr sz="2800"/>
            </a:lvl2pPr>
            <a:lvl3pPr marL="525780" indent="0">
              <a:buNone/>
              <a:defRPr sz="2800"/>
            </a:lvl3pPr>
            <a:lvl4pPr marL="748665" indent="0">
              <a:buNone/>
              <a:defRPr sz="2800"/>
            </a:lvl4pPr>
            <a:lvl5pPr marL="748665" indent="0">
              <a:buNone/>
              <a:defRPr sz="2800"/>
            </a:lvl5pPr>
          </a:lstStyle>
          <a:p>
            <a:pPr lvl="0"/>
            <a:r>
              <a:rPr lang="en-US" noProof="1"/>
              <a:t>Add Chapter Title</a:t>
            </a:r>
            <a:endParaRPr lang="en-US" noProof="1"/>
          </a:p>
        </p:txBody>
      </p:sp>
      <p:sp>
        <p:nvSpPr>
          <p:cNvPr id="15" name="Title 1"/>
          <p:cNvSpPr>
            <a:spLocks noGrp="1"/>
          </p:cNvSpPr>
          <p:nvPr>
            <p:ph type="title" hasCustomPrompt="1"/>
          </p:nvPr>
        </p:nvSpPr>
        <p:spPr>
          <a:xfrm>
            <a:off x="205200" y="648000"/>
            <a:ext cx="10558800" cy="388800"/>
          </a:xfrm>
        </p:spPr>
        <p:txBody>
          <a:bodyPr/>
          <a:lstStyle>
            <a:lvl1pPr>
              <a:defRPr kern="1200" baseline="0"/>
            </a:lvl1pPr>
          </a:lstStyle>
          <a:p>
            <a:r>
              <a:rPr lang="en-US" noProof="1"/>
              <a:t>Add Slide Title</a:t>
            </a:r>
            <a:endParaRPr lang="en-US" noProof="1"/>
          </a:p>
        </p:txBody>
      </p:sp>
      <p:sp>
        <p:nvSpPr>
          <p:cNvPr id="5" name="Content Placeholder 1"/>
          <p:cNvSpPr>
            <a:spLocks noGrp="1"/>
          </p:cNvSpPr>
          <p:nvPr>
            <p:ph sz="half" idx="1" hasCustomPrompt="1"/>
          </p:nvPr>
        </p:nvSpPr>
        <p:spPr>
          <a:xfrm>
            <a:off x="205200" y="1296000"/>
            <a:ext cx="4914000" cy="2055600"/>
          </a:xfrm>
        </p:spPr>
        <p:txBody>
          <a:bodyPr/>
          <a:lstStyle>
            <a:lvl1pPr>
              <a:defRPr/>
            </a:lvl1pPr>
          </a:lstStyle>
          <a:p>
            <a:pPr lvl="0"/>
            <a:r>
              <a:rPr lang="en-US" noProof="1"/>
              <a:t>Add Text </a:t>
            </a:r>
            <a:endParaRPr lang="en-US" noProof="1"/>
          </a:p>
          <a:p>
            <a:pPr lvl="1"/>
            <a:r>
              <a:rPr lang="en-US" noProof="1"/>
              <a:t>Zweite Ebene</a:t>
            </a:r>
            <a:endParaRPr lang="en-US" noProof="1"/>
          </a:p>
          <a:p>
            <a:pPr lvl="2"/>
            <a:r>
              <a:rPr lang="en-US" noProof="1"/>
              <a:t>Dritte Ebene</a:t>
            </a:r>
            <a:endParaRPr lang="en-US" noProof="1"/>
          </a:p>
          <a:p>
            <a:pPr lvl="3"/>
            <a:r>
              <a:rPr lang="en-US" noProof="1"/>
              <a:t>Vierte Ebene</a:t>
            </a:r>
            <a:endParaRPr lang="en-US" noProof="1"/>
          </a:p>
          <a:p>
            <a:pPr lvl="4"/>
            <a:r>
              <a:rPr lang="en-US" noProof="1"/>
              <a:t>Fünfte Ebene</a:t>
            </a:r>
            <a:endParaRPr lang="en-US" noProof="1"/>
          </a:p>
        </p:txBody>
      </p:sp>
      <p:sp>
        <p:nvSpPr>
          <p:cNvPr id="6" name="Content Placeholder 2"/>
          <p:cNvSpPr>
            <a:spLocks noGrp="1"/>
          </p:cNvSpPr>
          <p:nvPr>
            <p:ph sz="half" idx="3" hasCustomPrompt="1"/>
          </p:nvPr>
        </p:nvSpPr>
        <p:spPr>
          <a:xfrm>
            <a:off x="5850000" y="1295999"/>
            <a:ext cx="4914000" cy="2055600"/>
          </a:xfrm>
        </p:spPr>
        <p:txBody>
          <a:bodyPr/>
          <a:lstStyle>
            <a:lvl1pPr>
              <a:defRPr/>
            </a:lvl1pPr>
          </a:lstStyle>
          <a:p>
            <a:pPr lvl="0"/>
            <a:r>
              <a:rPr lang="en-US" noProof="1"/>
              <a:t>Add Text </a:t>
            </a:r>
            <a:endParaRPr lang="en-US" noProof="1"/>
          </a:p>
          <a:p>
            <a:pPr lvl="1"/>
            <a:r>
              <a:rPr lang="en-US" noProof="1"/>
              <a:t>Zweite Ebene</a:t>
            </a:r>
            <a:endParaRPr lang="en-US" noProof="1"/>
          </a:p>
          <a:p>
            <a:pPr lvl="2"/>
            <a:r>
              <a:rPr lang="en-US" noProof="1"/>
              <a:t>Dritte Ebene</a:t>
            </a:r>
            <a:endParaRPr lang="en-US" noProof="1"/>
          </a:p>
          <a:p>
            <a:pPr lvl="3"/>
            <a:r>
              <a:rPr lang="en-US" noProof="1"/>
              <a:t>Vierte Ebene</a:t>
            </a:r>
            <a:endParaRPr lang="en-US" noProof="1"/>
          </a:p>
          <a:p>
            <a:pPr lvl="4"/>
            <a:r>
              <a:rPr lang="en-US" noProof="1"/>
              <a:t>Fünfte Ebene</a:t>
            </a:r>
            <a:endParaRPr lang="en-US" noProof="1"/>
          </a:p>
        </p:txBody>
      </p:sp>
      <p:sp>
        <p:nvSpPr>
          <p:cNvPr id="8" name="Content Placeholder 3"/>
          <p:cNvSpPr>
            <a:spLocks noGrp="1"/>
          </p:cNvSpPr>
          <p:nvPr>
            <p:ph sz="half" idx="2" hasCustomPrompt="1"/>
          </p:nvPr>
        </p:nvSpPr>
        <p:spPr>
          <a:xfrm>
            <a:off x="205200" y="3481200"/>
            <a:ext cx="4914000" cy="2055600"/>
          </a:xfrm>
        </p:spPr>
        <p:txBody>
          <a:bodyPr/>
          <a:lstStyle>
            <a:lvl1pPr>
              <a:defRPr/>
            </a:lvl1pPr>
          </a:lstStyle>
          <a:p>
            <a:pPr lvl="0"/>
            <a:r>
              <a:rPr lang="en-US" noProof="1"/>
              <a:t>Add Text </a:t>
            </a:r>
            <a:endParaRPr lang="en-US" noProof="1"/>
          </a:p>
          <a:p>
            <a:pPr lvl="1"/>
            <a:r>
              <a:rPr lang="en-US" noProof="1"/>
              <a:t>Zweite Ebene</a:t>
            </a:r>
            <a:endParaRPr lang="en-US" noProof="1"/>
          </a:p>
          <a:p>
            <a:pPr lvl="2"/>
            <a:r>
              <a:rPr lang="en-US" noProof="1"/>
              <a:t>Dritte Ebene</a:t>
            </a:r>
            <a:endParaRPr lang="en-US" noProof="1"/>
          </a:p>
          <a:p>
            <a:pPr lvl="3"/>
            <a:r>
              <a:rPr lang="en-US" noProof="1"/>
              <a:t>Vierte Ebene</a:t>
            </a:r>
            <a:endParaRPr lang="en-US" noProof="1"/>
          </a:p>
          <a:p>
            <a:pPr lvl="4"/>
            <a:r>
              <a:rPr lang="en-US" noProof="1"/>
              <a:t>Fünfte Ebene</a:t>
            </a:r>
            <a:endParaRPr lang="en-US" noProof="1"/>
          </a:p>
        </p:txBody>
      </p:sp>
      <p:sp>
        <p:nvSpPr>
          <p:cNvPr id="9" name="Content Placeholder 4"/>
          <p:cNvSpPr>
            <a:spLocks noGrp="1"/>
          </p:cNvSpPr>
          <p:nvPr>
            <p:ph sz="half" idx="4" hasCustomPrompt="1"/>
          </p:nvPr>
        </p:nvSpPr>
        <p:spPr>
          <a:xfrm>
            <a:off x="5850000" y="3481200"/>
            <a:ext cx="4914000" cy="2055600"/>
          </a:xfrm>
        </p:spPr>
        <p:txBody>
          <a:bodyPr/>
          <a:lstStyle>
            <a:lvl1pPr>
              <a:defRPr/>
            </a:lvl1pPr>
          </a:lstStyle>
          <a:p>
            <a:pPr lvl="0"/>
            <a:r>
              <a:rPr lang="en-US" noProof="1"/>
              <a:t>Add Text </a:t>
            </a:r>
            <a:endParaRPr lang="en-US" noProof="1"/>
          </a:p>
          <a:p>
            <a:pPr lvl="1"/>
            <a:r>
              <a:rPr lang="en-US" noProof="1"/>
              <a:t>Zweite Ebene</a:t>
            </a:r>
            <a:endParaRPr lang="en-US" noProof="1"/>
          </a:p>
          <a:p>
            <a:pPr lvl="2"/>
            <a:r>
              <a:rPr lang="en-US" noProof="1"/>
              <a:t>Dritte Ebene</a:t>
            </a:r>
            <a:endParaRPr lang="en-US" noProof="1"/>
          </a:p>
          <a:p>
            <a:pPr lvl="3"/>
            <a:r>
              <a:rPr lang="en-US" noProof="1"/>
              <a:t>Vierte Ebene</a:t>
            </a:r>
            <a:endParaRPr lang="en-US" noProof="1"/>
          </a:p>
          <a:p>
            <a:pPr lvl="4"/>
            <a:r>
              <a:rPr lang="en-US" noProof="1"/>
              <a:t>Fünfte Ebene</a:t>
            </a:r>
            <a:endParaRPr lang="en-US" noProof="1"/>
          </a:p>
        </p:txBody>
      </p:sp>
      <p:sp>
        <p:nvSpPr>
          <p:cNvPr id="14" name="AttachmentRemark"/>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Bosch Office Sans" pitchFamily="34" charset="0"/>
              </a:rPr>
              <a:t> </a:t>
            </a:r>
            <a:endParaRPr lang="en-US" sz="550" b="0" i="0" u="none" strike="noStrike" kern="0" baseline="0" noProof="1">
              <a:solidFill>
                <a:srgbClr val="000000"/>
              </a:solidFill>
              <a:latin typeface="Bosch Office Sans" pitchFamily="34" charset="0"/>
            </a:endParaRPr>
          </a:p>
        </p:txBody>
      </p:sp>
      <p:sp>
        <p:nvSpPr>
          <p:cNvPr id="2" name="Slide Number Placeholder 1"/>
          <p:cNvSpPr>
            <a:spLocks noGrp="1"/>
          </p:cNvSpPr>
          <p:nvPr>
            <p:ph type="sldNum" sz="quarter" idx="12"/>
          </p:nvPr>
        </p:nvSpPr>
        <p:spPr/>
        <p:txBody>
          <a:bodyPr/>
          <a:lstStyle/>
          <a:p>
            <a:fld id="{4898AEC0-503E-4FA4-859C-D0F72D6E3F79}" type="slidenum">
              <a:rPr lang="en-US" noProof="1" smtClean="0"/>
            </a:fld>
            <a:endParaRPr lang="en-US" noProof="1"/>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3 x 2 Contents ">
    <p:spTree>
      <p:nvGrpSpPr>
        <p:cNvPr id="1" name=""/>
        <p:cNvGrpSpPr/>
        <p:nvPr/>
      </p:nvGrpSpPr>
      <p:grpSpPr>
        <a:xfrm>
          <a:off x="0" y="0"/>
          <a:ext cx="0" cy="0"/>
          <a:chOff x="0" y="0"/>
          <a:chExt cx="0" cy="0"/>
        </a:xfrm>
      </p:grpSpPr>
      <p:sp>
        <p:nvSpPr>
          <p:cNvPr id="21" name="Chapter_titleonly"/>
          <p:cNvSpPr>
            <a:spLocks noGrp="1"/>
          </p:cNvSpPr>
          <p:nvPr>
            <p:ph type="body" sz="quarter" idx="15" hasCustomPrompt="1"/>
          </p:nvPr>
        </p:nvSpPr>
        <p:spPr>
          <a:xfrm>
            <a:off x="205200" y="259200"/>
            <a:ext cx="10558800" cy="388800"/>
          </a:xfrm>
        </p:spPr>
        <p:txBody>
          <a:bodyPr/>
          <a:lstStyle>
            <a:lvl1pPr marL="0" indent="0">
              <a:lnSpc>
                <a:spcPct val="89000"/>
              </a:lnSpc>
              <a:spcBef>
                <a:spcPts val="0"/>
              </a:spcBef>
              <a:buNone/>
              <a:defRPr sz="2800" kern="0" baseline="0">
                <a:solidFill>
                  <a:schemeClr val="tx1"/>
                </a:solidFill>
              </a:defRPr>
            </a:lvl1pPr>
            <a:lvl2pPr marL="233680" indent="0">
              <a:buNone/>
              <a:defRPr sz="2800"/>
            </a:lvl2pPr>
            <a:lvl3pPr marL="525780" indent="0">
              <a:buNone/>
              <a:defRPr sz="2800"/>
            </a:lvl3pPr>
            <a:lvl4pPr marL="748665" indent="0">
              <a:buNone/>
              <a:defRPr sz="2800"/>
            </a:lvl4pPr>
            <a:lvl5pPr marL="748665" indent="0">
              <a:buNone/>
              <a:defRPr sz="2800"/>
            </a:lvl5pPr>
          </a:lstStyle>
          <a:p>
            <a:pPr lvl="0"/>
            <a:r>
              <a:rPr lang="en-US" noProof="1"/>
              <a:t>Add Chapter Title</a:t>
            </a:r>
            <a:endParaRPr lang="en-US" noProof="1"/>
          </a:p>
        </p:txBody>
      </p:sp>
      <p:sp>
        <p:nvSpPr>
          <p:cNvPr id="17" name="Title 1"/>
          <p:cNvSpPr>
            <a:spLocks noGrp="1"/>
          </p:cNvSpPr>
          <p:nvPr>
            <p:ph type="title" hasCustomPrompt="1"/>
          </p:nvPr>
        </p:nvSpPr>
        <p:spPr>
          <a:xfrm>
            <a:off x="205200" y="648000"/>
            <a:ext cx="10558800" cy="388800"/>
          </a:xfrm>
        </p:spPr>
        <p:txBody>
          <a:bodyPr/>
          <a:lstStyle>
            <a:lvl1pPr>
              <a:defRPr kern="1200" baseline="0"/>
            </a:lvl1pPr>
          </a:lstStyle>
          <a:p>
            <a:r>
              <a:rPr lang="en-US" noProof="1"/>
              <a:t>Add Slide Title</a:t>
            </a:r>
            <a:endParaRPr lang="en-US" noProof="1"/>
          </a:p>
        </p:txBody>
      </p:sp>
      <p:sp>
        <p:nvSpPr>
          <p:cNvPr id="5" name="Content Placeholder 1"/>
          <p:cNvSpPr>
            <a:spLocks noGrp="1"/>
          </p:cNvSpPr>
          <p:nvPr>
            <p:ph sz="half" idx="1" hasCustomPrompt="1"/>
          </p:nvPr>
        </p:nvSpPr>
        <p:spPr>
          <a:xfrm>
            <a:off x="205200" y="1296000"/>
            <a:ext cx="3168000" cy="2055600"/>
          </a:xfrm>
        </p:spPr>
        <p:txBody>
          <a:bodyPr/>
          <a:lstStyle>
            <a:lvl1pPr>
              <a:defRPr/>
            </a:lvl1pPr>
          </a:lstStyle>
          <a:p>
            <a:pPr lvl="0"/>
            <a:r>
              <a:rPr lang="en-US" noProof="1"/>
              <a:t>Add Text </a:t>
            </a:r>
            <a:endParaRPr lang="en-US" noProof="1"/>
          </a:p>
          <a:p>
            <a:pPr lvl="1"/>
            <a:r>
              <a:rPr lang="en-US" noProof="1"/>
              <a:t>Zweite Ebene</a:t>
            </a:r>
            <a:endParaRPr lang="en-US" noProof="1"/>
          </a:p>
          <a:p>
            <a:pPr lvl="2"/>
            <a:r>
              <a:rPr lang="en-US" noProof="1"/>
              <a:t>Dritte Ebene</a:t>
            </a:r>
            <a:endParaRPr lang="en-US" noProof="1"/>
          </a:p>
          <a:p>
            <a:pPr lvl="3"/>
            <a:r>
              <a:rPr lang="en-US" noProof="1"/>
              <a:t>Vierte Ebene</a:t>
            </a:r>
            <a:endParaRPr lang="en-US" noProof="1"/>
          </a:p>
          <a:p>
            <a:pPr lvl="4"/>
            <a:r>
              <a:rPr lang="en-US" noProof="1"/>
              <a:t>Fünfte Ebene</a:t>
            </a:r>
            <a:endParaRPr lang="en-US" noProof="1"/>
          </a:p>
        </p:txBody>
      </p:sp>
      <p:sp>
        <p:nvSpPr>
          <p:cNvPr id="6" name="Content Placeholder 2"/>
          <p:cNvSpPr>
            <a:spLocks noGrp="1"/>
          </p:cNvSpPr>
          <p:nvPr>
            <p:ph sz="half" idx="3" hasCustomPrompt="1"/>
          </p:nvPr>
        </p:nvSpPr>
        <p:spPr>
          <a:xfrm>
            <a:off x="3900600" y="1295999"/>
            <a:ext cx="3168000" cy="2055600"/>
          </a:xfrm>
        </p:spPr>
        <p:txBody>
          <a:bodyPr/>
          <a:lstStyle>
            <a:lvl1pPr>
              <a:defRPr/>
            </a:lvl1pPr>
          </a:lstStyle>
          <a:p>
            <a:pPr lvl="0"/>
            <a:r>
              <a:rPr lang="en-US" noProof="1"/>
              <a:t>Add Text </a:t>
            </a:r>
            <a:endParaRPr lang="en-US" noProof="1"/>
          </a:p>
          <a:p>
            <a:pPr lvl="1"/>
            <a:r>
              <a:rPr lang="en-US" noProof="1"/>
              <a:t>Zweite Ebene</a:t>
            </a:r>
            <a:endParaRPr lang="en-US" noProof="1"/>
          </a:p>
          <a:p>
            <a:pPr lvl="2"/>
            <a:r>
              <a:rPr lang="en-US" noProof="1"/>
              <a:t>Dritte Ebene</a:t>
            </a:r>
            <a:endParaRPr lang="en-US" noProof="1"/>
          </a:p>
          <a:p>
            <a:pPr lvl="3"/>
            <a:r>
              <a:rPr lang="en-US" noProof="1"/>
              <a:t>Vierte Ebene</a:t>
            </a:r>
            <a:endParaRPr lang="en-US" noProof="1"/>
          </a:p>
          <a:p>
            <a:pPr lvl="4"/>
            <a:r>
              <a:rPr lang="en-US" noProof="1"/>
              <a:t>Fünfte Ebene</a:t>
            </a:r>
            <a:endParaRPr lang="en-US" noProof="1"/>
          </a:p>
        </p:txBody>
      </p:sp>
      <p:sp>
        <p:nvSpPr>
          <p:cNvPr id="8" name="Content Placeholder 3"/>
          <p:cNvSpPr>
            <a:spLocks noGrp="1"/>
          </p:cNvSpPr>
          <p:nvPr>
            <p:ph sz="half" idx="5" hasCustomPrompt="1"/>
          </p:nvPr>
        </p:nvSpPr>
        <p:spPr>
          <a:xfrm>
            <a:off x="7596000" y="1295999"/>
            <a:ext cx="3168000" cy="2055600"/>
          </a:xfrm>
        </p:spPr>
        <p:txBody>
          <a:bodyPr/>
          <a:lstStyle>
            <a:lvl1pPr>
              <a:defRPr/>
            </a:lvl1pPr>
          </a:lstStyle>
          <a:p>
            <a:pPr lvl="0"/>
            <a:r>
              <a:rPr lang="en-US" noProof="1"/>
              <a:t>Add Text </a:t>
            </a:r>
            <a:endParaRPr lang="en-US" noProof="1"/>
          </a:p>
          <a:p>
            <a:pPr lvl="1"/>
            <a:r>
              <a:rPr lang="en-US" noProof="1"/>
              <a:t>Zweite Ebene</a:t>
            </a:r>
            <a:endParaRPr lang="en-US" noProof="1"/>
          </a:p>
          <a:p>
            <a:pPr lvl="2"/>
            <a:r>
              <a:rPr lang="en-US" noProof="1"/>
              <a:t>Dritte Ebene</a:t>
            </a:r>
            <a:endParaRPr lang="en-US" noProof="1"/>
          </a:p>
          <a:p>
            <a:pPr lvl="3"/>
            <a:r>
              <a:rPr lang="en-US" noProof="1"/>
              <a:t>Vierte Ebene</a:t>
            </a:r>
            <a:endParaRPr lang="en-US" noProof="1"/>
          </a:p>
          <a:p>
            <a:pPr lvl="4"/>
            <a:r>
              <a:rPr lang="en-US" noProof="1"/>
              <a:t>Fünfte Ebene</a:t>
            </a:r>
            <a:endParaRPr lang="en-US" noProof="1"/>
          </a:p>
        </p:txBody>
      </p:sp>
      <p:sp>
        <p:nvSpPr>
          <p:cNvPr id="9" name="Content Placeholder 4"/>
          <p:cNvSpPr>
            <a:spLocks noGrp="1"/>
          </p:cNvSpPr>
          <p:nvPr>
            <p:ph sz="half" idx="2" hasCustomPrompt="1"/>
          </p:nvPr>
        </p:nvSpPr>
        <p:spPr>
          <a:xfrm>
            <a:off x="205200" y="3481200"/>
            <a:ext cx="3168000" cy="2055600"/>
          </a:xfrm>
        </p:spPr>
        <p:txBody>
          <a:bodyPr/>
          <a:lstStyle>
            <a:lvl1pPr>
              <a:defRPr/>
            </a:lvl1pPr>
          </a:lstStyle>
          <a:p>
            <a:pPr lvl="0"/>
            <a:r>
              <a:rPr lang="en-US" noProof="1"/>
              <a:t>Add Text </a:t>
            </a:r>
            <a:endParaRPr lang="en-US" noProof="1"/>
          </a:p>
          <a:p>
            <a:pPr lvl="1"/>
            <a:r>
              <a:rPr lang="en-US" noProof="1"/>
              <a:t>Zweite Ebene</a:t>
            </a:r>
            <a:endParaRPr lang="en-US" noProof="1"/>
          </a:p>
          <a:p>
            <a:pPr lvl="2"/>
            <a:r>
              <a:rPr lang="en-US" noProof="1"/>
              <a:t>Dritte Ebene</a:t>
            </a:r>
            <a:endParaRPr lang="en-US" noProof="1"/>
          </a:p>
          <a:p>
            <a:pPr lvl="3"/>
            <a:r>
              <a:rPr lang="en-US" noProof="1"/>
              <a:t>Vierte Ebene</a:t>
            </a:r>
            <a:endParaRPr lang="en-US" noProof="1"/>
          </a:p>
          <a:p>
            <a:pPr lvl="4"/>
            <a:r>
              <a:rPr lang="en-US" noProof="1"/>
              <a:t>Fünfte Ebene</a:t>
            </a:r>
            <a:endParaRPr lang="en-US" noProof="1"/>
          </a:p>
        </p:txBody>
      </p:sp>
      <p:sp>
        <p:nvSpPr>
          <p:cNvPr id="10" name="Content Placeholder 5"/>
          <p:cNvSpPr>
            <a:spLocks noGrp="1"/>
          </p:cNvSpPr>
          <p:nvPr>
            <p:ph sz="half" idx="4" hasCustomPrompt="1"/>
          </p:nvPr>
        </p:nvSpPr>
        <p:spPr>
          <a:xfrm>
            <a:off x="3900600" y="3481200"/>
            <a:ext cx="3168000" cy="2055600"/>
          </a:xfrm>
        </p:spPr>
        <p:txBody>
          <a:bodyPr/>
          <a:lstStyle>
            <a:lvl1pPr>
              <a:defRPr/>
            </a:lvl1pPr>
          </a:lstStyle>
          <a:p>
            <a:pPr lvl="0"/>
            <a:r>
              <a:rPr lang="en-US" noProof="1"/>
              <a:t>Add Text </a:t>
            </a:r>
            <a:endParaRPr lang="en-US" noProof="1"/>
          </a:p>
          <a:p>
            <a:pPr lvl="1"/>
            <a:r>
              <a:rPr lang="en-US" noProof="1"/>
              <a:t>Zweite Ebene</a:t>
            </a:r>
            <a:endParaRPr lang="en-US" noProof="1"/>
          </a:p>
          <a:p>
            <a:pPr lvl="2"/>
            <a:r>
              <a:rPr lang="en-US" noProof="1"/>
              <a:t>Dritte Ebene</a:t>
            </a:r>
            <a:endParaRPr lang="en-US" noProof="1"/>
          </a:p>
          <a:p>
            <a:pPr lvl="3"/>
            <a:r>
              <a:rPr lang="en-US" noProof="1"/>
              <a:t>Vierte Ebene</a:t>
            </a:r>
            <a:endParaRPr lang="en-US" noProof="1"/>
          </a:p>
          <a:p>
            <a:pPr lvl="4"/>
            <a:r>
              <a:rPr lang="en-US" noProof="1"/>
              <a:t>Fünfte Ebene</a:t>
            </a:r>
            <a:endParaRPr lang="en-US" noProof="1"/>
          </a:p>
        </p:txBody>
      </p:sp>
      <p:sp>
        <p:nvSpPr>
          <p:cNvPr id="11" name="Content Placeholder 6"/>
          <p:cNvSpPr>
            <a:spLocks noGrp="1"/>
          </p:cNvSpPr>
          <p:nvPr>
            <p:ph sz="half" idx="6" hasCustomPrompt="1"/>
          </p:nvPr>
        </p:nvSpPr>
        <p:spPr>
          <a:xfrm>
            <a:off x="7596000" y="3481200"/>
            <a:ext cx="3168000" cy="2055600"/>
          </a:xfrm>
        </p:spPr>
        <p:txBody>
          <a:bodyPr/>
          <a:lstStyle>
            <a:lvl1pPr>
              <a:defRPr/>
            </a:lvl1pPr>
          </a:lstStyle>
          <a:p>
            <a:pPr lvl="0"/>
            <a:r>
              <a:rPr lang="en-US" noProof="1"/>
              <a:t>Add Text </a:t>
            </a:r>
            <a:endParaRPr lang="en-US" noProof="1"/>
          </a:p>
          <a:p>
            <a:pPr lvl="1"/>
            <a:r>
              <a:rPr lang="en-US" noProof="1"/>
              <a:t>Zweite Ebene</a:t>
            </a:r>
            <a:endParaRPr lang="en-US" noProof="1"/>
          </a:p>
          <a:p>
            <a:pPr lvl="2"/>
            <a:r>
              <a:rPr lang="en-US" noProof="1"/>
              <a:t>Dritte Ebene</a:t>
            </a:r>
            <a:endParaRPr lang="en-US" noProof="1"/>
          </a:p>
          <a:p>
            <a:pPr lvl="3"/>
            <a:r>
              <a:rPr lang="en-US" noProof="1"/>
              <a:t>Vierte Ebene</a:t>
            </a:r>
            <a:endParaRPr lang="en-US" noProof="1"/>
          </a:p>
          <a:p>
            <a:pPr lvl="4"/>
            <a:r>
              <a:rPr lang="en-US" noProof="1"/>
              <a:t>Fünfte Ebene</a:t>
            </a:r>
            <a:endParaRPr lang="en-US" noProof="1"/>
          </a:p>
        </p:txBody>
      </p:sp>
      <p:sp>
        <p:nvSpPr>
          <p:cNvPr id="16" name="AttachmentRemark"/>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Bosch Office Sans" pitchFamily="34" charset="0"/>
              </a:rPr>
              <a:t> </a:t>
            </a:r>
            <a:endParaRPr lang="en-US" sz="550" b="0" i="0" u="none" strike="noStrike" kern="0" baseline="0" noProof="1">
              <a:solidFill>
                <a:srgbClr val="000000"/>
              </a:solidFill>
              <a:latin typeface="Bosch Office Sans" pitchFamily="34" charset="0"/>
            </a:endParaRPr>
          </a:p>
        </p:txBody>
      </p:sp>
      <p:sp>
        <p:nvSpPr>
          <p:cNvPr id="2" name="Slide Number Placeholder 1"/>
          <p:cNvSpPr>
            <a:spLocks noGrp="1"/>
          </p:cNvSpPr>
          <p:nvPr>
            <p:ph type="sldNum" sz="quarter" idx="12"/>
          </p:nvPr>
        </p:nvSpPr>
        <p:spPr/>
        <p:txBody>
          <a:bodyPr/>
          <a:lstStyle/>
          <a:p>
            <a:fld id="{4898AEC0-503E-4FA4-859C-D0F72D6E3F79}" type="slidenum">
              <a:rPr lang="en-US" noProof="1" smtClean="0"/>
            </a:fld>
            <a:endParaRPr lang="en-US" noProof="1"/>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4 x 2 Contents ">
    <p:spTree>
      <p:nvGrpSpPr>
        <p:cNvPr id="1" name=""/>
        <p:cNvGrpSpPr/>
        <p:nvPr/>
      </p:nvGrpSpPr>
      <p:grpSpPr>
        <a:xfrm>
          <a:off x="0" y="0"/>
          <a:ext cx="0" cy="0"/>
          <a:chOff x="0" y="0"/>
          <a:chExt cx="0" cy="0"/>
        </a:xfrm>
      </p:grpSpPr>
      <p:sp>
        <p:nvSpPr>
          <p:cNvPr id="24" name="Chapter_titleonly"/>
          <p:cNvSpPr>
            <a:spLocks noGrp="1"/>
          </p:cNvSpPr>
          <p:nvPr>
            <p:ph type="body" sz="quarter" idx="15" hasCustomPrompt="1"/>
          </p:nvPr>
        </p:nvSpPr>
        <p:spPr>
          <a:xfrm>
            <a:off x="205200" y="259200"/>
            <a:ext cx="10558800" cy="388800"/>
          </a:xfrm>
        </p:spPr>
        <p:txBody>
          <a:bodyPr/>
          <a:lstStyle>
            <a:lvl1pPr marL="0" indent="0">
              <a:lnSpc>
                <a:spcPct val="89000"/>
              </a:lnSpc>
              <a:spcBef>
                <a:spcPts val="0"/>
              </a:spcBef>
              <a:buNone/>
              <a:defRPr sz="2800" kern="0" baseline="0">
                <a:solidFill>
                  <a:schemeClr val="tx1"/>
                </a:solidFill>
              </a:defRPr>
            </a:lvl1pPr>
            <a:lvl2pPr marL="233680" indent="0">
              <a:buNone/>
              <a:defRPr sz="2800"/>
            </a:lvl2pPr>
            <a:lvl3pPr marL="525780" indent="0">
              <a:buNone/>
              <a:defRPr sz="2800"/>
            </a:lvl3pPr>
            <a:lvl4pPr marL="748665" indent="0">
              <a:buNone/>
              <a:defRPr sz="2800"/>
            </a:lvl4pPr>
            <a:lvl5pPr marL="748665" indent="0">
              <a:buNone/>
              <a:defRPr sz="2800"/>
            </a:lvl5pPr>
          </a:lstStyle>
          <a:p>
            <a:pPr lvl="0"/>
            <a:r>
              <a:rPr lang="en-US" noProof="1"/>
              <a:t>Add Chapter Title</a:t>
            </a:r>
            <a:endParaRPr lang="en-US" noProof="1"/>
          </a:p>
        </p:txBody>
      </p:sp>
      <p:sp>
        <p:nvSpPr>
          <p:cNvPr id="19" name="Title 1"/>
          <p:cNvSpPr>
            <a:spLocks noGrp="1"/>
          </p:cNvSpPr>
          <p:nvPr>
            <p:ph type="title" hasCustomPrompt="1"/>
          </p:nvPr>
        </p:nvSpPr>
        <p:spPr>
          <a:xfrm>
            <a:off x="205200" y="648000"/>
            <a:ext cx="10558800" cy="388800"/>
          </a:xfrm>
        </p:spPr>
        <p:txBody>
          <a:bodyPr/>
          <a:lstStyle>
            <a:lvl1pPr>
              <a:defRPr kern="1200" baseline="0"/>
            </a:lvl1pPr>
          </a:lstStyle>
          <a:p>
            <a:r>
              <a:rPr lang="en-US" noProof="1"/>
              <a:t>Add Slide Title</a:t>
            </a:r>
            <a:endParaRPr lang="en-US" noProof="1"/>
          </a:p>
        </p:txBody>
      </p:sp>
      <p:sp>
        <p:nvSpPr>
          <p:cNvPr id="5" name="Content Placeholder 1"/>
          <p:cNvSpPr>
            <a:spLocks noGrp="1"/>
          </p:cNvSpPr>
          <p:nvPr>
            <p:ph sz="half" idx="1" hasCustomPrompt="1"/>
          </p:nvPr>
        </p:nvSpPr>
        <p:spPr>
          <a:xfrm>
            <a:off x="205200" y="1296000"/>
            <a:ext cx="2541600" cy="2055600"/>
          </a:xfrm>
        </p:spPr>
        <p:txBody>
          <a:bodyPr/>
          <a:lstStyle>
            <a:lvl1pPr>
              <a:defRPr/>
            </a:lvl1pPr>
          </a:lstStyle>
          <a:p>
            <a:pPr lvl="0"/>
            <a:r>
              <a:rPr lang="en-US" noProof="1"/>
              <a:t>Add Text </a:t>
            </a:r>
            <a:endParaRPr lang="en-US" noProof="1"/>
          </a:p>
          <a:p>
            <a:pPr lvl="1"/>
            <a:r>
              <a:rPr lang="en-US" noProof="1"/>
              <a:t>Zweite Ebene</a:t>
            </a:r>
            <a:endParaRPr lang="en-US" noProof="1"/>
          </a:p>
          <a:p>
            <a:pPr lvl="2"/>
            <a:r>
              <a:rPr lang="en-US" noProof="1"/>
              <a:t>Dritte Ebene</a:t>
            </a:r>
            <a:endParaRPr lang="en-US" noProof="1"/>
          </a:p>
          <a:p>
            <a:pPr lvl="3"/>
            <a:r>
              <a:rPr lang="en-US" noProof="1"/>
              <a:t>Vierte Ebene</a:t>
            </a:r>
            <a:endParaRPr lang="en-US" noProof="1"/>
          </a:p>
          <a:p>
            <a:pPr lvl="4"/>
            <a:r>
              <a:rPr lang="en-US" noProof="1"/>
              <a:t>Fünfte Ebene</a:t>
            </a:r>
            <a:endParaRPr lang="en-US" noProof="1"/>
          </a:p>
        </p:txBody>
      </p:sp>
      <p:sp>
        <p:nvSpPr>
          <p:cNvPr id="6" name="Content Placeholder 2"/>
          <p:cNvSpPr>
            <a:spLocks noGrp="1"/>
          </p:cNvSpPr>
          <p:nvPr>
            <p:ph sz="half" idx="3" hasCustomPrompt="1"/>
          </p:nvPr>
        </p:nvSpPr>
        <p:spPr>
          <a:xfrm>
            <a:off x="2877600" y="1295999"/>
            <a:ext cx="2541600" cy="2055600"/>
          </a:xfrm>
        </p:spPr>
        <p:txBody>
          <a:bodyPr/>
          <a:lstStyle>
            <a:lvl1pPr>
              <a:defRPr/>
            </a:lvl1pPr>
          </a:lstStyle>
          <a:p>
            <a:pPr lvl="0"/>
            <a:r>
              <a:rPr lang="en-US" noProof="1"/>
              <a:t>Add Text </a:t>
            </a:r>
            <a:endParaRPr lang="en-US" noProof="1"/>
          </a:p>
          <a:p>
            <a:pPr lvl="1"/>
            <a:r>
              <a:rPr lang="en-US" noProof="1"/>
              <a:t>Zweite Ebene</a:t>
            </a:r>
            <a:endParaRPr lang="en-US" noProof="1"/>
          </a:p>
          <a:p>
            <a:pPr lvl="2"/>
            <a:r>
              <a:rPr lang="en-US" noProof="1"/>
              <a:t>Dritte Ebene</a:t>
            </a:r>
            <a:endParaRPr lang="en-US" noProof="1"/>
          </a:p>
          <a:p>
            <a:pPr lvl="3"/>
            <a:r>
              <a:rPr lang="en-US" noProof="1"/>
              <a:t>Vierte Ebene</a:t>
            </a:r>
            <a:endParaRPr lang="en-US" noProof="1"/>
          </a:p>
          <a:p>
            <a:pPr lvl="4"/>
            <a:r>
              <a:rPr lang="en-US" noProof="1"/>
              <a:t>Fünfte Ebene</a:t>
            </a:r>
            <a:endParaRPr lang="en-US" noProof="1"/>
          </a:p>
        </p:txBody>
      </p:sp>
      <p:sp>
        <p:nvSpPr>
          <p:cNvPr id="17" name="Content Placeholder 3"/>
          <p:cNvSpPr>
            <a:spLocks noGrp="1"/>
          </p:cNvSpPr>
          <p:nvPr>
            <p:ph sz="half" idx="5" hasCustomPrompt="1"/>
          </p:nvPr>
        </p:nvSpPr>
        <p:spPr>
          <a:xfrm>
            <a:off x="5550000" y="1296000"/>
            <a:ext cx="2541600" cy="2055600"/>
          </a:xfrm>
        </p:spPr>
        <p:txBody>
          <a:bodyPr/>
          <a:lstStyle>
            <a:lvl1pPr>
              <a:defRPr/>
            </a:lvl1pPr>
          </a:lstStyle>
          <a:p>
            <a:pPr lvl="0"/>
            <a:r>
              <a:rPr lang="en-US" noProof="1"/>
              <a:t>Add Text </a:t>
            </a:r>
            <a:endParaRPr lang="en-US" noProof="1"/>
          </a:p>
          <a:p>
            <a:pPr lvl="1"/>
            <a:r>
              <a:rPr lang="en-US" noProof="1"/>
              <a:t>Zweite Ebene</a:t>
            </a:r>
            <a:endParaRPr lang="en-US" noProof="1"/>
          </a:p>
          <a:p>
            <a:pPr lvl="2"/>
            <a:r>
              <a:rPr lang="en-US" noProof="1"/>
              <a:t>Dritte Ebene</a:t>
            </a:r>
            <a:endParaRPr lang="en-US" noProof="1"/>
          </a:p>
          <a:p>
            <a:pPr lvl="3"/>
            <a:r>
              <a:rPr lang="en-US" noProof="1"/>
              <a:t>Vierte Ebene</a:t>
            </a:r>
            <a:endParaRPr lang="en-US" noProof="1"/>
          </a:p>
          <a:p>
            <a:pPr lvl="4"/>
            <a:r>
              <a:rPr lang="en-US" noProof="1"/>
              <a:t>Fünfte Ebene</a:t>
            </a:r>
            <a:endParaRPr lang="en-US" noProof="1"/>
          </a:p>
        </p:txBody>
      </p:sp>
      <p:sp>
        <p:nvSpPr>
          <p:cNvPr id="8" name="Content Placeholder 4"/>
          <p:cNvSpPr>
            <a:spLocks noGrp="1"/>
          </p:cNvSpPr>
          <p:nvPr>
            <p:ph sz="half" idx="7" hasCustomPrompt="1"/>
          </p:nvPr>
        </p:nvSpPr>
        <p:spPr>
          <a:xfrm>
            <a:off x="8222400" y="1295999"/>
            <a:ext cx="2541600" cy="2055600"/>
          </a:xfrm>
        </p:spPr>
        <p:txBody>
          <a:bodyPr/>
          <a:lstStyle>
            <a:lvl1pPr>
              <a:defRPr/>
            </a:lvl1pPr>
          </a:lstStyle>
          <a:p>
            <a:pPr lvl="0"/>
            <a:r>
              <a:rPr lang="en-US" noProof="1"/>
              <a:t>Add Text </a:t>
            </a:r>
            <a:endParaRPr lang="en-US" noProof="1"/>
          </a:p>
          <a:p>
            <a:pPr lvl="1"/>
            <a:r>
              <a:rPr lang="en-US" noProof="1"/>
              <a:t>Zweite Ebene</a:t>
            </a:r>
            <a:endParaRPr lang="en-US" noProof="1"/>
          </a:p>
          <a:p>
            <a:pPr lvl="2"/>
            <a:r>
              <a:rPr lang="en-US" noProof="1"/>
              <a:t>Dritte Ebene</a:t>
            </a:r>
            <a:endParaRPr lang="en-US" noProof="1"/>
          </a:p>
          <a:p>
            <a:pPr lvl="3"/>
            <a:r>
              <a:rPr lang="en-US" noProof="1"/>
              <a:t>Vierte Ebene</a:t>
            </a:r>
            <a:endParaRPr lang="en-US" noProof="1"/>
          </a:p>
          <a:p>
            <a:pPr lvl="4"/>
            <a:r>
              <a:rPr lang="en-US" noProof="1"/>
              <a:t>Fünfte Ebene</a:t>
            </a:r>
            <a:endParaRPr lang="en-US" noProof="1"/>
          </a:p>
        </p:txBody>
      </p:sp>
      <p:sp>
        <p:nvSpPr>
          <p:cNvPr id="9" name="Content Placeholder 5"/>
          <p:cNvSpPr>
            <a:spLocks noGrp="1"/>
          </p:cNvSpPr>
          <p:nvPr>
            <p:ph sz="half" idx="2" hasCustomPrompt="1"/>
          </p:nvPr>
        </p:nvSpPr>
        <p:spPr>
          <a:xfrm>
            <a:off x="205200" y="3481200"/>
            <a:ext cx="2541600" cy="2055600"/>
          </a:xfrm>
        </p:spPr>
        <p:txBody>
          <a:bodyPr/>
          <a:lstStyle>
            <a:lvl1pPr>
              <a:defRPr/>
            </a:lvl1pPr>
          </a:lstStyle>
          <a:p>
            <a:pPr lvl="0"/>
            <a:r>
              <a:rPr lang="en-US" noProof="1"/>
              <a:t>Add Text </a:t>
            </a:r>
            <a:endParaRPr lang="en-US" noProof="1"/>
          </a:p>
          <a:p>
            <a:pPr lvl="1"/>
            <a:r>
              <a:rPr lang="en-US" noProof="1"/>
              <a:t>Zweite Ebene</a:t>
            </a:r>
            <a:endParaRPr lang="en-US" noProof="1"/>
          </a:p>
          <a:p>
            <a:pPr lvl="2"/>
            <a:r>
              <a:rPr lang="en-US" noProof="1"/>
              <a:t>Dritte Ebene</a:t>
            </a:r>
            <a:endParaRPr lang="en-US" noProof="1"/>
          </a:p>
          <a:p>
            <a:pPr lvl="3"/>
            <a:r>
              <a:rPr lang="en-US" noProof="1"/>
              <a:t>Vierte Ebene</a:t>
            </a:r>
            <a:endParaRPr lang="en-US" noProof="1"/>
          </a:p>
          <a:p>
            <a:pPr lvl="4"/>
            <a:r>
              <a:rPr lang="en-US" noProof="1"/>
              <a:t>Fünfte Ebene</a:t>
            </a:r>
            <a:endParaRPr lang="en-US" noProof="1"/>
          </a:p>
        </p:txBody>
      </p:sp>
      <p:sp>
        <p:nvSpPr>
          <p:cNvPr id="10" name="Content Placeholder 6"/>
          <p:cNvSpPr>
            <a:spLocks noGrp="1"/>
          </p:cNvSpPr>
          <p:nvPr>
            <p:ph sz="half" idx="4" hasCustomPrompt="1"/>
          </p:nvPr>
        </p:nvSpPr>
        <p:spPr>
          <a:xfrm>
            <a:off x="2877600" y="3481200"/>
            <a:ext cx="2541600" cy="2055600"/>
          </a:xfrm>
        </p:spPr>
        <p:txBody>
          <a:bodyPr/>
          <a:lstStyle>
            <a:lvl1pPr>
              <a:defRPr/>
            </a:lvl1pPr>
          </a:lstStyle>
          <a:p>
            <a:pPr lvl="0"/>
            <a:r>
              <a:rPr lang="en-US" noProof="1"/>
              <a:t>Add Text </a:t>
            </a:r>
            <a:endParaRPr lang="en-US" noProof="1"/>
          </a:p>
          <a:p>
            <a:pPr lvl="1"/>
            <a:r>
              <a:rPr lang="en-US" noProof="1"/>
              <a:t>Zweite Ebene</a:t>
            </a:r>
            <a:endParaRPr lang="en-US" noProof="1"/>
          </a:p>
          <a:p>
            <a:pPr lvl="2"/>
            <a:r>
              <a:rPr lang="en-US" noProof="1"/>
              <a:t>Dritte Ebene</a:t>
            </a:r>
            <a:endParaRPr lang="en-US" noProof="1"/>
          </a:p>
          <a:p>
            <a:pPr lvl="3"/>
            <a:r>
              <a:rPr lang="en-US" noProof="1"/>
              <a:t>Vierte Ebene</a:t>
            </a:r>
            <a:endParaRPr lang="en-US" noProof="1"/>
          </a:p>
          <a:p>
            <a:pPr lvl="4"/>
            <a:r>
              <a:rPr lang="en-US" noProof="1"/>
              <a:t>Fünfte Ebene</a:t>
            </a:r>
            <a:endParaRPr lang="en-US" noProof="1"/>
          </a:p>
        </p:txBody>
      </p:sp>
      <p:sp>
        <p:nvSpPr>
          <p:cNvPr id="18" name="Content Placeholder 7"/>
          <p:cNvSpPr>
            <a:spLocks noGrp="1"/>
          </p:cNvSpPr>
          <p:nvPr>
            <p:ph sz="half" idx="6" hasCustomPrompt="1"/>
          </p:nvPr>
        </p:nvSpPr>
        <p:spPr>
          <a:xfrm>
            <a:off x="5550000" y="3481200"/>
            <a:ext cx="2541600" cy="2055600"/>
          </a:xfrm>
        </p:spPr>
        <p:txBody>
          <a:bodyPr/>
          <a:lstStyle>
            <a:lvl1pPr>
              <a:defRPr/>
            </a:lvl1pPr>
          </a:lstStyle>
          <a:p>
            <a:pPr lvl="0"/>
            <a:r>
              <a:rPr lang="en-US" noProof="1"/>
              <a:t>Add Text </a:t>
            </a:r>
            <a:endParaRPr lang="en-US" noProof="1"/>
          </a:p>
          <a:p>
            <a:pPr lvl="1"/>
            <a:r>
              <a:rPr lang="en-US" noProof="1"/>
              <a:t>Zweite Ebene</a:t>
            </a:r>
            <a:endParaRPr lang="en-US" noProof="1"/>
          </a:p>
          <a:p>
            <a:pPr lvl="2"/>
            <a:r>
              <a:rPr lang="en-US" noProof="1"/>
              <a:t>Dritte Ebene</a:t>
            </a:r>
            <a:endParaRPr lang="en-US" noProof="1"/>
          </a:p>
          <a:p>
            <a:pPr lvl="3"/>
            <a:r>
              <a:rPr lang="en-US" noProof="1"/>
              <a:t>Vierte Ebene</a:t>
            </a:r>
            <a:endParaRPr lang="en-US" noProof="1"/>
          </a:p>
          <a:p>
            <a:pPr lvl="4"/>
            <a:r>
              <a:rPr lang="en-US" noProof="1"/>
              <a:t>Fünfte Ebene</a:t>
            </a:r>
            <a:endParaRPr lang="en-US" noProof="1"/>
          </a:p>
        </p:txBody>
      </p:sp>
      <p:sp>
        <p:nvSpPr>
          <p:cNvPr id="11" name="Content Placeholder 8"/>
          <p:cNvSpPr>
            <a:spLocks noGrp="1"/>
          </p:cNvSpPr>
          <p:nvPr>
            <p:ph sz="half" idx="8" hasCustomPrompt="1"/>
          </p:nvPr>
        </p:nvSpPr>
        <p:spPr>
          <a:xfrm>
            <a:off x="8222400" y="3481200"/>
            <a:ext cx="2541600" cy="2055600"/>
          </a:xfrm>
        </p:spPr>
        <p:txBody>
          <a:bodyPr/>
          <a:lstStyle>
            <a:lvl1pPr>
              <a:defRPr/>
            </a:lvl1pPr>
          </a:lstStyle>
          <a:p>
            <a:pPr lvl="0"/>
            <a:r>
              <a:rPr lang="en-US" noProof="1"/>
              <a:t>Add Text </a:t>
            </a:r>
            <a:endParaRPr lang="en-US" noProof="1"/>
          </a:p>
          <a:p>
            <a:pPr lvl="1"/>
            <a:r>
              <a:rPr lang="en-US" noProof="1"/>
              <a:t>Zweite Ebene</a:t>
            </a:r>
            <a:endParaRPr lang="en-US" noProof="1"/>
          </a:p>
          <a:p>
            <a:pPr lvl="2"/>
            <a:r>
              <a:rPr lang="en-US" noProof="1"/>
              <a:t>Dritte Ebene</a:t>
            </a:r>
            <a:endParaRPr lang="en-US" noProof="1"/>
          </a:p>
          <a:p>
            <a:pPr lvl="3"/>
            <a:r>
              <a:rPr lang="en-US" noProof="1"/>
              <a:t>Vierte Ebene</a:t>
            </a:r>
            <a:endParaRPr lang="en-US" noProof="1"/>
          </a:p>
          <a:p>
            <a:pPr lvl="4"/>
            <a:r>
              <a:rPr lang="en-US" noProof="1"/>
              <a:t>Fünfte Ebene</a:t>
            </a:r>
            <a:endParaRPr lang="en-US" noProof="1"/>
          </a:p>
        </p:txBody>
      </p:sp>
      <p:sp>
        <p:nvSpPr>
          <p:cNvPr id="21" name="AttachmentRemark"/>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Bosch Office Sans" pitchFamily="34" charset="0"/>
              </a:rPr>
              <a:t> </a:t>
            </a:r>
            <a:endParaRPr lang="en-US" sz="550" b="0" i="0" u="none" strike="noStrike" kern="0" baseline="0" noProof="1">
              <a:solidFill>
                <a:srgbClr val="000000"/>
              </a:solidFill>
              <a:latin typeface="Bosch Office Sans" pitchFamily="34" charset="0"/>
            </a:endParaRPr>
          </a:p>
        </p:txBody>
      </p:sp>
      <p:sp>
        <p:nvSpPr>
          <p:cNvPr id="2" name="Slide Number Placeholder 1"/>
          <p:cNvSpPr>
            <a:spLocks noGrp="1"/>
          </p:cNvSpPr>
          <p:nvPr>
            <p:ph type="sldNum" sz="quarter" idx="12"/>
          </p:nvPr>
        </p:nvSpPr>
        <p:spPr/>
        <p:txBody>
          <a:bodyPr/>
          <a:lstStyle/>
          <a:p>
            <a:fld id="{4898AEC0-503E-4FA4-859C-D0F72D6E3F79}" type="slidenum">
              <a:rPr lang="en-US" noProof="1" smtClean="0"/>
            </a:fld>
            <a:endParaRPr lang="en-US" noProof="1"/>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Headline only ">
    <p:spTree>
      <p:nvGrpSpPr>
        <p:cNvPr id="1" name=""/>
        <p:cNvGrpSpPr/>
        <p:nvPr/>
      </p:nvGrpSpPr>
      <p:grpSpPr>
        <a:xfrm>
          <a:off x="0" y="0"/>
          <a:ext cx="0" cy="0"/>
          <a:chOff x="0" y="0"/>
          <a:chExt cx="0" cy="0"/>
        </a:xfrm>
      </p:grpSpPr>
      <p:sp>
        <p:nvSpPr>
          <p:cNvPr id="4" name="Chapter_titleonly"/>
          <p:cNvSpPr>
            <a:spLocks noGrp="1"/>
          </p:cNvSpPr>
          <p:nvPr>
            <p:ph type="body" sz="quarter" idx="15" hasCustomPrompt="1"/>
          </p:nvPr>
        </p:nvSpPr>
        <p:spPr>
          <a:xfrm>
            <a:off x="205200" y="259200"/>
            <a:ext cx="10558800" cy="388800"/>
          </a:xfrm>
        </p:spPr>
        <p:txBody>
          <a:bodyPr/>
          <a:lstStyle>
            <a:lvl1pPr marL="0" indent="0">
              <a:lnSpc>
                <a:spcPct val="89000"/>
              </a:lnSpc>
              <a:spcBef>
                <a:spcPts val="0"/>
              </a:spcBef>
              <a:buNone/>
              <a:defRPr sz="2800" kern="0" baseline="0">
                <a:solidFill>
                  <a:schemeClr val="tx1"/>
                </a:solidFill>
              </a:defRPr>
            </a:lvl1pPr>
            <a:lvl2pPr marL="233680" indent="0">
              <a:buNone/>
              <a:defRPr sz="2800"/>
            </a:lvl2pPr>
            <a:lvl3pPr marL="525780" indent="0">
              <a:buNone/>
              <a:defRPr sz="2800"/>
            </a:lvl3pPr>
            <a:lvl4pPr marL="748665" indent="0">
              <a:buNone/>
              <a:defRPr sz="2800"/>
            </a:lvl4pPr>
            <a:lvl5pPr marL="748665" indent="0">
              <a:buNone/>
              <a:defRPr sz="2800"/>
            </a:lvl5pPr>
          </a:lstStyle>
          <a:p>
            <a:pPr lvl="0"/>
            <a:r>
              <a:rPr lang="en-US" noProof="1"/>
              <a:t>Add Chapter Title</a:t>
            </a:r>
            <a:endParaRPr lang="en-US" noProof="1"/>
          </a:p>
        </p:txBody>
      </p:sp>
      <p:sp>
        <p:nvSpPr>
          <p:cNvPr id="10" name="AttachmentRemark"/>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Bosch Office Sans" pitchFamily="34" charset="0"/>
              </a:rPr>
              <a:t> </a:t>
            </a:r>
            <a:endParaRPr lang="en-US" sz="550" b="0" i="0" u="none" strike="noStrike" kern="0" baseline="0" noProof="1">
              <a:solidFill>
                <a:srgbClr val="000000"/>
              </a:solidFill>
              <a:latin typeface="Bosch Office Sans" pitchFamily="34" charset="0"/>
            </a:endParaRPr>
          </a:p>
        </p:txBody>
      </p:sp>
      <p:sp>
        <p:nvSpPr>
          <p:cNvPr id="5" name="Title 4"/>
          <p:cNvSpPr>
            <a:spLocks noGrp="1"/>
          </p:cNvSpPr>
          <p:nvPr>
            <p:ph type="title" hasCustomPrompt="1"/>
          </p:nvPr>
        </p:nvSpPr>
        <p:spPr/>
        <p:txBody>
          <a:bodyPr/>
          <a:lstStyle/>
          <a:p>
            <a:r>
              <a:rPr lang="en-US"/>
              <a:t>Add Slide Title</a:t>
            </a:r>
            <a:endParaRPr lang="en-US"/>
          </a:p>
        </p:txBody>
      </p:sp>
      <p:sp>
        <p:nvSpPr>
          <p:cNvPr id="2" name="Slide Number Placeholder 1"/>
          <p:cNvSpPr>
            <a:spLocks noGrp="1"/>
          </p:cNvSpPr>
          <p:nvPr>
            <p:ph type="sldNum" sz="quarter" idx="12"/>
          </p:nvPr>
        </p:nvSpPr>
        <p:spPr/>
        <p:txBody>
          <a:bodyPr/>
          <a:lstStyle/>
          <a:p>
            <a:fld id="{4898AEC0-503E-4FA4-859C-D0F72D6E3F79}" type="slidenum">
              <a:rPr lang="en-US" noProof="1" smtClean="0"/>
            </a:fld>
            <a:endParaRPr lang="en-US" noProof="1"/>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slide ">
    <p:spTree>
      <p:nvGrpSpPr>
        <p:cNvPr id="1" name=""/>
        <p:cNvGrpSpPr/>
        <p:nvPr/>
      </p:nvGrpSpPr>
      <p:grpSpPr>
        <a:xfrm>
          <a:off x="0" y="0"/>
          <a:ext cx="0" cy="0"/>
          <a:chOff x="0" y="0"/>
          <a:chExt cx="0" cy="0"/>
        </a:xfrm>
      </p:grpSpPr>
      <p:sp>
        <p:nvSpPr>
          <p:cNvPr id="8" name="AttachmentRemark"/>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Bosch Office Sans" pitchFamily="34" charset="0"/>
              </a:rPr>
              <a:t> </a:t>
            </a:r>
            <a:endParaRPr lang="en-US" sz="550" b="0" i="0" u="none" strike="noStrike" kern="0" baseline="0" noProof="1">
              <a:solidFill>
                <a:srgbClr val="000000"/>
              </a:solidFill>
              <a:latin typeface="Bosch Office Sans" pitchFamily="34" charset="0"/>
            </a:endParaRPr>
          </a:p>
        </p:txBody>
      </p:sp>
      <p:sp>
        <p:nvSpPr>
          <p:cNvPr id="2" name="Slide Number Placeholder 1"/>
          <p:cNvSpPr>
            <a:spLocks noGrp="1"/>
          </p:cNvSpPr>
          <p:nvPr>
            <p:ph type="sldNum" sz="quarter" idx="12"/>
          </p:nvPr>
        </p:nvSpPr>
        <p:spPr/>
        <p:txBody>
          <a:bodyPr/>
          <a:lstStyle/>
          <a:p>
            <a:fld id="{4898AEC0-503E-4FA4-859C-D0F72D6E3F79}" type="slidenum">
              <a:rPr lang="en-US" noProof="1" smtClean="0"/>
            </a:fld>
            <a:endParaRPr lang="en-US" noProof="1"/>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image" Target="../media/image10.png"/><Relationship Id="rId20" Type="http://schemas.openxmlformats.org/officeDocument/2006/relationships/image" Target="../media/image1.emf"/><Relationship Id="rId21" Type="http://schemas.openxmlformats.org/officeDocument/2006/relationships/image" Target="../media/image4.png"/><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IPGWMV_P-F403_T-3_U-1048B823" descr="IPGWMV_P-F403_T-3_U-1048B823"/>
          <p:cNvSpPr/>
          <p:nvPr userDrawn="1"/>
        </p:nvSpPr>
        <p:spPr>
          <a:xfrm>
            <a:off x="0" y="0"/>
            <a:ext cx="10963275" cy="6162675"/>
          </a:xfrm>
          <a:prstGeom prst="rect">
            <a:avLst/>
          </a:prstGeom>
          <a:blipFill dpi="0" rotWithShape="1">
            <a:blip r:embed="rId19" cstate="print"/>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zh-CN" altLang="en-US" dirty="0">
              <a:ln>
                <a:noFill/>
              </a:ln>
              <a:noFill/>
            </a:endParaRPr>
          </a:p>
        </p:txBody>
      </p:sp>
      <p:pic>
        <p:nvPicPr>
          <p:cNvPr id="16" name="Logo"/>
          <p:cNvPicPr>
            <a:picLocks noSelect="1" noChangeAspect="1"/>
          </p:cNvPicPr>
          <p:nvPr userDrawn="1"/>
        </p:nvPicPr>
        <p:blipFill>
          <a:blip r:embed="rId20" cstate="hqprint">
            <a:extLst>
              <a:ext uri="{28A0092B-C50C-407E-A947-70E740481C1C}">
                <a14:useLocalDpi xmlns:a14="http://schemas.microsoft.com/office/drawing/2010/main" val="0"/>
              </a:ext>
            </a:extLst>
          </a:blip>
          <a:stretch>
            <a:fillRect/>
          </a:stretch>
        </p:blipFill>
        <p:spPr>
          <a:xfrm>
            <a:off x="9779054" y="5676108"/>
            <a:ext cx="1015200" cy="276683"/>
          </a:xfrm>
          <a:prstGeom prst="rect">
            <a:avLst/>
          </a:prstGeom>
        </p:spPr>
      </p:pic>
      <p:sp>
        <p:nvSpPr>
          <p:cNvPr id="2" name="Title Placeholder 1"/>
          <p:cNvSpPr>
            <a:spLocks noGrp="1"/>
          </p:cNvSpPr>
          <p:nvPr>
            <p:ph type="title"/>
          </p:nvPr>
        </p:nvSpPr>
        <p:spPr>
          <a:xfrm>
            <a:off x="205200" y="648000"/>
            <a:ext cx="10558800" cy="388800"/>
          </a:xfrm>
          <a:prstGeom prst="rect">
            <a:avLst/>
          </a:prstGeom>
        </p:spPr>
        <p:txBody>
          <a:bodyPr vert="horz" lIns="0" tIns="0" rIns="0" bIns="0" rtlCol="0" anchor="t" anchorCtr="0">
            <a:noAutofit/>
          </a:bodyPr>
          <a:lstStyle/>
          <a:p>
            <a:r>
              <a:rPr lang="en-US" noProof="1"/>
              <a:t>Add Slide Title</a:t>
            </a:r>
            <a:endParaRPr lang="en-US" noProof="1"/>
          </a:p>
        </p:txBody>
      </p:sp>
      <p:sp>
        <p:nvSpPr>
          <p:cNvPr id="3" name="Text Placeholder 2"/>
          <p:cNvSpPr>
            <a:spLocks noGrp="1"/>
          </p:cNvSpPr>
          <p:nvPr>
            <p:ph type="body" idx="1"/>
          </p:nvPr>
        </p:nvSpPr>
        <p:spPr>
          <a:xfrm>
            <a:off x="205200" y="1296000"/>
            <a:ext cx="10558800" cy="4240800"/>
          </a:xfrm>
          <a:prstGeom prst="rect">
            <a:avLst/>
          </a:prstGeom>
        </p:spPr>
        <p:txBody>
          <a:bodyPr vert="horz" lIns="0" tIns="0" rIns="0" bIns="0" rtlCol="0">
            <a:noAutofit/>
          </a:bodyPr>
          <a:lstStyle/>
          <a:p>
            <a:pPr lvl="0"/>
            <a:r>
              <a:rPr lang="en-US" noProof="1"/>
              <a:t>Click to edit Master text styles</a:t>
            </a:r>
            <a:endParaRPr lang="en-US" noProof="1"/>
          </a:p>
          <a:p>
            <a:pPr lvl="1"/>
            <a:r>
              <a:rPr lang="en-US" noProof="1"/>
              <a:t>Second level</a:t>
            </a:r>
            <a:endParaRPr lang="en-US" noProof="1"/>
          </a:p>
          <a:p>
            <a:pPr lvl="2"/>
            <a:r>
              <a:rPr lang="en-US" noProof="1"/>
              <a:t>Third level</a:t>
            </a:r>
            <a:endParaRPr lang="en-US" noProof="1"/>
          </a:p>
          <a:p>
            <a:pPr lvl="3"/>
            <a:r>
              <a:rPr lang="en-US" noProof="1"/>
              <a:t>Fourth level</a:t>
            </a:r>
            <a:endParaRPr lang="en-US" noProof="1"/>
          </a:p>
          <a:p>
            <a:pPr lvl="4"/>
            <a:r>
              <a:rPr lang="en-US" noProof="1"/>
              <a:t>Fifth level</a:t>
            </a:r>
            <a:endParaRPr lang="en-US" noProof="1"/>
          </a:p>
        </p:txBody>
      </p:sp>
      <p:sp>
        <p:nvSpPr>
          <p:cNvPr id="7" name="Slide Number Placeholder 6"/>
          <p:cNvSpPr>
            <a:spLocks noGrp="1"/>
          </p:cNvSpPr>
          <p:nvPr>
            <p:ph type="sldNum" sz="quarter" idx="12"/>
          </p:nvPr>
        </p:nvSpPr>
        <p:spPr>
          <a:xfrm>
            <a:off x="205200" y="5666400"/>
            <a:ext cx="288290" cy="410210"/>
          </a:xfrm>
          <a:prstGeom prst="rect">
            <a:avLst/>
          </a:prstGeom>
        </p:spPr>
        <p:txBody>
          <a:bodyPr vert="horz" lIns="0" tIns="0" rIns="0" bIns="0" rtlCol="0" anchor="t"/>
          <a:lstStyle>
            <a:lvl1pPr algn="l">
              <a:defRPr sz="1200">
                <a:solidFill>
                  <a:srgbClr val="999FA6"/>
                </a:solidFill>
                <a:latin typeface="+mn-lt"/>
              </a:defRPr>
            </a:lvl1pPr>
          </a:lstStyle>
          <a:p>
            <a:fld id="{4898AEC0-503E-4FA4-859C-D0F72D6E3F79}" type="slidenum">
              <a:rPr lang="en-US" noProof="1" dirty="0" smtClean="0"/>
            </a:fld>
            <a:endParaRPr lang="en-US" noProof="1"/>
          </a:p>
        </p:txBody>
      </p:sp>
      <p:sp>
        <p:nvSpPr>
          <p:cNvPr id="14" name="Bosch_footer_1"/>
          <p:cNvSpPr txBox="1"/>
          <p:nvPr userDrawn="1"/>
        </p:nvSpPr>
        <p:spPr>
          <a:xfrm>
            <a:off x="547200" y="5688000"/>
            <a:ext cx="9126000" cy="107950"/>
          </a:xfrm>
          <a:prstGeom prst="rect">
            <a:avLst/>
          </a:prstGeom>
          <a:noFill/>
        </p:spPr>
        <p:txBody>
          <a:bodyPr wrap="square" lIns="0" tIns="0" rIns="0" bIns="0" rtlCol="0">
            <a:noAutofit/>
          </a:bodyPr>
          <a:lstStyle/>
          <a:p>
            <a:pPr marR="0" defTabSz="914400" eaLnBrk="1" fontAlgn="auto" latinLnBrk="0" hangingPunct="1">
              <a:lnSpc>
                <a:spcPct val="107000"/>
              </a:lnSpc>
              <a:spcBef>
                <a:spcPts val="0"/>
              </a:spcBef>
              <a:spcAft>
                <a:spcPts val="100"/>
              </a:spcAft>
              <a:buClrTx/>
              <a:buSzTx/>
              <a:buFontTx/>
              <a:buNone/>
            </a:pPr>
            <a:r>
              <a:rPr kumimoji="0" lang="en-US" sz="600" b="1" i="0" u="none" strike="noStrike" kern="0" cap="none" spc="0" normalizeH="0" baseline="0" noProof="1">
                <a:ln>
                  <a:noFill/>
                </a:ln>
                <a:solidFill>
                  <a:srgbClr val="D70012"/>
                </a:solidFill>
                <a:effectLst/>
                <a:uLnTx/>
                <a:uFillTx/>
                <a:latin typeface="Bosch Office Sans" pitchFamily="34" charset="0"/>
              </a:rPr>
              <a:t>Internal</a:t>
            </a:r>
            <a:r>
              <a:rPr kumimoji="0" lang="en-US" sz="600" b="0" i="0" u="none" strike="noStrike" kern="0" cap="none" spc="0" normalizeH="0" baseline="0" noProof="1">
                <a:ln>
                  <a:noFill/>
                </a:ln>
                <a:solidFill>
                  <a:srgbClr val="000000"/>
                </a:solidFill>
                <a:effectLst/>
                <a:uLnTx/>
                <a:uFillTx/>
                <a:latin typeface="Bosch Office Sans" pitchFamily="34" charset="0"/>
              </a:rPr>
              <a:t> | Cross-Domain Computing Solutions</a:t>
            </a:r>
            <a:endParaRPr kumimoji="0" lang="en-US" sz="600" b="0" i="0" u="none" strike="noStrike" kern="0" cap="none" spc="0" normalizeH="0" baseline="0" noProof="1">
              <a:ln>
                <a:noFill/>
              </a:ln>
              <a:solidFill>
                <a:srgbClr val="000000"/>
              </a:solidFill>
              <a:effectLst/>
              <a:uLnTx/>
              <a:uFillTx/>
              <a:latin typeface="Bosch Office Sans" pitchFamily="34" charset="0"/>
            </a:endParaRPr>
          </a:p>
        </p:txBody>
      </p:sp>
      <p:sp>
        <p:nvSpPr>
          <p:cNvPr id="8" name="Bosch_footer_2"/>
          <p:cNvSpPr txBox="1"/>
          <p:nvPr userDrawn="1"/>
        </p:nvSpPr>
        <p:spPr>
          <a:xfrm>
            <a:off x="547200" y="5793901"/>
            <a:ext cx="9126000" cy="215900"/>
          </a:xfrm>
          <a:prstGeom prst="rect">
            <a:avLst/>
          </a:prstGeom>
          <a:noFill/>
        </p:spPr>
        <p:txBody>
          <a:bodyPr wrap="square" lIns="0" tIns="0" rIns="0" bIns="0" rtlCol="0">
            <a:noAutofit/>
          </a:bodyPr>
          <a:lstStyle/>
          <a:p>
            <a:pPr>
              <a:lnSpc>
                <a:spcPct val="120000"/>
              </a:lnSpc>
              <a:spcAft>
                <a:spcPts val="100"/>
              </a:spcAft>
            </a:pPr>
            <a:r>
              <a:rPr lang="en-US" sz="600" b="0" i="0" u="none" kern="0" baseline="0" noProof="1">
                <a:solidFill>
                  <a:srgbClr val="B2B3B5"/>
                </a:solidFill>
                <a:latin typeface="Bosch Office Sans" pitchFamily="34" charset="0"/>
              </a:rPr>
              <a:t>© Robert Bosch GmbH 2023. All rights reserved, also regarding any disposal, exploitation, reproduction, editing, distribution, as well as in the event of applications for industrial property rights.</a:t>
            </a:r>
            <a:endParaRPr lang="en-US" sz="600" b="0" i="0" u="none" kern="0" baseline="0" noProof="1">
              <a:solidFill>
                <a:srgbClr val="B2B3B5"/>
              </a:solidFill>
              <a:latin typeface="Bosch Office Sans" pitchFamily="34" charset="0"/>
            </a:endParaRPr>
          </a:p>
        </p:txBody>
      </p:sp>
      <p:sp>
        <p:nvSpPr>
          <p:cNvPr id="15" name="Bosch_footer_1" hidden="1"/>
          <p:cNvSpPr txBox="1"/>
          <p:nvPr userDrawn="1"/>
        </p:nvSpPr>
        <p:spPr>
          <a:xfrm>
            <a:off x="816069" y="5383543"/>
            <a:ext cx="9154800" cy="108000"/>
          </a:xfrm>
          <a:prstGeom prst="rect">
            <a:avLst/>
          </a:prstGeom>
          <a:noFill/>
        </p:spPr>
        <p:txBody>
          <a:bodyPr wrap="square" lIns="0" tIns="0" rIns="0" bIns="0" rtlCol="0">
            <a:noAutofit/>
          </a:bodyPr>
          <a:lstStyle/>
          <a:p>
            <a:pPr marL="0" marR="0" lvl="0" indent="0" algn="l" defTabSz="914400" rtl="0" eaLnBrk="1" fontAlgn="auto" latinLnBrk="0" hangingPunct="1">
              <a:lnSpc>
                <a:spcPct val="107000"/>
              </a:lnSpc>
              <a:spcBef>
                <a:spcPts val="0"/>
              </a:spcBef>
              <a:spcAft>
                <a:spcPts val="100"/>
              </a:spcAft>
              <a:buClrTx/>
              <a:buSzTx/>
              <a:buFontTx/>
              <a:buNone/>
              <a:defRPr/>
            </a:pPr>
            <a:r>
              <a:rPr lang="en-US" sz="600" b="1" kern="0" baseline="0" noProof="1">
                <a:solidFill>
                  <a:srgbClr val="D70012"/>
                </a:solidFill>
              </a:rPr>
              <a:t>%confidentiality%</a:t>
            </a:r>
            <a:r>
              <a:rPr lang="en-US" sz="600" kern="0" baseline="0" noProof="1">
                <a:solidFill>
                  <a:schemeClr val="tx1"/>
                </a:solidFill>
              </a:rPr>
              <a:t>%businessunit%%departmentshort%%dateformat%</a:t>
            </a:r>
            <a:endParaRPr lang="en-US" sz="600" kern="0" baseline="0" noProof="1">
              <a:solidFill>
                <a:schemeClr val="tx1"/>
              </a:solidFill>
            </a:endParaRPr>
          </a:p>
        </p:txBody>
      </p:sp>
      <p:sp>
        <p:nvSpPr>
          <p:cNvPr id="9" name="Bosch_footer_2" hidden="1"/>
          <p:cNvSpPr txBox="1"/>
          <p:nvPr userDrawn="1"/>
        </p:nvSpPr>
        <p:spPr>
          <a:xfrm>
            <a:off x="593090" y="5748656"/>
            <a:ext cx="9152890" cy="215900"/>
          </a:xfrm>
          <a:prstGeom prst="rect">
            <a:avLst/>
          </a:prstGeom>
          <a:noFill/>
        </p:spPr>
        <p:txBody>
          <a:bodyPr wrap="square" lIns="0" tIns="0" rIns="0" bIns="0" rtlCol="0">
            <a:noAutofit/>
          </a:bodyPr>
          <a:lstStyle/>
          <a:p>
            <a:pPr>
              <a:lnSpc>
                <a:spcPct val="120000"/>
              </a:lnSpc>
              <a:spcAft>
                <a:spcPts val="100"/>
              </a:spcAft>
            </a:pPr>
            <a:r>
              <a:rPr lang="en-US" sz="600" kern="0" baseline="0" noProof="1">
                <a:solidFill>
                  <a:schemeClr val="tx1"/>
                </a:solidFill>
              </a:rPr>
              <a:t>%repositoryremark%</a:t>
            </a:r>
            <a:r>
              <a:rPr lang="en-US" sz="600" kern="0" baseline="0" noProof="1">
                <a:solidFill>
                  <a:srgbClr val="B2B3B5"/>
                </a:solidFill>
              </a:rPr>
              <a:t>%copyright%</a:t>
            </a:r>
            <a:endParaRPr lang="en-US" sz="600" kern="0" baseline="0" noProof="1">
              <a:solidFill>
                <a:srgbClr val="B2B3B5"/>
              </a:solidFill>
            </a:endParaRPr>
          </a:p>
        </p:txBody>
      </p:sp>
      <p:sp>
        <p:nvSpPr>
          <p:cNvPr id="13" name="AttachmentRemark" hidden="1"/>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mn-lt"/>
              </a:rPr>
              <a:t>%attachmentremark% </a:t>
            </a:r>
            <a:endParaRPr lang="en-US" sz="550" b="0" i="0" u="none" strike="noStrike" kern="0" baseline="0" noProof="1">
              <a:solidFill>
                <a:srgbClr val="000000"/>
              </a:solidFill>
              <a:latin typeface="+mn-lt"/>
            </a:endParaRPr>
          </a:p>
        </p:txBody>
      </p:sp>
      <p:pic>
        <p:nvPicPr>
          <p:cNvPr id="12" name="SuperGraphic"/>
          <p:cNvPicPr>
            <a:picLocks noSelect="1" noChangeAspect="1"/>
          </p:cNvPicPr>
          <p:nvPr userDrawn="1"/>
        </p:nvPicPr>
        <p:blipFill>
          <a:blip r:embed="rId21">
            <a:extLst>
              <a:ext uri="{28A0092B-C50C-407E-A947-70E740481C1C}">
                <a14:useLocalDpi xmlns:a14="http://schemas.microsoft.com/office/drawing/2010/main" val="0"/>
              </a:ext>
            </a:extLst>
          </a:blip>
          <a:stretch>
            <a:fillRect/>
          </a:stretch>
        </p:blipFill>
        <p:spPr>
          <a:xfrm>
            <a:off x="0" y="6102000"/>
            <a:ext cx="10969200" cy="68556"/>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hf hdr="0" ftr="0" dt="0"/>
  <p:txStyles>
    <p:titleStyle>
      <a:lvl1pPr algn="l" defTabSz="914400" rtl="0" eaLnBrk="1" latinLnBrk="0" hangingPunct="1">
        <a:lnSpc>
          <a:spcPct val="89000"/>
        </a:lnSpc>
        <a:spcBef>
          <a:spcPct val="0"/>
        </a:spcBef>
        <a:buNone/>
        <a:defRPr sz="2800" kern="1200">
          <a:solidFill>
            <a:schemeClr val="accent1"/>
          </a:solidFill>
          <a:latin typeface="+mj-lt"/>
          <a:ea typeface="+mj-ea"/>
          <a:cs typeface="+mj-cs"/>
        </a:defRPr>
      </a:lvl1pPr>
    </p:titleStyle>
    <p:bodyStyle>
      <a:lvl1pPr marL="230505" indent="-230505" algn="l" defTabSz="914400" rtl="0" eaLnBrk="1" latinLnBrk="0" hangingPunct="1">
        <a:lnSpc>
          <a:spcPct val="107000"/>
        </a:lnSpc>
        <a:spcBef>
          <a:spcPts val="500"/>
        </a:spcBef>
        <a:buFont typeface="Wingdings" panose="05000000000000000000" pitchFamily="2" charset="2"/>
        <a:buChar char="§"/>
        <a:defRPr sz="1800" kern="1200">
          <a:solidFill>
            <a:schemeClr val="tx1"/>
          </a:solidFill>
          <a:latin typeface="+mn-lt"/>
          <a:ea typeface="+mn-ea"/>
          <a:cs typeface="+mn-cs"/>
        </a:defRPr>
      </a:lvl1pPr>
      <a:lvl2pPr marL="687705" indent="-230505" algn="l" defTabSz="914400" rtl="0" eaLnBrk="1" latinLnBrk="0" hangingPunct="1">
        <a:lnSpc>
          <a:spcPct val="103000"/>
        </a:lnSpc>
        <a:spcBef>
          <a:spcPts val="500"/>
        </a:spcBef>
        <a:buFont typeface="Symbol" panose="05050102010706020507" pitchFamily="18" charset="2"/>
        <a:buChar char="-"/>
        <a:defRPr sz="1600" kern="1200">
          <a:solidFill>
            <a:schemeClr val="tx1"/>
          </a:solidFill>
          <a:latin typeface="+mn-lt"/>
          <a:ea typeface="+mn-ea"/>
          <a:cs typeface="+mn-cs"/>
        </a:defRPr>
      </a:lvl2pPr>
      <a:lvl3pPr marL="1144905" indent="-230505" algn="l" defTabSz="914400" rtl="0" eaLnBrk="1" latinLnBrk="0" hangingPunct="1">
        <a:lnSpc>
          <a:spcPct val="102000"/>
        </a:lnSpc>
        <a:spcBef>
          <a:spcPts val="500"/>
        </a:spcBef>
        <a:buFont typeface="Symbol" panose="05050102010706020507" pitchFamily="18" charset="2"/>
        <a:buChar char="-"/>
        <a:defRPr sz="1400" kern="1200">
          <a:solidFill>
            <a:schemeClr val="tx1"/>
          </a:solidFill>
          <a:latin typeface="+mn-lt"/>
          <a:ea typeface="+mn-ea"/>
          <a:cs typeface="+mn-cs"/>
        </a:defRPr>
      </a:lvl3pPr>
      <a:lvl4pPr marL="1602105" indent="-230505" algn="l" defTabSz="914400" rtl="0" eaLnBrk="1" latinLnBrk="0" hangingPunct="1">
        <a:lnSpc>
          <a:spcPct val="103000"/>
        </a:lnSpc>
        <a:spcBef>
          <a:spcPts val="500"/>
        </a:spcBef>
        <a:buFont typeface="Bosch Office Sans" pitchFamily="34" charset="0"/>
        <a:buChar char="‒"/>
        <a:defRPr sz="1300" kern="1200">
          <a:solidFill>
            <a:schemeClr val="tx1"/>
          </a:solidFill>
          <a:latin typeface="+mn-lt"/>
          <a:ea typeface="+mn-ea"/>
          <a:cs typeface="+mn-cs"/>
        </a:defRPr>
      </a:lvl4pPr>
      <a:lvl5pPr marL="1602105" indent="-230505" algn="l" defTabSz="914400" rtl="0" eaLnBrk="1" latinLnBrk="0" hangingPunct="1">
        <a:lnSpc>
          <a:spcPct val="103000"/>
        </a:lnSpc>
        <a:spcBef>
          <a:spcPts val="500"/>
        </a:spcBef>
        <a:buFont typeface="Bosch Office Sans" pitchFamily="34" charset="0"/>
        <a:buChar char="‒"/>
        <a:defRPr sz="1300" kern="1200">
          <a:solidFill>
            <a:schemeClr val="tx1"/>
          </a:solidFill>
          <a:latin typeface="+mn-lt"/>
          <a:ea typeface="+mn-ea"/>
          <a:cs typeface="+mn-cs"/>
        </a:defRPr>
      </a:lvl5pPr>
      <a:lvl6pPr marL="1602105" indent="-230505" algn="l" defTabSz="914400" rtl="0" eaLnBrk="1" latinLnBrk="0" hangingPunct="1">
        <a:lnSpc>
          <a:spcPct val="103000"/>
        </a:lnSpc>
        <a:spcBef>
          <a:spcPts val="500"/>
        </a:spcBef>
        <a:buFont typeface="Bosch Office Sans" pitchFamily="34" charset="0"/>
        <a:buChar char="‒"/>
        <a:defRPr sz="1300" kern="1200">
          <a:solidFill>
            <a:schemeClr val="tx1"/>
          </a:solidFill>
          <a:latin typeface="+mn-lt"/>
          <a:ea typeface="+mn-ea"/>
          <a:cs typeface="+mn-cs"/>
        </a:defRPr>
      </a:lvl6pPr>
      <a:lvl7pPr marL="1602105" indent="-230505" algn="l" defTabSz="914400" rtl="0" eaLnBrk="1" latinLnBrk="0" hangingPunct="1">
        <a:lnSpc>
          <a:spcPct val="103000"/>
        </a:lnSpc>
        <a:spcBef>
          <a:spcPts val="500"/>
        </a:spcBef>
        <a:buFont typeface="Bosch Office Sans" pitchFamily="34" charset="0"/>
        <a:buChar char="‒"/>
        <a:defRPr sz="1300" kern="1200">
          <a:solidFill>
            <a:schemeClr val="tx1"/>
          </a:solidFill>
          <a:latin typeface="+mn-lt"/>
          <a:ea typeface="+mn-ea"/>
          <a:cs typeface="+mn-cs"/>
        </a:defRPr>
      </a:lvl7pPr>
      <a:lvl8pPr marL="1602105" indent="-230505" algn="l" defTabSz="914400" rtl="0" eaLnBrk="1" latinLnBrk="0" hangingPunct="1">
        <a:lnSpc>
          <a:spcPct val="103000"/>
        </a:lnSpc>
        <a:spcBef>
          <a:spcPts val="500"/>
        </a:spcBef>
        <a:buFont typeface="Bosch Office Sans" pitchFamily="34" charset="0"/>
        <a:buChar char="‒"/>
        <a:defRPr sz="1300" kern="1200">
          <a:solidFill>
            <a:schemeClr val="tx1"/>
          </a:solidFill>
          <a:latin typeface="+mn-lt"/>
          <a:ea typeface="+mn-ea"/>
          <a:cs typeface="+mn-cs"/>
        </a:defRPr>
      </a:lvl8pPr>
      <a:lvl9pPr marL="1602105" indent="-230505" algn="l" defTabSz="914400" rtl="0" eaLnBrk="1" latinLnBrk="0" hangingPunct="1">
        <a:lnSpc>
          <a:spcPct val="103000"/>
        </a:lnSpc>
        <a:spcBef>
          <a:spcPts val="500"/>
        </a:spcBef>
        <a:buFont typeface="Bosch Office Sans" pitchFamily="34" charset="0"/>
        <a:buChar char="‒"/>
        <a:defRPr sz="1300" kern="1200" baseline="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9.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slideLayout" Target="../slideLayouts/slideLayout9.xml"/><Relationship Id="rId5"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
          </p:nvPr>
        </p:nvSpPr>
        <p:spPr>
          <a:xfrm>
            <a:off x="550051" y="4348708"/>
            <a:ext cx="9268637" cy="451892"/>
          </a:xfrm>
        </p:spPr>
        <p:txBody>
          <a:bodyPr>
            <a:normAutofit/>
          </a:bodyPr>
          <a:lstStyle/>
          <a:p>
            <a:r>
              <a:rPr lang="en-US" altLang="zh-CN" sz="1600">
                <a:latin typeface="Microsoft YaHei UI" panose="020B0503020204020204" charset="-122"/>
              </a:rPr>
              <a:t>GAO Chao  BCSC/EPA</a:t>
            </a:r>
            <a:endParaRPr lang="en-US" sz="1600"/>
          </a:p>
        </p:txBody>
      </p:sp>
      <p:sp>
        <p:nvSpPr>
          <p:cNvPr id="7" name="Title 1"/>
          <p:cNvSpPr>
            <a:spLocks noGrp="1"/>
          </p:cNvSpPr>
          <p:nvPr>
            <p:ph type="ctrTitle"/>
          </p:nvPr>
        </p:nvSpPr>
        <p:spPr>
          <a:xfrm>
            <a:off x="547200" y="2599261"/>
            <a:ext cx="9193148" cy="1464734"/>
          </a:xfrm>
        </p:spPr>
        <p:txBody>
          <a:bodyPr anchor="ctr">
            <a:noAutofit/>
          </a:bodyPr>
          <a:lstStyle/>
          <a:p>
            <a:pPr>
              <a:lnSpc>
                <a:spcPct val="150000"/>
              </a:lnSpc>
            </a:pPr>
            <a:r>
              <a:rPr lang="en-US" sz="2000" dirty="0">
                <a:latin typeface="Bosch Office Sans" pitchFamily="34" charset="0"/>
                <a:cs typeface="Arial" panose="020B0604020202020204" pitchFamily="34" charset="0"/>
              </a:rPr>
              <a:t>Flow Planner: Safety-Guided Adaptive Flow Matching for Autonomous Driving Planning</a:t>
            </a:r>
            <a:r>
              <a:rPr lang="en-US" altLang="zh-CN" sz="2000" dirty="0">
                <a:latin typeface="Bosch Office Sans" pitchFamily="34" charset="0"/>
                <a:cs typeface="Arial" panose="020B0604020202020204" pitchFamily="34" charset="0"/>
              </a:rPr>
              <a:t>Defect Analysis </a:t>
            </a:r>
            <a:r>
              <a:rPr lang="en-US" sz="2000" dirty="0">
                <a:latin typeface="Bosch Office Sans" pitchFamily="34" charset="0"/>
                <a:cs typeface="Arial" panose="020B0604020202020204" pitchFamily="34" charset="0"/>
              </a:rPr>
              <a:t>Based on Ground Truth and Adaptive Logic</a:t>
            </a:r>
            <a:r>
              <a:rPr lang="de-DE" sz="2000" dirty="0">
                <a:latin typeface="Bosch Office Sans" pitchFamily="34" charset="0"/>
                <a:cs typeface="Arial" panose="020B0604020202020204" pitchFamily="34" charset="0"/>
              </a:rPr>
              <a:t> </a:t>
            </a:r>
            <a:br>
              <a:rPr lang="de-DE" sz="2000" dirty="0">
                <a:latin typeface="Bosch Office Sans" pitchFamily="34" charset="0"/>
                <a:cs typeface="Arial" panose="020B0604020202020204" pitchFamily="34" charset="0"/>
              </a:rPr>
            </a:br>
            <a:r>
              <a:rPr lang="zh-CN" altLang="en-US" sz="1600" dirty="0">
                <a:latin typeface="Bosch Office Sans" pitchFamily="34" charset="0"/>
                <a:cs typeface="Arial" panose="020B0604020202020204" pitchFamily="34" charset="0"/>
              </a:rPr>
              <a:t>基于真值和自适应逻辑的多模态大模型在辅助驾驶问题分析领域的应用</a:t>
            </a:r>
            <a:endParaRPr lang="en-US" sz="2000" dirty="0">
              <a:latin typeface="Bosch Office Sans" pitchFamily="34" charset="0"/>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p:cNvSpPr>
            <a:spLocks noGrp="1"/>
          </p:cNvSpPr>
          <p:nvPr>
            <p:ph type="sldNum" sz="quarter" idx="12"/>
          </p:nvPr>
        </p:nvSpPr>
        <p:spPr/>
        <p:txBody>
          <a:bodyPr/>
          <a:lstStyle/>
          <a:p>
            <a:r>
              <a:rPr sz="1000">
                <a:latin typeface="Microsoft YaHei UI" panose="020B0503020204020204" charset="-122"/>
              </a:rPr>
              <a:t>2</a:t>
            </a:r>
            <a:endParaRPr lang="en-US" noProof="1"/>
          </a:p>
        </p:txBody>
      </p:sp>
      <p:sp>
        <p:nvSpPr>
          <p:cNvPr id="5" name="Rechteck 4"/>
          <p:cNvSpPr/>
          <p:nvPr/>
        </p:nvSpPr>
        <p:spPr>
          <a:xfrm>
            <a:off x="0" y="1295400"/>
            <a:ext cx="1539631" cy="4170363"/>
          </a:xfrm>
          <a:prstGeom prst="rect">
            <a:avLst/>
          </a:prstGeom>
          <a:solidFill>
            <a:srgbClr val="EFF1F2"/>
          </a:solidFill>
          <a:ln w="9525"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de-DE" sz="1800" b="0" i="0" u="none" strike="noStrike" kern="0" cap="none" spc="0" normalizeH="0" baseline="0" noProof="0">
              <a:ln>
                <a:noFill/>
              </a:ln>
              <a:solidFill>
                <a:srgbClr val="000000"/>
              </a:solidFill>
              <a:effectLst/>
              <a:uLnTx/>
              <a:uFillTx/>
              <a:latin typeface="Bosch Office Sans"/>
              <a:ea typeface="+mn-ea"/>
              <a:cs typeface="+mn-cs"/>
            </a:endParaRPr>
          </a:p>
        </p:txBody>
      </p:sp>
      <p:grpSp>
        <p:nvGrpSpPr>
          <p:cNvPr id="6" name="Gruppieren 5"/>
          <p:cNvGrpSpPr/>
          <p:nvPr/>
        </p:nvGrpSpPr>
        <p:grpSpPr>
          <a:xfrm>
            <a:off x="1309551" y="1581150"/>
            <a:ext cx="8423897" cy="468922"/>
            <a:chOff x="2457554" y="1295400"/>
            <a:chExt cx="8423897" cy="468922"/>
          </a:xfrm>
        </p:grpSpPr>
        <p:sp>
          <p:nvSpPr>
            <p:cNvPr id="7" name="Ellipse 6"/>
            <p:cNvSpPr/>
            <p:nvPr/>
          </p:nvSpPr>
          <p:spPr>
            <a:xfrm>
              <a:off x="2457554" y="1295400"/>
              <a:ext cx="468922" cy="468922"/>
            </a:xfrm>
            <a:prstGeom prst="ellipse">
              <a:avLst/>
            </a:prstGeom>
            <a:solidFill>
              <a:schemeClr val="bg1"/>
            </a:solidFill>
            <a:ln w="9525" cap="flat" cmpd="sng" algn="ctr">
              <a:solidFill>
                <a:schemeClr val="bg1"/>
              </a:solidFill>
              <a:prstDash val="solid"/>
            </a:ln>
            <a:effectLst/>
          </p:spPr>
          <p:txBody>
            <a:bodyPr rtlCol="0" anchor="ctr"/>
            <a:lstStyle/>
            <a:p>
              <a:pPr marL="0" marR="0" indent="0" algn="ctr" defTabSz="914400" eaLnBrk="1" fontAlgn="auto" latinLnBrk="0" hangingPunct="1">
                <a:lnSpc>
                  <a:spcPct val="100000"/>
                </a:lnSpc>
                <a:spcBef>
                  <a:spcPts val="0"/>
                </a:spcBef>
                <a:spcAft>
                  <a:spcPts val="0"/>
                </a:spcAft>
                <a:buClrTx/>
                <a:buSzTx/>
                <a:buFontTx/>
                <a:buNone/>
              </a:pPr>
              <a:endParaRPr kumimoji="0" lang="de-DE" sz="1800" b="0" i="0" u="none" strike="noStrike" kern="0" cap="none" spc="0" normalizeH="0" baseline="0" noProof="0">
                <a:ln>
                  <a:noFill/>
                </a:ln>
                <a:effectLst/>
                <a:uLnTx/>
                <a:uFillTx/>
                <a:latin typeface="Bosch Office Sans"/>
                <a:ea typeface="+mn-ea"/>
                <a:cs typeface="+mn-cs"/>
              </a:endParaRPr>
            </a:p>
          </p:txBody>
        </p:sp>
        <p:sp>
          <p:nvSpPr>
            <p:cNvPr id="8" name="Ellipse 7"/>
            <p:cNvSpPr/>
            <p:nvPr/>
          </p:nvSpPr>
          <p:spPr>
            <a:xfrm>
              <a:off x="2524894" y="1354925"/>
              <a:ext cx="348966" cy="348966"/>
            </a:xfrm>
            <a:prstGeom prst="ellipse">
              <a:avLst/>
            </a:prstGeom>
            <a:solidFill>
              <a:schemeClr val="accent1"/>
            </a:solidFill>
            <a:ln w="9525" cap="flat" cmpd="sng" algn="ctr">
              <a:solidFill>
                <a:schemeClr val="bg1"/>
              </a:solidFill>
              <a:prstDash val="solid"/>
            </a:ln>
            <a:effectLst/>
          </p:spPr>
          <p:txBody>
            <a:bodyPr rtlCol="0" anchor="ctr"/>
            <a:lstStyle/>
            <a:p>
              <a:pPr marL="0" marR="0" indent="0" algn="ctr" defTabSz="914400" eaLnBrk="1" fontAlgn="auto" latinLnBrk="0" hangingPunct="1">
                <a:lnSpc>
                  <a:spcPct val="100000"/>
                </a:lnSpc>
                <a:spcBef>
                  <a:spcPts val="0"/>
                </a:spcBef>
                <a:spcAft>
                  <a:spcPts val="0"/>
                </a:spcAft>
                <a:buClrTx/>
                <a:buSzTx/>
                <a:buFontTx/>
                <a:buNone/>
              </a:pPr>
              <a:r>
                <a:rPr kumimoji="0" lang="de-DE" sz="1600" b="1" i="0" u="none" strike="noStrike" kern="0" cap="none" spc="0" normalizeH="0" baseline="0" noProof="0">
                  <a:ln>
                    <a:noFill/>
                  </a:ln>
                  <a:solidFill>
                    <a:schemeClr val="bg1"/>
                  </a:solidFill>
                  <a:effectLst/>
                  <a:uLnTx/>
                  <a:uFillTx/>
                  <a:latin typeface="Bosch Office Sans"/>
                  <a:ea typeface="+mn-ea"/>
                  <a:cs typeface="+mn-cs"/>
                </a:rPr>
                <a:t>1</a:t>
              </a:r>
              <a:endParaRPr kumimoji="0" lang="de-DE" sz="1600" b="1" i="0" u="none" strike="noStrike" kern="0" cap="none" spc="0" normalizeH="0" baseline="0" noProof="0">
                <a:ln>
                  <a:noFill/>
                </a:ln>
                <a:solidFill>
                  <a:schemeClr val="bg1"/>
                </a:solidFill>
                <a:effectLst/>
                <a:uLnTx/>
                <a:uFillTx/>
                <a:latin typeface="Bosch Office Sans"/>
                <a:ea typeface="+mn-ea"/>
                <a:cs typeface="+mn-cs"/>
              </a:endParaRPr>
            </a:p>
          </p:txBody>
        </p:sp>
        <p:sp>
          <p:nvSpPr>
            <p:cNvPr id="9" name="Textfeld 8"/>
            <p:cNvSpPr txBox="1"/>
            <p:nvPr/>
          </p:nvSpPr>
          <p:spPr>
            <a:xfrm>
              <a:off x="3175899" y="1295400"/>
              <a:ext cx="7705552" cy="468922"/>
            </a:xfrm>
            <a:prstGeom prst="rect">
              <a:avLst/>
            </a:prstGeom>
            <a:noFill/>
          </p:spPr>
          <p:txBody>
            <a:bodyPr wrap="square" lIns="0" tIns="0" rIns="0" bIns="0" rtlCol="0" anchor="ctr">
              <a:noAutofit/>
            </a:bodyPr>
            <a:lstStyle/>
            <a:p>
              <a:pPr marL="0" indent="0" fontAlgn="auto">
                <a:spcAft>
                  <a:spcPts val="0"/>
                </a:spcAft>
                <a:buNone/>
              </a:pPr>
              <a:r>
                <a:rPr lang="zh-CN" altLang="en-US" sz="2000" kern="0">
                  <a:latin typeface="Bosch Office Sans" pitchFamily="34" charset="0"/>
                </a:rPr>
                <a:t>背景与动机</a:t>
              </a:r>
              <a:endParaRPr lang="de-DE" sz="2000" kern="0"/>
            </a:p>
          </p:txBody>
        </p:sp>
      </p:grpSp>
      <p:grpSp>
        <p:nvGrpSpPr>
          <p:cNvPr id="10" name="Gruppieren 9"/>
          <p:cNvGrpSpPr/>
          <p:nvPr/>
        </p:nvGrpSpPr>
        <p:grpSpPr>
          <a:xfrm>
            <a:off x="1309551" y="2613234"/>
            <a:ext cx="8423897" cy="468922"/>
            <a:chOff x="2457554" y="1295400"/>
            <a:chExt cx="8423897" cy="468922"/>
          </a:xfrm>
        </p:grpSpPr>
        <p:sp>
          <p:nvSpPr>
            <p:cNvPr id="11" name="Ellipse 10"/>
            <p:cNvSpPr/>
            <p:nvPr/>
          </p:nvSpPr>
          <p:spPr>
            <a:xfrm>
              <a:off x="2457554" y="1295400"/>
              <a:ext cx="468922" cy="468922"/>
            </a:xfrm>
            <a:prstGeom prst="ellipse">
              <a:avLst/>
            </a:prstGeom>
            <a:solidFill>
              <a:schemeClr val="bg1"/>
            </a:solidFill>
            <a:ln w="9525" cap="flat" cmpd="sng" algn="ctr">
              <a:solidFill>
                <a:schemeClr val="bg1"/>
              </a:solidFill>
              <a:prstDash val="solid"/>
            </a:ln>
            <a:effectLst/>
          </p:spPr>
          <p:txBody>
            <a:bodyPr rtlCol="0" anchor="ctr"/>
            <a:lstStyle/>
            <a:p>
              <a:pPr marL="0" marR="0" indent="0" algn="ctr" defTabSz="914400" eaLnBrk="1" fontAlgn="auto" latinLnBrk="0" hangingPunct="1">
                <a:lnSpc>
                  <a:spcPct val="100000"/>
                </a:lnSpc>
                <a:spcBef>
                  <a:spcPts val="0"/>
                </a:spcBef>
                <a:spcAft>
                  <a:spcPts val="0"/>
                </a:spcAft>
                <a:buClrTx/>
                <a:buSzTx/>
                <a:buFontTx/>
                <a:buNone/>
              </a:pPr>
              <a:endParaRPr kumimoji="0" lang="de-DE" sz="1800" b="0" i="0" u="none" strike="noStrike" kern="0" cap="none" spc="0" normalizeH="0" baseline="0" noProof="0">
                <a:ln>
                  <a:noFill/>
                </a:ln>
                <a:effectLst/>
                <a:uLnTx/>
                <a:uFillTx/>
                <a:latin typeface="Bosch Office Sans"/>
                <a:ea typeface="+mn-ea"/>
                <a:cs typeface="+mn-cs"/>
              </a:endParaRPr>
            </a:p>
          </p:txBody>
        </p:sp>
        <p:sp>
          <p:nvSpPr>
            <p:cNvPr id="12" name="Ellipse 11"/>
            <p:cNvSpPr/>
            <p:nvPr/>
          </p:nvSpPr>
          <p:spPr>
            <a:xfrm>
              <a:off x="2524894" y="1354925"/>
              <a:ext cx="348966" cy="348966"/>
            </a:xfrm>
            <a:prstGeom prst="ellipse">
              <a:avLst/>
            </a:prstGeom>
            <a:solidFill>
              <a:schemeClr val="accent1"/>
            </a:solidFill>
            <a:ln w="9525" cap="flat" cmpd="sng" algn="ctr">
              <a:solidFill>
                <a:schemeClr val="bg1"/>
              </a:solidFill>
              <a:prstDash val="solid"/>
            </a:ln>
            <a:effectLst/>
          </p:spPr>
          <p:txBody>
            <a:bodyPr rtlCol="0" anchor="ctr"/>
            <a:lstStyle/>
            <a:p>
              <a:pPr marL="0" marR="0" indent="0" algn="ctr" defTabSz="914400" eaLnBrk="1" fontAlgn="auto" latinLnBrk="0" hangingPunct="1">
                <a:lnSpc>
                  <a:spcPct val="100000"/>
                </a:lnSpc>
                <a:spcBef>
                  <a:spcPts val="0"/>
                </a:spcBef>
                <a:spcAft>
                  <a:spcPts val="0"/>
                </a:spcAft>
                <a:buClrTx/>
                <a:buSzTx/>
                <a:buFontTx/>
                <a:buNone/>
              </a:pPr>
              <a:r>
                <a:rPr lang="de-DE" sz="1600" b="1" kern="0">
                  <a:solidFill>
                    <a:schemeClr val="bg1"/>
                  </a:solidFill>
                  <a:latin typeface="Bosch Office Sans"/>
                </a:rPr>
                <a:t>2</a:t>
              </a:r>
              <a:endParaRPr kumimoji="0" lang="de-DE" sz="1600" b="1" i="0" u="none" strike="noStrike" kern="0" cap="none" spc="0" normalizeH="0" baseline="0" noProof="0">
                <a:ln>
                  <a:noFill/>
                </a:ln>
                <a:solidFill>
                  <a:schemeClr val="bg1"/>
                </a:solidFill>
                <a:effectLst/>
                <a:uLnTx/>
                <a:uFillTx/>
                <a:latin typeface="Bosch Office Sans"/>
                <a:ea typeface="+mn-ea"/>
                <a:cs typeface="+mn-cs"/>
              </a:endParaRPr>
            </a:p>
          </p:txBody>
        </p:sp>
        <p:sp>
          <p:nvSpPr>
            <p:cNvPr id="13" name="Textfeld 12"/>
            <p:cNvSpPr txBox="1"/>
            <p:nvPr/>
          </p:nvSpPr>
          <p:spPr>
            <a:xfrm>
              <a:off x="3175899" y="1295400"/>
              <a:ext cx="7705552" cy="468922"/>
            </a:xfrm>
            <a:prstGeom prst="rect">
              <a:avLst/>
            </a:prstGeom>
            <a:noFill/>
          </p:spPr>
          <p:txBody>
            <a:bodyPr wrap="square" lIns="0" tIns="0" rIns="0" bIns="0" rtlCol="0" anchor="ctr">
              <a:noAutofit/>
            </a:bodyPr>
            <a:lstStyle/>
            <a:p>
              <a:pPr marL="0" indent="0" fontAlgn="auto">
                <a:spcAft>
                  <a:spcPts val="0"/>
                </a:spcAft>
                <a:buNone/>
              </a:pPr>
              <a:r>
                <a:rPr lang="zh-CN" altLang="en-US" sz="2000">
                  <a:latin typeface="Bosch Office Sans" pitchFamily="34" charset="0"/>
                </a:rPr>
                <a:t>技术方案</a:t>
              </a:r>
              <a:endParaRPr lang="de-DE" sz="2000" kern="0"/>
            </a:p>
          </p:txBody>
        </p:sp>
      </p:grpSp>
      <p:grpSp>
        <p:nvGrpSpPr>
          <p:cNvPr id="18" name="Gruppieren 17"/>
          <p:cNvGrpSpPr/>
          <p:nvPr/>
        </p:nvGrpSpPr>
        <p:grpSpPr>
          <a:xfrm>
            <a:off x="1309551" y="3645318"/>
            <a:ext cx="9411459" cy="483108"/>
            <a:chOff x="2457554" y="1281214"/>
            <a:chExt cx="8342291" cy="483108"/>
          </a:xfrm>
        </p:grpSpPr>
        <p:sp>
          <p:nvSpPr>
            <p:cNvPr id="19" name="Ellipse 18"/>
            <p:cNvSpPr/>
            <p:nvPr/>
          </p:nvSpPr>
          <p:spPr>
            <a:xfrm>
              <a:off x="2457554" y="1295400"/>
              <a:ext cx="468922" cy="468922"/>
            </a:xfrm>
            <a:prstGeom prst="ellipse">
              <a:avLst/>
            </a:prstGeom>
            <a:solidFill>
              <a:schemeClr val="bg1"/>
            </a:solidFill>
            <a:ln w="9525" cap="flat" cmpd="sng" algn="ctr">
              <a:solidFill>
                <a:schemeClr val="bg1"/>
              </a:solidFill>
              <a:prstDash val="solid"/>
            </a:ln>
            <a:effectLst/>
          </p:spPr>
          <p:txBody>
            <a:bodyPr rtlCol="0" anchor="ctr"/>
            <a:lstStyle/>
            <a:p>
              <a:pPr marL="0" marR="0" indent="0" algn="ctr" defTabSz="914400" eaLnBrk="1" fontAlgn="auto" latinLnBrk="0" hangingPunct="1">
                <a:lnSpc>
                  <a:spcPct val="100000"/>
                </a:lnSpc>
                <a:spcBef>
                  <a:spcPts val="0"/>
                </a:spcBef>
                <a:spcAft>
                  <a:spcPts val="0"/>
                </a:spcAft>
                <a:buClrTx/>
                <a:buSzTx/>
                <a:buFontTx/>
                <a:buNone/>
              </a:pPr>
              <a:endParaRPr kumimoji="0" lang="de-DE" sz="1800" b="0" i="0" u="none" strike="noStrike" kern="0" cap="none" spc="0" normalizeH="0" baseline="0" noProof="0">
                <a:ln>
                  <a:noFill/>
                </a:ln>
                <a:effectLst/>
                <a:uLnTx/>
                <a:uFillTx/>
                <a:latin typeface="Bosch Office Sans"/>
                <a:ea typeface="+mn-ea"/>
                <a:cs typeface="+mn-cs"/>
              </a:endParaRPr>
            </a:p>
          </p:txBody>
        </p:sp>
        <p:sp>
          <p:nvSpPr>
            <p:cNvPr id="21" name="Textfeld 20"/>
            <p:cNvSpPr txBox="1"/>
            <p:nvPr/>
          </p:nvSpPr>
          <p:spPr>
            <a:xfrm>
              <a:off x="3094293" y="1281214"/>
              <a:ext cx="7705552" cy="468922"/>
            </a:xfrm>
            <a:prstGeom prst="rect">
              <a:avLst/>
            </a:prstGeom>
            <a:noFill/>
          </p:spPr>
          <p:txBody>
            <a:bodyPr wrap="square" lIns="0" tIns="0" rIns="0" bIns="0" rtlCol="0" anchor="ctr">
              <a:noAutofit/>
            </a:bodyPr>
            <a:lstStyle/>
            <a:p>
              <a:pPr marL="0" indent="0" fontAlgn="auto">
                <a:spcAft>
                  <a:spcPts val="0"/>
                </a:spcAft>
                <a:buNone/>
              </a:pPr>
              <a:r>
                <a:rPr lang="zh-CN" altLang="en-US" sz="2000">
                  <a:latin typeface="Bosch Office Sans" pitchFamily="34" charset="0"/>
                </a:rPr>
                <a:t>价值与收益</a:t>
              </a:r>
              <a:endParaRPr lang="de-DE" sz="2000" kern="0"/>
            </a:p>
          </p:txBody>
        </p:sp>
      </p:grpSp>
      <p:grpSp>
        <p:nvGrpSpPr>
          <p:cNvPr id="22" name="Gruppieren 21"/>
          <p:cNvGrpSpPr/>
          <p:nvPr/>
        </p:nvGrpSpPr>
        <p:grpSpPr>
          <a:xfrm>
            <a:off x="1309551" y="4691588"/>
            <a:ext cx="8423897" cy="469375"/>
            <a:chOff x="2457554" y="1294947"/>
            <a:chExt cx="8423897" cy="469375"/>
          </a:xfrm>
        </p:grpSpPr>
        <p:sp>
          <p:nvSpPr>
            <p:cNvPr id="23" name="Ellipse 22"/>
            <p:cNvSpPr/>
            <p:nvPr/>
          </p:nvSpPr>
          <p:spPr>
            <a:xfrm>
              <a:off x="2457554" y="1295400"/>
              <a:ext cx="468922" cy="468922"/>
            </a:xfrm>
            <a:prstGeom prst="ellipse">
              <a:avLst/>
            </a:prstGeom>
            <a:solidFill>
              <a:schemeClr val="bg1"/>
            </a:solidFill>
            <a:ln w="9525" cap="flat" cmpd="sng" algn="ctr">
              <a:solidFill>
                <a:schemeClr val="bg1"/>
              </a:solidFill>
              <a:prstDash val="solid"/>
            </a:ln>
            <a:effectLst/>
          </p:spPr>
          <p:txBody>
            <a:bodyPr rtlCol="0" anchor="ctr"/>
            <a:lstStyle/>
            <a:p>
              <a:pPr marL="0" marR="0" indent="0" algn="ctr" defTabSz="914400" eaLnBrk="1" fontAlgn="auto" latinLnBrk="0" hangingPunct="1">
                <a:lnSpc>
                  <a:spcPct val="100000"/>
                </a:lnSpc>
                <a:spcBef>
                  <a:spcPts val="0"/>
                </a:spcBef>
                <a:spcAft>
                  <a:spcPts val="0"/>
                </a:spcAft>
                <a:buClrTx/>
                <a:buSzTx/>
                <a:buFontTx/>
                <a:buNone/>
              </a:pPr>
              <a:endParaRPr kumimoji="0" lang="de-DE" sz="1800" b="0" i="0" u="none" strike="noStrike" kern="0" cap="none" spc="0" normalizeH="0" baseline="0" noProof="0">
                <a:ln>
                  <a:noFill/>
                </a:ln>
                <a:effectLst/>
                <a:uLnTx/>
                <a:uFillTx/>
                <a:latin typeface="Bosch Office Sans"/>
                <a:ea typeface="+mn-ea"/>
                <a:cs typeface="+mn-cs"/>
              </a:endParaRPr>
            </a:p>
          </p:txBody>
        </p:sp>
        <p:sp>
          <p:nvSpPr>
            <p:cNvPr id="24" name="Ellipse 23"/>
            <p:cNvSpPr/>
            <p:nvPr/>
          </p:nvSpPr>
          <p:spPr>
            <a:xfrm>
              <a:off x="2524894" y="1354925"/>
              <a:ext cx="348966" cy="348966"/>
            </a:xfrm>
            <a:prstGeom prst="ellipse">
              <a:avLst/>
            </a:prstGeom>
            <a:solidFill>
              <a:schemeClr val="accent1"/>
            </a:solidFill>
            <a:ln w="9525" cap="flat" cmpd="sng" algn="ctr">
              <a:solidFill>
                <a:schemeClr val="bg1"/>
              </a:solidFill>
              <a:prstDash val="solid"/>
            </a:ln>
            <a:effectLst/>
          </p:spPr>
          <p:txBody>
            <a:bodyPr rtlCol="0" anchor="ctr"/>
            <a:lstStyle/>
            <a:p>
              <a:pPr marL="0" marR="0" indent="0" algn="ctr" defTabSz="914400" eaLnBrk="1" fontAlgn="auto" latinLnBrk="0" hangingPunct="1">
                <a:lnSpc>
                  <a:spcPct val="100000"/>
                </a:lnSpc>
                <a:spcBef>
                  <a:spcPts val="0"/>
                </a:spcBef>
                <a:spcAft>
                  <a:spcPts val="0"/>
                </a:spcAft>
                <a:buClrTx/>
                <a:buSzTx/>
                <a:buFontTx/>
                <a:buNone/>
              </a:pPr>
              <a:r>
                <a:rPr lang="de-DE" sz="1600" b="1" kern="0">
                  <a:solidFill>
                    <a:schemeClr val="bg1"/>
                  </a:solidFill>
                  <a:latin typeface="Bosch Office Sans"/>
                </a:rPr>
                <a:t>4</a:t>
              </a:r>
              <a:endParaRPr kumimoji="0" lang="de-DE" sz="1600" b="1" i="0" u="none" strike="noStrike" kern="0" cap="none" spc="0" normalizeH="0" baseline="0" noProof="0">
                <a:ln>
                  <a:noFill/>
                </a:ln>
                <a:solidFill>
                  <a:schemeClr val="bg1"/>
                </a:solidFill>
                <a:effectLst/>
                <a:uLnTx/>
                <a:uFillTx/>
                <a:latin typeface="Bosch Office Sans"/>
                <a:ea typeface="+mn-ea"/>
                <a:cs typeface="+mn-cs"/>
              </a:endParaRPr>
            </a:p>
          </p:txBody>
        </p:sp>
        <p:sp>
          <p:nvSpPr>
            <p:cNvPr id="25" name="Textfeld 24"/>
            <p:cNvSpPr txBox="1"/>
            <p:nvPr/>
          </p:nvSpPr>
          <p:spPr>
            <a:xfrm>
              <a:off x="3175899" y="1294947"/>
              <a:ext cx="7705552" cy="468922"/>
            </a:xfrm>
            <a:prstGeom prst="rect">
              <a:avLst/>
            </a:prstGeom>
            <a:noFill/>
          </p:spPr>
          <p:txBody>
            <a:bodyPr wrap="square" lIns="0" tIns="0" rIns="0" bIns="0" rtlCol="0" anchor="ctr">
              <a:noAutofit/>
            </a:bodyPr>
            <a:lstStyle/>
            <a:p>
              <a:pPr marL="0" indent="0" fontAlgn="auto">
                <a:spcAft>
                  <a:spcPts val="0"/>
                </a:spcAft>
                <a:buNone/>
              </a:pPr>
              <a:r>
                <a:rPr lang="zh-CN" altLang="en-US" sz="2000">
                  <a:latin typeface="Bosch Office Sans" pitchFamily="34" charset="0"/>
                </a:rPr>
                <a:t>资源需求</a:t>
              </a:r>
              <a:endParaRPr lang="de-DE" sz="2000">
                <a:latin typeface="Bosch Office Sans" pitchFamily="34" charset="0"/>
              </a:endParaRPr>
            </a:p>
          </p:txBody>
        </p:sp>
      </p:grpSp>
      <p:sp>
        <p:nvSpPr>
          <p:cNvPr id="38" name="Text Placeholder 2"/>
          <p:cNvSpPr>
            <a:spLocks noGrp="1"/>
          </p:cNvSpPr>
          <p:nvPr>
            <p:ph type="body" sz="quarter" idx="15"/>
          </p:nvPr>
        </p:nvSpPr>
        <p:spPr>
          <a:xfrm>
            <a:off x="205200" y="259200"/>
            <a:ext cx="10558800" cy="388800"/>
          </a:xfrm>
        </p:spPr>
        <p:txBody>
          <a:bodyPr/>
          <a:lstStyle/>
          <a:p>
            <a:r>
              <a:rPr lang="zh-CN" altLang="en-US" sz="4000">
                <a:latin typeface="Microsoft YaHei UI" panose="020B0503020204020204" charset="-122"/>
              </a:rPr>
              <a:t>目录</a:t>
            </a:r>
            <a:endParaRPr lang="de-DE" sz="4000"/>
          </a:p>
        </p:txBody>
      </p:sp>
      <p:sp>
        <p:nvSpPr>
          <p:cNvPr id="2" name="Ellipse 23"/>
          <p:cNvSpPr/>
          <p:nvPr/>
        </p:nvSpPr>
        <p:spPr>
          <a:xfrm>
            <a:off x="1376029" y="3713618"/>
            <a:ext cx="348966" cy="348966"/>
          </a:xfrm>
          <a:prstGeom prst="ellipse">
            <a:avLst/>
          </a:prstGeom>
          <a:solidFill>
            <a:schemeClr val="accent1"/>
          </a:solidFill>
          <a:ln w="9525" cap="flat" cmpd="sng" algn="ctr">
            <a:solidFill>
              <a:schemeClr val="bg1"/>
            </a:solidFill>
            <a:prstDash val="solid"/>
          </a:ln>
          <a:effectLst/>
        </p:spPr>
        <p:txBody>
          <a:bodyPr rtlCol="0" anchor="ctr"/>
          <a:lstStyle/>
          <a:p>
            <a:pPr marL="0" marR="0" indent="0" algn="ctr" defTabSz="914400" eaLnBrk="1" fontAlgn="auto" latinLnBrk="0" hangingPunct="1">
              <a:lnSpc>
                <a:spcPct val="100000"/>
              </a:lnSpc>
              <a:spcBef>
                <a:spcPts val="0"/>
              </a:spcBef>
              <a:spcAft>
                <a:spcPts val="0"/>
              </a:spcAft>
              <a:buClrTx/>
              <a:buSzTx/>
              <a:buFontTx/>
              <a:buNone/>
            </a:pPr>
            <a:r>
              <a:rPr lang="de-DE" sz="1600" b="1" kern="0">
                <a:solidFill>
                  <a:schemeClr val="bg1"/>
                </a:solidFill>
                <a:latin typeface="Bosch Office Sans"/>
              </a:rPr>
              <a:t>3</a:t>
            </a:r>
            <a:endParaRPr kumimoji="0" lang="de-DE" sz="1600" b="1" i="0" u="none" strike="noStrike" kern="0" cap="none" spc="0" normalizeH="0" baseline="0" noProof="0">
              <a:ln>
                <a:noFill/>
              </a:ln>
              <a:solidFill>
                <a:schemeClr val="bg1"/>
              </a:solidFill>
              <a:effectLst/>
              <a:uLnTx/>
              <a:uFillTx/>
              <a:latin typeface="Bosch Office Sans"/>
              <a:ea typeface="+mn-ea"/>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5"/>
          </p:nvPr>
        </p:nvSpPr>
        <p:spPr/>
        <p:txBody>
          <a:bodyPr/>
          <a:lstStyle/>
          <a:p>
            <a:pPr marL="0" indent="0" fontAlgn="auto">
              <a:spcAft>
                <a:spcPts val="0"/>
              </a:spcAft>
              <a:buNone/>
            </a:pPr>
            <a:r>
              <a:rPr sz="1200" b="1">
                <a:latin typeface="Microsoft YaHei UI" panose="020B0503020204020204" charset="-122"/>
              </a:rPr>
              <a:t>技术背景</a:t>
            </a:r>
            <a:endParaRPr lang="de-DE" sz="2800" kern="0"/>
          </a:p>
        </p:txBody>
      </p:sp>
      <p:sp>
        <p:nvSpPr>
          <p:cNvPr id="3" name="Title 2"/>
          <p:cNvSpPr>
            <a:spLocks noGrp="1"/>
          </p:cNvSpPr>
          <p:nvPr>
            <p:ph type="title"/>
          </p:nvPr>
        </p:nvSpPr>
        <p:spPr/>
        <p:txBody>
          <a:bodyPr/>
          <a:lstStyle/>
          <a:p>
            <a:r>
              <a:rPr sz="2000" b="1">
                <a:latin typeface="Microsoft YaHei UI" panose="020B0503020204020204" charset="-122"/>
              </a:rPr>
              <a:t>行业趋势：从规则驱动到数据驱动</a:t>
            </a:r>
            <a:endParaRPr lang="en-US"/>
          </a:p>
        </p:txBody>
      </p:sp>
      <p:sp>
        <p:nvSpPr>
          <p:cNvPr id="4" name="Slide Number Placeholder 3"/>
          <p:cNvSpPr>
            <a:spLocks noGrp="1"/>
          </p:cNvSpPr>
          <p:nvPr>
            <p:ph type="sldNum" sz="quarter" idx="12"/>
          </p:nvPr>
        </p:nvSpPr>
        <p:spPr/>
        <p:txBody>
          <a:bodyPr/>
          <a:lstStyle/>
          <a:p>
            <a:r>
              <a:rPr sz="1000">
                <a:latin typeface="Microsoft YaHei UI" panose="020B0503020204020204" charset="-122"/>
              </a:rPr>
              <a:t>9</a:t>
            </a:r>
            <a:endParaRPr lang="en-US" noProof="1"/>
          </a:p>
        </p:txBody>
      </p:sp>
      <p:sp>
        <p:nvSpPr>
          <p:cNvPr id="5" name="TextBox 4"/>
          <p:cNvSpPr txBox="1"/>
          <p:nvPr/>
        </p:nvSpPr>
        <p:spPr>
          <a:xfrm>
            <a:off x="548481" y="1542653"/>
            <a:ext cx="9872662" cy="4010898"/>
          </a:xfrm>
          <a:prstGeom prst="rect">
            <a:avLst/>
          </a:prstGeom>
          <a:noFill/>
        </p:spPr>
        <p:txBody>
          <a:bodyPr wrap="square">
            <a:spAutoFit/>
          </a:bodyPr>
          <a:lstStyle/>
          <a:p>
            <a:pPr>
              <a:lnSpc>
                <a:spcPts val="1600"/>
              </a:lnSpc>
              <a:spcBef>
                <a:spcPts val="200"/>
              </a:spcBef>
              <a:spcAft>
                <a:spcPts val="200"/>
              </a:spcAft>
            </a:pPr>
            <a:r>
              <a:rPr sz="1000" b="0">
                <a:latin typeface="Microsoft YaHei UI" panose="020B0503020204020204" charset="-122"/>
              </a:rPr>
              <a:t>行业趋势：规划模块正从「写规则」变成「学经验」</a:t>
            </a:r>
            <a:endParaRPr sz="1000" b="0">
              <a:latin typeface="Microsoft YaHei UI" panose="020B0503020204020204" charset="-122"/>
            </a:endParaRPr>
          </a:p>
          <a:p>
            <a:endParaRPr sz="1000"/>
          </a:p>
          <a:p>
            <a:r>
              <a:rPr sz="1000" b="0">
                <a:latin typeface="Microsoft YaHei UI" panose="020B0503020204020204" charset="-122"/>
              </a:rPr>
              <a:t>• 传统方法（规则驱动）：工程师手写 if-else 逻辑</a:t>
            </a:r>
            <a:endParaRPr sz="1000" b="0">
              <a:latin typeface="Microsoft YaHei UI" panose="020B0503020204020204" charset="-122"/>
            </a:endParaRPr>
          </a:p>
          <a:p>
            <a:r>
              <a:rPr sz="1000" b="0">
                <a:latin typeface="Microsoft YaHei UI" panose="020B0503020204020204" charset="-122"/>
              </a:rPr>
              <a:t>  → 简单场景好用，但复杂交互场景（如抢道、避让行人）规则写不完</a:t>
            </a:r>
            <a:endParaRPr sz="1000" b="0">
              <a:latin typeface="Microsoft YaHei UI" panose="020B0503020204020204" charset="-122"/>
            </a:endParaRPr>
          </a:p>
          <a:p>
            <a:endParaRPr sz="1000"/>
          </a:p>
          <a:p>
            <a:r>
              <a:rPr sz="1000" b="0">
                <a:latin typeface="Microsoft YaHei UI" panose="020B0503020204020204" charset="-122"/>
              </a:rPr>
              <a:t>• 学习方法（数据驱动）：让 AI 从海量真实驾驶数据中学习怎么开车</a:t>
            </a:r>
            <a:endParaRPr sz="1000" b="0">
              <a:latin typeface="Microsoft YaHei UI" panose="020B0503020204020204" charset="-122"/>
            </a:endParaRPr>
          </a:p>
          <a:p>
            <a:r>
              <a:rPr sz="1000" b="0">
                <a:latin typeface="Microsoft YaHei UI" panose="020B0503020204020204" charset="-122"/>
              </a:rPr>
              <a:t>  → Tesla FSD v12、Waymo EMMA 等均已转向端到端学习方法</a:t>
            </a:r>
            <a:endParaRPr sz="1000" b="0">
              <a:latin typeface="Microsoft YaHei UI" panose="020B0503020204020204" charset="-122"/>
            </a:endParaRPr>
          </a:p>
          <a:p>
            <a:endParaRPr sz="1000"/>
          </a:p>
          <a:p>
            <a:r>
              <a:rPr sz="1000" b="0">
                <a:latin typeface="Microsoft YaHei UI" panose="020B0503020204020204" charset="-122"/>
              </a:rPr>
              <a:t>• 生成式模型是学习方法中最新的方向：</a:t>
            </a:r>
            <a:endParaRPr sz="1000" b="0">
              <a:latin typeface="Microsoft YaHei UI" panose="020B0503020204020204" charset="-122"/>
            </a:endParaRPr>
          </a:p>
          <a:p>
            <a:r>
              <a:rPr sz="1000" b="0">
                <a:latin typeface="Microsoft YaHei UI" panose="020B0503020204020204" charset="-122"/>
              </a:rPr>
              <a:t>  不是给一个固定答案，而是生成多种可能的驾驶轨迹，选最优的执行</a:t>
            </a:r>
            <a:endParaRPr sz="1000" b="0">
              <a:latin typeface="Microsoft YaHei UI" panose="020B0503020204020204" charset="-122"/>
            </a:endParaRPr>
          </a:p>
          <a:p>
            <a:endParaRPr sz="1000"/>
          </a:p>
          <a:p>
            <a:r>
              <a:rPr sz="1000" b="0">
                <a:latin typeface="Microsoft YaHei UI" panose="020B0503020204020204" charset="-122"/>
              </a:rPr>
              <a:t>• 学术顶会趋势：NeurIPS 2025、ICLR 2025 的自动驾驶规划论文中，</a:t>
            </a:r>
            <a:endParaRPr sz="1000" b="0">
              <a:latin typeface="Microsoft YaHei UI" panose="020B0503020204020204" charset="-122"/>
            </a:endParaRPr>
          </a:p>
          <a:p>
            <a:r>
              <a:rPr sz="1000" b="0">
                <a:latin typeface="Microsoft YaHei UI" panose="020B0503020204020204" charset="-122"/>
              </a:rPr>
              <a:t>  生成式方法已成为绝对主流（Diffusion Planner, Flow Planner 等）</a:t>
            </a:r>
            <a:endParaRPr sz="1000" b="0">
              <a:latin typeface="Microsoft YaHei UI" panose="020B0503020204020204" charset="-122"/>
            </a:endParaRPr>
          </a:p>
          <a:p>
            <a:endParaRPr sz="1000"/>
          </a:p>
          <a:p>
            <a:r>
              <a:rPr sz="1000" b="0">
                <a:latin typeface="Microsoft YaHei UI" panose="020B0503020204020204" charset="-122"/>
              </a:rPr>
              <a:t>• Flow Planner (NeurIPS 2025) 以纯学习方法首次突破nuPlan Val14 90分大关</a:t>
            </a:r>
            <a:endParaRPr sz="1000" b="0">
              <a:latin typeface="Microsoft YaHei UI" panose="020B0503020204020204" charset="-122"/>
            </a:endParaRPr>
          </a:p>
          <a:p>
            <a:endParaRPr sz="1000"/>
          </a:p>
          <a:p>
            <a:r>
              <a:rPr sz="1000" b="0">
                <a:latin typeface="Microsoft YaHei UI" panose="020B0503020204020204" charset="-122"/>
              </a:rPr>
              <a:t>• 关键挑战：如何从学术Benchmark走向实车部署？需要自适应能力和安全保证</a:t>
            </a:r>
            <a:endParaRPr sz="1000" b="0">
              <a:latin typeface="Microsoft YaHei UI" panose="020B050302020402020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Placeholder 1"/>
          <p:cNvSpPr>
            <a:spLocks noGrp="1"/>
          </p:cNvSpPr>
          <p:nvPr>
            <p:ph type="body" sz="quarter" idx="15"/>
          </p:nvPr>
        </p:nvSpPr>
        <p:spPr/>
        <p:txBody>
          <a:bodyPr/>
          <a:lstStyle/>
          <a:p>
            <a:pPr marL="0" indent="0" fontAlgn="auto">
              <a:spcAft>
                <a:spcPts val="0"/>
              </a:spcAft>
              <a:buNone/>
            </a:pPr>
            <a:r>
              <a:rPr sz="1200" b="1">
                <a:latin typeface="Microsoft YaHei UI" panose="020B0503020204020204" charset="-122"/>
              </a:rPr>
              <a:t>技术背景</a:t>
            </a:r>
            <a:endParaRPr lang="de-DE" sz="2800" kern="0"/>
          </a:p>
        </p:txBody>
      </p:sp>
      <p:sp>
        <p:nvSpPr>
          <p:cNvPr id="3" name="Title 2"/>
          <p:cNvSpPr>
            <a:spLocks noGrp="1"/>
          </p:cNvSpPr>
          <p:nvPr>
            <p:ph type="title"/>
          </p:nvPr>
        </p:nvSpPr>
        <p:spPr/>
        <p:txBody>
          <a:bodyPr/>
          <a:lstStyle/>
          <a:p>
            <a:r>
              <a:rPr sz="2000" b="1">
                <a:latin typeface="Microsoft YaHei UI" panose="020B0503020204020204" charset="-122"/>
              </a:rPr>
              <a:t>自动驾驶规划方法的技术演进</a:t>
            </a:r>
            <a:endParaRPr lang="en-US"/>
          </a:p>
        </p:txBody>
      </p:sp>
      <p:sp>
        <p:nvSpPr>
          <p:cNvPr id="4" name="Slide Number Placeholder 3"/>
          <p:cNvSpPr>
            <a:spLocks noGrp="1"/>
          </p:cNvSpPr>
          <p:nvPr>
            <p:ph type="sldNum" sz="quarter" idx="12"/>
          </p:nvPr>
        </p:nvSpPr>
        <p:spPr/>
        <p:txBody>
          <a:bodyPr/>
          <a:lstStyle/>
          <a:p>
            <a:r>
              <a:rPr sz="1000">
                <a:latin typeface="Microsoft YaHei UI" panose="020B0503020204020204" charset="-122"/>
              </a:rPr>
              <a:t>4</a:t>
            </a:r>
            <a:endParaRPr lang="en-US" noProof="1"/>
          </a:p>
        </p:txBody>
      </p:sp>
      <p:sp>
        <p:nvSpPr>
          <p:cNvPr id="5" name="TextBox 4"/>
          <p:cNvSpPr txBox="1"/>
          <p:nvPr/>
        </p:nvSpPr>
        <p:spPr>
          <a:xfrm>
            <a:off x="410686" y="996553"/>
            <a:ext cx="9872662" cy="4538345"/>
          </a:xfrm>
          <a:prstGeom prst="rect">
            <a:avLst/>
          </a:prstGeom>
          <a:noFill/>
        </p:spPr>
        <p:txBody>
          <a:bodyPr wrap="square">
            <a:spAutoFit/>
          </a:bodyPr>
          <a:lstStyle/>
          <a:p>
            <a:pPr>
              <a:lnSpc>
                <a:spcPts val="1600"/>
              </a:lnSpc>
              <a:spcBef>
                <a:spcPts val="200"/>
              </a:spcBef>
              <a:spcAft>
                <a:spcPts val="200"/>
              </a:spcAft>
            </a:pPr>
            <a:r>
              <a:rPr sz="1000" b="0">
                <a:latin typeface="Microsoft YaHei UI" panose="020B0503020204020204" charset="-122"/>
              </a:rPr>
              <a:t>自动驾驶「规划模块」负责决定车辆未来怎么走。方法不断进化：</a:t>
            </a:r>
            <a:endParaRPr sz="1000" b="0">
              <a:latin typeface="Microsoft YaHei UI" panose="020B0503020204020204" charset="-122"/>
            </a:endParaRPr>
          </a:p>
          <a:p>
            <a:endParaRPr sz="1000"/>
          </a:p>
          <a:p>
            <a:r>
              <a:rPr sz="1000" b="0">
                <a:latin typeface="Microsoft YaHei UI" panose="020B0503020204020204" charset="-122"/>
              </a:rPr>
              <a:t>① 回归式方法（直接预测轨迹）</a:t>
            </a:r>
            <a:endParaRPr sz="1000" b="0">
              <a:latin typeface="Microsoft YaHei UI" panose="020B0503020204020204" charset="-122"/>
            </a:endParaRPr>
          </a:p>
          <a:p>
            <a:r>
              <a:rPr sz="1000" b="0">
                <a:latin typeface="Microsoft YaHei UI" panose="020B0503020204020204" charset="-122"/>
              </a:rPr>
              <a:t>原理：模型输入周围环境信息（车辆位置、车道线、路口结构），直接输出未来8秒的(x,y)坐标序列。通过L2/Huber损失函数拟合专家驾驶轨迹，一次前向推理即可得到结果。</a:t>
            </a:r>
            <a:endParaRPr sz="1000" b="0">
              <a:latin typeface="Microsoft YaHei UI" panose="020B0503020204020204" charset="-122"/>
            </a:endParaRPr>
          </a:p>
          <a:p>
            <a:r>
              <a:rPr sz="1000" b="0">
                <a:latin typeface="Microsoft YaHei UI" panose="020B0503020204020204" charset="-122"/>
              </a:rPr>
              <a:t>优势：推理极快（~5ms），模型轻量，部署友好</a:t>
            </a:r>
            <a:endParaRPr sz="1000" b="0">
              <a:latin typeface="Microsoft YaHei UI" panose="020B0503020204020204" charset="-122"/>
            </a:endParaRPr>
          </a:p>
          <a:p>
            <a:r>
              <a:rPr sz="1000" b="0">
                <a:latin typeface="Microsoft YaHei UI" panose="020B0503020204020204" charset="-122"/>
              </a:rPr>
              <a:t>局限：本质是单模态输出——只能给一个答案，无法处理"路口该左转还是直行"这类多意图场景</a:t>
            </a:r>
            <a:endParaRPr sz="1000" b="0">
              <a:latin typeface="Microsoft YaHei UI" panose="020B0503020204020204" charset="-122"/>
            </a:endParaRPr>
          </a:p>
          <a:p>
            <a:r>
              <a:rPr sz="1000" b="0">
                <a:latin typeface="Microsoft YaHei UI" panose="020B0503020204020204" charset="-122"/>
              </a:rPr>
              <a:t>代表：PlanTF (Val14 NR=84.72), PLUTO (Val14 NR=88.89)</a:t>
            </a:r>
            <a:endParaRPr sz="1000" b="0">
              <a:latin typeface="Microsoft YaHei UI" panose="020B0503020204020204" charset="-122"/>
            </a:endParaRPr>
          </a:p>
          <a:p>
            <a:endParaRPr sz="1000"/>
          </a:p>
          <a:p>
            <a:r>
              <a:rPr sz="1000" b="0">
                <a:latin typeface="Microsoft YaHei UI" panose="020B0503020204020204" charset="-122"/>
              </a:rPr>
              <a:t>② 生成式方法（建模轨迹分布，生成多种可能再选最优）</a:t>
            </a:r>
            <a:endParaRPr sz="1000" b="0">
              <a:latin typeface="Microsoft YaHei UI" panose="020B0503020204020204" charset="-122"/>
            </a:endParaRPr>
          </a:p>
          <a:p>
            <a:r>
              <a:rPr sz="1000" b="0">
                <a:latin typeface="Microsoft YaHei UI" panose="020B0503020204020204" charset="-122"/>
              </a:rPr>
              <a:t>核心：复杂路口有多种合理驾驶行为，生成式方法同时产生多条候选轨迹再选最优。三种主流路线：</a:t>
            </a:r>
            <a:endParaRPr sz="1000" b="0">
              <a:latin typeface="Microsoft YaHei UI" panose="020B0503020204020204" charset="-122"/>
            </a:endParaRPr>
          </a:p>
          <a:p>
            <a:endParaRPr sz="800"/>
          </a:p>
          <a:p>
            <a:r>
              <a:rPr sz="800" b="0">
                <a:latin typeface="Microsoft YaHei UI" panose="020B0503020204020204" charset="-122"/>
              </a:rPr>
              <a:t>a) 扩散模型 Diffusion Model</a:t>
            </a:r>
            <a:endParaRPr sz="800" b="0">
              <a:latin typeface="Microsoft YaHei UI" panose="020B0503020204020204" charset="-122"/>
            </a:endParaRPr>
          </a:p>
          <a:p>
            <a:r>
              <a:rPr sz="800" b="0">
                <a:latin typeface="Microsoft YaHei UI" panose="020B0503020204020204" charset="-122"/>
              </a:rPr>
              <a:t>原理：借鉴图像生成DDPM。「前向」对轨迹逐步加高斯噪声直至变成纯噪声分布；「反向」训练去噪网络 ε_θ(x_t, t) 学会逐步移除噪声，从噪声恢复合理轨迹。每步预测当前噪声分量并移除。</a:t>
            </a:r>
            <a:endParaRPr sz="800" b="0">
              <a:latin typeface="Microsoft YaHei UI" panose="020B0503020204020204" charset="-122"/>
            </a:endParaRPr>
          </a:p>
          <a:p>
            <a:r>
              <a:rPr sz="800" b="0">
                <a:latin typeface="Microsoft YaHei UI" panose="020B0503020204020204" charset="-122"/>
              </a:rPr>
              <a:t>推理特点：需20-100步迭代去噪，推理延迟~100ms，难以满足实时性要求</a:t>
            </a:r>
            <a:endParaRPr sz="800" b="0">
              <a:latin typeface="Microsoft YaHei UI" panose="020B0503020204020204" charset="-122"/>
            </a:endParaRPr>
          </a:p>
          <a:p>
            <a:r>
              <a:rPr sz="800" b="0">
                <a:latin typeface="Microsoft YaHei UI" panose="020B0503020204020204" charset="-122"/>
              </a:rPr>
              <a:t>代表：Diffusion Planner (ICLR 2025, Val14 NR=89.87)</a:t>
            </a:r>
            <a:endParaRPr sz="800" b="0">
              <a:latin typeface="Microsoft YaHei UI" panose="020B0503020204020204" charset="-122"/>
            </a:endParaRPr>
          </a:p>
          <a:p>
            <a:endParaRPr sz="800"/>
          </a:p>
          <a:p>
            <a:r>
              <a:rPr sz="800" b="0">
                <a:latin typeface="Microsoft YaHei UI" panose="020B0503020204020204" charset="-122"/>
              </a:rPr>
              <a:t>    变体 — Truncated Diffusion（地平线HSD技术）：</a:t>
            </a:r>
            <a:endParaRPr sz="800" b="0">
              <a:latin typeface="Microsoft YaHei UI" panose="020B0503020204020204" charset="-122"/>
            </a:endParaRPr>
          </a:p>
          <a:p>
            <a:r>
              <a:rPr sz="800" b="0">
                <a:latin typeface="Microsoft YaHei UI" panose="020B0503020204020204" charset="-122"/>
              </a:rPr>
              <a:t>    核心改进：不从纯噪声出发，而是从"专家轨迹+少量噪声"的中间状态开始反向去噪。</a:t>
            </a:r>
            <a:endParaRPr sz="800" b="0">
              <a:latin typeface="Microsoft YaHei UI" panose="020B0503020204020204" charset="-122"/>
            </a:endParaRPr>
          </a:p>
          <a:p>
            <a:r>
              <a:rPr sz="800" b="0">
                <a:latin typeface="Microsoft YaHei UI" panose="020B0503020204020204" charset="-122"/>
              </a:rPr>
              <a:t>    相当于截断了前向加噪的前半段，只走后半段去噪过程，将步数从20+压缩到3-5步。</a:t>
            </a:r>
            <a:endParaRPr sz="800" b="0">
              <a:latin typeface="Microsoft YaHei UI" panose="020B0503020204020204" charset="-122"/>
            </a:endParaRPr>
          </a:p>
          <a:p>
            <a:r>
              <a:rPr sz="800" b="0">
                <a:latin typeface="Microsoft YaHei UI" panose="020B0503020204020204" charset="-122"/>
              </a:rPr>
              <a:t>    设计思路："少加噪、少去噪"——牺牲少量生成多样性，换取大幅推理加速。</a:t>
            </a:r>
            <a:endParaRPr sz="800" b="0">
              <a:latin typeface="Microsoft YaHei UI" panose="020B0503020204020204" charset="-122"/>
            </a:endParaRPr>
          </a:p>
          <a:p>
            <a:endParaRPr sz="800"/>
          </a:p>
          <a:p>
            <a:r>
              <a:rPr sz="800" b="0">
                <a:latin typeface="Microsoft YaHei UI" panose="020B0503020204020204" charset="-122"/>
              </a:rPr>
              <a:t>b) 自回归模型 Auto-Regressive</a:t>
            </a:r>
            <a:endParaRPr sz="800" b="0">
              <a:latin typeface="Microsoft YaHei UI" panose="020B0503020204020204" charset="-122"/>
            </a:endParaRPr>
          </a:p>
          <a:p>
            <a:r>
              <a:rPr sz="800" b="0">
                <a:latin typeface="Microsoft YaHei UI" panose="020B0503020204020204" charset="-122"/>
              </a:rPr>
              <a:t>原理：将连续轨迹离散化为token序列，类似GPT生成文本一样逐token预测轨迹点。</a:t>
            </a:r>
            <a:endParaRPr sz="800" b="0">
              <a:latin typeface="Microsoft YaHei UI" panose="020B0503020204020204" charset="-122"/>
            </a:endParaRPr>
          </a:p>
          <a:p>
            <a:r>
              <a:rPr sz="800" b="0">
                <a:latin typeface="Microsoft YaHei UI" panose="020B0503020204020204" charset="-122"/>
              </a:rPr>
              <a:t>每步基于已生成的前缀预测下一个waypoint。</a:t>
            </a:r>
            <a:endParaRPr sz="800" b="0">
              <a:latin typeface="Microsoft YaHei UI" panose="020B0503020204020204" charset="-122"/>
            </a:endParaRPr>
          </a:p>
          <a:p>
            <a:r>
              <a:rPr sz="800" b="0">
                <a:latin typeface="Microsoft YaHei UI" panose="020B0503020204020204" charset="-122"/>
              </a:rPr>
              <a:t>局限：串行生成导致误差累积；连续轨迹离散化引入精度损失</a:t>
            </a:r>
            <a:endParaRPr sz="800" b="0">
              <a:latin typeface="Microsoft YaHei UI" panose="020B0503020204020204" charset="-122"/>
            </a:endParaRPr>
          </a:p>
          <a:p>
            <a:r>
              <a:rPr sz="800" b="0">
                <a:latin typeface="Microsoft YaHei UI" panose="020B0503020204020204" charset="-122"/>
              </a:rPr>
              <a:t>代表：STR2, GameFormer</a:t>
            </a:r>
            <a:endParaRPr sz="800" b="0">
              <a:latin typeface="Microsoft YaHei UI" panose="020B0503020204020204" charset="-122"/>
            </a:endParaRPr>
          </a:p>
          <a:p>
            <a:endParaRPr sz="800"/>
          </a:p>
          <a:p>
            <a:r>
              <a:rPr sz="800" b="0">
                <a:latin typeface="Microsoft YaHei UI" panose="020B0503020204020204" charset="-122"/>
              </a:rPr>
              <a:t>c) 流匹配 Flow Matching ⭐ 我们的选择</a:t>
            </a:r>
            <a:endParaRPr sz="800" b="0">
              <a:latin typeface="Microsoft YaHei UI" panose="020B0503020204020204" charset="-122"/>
            </a:endParaRPr>
          </a:p>
          <a:p>
            <a:r>
              <a:rPr sz="800" b="0">
                <a:latin typeface="Microsoft YaHei UI" panose="020B0503020204020204" charset="-122"/>
              </a:rPr>
              <a:t>原理：基于最优传输理论，学习从噪声到轨迹的最短传输路径（ODE向量场）。</a:t>
            </a:r>
            <a:endParaRPr sz="800" b="0">
              <a:latin typeface="Microsoft YaHei UI" panose="020B0503020204020204" charset="-122"/>
            </a:endParaRPr>
          </a:p>
          <a:p>
            <a:r>
              <a:rPr sz="800" b="0">
                <a:latin typeface="Microsoft YaHei UI" panose="020B0503020204020204" charset="-122"/>
              </a:rPr>
              <a:t>与Diffusion的关键区别：Diffusion走弯曲的去噪路径，Flow Matching走近似直线——</a:t>
            </a:r>
            <a:endParaRPr sz="800" b="0">
              <a:latin typeface="Microsoft YaHei UI" panose="020B0503020204020204" charset="-122"/>
            </a:endParaRPr>
          </a:p>
          <a:p>
            <a:r>
              <a:rPr sz="800" b="0">
                <a:latin typeface="Microsoft YaHei UI" panose="020B0503020204020204" charset="-122"/>
              </a:rPr>
              <a:t>"GPS导航走最短路径，不绕弯路"。路径越直，离散化误差越小，需要的步数就越少。</a:t>
            </a:r>
            <a:endParaRPr sz="800" b="0">
              <a:latin typeface="Microsoft YaHei UI" panose="020B0503020204020204" charset="-122"/>
            </a:endParaRPr>
          </a:p>
          <a:p>
            <a:r>
              <a:rPr sz="800" b="0">
                <a:latin typeface="Microsoft YaHei UI" panose="020B0503020204020204" charset="-122"/>
              </a:rPr>
              <a:t>结果：仅需4步ODE求解即可生成高质量轨迹，速度比Diffusion快5倍</a:t>
            </a:r>
            <a:endParaRPr sz="800" b="0">
              <a:latin typeface="Microsoft YaHei UI" panose="020B0503020204020204" charset="-122"/>
            </a:endParaRPr>
          </a:p>
          <a:p>
            <a:r>
              <a:rPr sz="800" b="0">
                <a:latin typeface="Microsoft YaHei UI" panose="020B0503020204020204" charset="-122"/>
              </a:rPr>
              <a:t>代表：Flow Planner (NeurIPS 2025, Val14 NR=90.43) ← 纯学习方法SOTA</a:t>
            </a:r>
            <a:endParaRPr sz="800" b="0">
              <a:latin typeface="Microsoft YaHei UI" panose="020B050302020402020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sz="2000" b="1">
                <a:latin typeface="Microsoft YaHei UI" panose="020B0503020204020204" charset="-122"/>
              </a:rPr>
              <a:t>基线架构：Flow Planner (NeurIPS 2025)</a:t>
            </a:r>
            <a:endParaRPr lang="en-US"/>
          </a:p>
        </p:txBody>
      </p:sp>
      <p:sp>
        <p:nvSpPr>
          <p:cNvPr id="3" name="文本占位符 2"/>
          <p:cNvSpPr>
            <a:spLocks noGrp="1"/>
          </p:cNvSpPr>
          <p:nvPr>
            <p:ph type="body" sz="quarter" idx="15"/>
          </p:nvPr>
        </p:nvSpPr>
        <p:spPr/>
        <p:txBody>
          <a:bodyPr/>
          <a:lstStyle/>
          <a:p>
            <a:r>
              <a:rPr sz="1200" b="1">
                <a:latin typeface="Microsoft YaHei UI" panose="020B0503020204020204" charset="-122"/>
              </a:rPr>
              <a:t>技术方案</a:t>
            </a:r>
            <a:endParaRPr lang="en-US"/>
          </a:p>
        </p:txBody>
      </p:sp>
      <p:sp>
        <p:nvSpPr>
          <p:cNvPr id="5" name="灯片编号占位符 4"/>
          <p:cNvSpPr>
            <a:spLocks noGrp="1"/>
          </p:cNvSpPr>
          <p:nvPr>
            <p:ph type="sldNum" sz="quarter" idx="12"/>
          </p:nvPr>
        </p:nvSpPr>
        <p:spPr/>
        <p:txBody>
          <a:bodyPr/>
          <a:lstStyle/>
          <a:p>
            <a:r>
              <a:rPr sz="1000">
                <a:latin typeface="Microsoft YaHei UI" panose="020B0503020204020204" charset="-122"/>
              </a:rPr>
              <a:t>11</a:t>
            </a:r>
            <a:endParaRPr lang="en-US" noProof="1"/>
          </a:p>
        </p:txBody>
      </p:sp>
      <p:sp>
        <p:nvSpPr>
          <p:cNvPr id="33" name="TextBox 32"/>
          <p:cNvSpPr txBox="1"/>
          <p:nvPr/>
        </p:nvSpPr>
        <p:spPr>
          <a:xfrm>
            <a:off x="547846" y="1313084"/>
            <a:ext cx="9872662" cy="4442841"/>
          </a:xfrm>
          <a:prstGeom prst="rect">
            <a:avLst/>
          </a:prstGeom>
          <a:noFill/>
        </p:spPr>
        <p:txBody>
          <a:bodyPr wrap="square">
            <a:spAutoFit/>
          </a:bodyPr>
          <a:lstStyle/>
          <a:p>
            <a:pPr>
              <a:lnSpc>
                <a:spcPts val="1600"/>
              </a:lnSpc>
              <a:spcBef>
                <a:spcPts val="200"/>
              </a:spcBef>
              <a:spcAft>
                <a:spcPts val="200"/>
              </a:spcAft>
            </a:pPr>
            <a:r>
              <a:rPr sz="1000" b="0">
                <a:latin typeface="Microsoft YaHei UI" panose="020B0503020204020204" charset="-122"/>
              </a:rPr>
              <a:t>Flow Planner — NeurIPS 2025 发表，纯学习方法排名第一</a:t>
            </a:r>
            <a:endParaRPr sz="1000" b="0">
              <a:latin typeface="Microsoft YaHei UI" panose="020B0503020204020204" charset="-122"/>
            </a:endParaRPr>
          </a:p>
          <a:p>
            <a:endParaRPr sz="1000"/>
          </a:p>
          <a:p>
            <a:r>
              <a:rPr sz="1000" b="0">
                <a:latin typeface="Microsoft YaHei UI" panose="020B0503020204020204" charset="-122"/>
              </a:rPr>
              <a:t>核心思路（一句话）：</a:t>
            </a:r>
            <a:endParaRPr sz="1000" b="0">
              <a:latin typeface="Microsoft YaHei UI" panose="020B0503020204020204" charset="-122"/>
            </a:endParaRPr>
          </a:p>
          <a:p>
            <a:r>
              <a:rPr sz="1000" b="0">
                <a:latin typeface="Microsoft YaHei UI" panose="020B0503020204020204" charset="-122"/>
              </a:rPr>
              <a:t>用 Flow Matching 从随机噪声一步到位生成驾驶轨迹</a:t>
            </a:r>
            <a:endParaRPr sz="1000" b="0">
              <a:latin typeface="Microsoft YaHei UI" panose="020B0503020204020204" charset="-122"/>
            </a:endParaRPr>
          </a:p>
          <a:p>
            <a:endParaRPr sz="1000"/>
          </a:p>
          <a:p>
            <a:r>
              <a:rPr sz="1000" b="0">
                <a:latin typeface="Microsoft YaHei UI" panose="020B0503020204020204" charset="-122"/>
              </a:rPr>
              <a:t>模型架构（14.28M 参数，非常轻量）：</a:t>
            </a:r>
            <a:endParaRPr sz="1000" b="0">
              <a:latin typeface="Microsoft YaHei UI" panose="020B0503020204020204" charset="-122"/>
            </a:endParaRPr>
          </a:p>
          <a:p>
            <a:r>
              <a:rPr sz="1000" b="0">
                <a:latin typeface="Microsoft YaHei UI" panose="020B0503020204020204" charset="-122"/>
              </a:rPr>
              <a:t>• </a:t>
            </a:r>
            <a:r>
              <a:rPr sz="1000" b="0">
                <a:solidFill>
                  <a:schemeClr val="accent1"/>
                </a:solidFill>
                <a:effectLst>
                  <a:outerShdw blurRad="38100" dist="25400" dir="5400000" algn="ctr" rotWithShape="0">
                    <a:srgbClr val="6E747A">
                      <a:alpha val="43000"/>
                    </a:srgbClr>
                  </a:outerShdw>
                </a:effectLst>
                <a:latin typeface="Microsoft YaHei UI" panose="020B0503020204020204" charset="-122"/>
              </a:rPr>
              <a:t>编码器(Encoder)</a:t>
            </a:r>
            <a:r>
              <a:rPr sz="1000" b="0">
                <a:latin typeface="Microsoft YaHei UI" panose="020B0503020204020204" charset="-122"/>
              </a:rPr>
              <a:t>：将周围环境信息（车辆位置速度、车道线、路口结构）编码为特征向量</a:t>
            </a:r>
            <a:endParaRPr sz="1000" b="0">
              <a:latin typeface="Microsoft YaHei UI" panose="020B0503020204020204" charset="-122"/>
            </a:endParaRPr>
          </a:p>
          <a:p>
            <a:r>
              <a:rPr sz="1000" b="0">
                <a:latin typeface="Microsoft YaHei UI" panose="020B0503020204020204" charset="-122"/>
              </a:rPr>
              <a:t>  使用 MLP-Mixer 分别编码 ego历史、邻居agent、车道线、路由、静态物体</a:t>
            </a:r>
            <a:endParaRPr sz="1000" b="0">
              <a:latin typeface="Microsoft YaHei UI" panose="020B0503020204020204" charset="-122"/>
            </a:endParaRPr>
          </a:p>
          <a:p>
            <a:r>
              <a:rPr sz="1000" b="0">
                <a:latin typeface="Microsoft YaHei UI" panose="020B0503020204020204" charset="-122"/>
              </a:rPr>
              <a:t>• </a:t>
            </a:r>
            <a:r>
              <a:rPr sz="1000" b="0">
                <a:solidFill>
                  <a:schemeClr val="accent1"/>
                </a:solidFill>
                <a:effectLst>
                  <a:outerShdw blurRad="38100" dist="25400" dir="5400000" algn="ctr" rotWithShape="0">
                    <a:srgbClr val="6E747A">
                      <a:alpha val="43000"/>
                    </a:srgbClr>
                  </a:outerShdw>
                </a:effectLst>
                <a:latin typeface="Microsoft YaHei UI" panose="020B0503020204020204" charset="-122"/>
              </a:rPr>
              <a:t>解码器(Decoder)</a:t>
            </a:r>
            <a:r>
              <a:rPr sz="1000" b="0">
                <a:latin typeface="Microsoft YaHei UI" panose="020B0503020204020204" charset="-122"/>
              </a:rPr>
              <a:t>：4层 DiT Block，基于 Flow Matching 生成未来 8 秒的驾驶轨迹</a:t>
            </a:r>
            <a:endParaRPr sz="1000" b="0">
              <a:latin typeface="Microsoft YaHei UI" panose="020B0503020204020204" charset="-122"/>
            </a:endParaRPr>
          </a:p>
          <a:p>
            <a:r>
              <a:rPr sz="1000" b="0">
                <a:latin typeface="Microsoft YaHei UI" panose="020B0503020204020204" charset="-122"/>
              </a:rPr>
              <a:t>  采用 AdaLN + Scale-Adaptive Attention + 独立FFN 结构</a:t>
            </a:r>
            <a:endParaRPr sz="1000" b="0">
              <a:latin typeface="Microsoft YaHei UI" panose="020B0503020204020204" charset="-122"/>
            </a:endParaRPr>
          </a:p>
          <a:p>
            <a:r>
              <a:rPr sz="1000" b="0">
                <a:latin typeface="Microsoft YaHei UI" panose="020B0503020204020204" charset="-122"/>
              </a:rPr>
              <a:t>• CFG 引导：同时预测有/无邻车条件的轨迹，加权融合提升交互能力</a:t>
            </a:r>
            <a:endParaRPr sz="1000" b="0">
              <a:latin typeface="Microsoft YaHei UI" panose="020B0503020204020204" charset="-122"/>
            </a:endParaRPr>
          </a:p>
          <a:p>
            <a:endParaRPr sz="1000"/>
          </a:p>
          <a:p>
            <a:r>
              <a:rPr sz="1000" b="0">
                <a:latin typeface="Microsoft YaHei UI" panose="020B0503020204020204" charset="-122"/>
              </a:rPr>
              <a:t>关键优势 vs Diffusion Planner：</a:t>
            </a:r>
            <a:endParaRPr sz="1000" b="0">
              <a:latin typeface="Microsoft YaHei UI" panose="020B0503020204020204" charset="-122"/>
            </a:endParaRPr>
          </a:p>
          <a:p>
            <a:r>
              <a:rPr sz="1000" b="0">
                <a:latin typeface="Microsoft YaHei UI" panose="020B0503020204020204" charset="-122"/>
              </a:rPr>
              <a:t>• 推理速度：4步 vs 20步 → 快5倍（满足实时性要求）</a:t>
            </a:r>
            <a:endParaRPr sz="1000" b="0">
              <a:latin typeface="Microsoft YaHei UI" panose="020B0503020204020204" charset="-122"/>
            </a:endParaRPr>
          </a:p>
          <a:p>
            <a:r>
              <a:rPr sz="1000" b="0">
                <a:latin typeface="Microsoft YaHei UI" panose="020B0503020204020204" charset="-122"/>
              </a:rPr>
              <a:t>• 性能更优：Val14 NR 90.43 vs 89.87</a:t>
            </a:r>
            <a:endParaRPr sz="1000" b="0">
              <a:latin typeface="Microsoft YaHei UI" panose="020B0503020204020204" charset="-122"/>
            </a:endParaRPr>
          </a:p>
          <a:p>
            <a:r>
              <a:rPr sz="1000" b="0">
                <a:latin typeface="Microsoft YaHei UI" panose="020B0503020204020204" charset="-122"/>
              </a:rPr>
              <a:t>• 轨迹Token化：80帧切为7个重叠Token（每个20帧，重叠10帧），捕捉精细时序信息</a:t>
            </a:r>
            <a:endParaRPr sz="1000" b="0">
              <a:latin typeface="Microsoft YaHei UI" panose="020B0503020204020204" charset="-122"/>
            </a:endParaRPr>
          </a:p>
          <a:p>
            <a:endParaRPr sz="1000"/>
          </a:p>
          <a:p>
            <a:r>
              <a:rPr sz="1000" b="0">
                <a:latin typeface="Microsoft YaHei UI" panose="020B0503020204020204" charset="-122"/>
              </a:rPr>
              <a:t>基线性能：Val14 NR=90.43 | InterPlan=61.82 | 参数量14.28M</a:t>
            </a:r>
            <a:endParaRPr sz="1000" b="0">
              <a:latin typeface="Microsoft YaHei UI" panose="020B050302020402020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5"/>
          </p:nvPr>
        </p:nvSpPr>
        <p:spPr/>
        <p:txBody>
          <a:bodyPr/>
          <a:lstStyle/>
          <a:p>
            <a:pPr marL="0" indent="0" fontAlgn="auto">
              <a:spcAft>
                <a:spcPts val="0"/>
              </a:spcAft>
              <a:buNone/>
            </a:pPr>
            <a:r>
              <a:rPr sz="1200" b="1">
                <a:latin typeface="Microsoft YaHei UI" panose="020B0503020204020204" charset="-122"/>
              </a:rPr>
              <a:t>动机</a:t>
            </a:r>
            <a:endParaRPr lang="de-DE" sz="2800" kern="0"/>
          </a:p>
        </p:txBody>
      </p:sp>
      <p:sp>
        <p:nvSpPr>
          <p:cNvPr id="3" name="Title 2"/>
          <p:cNvSpPr>
            <a:spLocks noGrp="1"/>
          </p:cNvSpPr>
          <p:nvPr>
            <p:ph type="title"/>
          </p:nvPr>
        </p:nvSpPr>
        <p:spPr/>
        <p:txBody>
          <a:bodyPr/>
          <a:lstStyle/>
          <a:p>
            <a:r>
              <a:rPr sz="2000" b="1">
                <a:latin typeface="Microsoft YaHei UI" panose="020B0503020204020204" charset="-122"/>
              </a:rPr>
              <a:t>固定CFG权重无法适应多变驾驶场景</a:t>
            </a:r>
            <a:endParaRPr lang="en-US"/>
          </a:p>
        </p:txBody>
      </p:sp>
      <p:sp>
        <p:nvSpPr>
          <p:cNvPr id="4" name="Slide Number Placeholder 3"/>
          <p:cNvSpPr>
            <a:spLocks noGrp="1"/>
          </p:cNvSpPr>
          <p:nvPr>
            <p:ph type="sldNum" sz="quarter" idx="12"/>
          </p:nvPr>
        </p:nvSpPr>
        <p:spPr/>
        <p:txBody>
          <a:bodyPr/>
          <a:lstStyle/>
          <a:p>
            <a:r>
              <a:rPr sz="1000">
                <a:latin typeface="Microsoft YaHei UI" panose="020B0503020204020204" charset="-122"/>
              </a:rPr>
              <a:t>14</a:t>
            </a:r>
            <a:endParaRPr lang="en-US" noProof="1"/>
          </a:p>
        </p:txBody>
      </p:sp>
      <p:sp>
        <p:nvSpPr>
          <p:cNvPr id="5" name="TextBox 4"/>
          <p:cNvSpPr txBox="1"/>
          <p:nvPr/>
        </p:nvSpPr>
        <p:spPr>
          <a:xfrm>
            <a:off x="548481" y="1542653"/>
            <a:ext cx="9872662" cy="4010898"/>
          </a:xfrm>
          <a:prstGeom prst="rect">
            <a:avLst/>
          </a:prstGeom>
          <a:noFill/>
        </p:spPr>
        <p:txBody>
          <a:bodyPr wrap="square">
            <a:spAutoFit/>
          </a:bodyPr>
          <a:lstStyle/>
          <a:p>
            <a:pPr>
              <a:lnSpc>
                <a:spcPts val="1600"/>
              </a:lnSpc>
              <a:spcBef>
                <a:spcPts val="200"/>
              </a:spcBef>
              <a:spcAft>
                <a:spcPts val="200"/>
              </a:spcAft>
            </a:pPr>
            <a:r>
              <a:rPr sz="1000" b="0">
                <a:latin typeface="Microsoft YaHei UI" panose="020B0503020204020204" charset="-122"/>
              </a:rPr>
              <a:t>问题：模型的引导力度是固定的，无法适应不同场景</a:t>
            </a:r>
            <a:endParaRPr sz="1000" b="0">
              <a:latin typeface="Microsoft YaHei UI" panose="020B0503020204020204" charset="-122"/>
            </a:endParaRPr>
          </a:p>
          <a:p>
            <a:endParaRPr sz="1000"/>
          </a:p>
          <a:p>
            <a:r>
              <a:rPr sz="1000" b="0">
                <a:latin typeface="Microsoft YaHei UI" panose="020B0503020204020204" charset="-122"/>
              </a:rPr>
              <a:t>类比：就像开车时方向盘的握力 ——</a:t>
            </a:r>
            <a:endParaRPr sz="1000" b="0">
              <a:latin typeface="Microsoft YaHei UI" panose="020B0503020204020204" charset="-122"/>
            </a:endParaRPr>
          </a:p>
          <a:p>
            <a:r>
              <a:rPr sz="1000" b="0">
                <a:latin typeface="Microsoft YaHei UI" panose="020B0503020204020204" charset="-122"/>
              </a:rPr>
              <a:t>• 空旷直道 → 轻握即可（引导力度 低）</a:t>
            </a:r>
            <a:endParaRPr sz="1000" b="0">
              <a:latin typeface="Microsoft YaHei UI" panose="020B0503020204020204" charset="-122"/>
            </a:endParaRPr>
          </a:p>
          <a:p>
            <a:r>
              <a:rPr sz="1000" b="0">
                <a:latin typeface="Microsoft YaHei UI" panose="020B0503020204020204" charset="-122"/>
              </a:rPr>
              <a:t>• 拥堵路口 → 需要大力转向（引导力度 高）</a:t>
            </a:r>
            <a:endParaRPr sz="1000" b="0">
              <a:latin typeface="Microsoft YaHei UI" panose="020B0503020204020204" charset="-122"/>
            </a:endParaRPr>
          </a:p>
          <a:p>
            <a:r>
              <a:rPr sz="1000" b="0">
                <a:latin typeface="Microsoft YaHei UI" panose="020B0503020204020204" charset="-122"/>
              </a:rPr>
              <a:t>• 紧急避让 → 全力响应（引导力度 最高）</a:t>
            </a:r>
            <a:endParaRPr sz="1000" b="0">
              <a:latin typeface="Microsoft YaHei UI" panose="020B0503020204020204" charset="-122"/>
            </a:endParaRPr>
          </a:p>
          <a:p>
            <a:endParaRPr sz="1000"/>
          </a:p>
          <a:p>
            <a:r>
              <a:rPr sz="1000" b="0">
                <a:latin typeface="Microsoft YaHei UI" panose="020B0503020204020204" charset="-122"/>
              </a:rPr>
              <a:t>但当前 Flow Planner 用固定值 w=1.8，不区分场景：</a:t>
            </a:r>
            <a:endParaRPr sz="1000" b="0">
              <a:latin typeface="Microsoft YaHei UI" panose="020B0503020204020204" charset="-122"/>
            </a:endParaRPr>
          </a:p>
          <a:p>
            <a:r>
              <a:rPr sz="1000" b="0">
                <a:latin typeface="Microsoft YaHei UI" panose="020B0503020204020204" charset="-122"/>
              </a:rPr>
              <a:t>✗ 简单场景 → 过度干预，轨迹不自然</a:t>
            </a:r>
            <a:endParaRPr sz="1000" b="0">
              <a:latin typeface="Microsoft YaHei UI" panose="020B0503020204020204" charset="-122"/>
            </a:endParaRPr>
          </a:p>
          <a:p>
            <a:r>
              <a:rPr sz="1000" b="0">
                <a:latin typeface="Microsoft YaHei UI" panose="020B0503020204020204" charset="-122"/>
              </a:rPr>
              <a:t>✗ 复杂场景 → 引导不足，安全性下降</a:t>
            </a:r>
            <a:endParaRPr sz="1000" b="0">
              <a:latin typeface="Microsoft YaHei UI" panose="020B0503020204020204" charset="-122"/>
            </a:endParaRPr>
          </a:p>
          <a:p>
            <a:endParaRPr sz="1000"/>
          </a:p>
          <a:p>
            <a:r>
              <a:rPr sz="1000" b="0">
                <a:latin typeface="Microsoft YaHei UI" panose="020B0503020204020204" charset="-122"/>
              </a:rPr>
              <a:t>我们的实验验证：</a:t>
            </a:r>
            <a:endParaRPr sz="1000" b="0">
              <a:latin typeface="Microsoft YaHei UI" panose="020B0503020204020204" charset="-122"/>
            </a:endParaRPr>
          </a:p>
          <a:p>
            <a:r>
              <a:rPr sz="1000" b="0">
                <a:latin typeface="Microsoft YaHei UI" panose="020B0503020204020204" charset="-122"/>
              </a:rPr>
              <a:t>• CFG权重从 w=1.0 调至 w=2.5 时，NR Score从71.2%提升至80.2%（+9分）</a:t>
            </a:r>
            <a:endParaRPr sz="1000" b="0">
              <a:latin typeface="Microsoft YaHei UI" panose="020B0503020204020204" charset="-122"/>
            </a:endParaRPr>
          </a:p>
          <a:p>
            <a:r>
              <a:rPr sz="1000" b="0">
                <a:latin typeface="Microsoft YaHei UI" panose="020B0503020204020204" charset="-122"/>
              </a:rPr>
              <a:t>• 但不同场景的最优权重不同，固定权重是一种妥协</a:t>
            </a:r>
            <a:endParaRPr sz="1000" b="0">
              <a:latin typeface="Microsoft YaHei UI" panose="020B0503020204020204" charset="-122"/>
            </a:endParaRPr>
          </a:p>
          <a:p>
            <a:endParaRPr sz="1000"/>
          </a:p>
          <a:p>
            <a:r>
              <a:rPr sz="1000" b="0">
                <a:latin typeface="Microsoft YaHei UI" panose="020B0503020204020204" charset="-122"/>
              </a:rPr>
              <a:t>→ 创新点1：让模型自动判断场景复杂度，动态调整引导强度</a:t>
            </a:r>
            <a:endParaRPr sz="1000" b="0">
              <a:latin typeface="Microsoft YaHei UI" panose="020B050302020402020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5"/>
          </p:nvPr>
        </p:nvSpPr>
        <p:spPr/>
        <p:txBody>
          <a:bodyPr/>
          <a:lstStyle/>
          <a:p>
            <a:pPr marL="0" indent="0" fontAlgn="auto">
              <a:spcAft>
                <a:spcPts val="0"/>
              </a:spcAft>
              <a:buNone/>
            </a:pPr>
            <a:r>
              <a:rPr sz="1200" b="1">
                <a:latin typeface="Microsoft YaHei UI" panose="020B0503020204020204" charset="-122"/>
              </a:rPr>
              <a:t>动机</a:t>
            </a:r>
            <a:endParaRPr lang="de-DE" sz="2800" kern="0"/>
          </a:p>
        </p:txBody>
      </p:sp>
      <p:sp>
        <p:nvSpPr>
          <p:cNvPr id="3" name="Title 2"/>
          <p:cNvSpPr>
            <a:spLocks noGrp="1"/>
          </p:cNvSpPr>
          <p:nvPr>
            <p:ph type="title"/>
          </p:nvPr>
        </p:nvSpPr>
        <p:spPr/>
        <p:txBody>
          <a:bodyPr/>
          <a:lstStyle/>
          <a:p>
            <a:r>
              <a:rPr sz="2000" b="1">
                <a:latin typeface="Microsoft YaHei UI" panose="020B0503020204020204" charset="-122"/>
              </a:rPr>
              <a:t>纯模仿学习缺乏安全保证，实车部署风险高</a:t>
            </a:r>
            <a:endParaRPr lang="en-US"/>
          </a:p>
        </p:txBody>
      </p:sp>
      <p:sp>
        <p:nvSpPr>
          <p:cNvPr id="4" name="Slide Number Placeholder 3"/>
          <p:cNvSpPr>
            <a:spLocks noGrp="1"/>
          </p:cNvSpPr>
          <p:nvPr>
            <p:ph type="sldNum" sz="quarter" idx="12"/>
          </p:nvPr>
        </p:nvSpPr>
        <p:spPr/>
        <p:txBody>
          <a:bodyPr/>
          <a:lstStyle/>
          <a:p>
            <a:r>
              <a:rPr sz="1000">
                <a:latin typeface="Microsoft YaHei UI" panose="020B0503020204020204" charset="-122"/>
              </a:rPr>
              <a:t>15</a:t>
            </a:r>
            <a:endParaRPr lang="en-US" noProof="1"/>
          </a:p>
        </p:txBody>
      </p:sp>
      <p:sp>
        <p:nvSpPr>
          <p:cNvPr id="28" name="TextBox 27"/>
          <p:cNvSpPr txBox="1"/>
          <p:nvPr/>
        </p:nvSpPr>
        <p:spPr>
          <a:xfrm>
            <a:off x="361791" y="1252458"/>
            <a:ext cx="9872662" cy="4010898"/>
          </a:xfrm>
          <a:prstGeom prst="rect">
            <a:avLst/>
          </a:prstGeom>
          <a:noFill/>
        </p:spPr>
        <p:txBody>
          <a:bodyPr wrap="square">
            <a:spAutoFit/>
          </a:bodyPr>
          <a:lstStyle/>
          <a:p>
            <a:pPr>
              <a:lnSpc>
                <a:spcPts val="1600"/>
              </a:lnSpc>
              <a:spcBef>
                <a:spcPts val="200"/>
              </a:spcBef>
              <a:spcAft>
                <a:spcPts val="200"/>
              </a:spcAft>
            </a:pPr>
            <a:r>
              <a:rPr sz="1000" b="0">
                <a:latin typeface="Microsoft YaHei UI" panose="020B0503020204020204" charset="-122"/>
              </a:rPr>
              <a:t>问题：纯模仿学习 = 只学动作，不理解什么是危险</a:t>
            </a:r>
            <a:endParaRPr sz="1000" b="0">
              <a:latin typeface="Microsoft YaHei UI" panose="020B0503020204020204" charset="-122"/>
            </a:endParaRPr>
          </a:p>
          <a:p>
            <a:endParaRPr sz="1000"/>
          </a:p>
          <a:p>
            <a:r>
              <a:rPr sz="1000" b="0">
                <a:latin typeface="Microsoft YaHei UI" panose="020B0503020204020204" charset="-122"/>
              </a:rPr>
              <a:t>• 当前方法只学习专家怎么开的，不显式考虑安全约束</a:t>
            </a:r>
            <a:endParaRPr sz="1000" b="0">
              <a:latin typeface="Microsoft YaHei UI" panose="020B0503020204020204" charset="-122"/>
            </a:endParaRPr>
          </a:p>
          <a:p>
            <a:endParaRPr sz="1000"/>
          </a:p>
          <a:p>
            <a:r>
              <a:rPr sz="1000" b="0">
                <a:latin typeface="Microsoft YaHei UI" panose="020B0503020204020204" charset="-122"/>
              </a:rPr>
              <a:t>真实案例（Diffusion Planner 失败场景）：</a:t>
            </a:r>
            <a:endParaRPr sz="1000" b="0">
              <a:latin typeface="Microsoft YaHei UI" panose="020B0503020204020204" charset="-122"/>
            </a:endParaRPr>
          </a:p>
          <a:p>
            <a:r>
              <a:rPr sz="1000" b="0">
                <a:latin typeface="Microsoft YaHei UI" panose="020B0503020204020204" charset="-122"/>
              </a:rPr>
              <a:t>✗ 后方快车逼近时仍然变道 → 碰撞</a:t>
            </a:r>
            <a:endParaRPr sz="1000" b="0">
              <a:latin typeface="Microsoft YaHei UI" panose="020B0503020204020204" charset="-122"/>
            </a:endParaRPr>
          </a:p>
          <a:p>
            <a:r>
              <a:rPr sz="1000" b="0">
                <a:latin typeface="Microsoft YaHei UI" panose="020B0503020204020204" charset="-122"/>
              </a:rPr>
              <a:t>✗ 对向来车时速度过低 → 碰撞</a:t>
            </a:r>
            <a:endParaRPr sz="1000" b="0">
              <a:latin typeface="Microsoft YaHei UI" panose="020B0503020204020204" charset="-122"/>
            </a:endParaRPr>
          </a:p>
          <a:p>
            <a:endParaRPr sz="1000"/>
          </a:p>
          <a:p>
            <a:r>
              <a:rPr sz="1000" b="0">
                <a:latin typeface="Microsoft YaHei UI" panose="020B0503020204020204" charset="-122"/>
              </a:rPr>
              <a:t>现有解决方案的局限：</a:t>
            </a:r>
            <a:endParaRPr sz="1000" b="0">
              <a:latin typeface="Microsoft YaHei UI" panose="020B0503020204020204" charset="-122"/>
            </a:endParaRPr>
          </a:p>
          <a:p>
            <a:r>
              <a:rPr sz="1000" b="0">
                <a:latin typeface="Microsoft YaHei UI" panose="020B0503020204020204" charset="-122"/>
              </a:rPr>
              <a:t>• 事后规则裁剪（PDM-Hybrid方式）：先生成轨迹，再用规则修剪</a:t>
            </a:r>
            <a:endParaRPr sz="1000" b="0">
              <a:latin typeface="Microsoft YaHei UI" panose="020B0503020204020204" charset="-122"/>
            </a:endParaRPr>
          </a:p>
          <a:p>
            <a:r>
              <a:rPr sz="1000" b="0">
                <a:latin typeface="Microsoft YaHei UI" panose="020B0503020204020204" charset="-122"/>
              </a:rPr>
              <a:t>• 问题：破坏了生成轨迹的连贯性和自然性</a:t>
            </a:r>
            <a:endParaRPr sz="1000" b="0">
              <a:latin typeface="Microsoft YaHei UI" panose="020B0503020204020204" charset="-122"/>
            </a:endParaRPr>
          </a:p>
          <a:p>
            <a:endParaRPr sz="1000"/>
          </a:p>
          <a:p>
            <a:r>
              <a:rPr sz="1000" b="0">
                <a:latin typeface="Microsoft YaHei UI" panose="020B0503020204020204" charset="-122"/>
              </a:rPr>
              <a:t>实车部署的硬性要求：</a:t>
            </a:r>
            <a:endParaRPr sz="1000" b="0">
              <a:latin typeface="Microsoft YaHei UI" panose="020B0503020204020204" charset="-122"/>
            </a:endParaRPr>
          </a:p>
          <a:p>
            <a:r>
              <a:rPr sz="1000" b="0">
                <a:latin typeface="Microsoft YaHei UI" panose="020B0503020204020204" charset="-122"/>
              </a:rPr>
              <a:t>规划模块必须有显式安全约束，不能只靠隐式学习到的经验</a:t>
            </a:r>
            <a:endParaRPr sz="1000" b="0">
              <a:latin typeface="Microsoft YaHei UI" panose="020B0503020204020204" charset="-122"/>
            </a:endParaRPr>
          </a:p>
          <a:p>
            <a:endParaRPr sz="1000"/>
          </a:p>
          <a:p>
            <a:r>
              <a:rPr sz="1000" b="0">
                <a:latin typeface="Microsoft YaHei UI" panose="020B0503020204020204" charset="-122"/>
              </a:rPr>
              <a:t>→ 创新点2：在轨迹生成过程中（ODE求解时）注入安全约束，主动避碰</a:t>
            </a:r>
            <a:endParaRPr sz="1000" b="0">
              <a:latin typeface="Microsoft YaHei UI" panose="020B050302020402020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5"/>
          </p:nvPr>
        </p:nvSpPr>
        <p:spPr/>
        <p:txBody>
          <a:bodyPr/>
          <a:lstStyle/>
          <a:p>
            <a:pPr marL="0" indent="0" fontAlgn="auto">
              <a:spcAft>
                <a:spcPts val="0"/>
              </a:spcAft>
              <a:buNone/>
            </a:pPr>
            <a:r>
              <a:rPr sz="1200" b="1">
                <a:latin typeface="Microsoft YaHei UI" panose="020B0503020204020204" charset="-122"/>
              </a:rPr>
              <a:t>动机</a:t>
            </a:r>
            <a:endParaRPr lang="de-DE" sz="2800" kern="0"/>
          </a:p>
        </p:txBody>
      </p:sp>
      <p:sp>
        <p:nvSpPr>
          <p:cNvPr id="3" name="Title 2"/>
          <p:cNvSpPr>
            <a:spLocks noGrp="1"/>
          </p:cNvSpPr>
          <p:nvPr>
            <p:ph type="title"/>
          </p:nvPr>
        </p:nvSpPr>
        <p:spPr/>
        <p:txBody>
          <a:bodyPr/>
          <a:lstStyle/>
          <a:p>
            <a:r>
              <a:rPr sz="2000" b="1">
                <a:latin typeface="Microsoft YaHei UI" panose="020B0503020204020204" charset="-122"/>
              </a:rPr>
              <a:t>学术数据集与公司实际场景存在显著Domain Gap</a:t>
            </a:r>
            <a:endParaRPr lang="en-US"/>
          </a:p>
        </p:txBody>
      </p:sp>
      <p:sp>
        <p:nvSpPr>
          <p:cNvPr id="4" name="Slide Number Placeholder 3"/>
          <p:cNvSpPr>
            <a:spLocks noGrp="1"/>
          </p:cNvSpPr>
          <p:nvPr>
            <p:ph type="sldNum" sz="quarter" idx="12"/>
          </p:nvPr>
        </p:nvSpPr>
        <p:spPr/>
        <p:txBody>
          <a:bodyPr/>
          <a:lstStyle/>
          <a:p>
            <a:r>
              <a:rPr sz="1000">
                <a:latin typeface="Microsoft YaHei UI" panose="020B0503020204020204" charset="-122"/>
              </a:rPr>
              <a:t>16</a:t>
            </a:r>
            <a:endParaRPr lang="en-US" noProof="1"/>
          </a:p>
        </p:txBody>
      </p:sp>
      <p:sp>
        <p:nvSpPr>
          <p:cNvPr id="9" name="TextBox 8"/>
          <p:cNvSpPr txBox="1"/>
          <p:nvPr/>
        </p:nvSpPr>
        <p:spPr>
          <a:xfrm>
            <a:off x="548481" y="1542653"/>
            <a:ext cx="9872662" cy="4010898"/>
          </a:xfrm>
          <a:prstGeom prst="rect">
            <a:avLst/>
          </a:prstGeom>
          <a:noFill/>
        </p:spPr>
        <p:txBody>
          <a:bodyPr wrap="square">
            <a:spAutoFit/>
          </a:bodyPr>
          <a:lstStyle/>
          <a:p>
            <a:pPr>
              <a:lnSpc>
                <a:spcPts val="1600"/>
              </a:lnSpc>
              <a:spcBef>
                <a:spcPts val="200"/>
              </a:spcBef>
              <a:spcAft>
                <a:spcPts val="200"/>
              </a:spcAft>
            </a:pPr>
            <a:r>
              <a:rPr sz="1000" b="0">
                <a:latin typeface="Microsoft YaHei UI" panose="020B0503020204020204" charset="-122"/>
              </a:rPr>
              <a:t>问题：学术数据 ≠ 公司实际场景</a:t>
            </a:r>
            <a:endParaRPr sz="1000" b="0">
              <a:latin typeface="Microsoft YaHei UI" panose="020B0503020204020204" charset="-122"/>
            </a:endParaRPr>
          </a:p>
          <a:p>
            <a:endParaRPr sz="1000"/>
          </a:p>
          <a:p>
            <a:r>
              <a:rPr sz="1000" b="0">
                <a:latin typeface="Microsoft YaHei UI" panose="020B0503020204020204" charset="-122"/>
              </a:rPr>
              <a:t>• nuPlan 数据采集于美国和新加坡（波士顿、匹兹堡、拉斯维加斯）</a:t>
            </a:r>
            <a:endParaRPr sz="1000" b="0">
              <a:latin typeface="Microsoft YaHei UI" panose="020B0503020204020204" charset="-122"/>
            </a:endParaRPr>
          </a:p>
          <a:p>
            <a:r>
              <a:rPr sz="1000" b="0">
                <a:latin typeface="Microsoft YaHei UI" panose="020B0503020204020204" charset="-122"/>
              </a:rPr>
              <a:t>• 与公司实际运营场景的差异：</a:t>
            </a:r>
            <a:endParaRPr sz="1000" b="0">
              <a:latin typeface="Microsoft YaHei UI" panose="020B0503020204020204" charset="-122"/>
            </a:endParaRPr>
          </a:p>
          <a:p>
            <a:r>
              <a:rPr sz="1000" b="0">
                <a:latin typeface="Microsoft YaHei UI" panose="020B0503020204020204" charset="-122"/>
              </a:rPr>
              <a:t>  传感器配置不同 | 坐标系定义不同 | 交通规则差异 | 驾驶习惯差异</a:t>
            </a:r>
            <a:endParaRPr sz="1000" b="0">
              <a:latin typeface="Microsoft YaHei UI" panose="020B0503020204020204" charset="-122"/>
            </a:endParaRPr>
          </a:p>
          <a:p>
            <a:endParaRPr sz="1000"/>
          </a:p>
          <a:p>
            <a:r>
              <a:rPr sz="1000" b="0">
                <a:latin typeface="Microsoft YaHei UI" panose="020B0503020204020204" charset="-122"/>
              </a:rPr>
              <a:t>类比：在美国考了驾照，不代表能直接在中国上路</a:t>
            </a:r>
            <a:endParaRPr sz="1000" b="0">
              <a:latin typeface="Microsoft YaHei UI" panose="020B0503020204020204" charset="-122"/>
            </a:endParaRPr>
          </a:p>
          <a:p>
            <a:r>
              <a:rPr sz="1000" b="0">
                <a:latin typeface="Microsoft YaHei UI" panose="020B0503020204020204" charset="-122"/>
              </a:rPr>
              <a:t>• 左右行驶习惯不同</a:t>
            </a:r>
            <a:endParaRPr sz="1000" b="0">
              <a:latin typeface="Microsoft YaHei UI" panose="020B0503020204020204" charset="-122"/>
            </a:endParaRPr>
          </a:p>
          <a:p>
            <a:r>
              <a:rPr sz="1000" b="0">
                <a:latin typeface="Microsoft YaHei UI" panose="020B0503020204020204" charset="-122"/>
              </a:rPr>
              <a:t>• 路口结构和交通信号差异大</a:t>
            </a:r>
            <a:endParaRPr sz="1000" b="0">
              <a:latin typeface="Microsoft YaHei UI" panose="020B0503020204020204" charset="-122"/>
            </a:endParaRPr>
          </a:p>
          <a:p>
            <a:r>
              <a:rPr sz="1000" b="0">
                <a:latin typeface="Microsoft YaHei UI" panose="020B0503020204020204" charset="-122"/>
              </a:rPr>
              <a:t>• 行人和非机动车的交互模式完全不同</a:t>
            </a:r>
            <a:endParaRPr sz="1000" b="0">
              <a:latin typeface="Microsoft YaHei UI" panose="020B0503020204020204" charset="-122"/>
            </a:endParaRPr>
          </a:p>
          <a:p>
            <a:endParaRPr sz="1000"/>
          </a:p>
          <a:p>
            <a:r>
              <a:rPr sz="1000" b="0">
                <a:latin typeface="Microsoft YaHei UI" panose="020B0503020204020204" charset="-122"/>
              </a:rPr>
              <a:t>• 直接迁移模型性能必然大幅下降</a:t>
            </a:r>
            <a:endParaRPr sz="1000" b="0">
              <a:latin typeface="Microsoft YaHei UI" panose="020B0503020204020204" charset="-122"/>
            </a:endParaRPr>
          </a:p>
          <a:p>
            <a:endParaRPr sz="1000"/>
          </a:p>
          <a:p>
            <a:r>
              <a:rPr sz="1000" b="0">
                <a:latin typeface="Microsoft YaHei UI" panose="020B0503020204020204" charset="-122"/>
              </a:rPr>
              <a:t>→ 需要适应性训练才能迁移到公司场景</a:t>
            </a:r>
            <a:endParaRPr sz="1000" b="0">
              <a:latin typeface="Microsoft YaHei UI" panose="020B0503020204020204" charset="-122"/>
            </a:endParaRPr>
          </a:p>
          <a:p>
            <a:r>
              <a:rPr sz="1000" b="0">
                <a:latin typeface="Microsoft YaHei UI" panose="020B0503020204020204" charset="-122"/>
              </a:rPr>
              <a:t>→ 创新点3：两阶段迁移学习（nuPlan预训练 → 公司数据微调）</a:t>
            </a:r>
            <a:endParaRPr sz="1000" b="0">
              <a:latin typeface="Microsoft YaHei UI" panose="020B050302020402020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000" b="1" i="0">
                <a:solidFill>
                  <a:srgbClr val="005091"/>
                </a:solidFill>
                <a:latin typeface="Microsoft YaHei UI" panose="020B0503020204020204" charset="-122"/>
              </a:rPr>
              <a:t>技术方案总览</a:t>
            </a:r>
            <a:endParaRPr lang="en-US"/>
          </a:p>
        </p:txBody>
      </p:sp>
      <p:sp>
        <p:nvSpPr>
          <p:cNvPr id="3" name="文本占位符 2"/>
          <p:cNvSpPr>
            <a:spLocks noGrp="1"/>
          </p:cNvSpPr>
          <p:nvPr>
            <p:ph type="body" sz="quarter" idx="15"/>
          </p:nvPr>
        </p:nvSpPr>
        <p:spPr/>
        <p:txBody>
          <a:bodyPr/>
          <a:lstStyle/>
          <a:p>
            <a:r>
              <a:rPr lang="zh-CN" altLang="en-US" sz="1200" b="1" i="0">
                <a:solidFill>
                  <a:srgbClr val="0072C6"/>
                </a:solidFill>
                <a:latin typeface="Microsoft YaHei UI" panose="020B0503020204020204" charset="-122"/>
              </a:rPr>
              <a:t>技术方案</a:t>
            </a:r>
            <a:endParaRPr lang="en-US"/>
          </a:p>
        </p:txBody>
      </p:sp>
      <p:sp>
        <p:nvSpPr>
          <p:cNvPr id="5" name="灯片编号占位符 4"/>
          <p:cNvSpPr>
            <a:spLocks noGrp="1"/>
          </p:cNvSpPr>
          <p:nvPr>
            <p:ph type="sldNum" sz="quarter" idx="12"/>
          </p:nvPr>
        </p:nvSpPr>
        <p:spPr/>
        <p:txBody>
          <a:bodyPr/>
          <a:lstStyle/>
          <a:p>
            <a:r>
              <a:rPr sz="1000">
                <a:latin typeface="Microsoft YaHei UI" panose="020B0503020204020204" charset="-122"/>
              </a:rPr>
              <a:t>18</a:t>
            </a:r>
            <a:endParaRPr lang="en-US" noProof="1"/>
          </a:p>
        </p:txBody>
      </p:sp>
      <p:pic>
        <p:nvPicPr>
          <p:cNvPr id="6" name="Picture 5" descr="FlowPlanner_项目流程图.png"/>
          <p:cNvPicPr>
            <a:picLocks noChangeAspect="1"/>
          </p:cNvPicPr>
          <p:nvPr/>
        </p:nvPicPr>
        <p:blipFill>
          <a:blip r:embed="rId1"/>
          <a:stretch>
            <a:fillRect/>
          </a:stretch>
        </p:blipFill>
        <p:spPr>
          <a:xfrm>
            <a:off x="877570" y="1110710"/>
            <a:ext cx="9214485" cy="481307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658556" y="329082"/>
            <a:ext cx="9461119" cy="865505"/>
          </a:xfrm>
          <a:prstGeom prst="rect">
            <a:avLst/>
          </a:prstGeom>
          <a:noFill/>
        </p:spPr>
        <p:txBody>
          <a:bodyPr wrap="square">
            <a:spAutoFit/>
          </a:bodyPr>
          <a:lstStyle/>
          <a:p>
            <a:pPr>
              <a:defRPr sz="2800" b="1">
                <a:solidFill>
                  <a:srgbClr val="FFFFFF"/>
                </a:solidFill>
              </a:defRPr>
            </a:pPr>
            <a:r>
              <a:rPr sz="2520">
                <a:latin typeface="Microsoft YaHei UI" panose="020B0503020204020204" charset="-122"/>
              </a:rPr>
              <a:t>创新点1：Scene-Adaptive CFG 引导权重  🔒 可申请专利</a:t>
            </a:r>
            <a:endParaRPr sz="2520"/>
          </a:p>
        </p:txBody>
      </p:sp>
      <p:sp>
        <p:nvSpPr>
          <p:cNvPr id="3" name="TextBox 2"/>
          <p:cNvSpPr txBox="1"/>
          <p:nvPr/>
        </p:nvSpPr>
        <p:spPr>
          <a:xfrm>
            <a:off x="58481" y="546837"/>
            <a:ext cx="3289300" cy="398780"/>
          </a:xfrm>
          <a:prstGeom prst="rect">
            <a:avLst/>
          </a:prstGeom>
          <a:noFill/>
        </p:spPr>
        <p:txBody>
          <a:bodyPr wrap="none">
            <a:spAutoFit/>
          </a:bodyPr>
          <a:lstStyle/>
          <a:p>
            <a:pPr algn="l">
              <a:defRPr sz="1400" i="1">
                <a:solidFill>
                  <a:srgbClr val="00D2FF"/>
                </a:solidFill>
              </a:defRPr>
            </a:pPr>
            <a:r>
              <a:rPr lang="en-US" sz="2000" b="1" i="0">
                <a:solidFill>
                  <a:schemeClr val="accent1"/>
                </a:solidFill>
                <a:latin typeface="Microsoft YaHei UI" panose="020B0503020204020204" charset="-122"/>
                <a:ea typeface="+mj-ea"/>
                <a:cs typeface="+mj-cs"/>
                <a:sym typeface="+mn-ea"/>
              </a:rPr>
              <a:t> </a:t>
            </a:r>
            <a:r>
              <a:rPr sz="2000" b="1" i="0">
                <a:solidFill>
                  <a:schemeClr val="accent1"/>
                </a:solidFill>
                <a:latin typeface="Microsoft YaHei UI" panose="020B0503020204020204" charset="-122"/>
                <a:ea typeface="+mj-ea"/>
                <a:cs typeface="+mj-cs"/>
                <a:sym typeface="+mn-ea"/>
              </a:rPr>
              <a:t>场景自适应 CFG 引导权重 </a:t>
            </a:r>
            <a:endParaRPr sz="2000" b="1" i="0">
              <a:solidFill>
                <a:schemeClr val="accent1"/>
              </a:solidFill>
              <a:latin typeface="Microsoft YaHei UI" panose="020B0503020204020204" charset="-122"/>
              <a:ea typeface="+mj-ea"/>
              <a:cs typeface="+mj-cs"/>
              <a:sym typeface="+mn-ea"/>
            </a:endParaRPr>
          </a:p>
        </p:txBody>
      </p:sp>
      <p:sp>
        <p:nvSpPr>
          <p:cNvPr id="4" name="TextBox 3"/>
          <p:cNvSpPr txBox="1"/>
          <p:nvPr/>
        </p:nvSpPr>
        <p:spPr>
          <a:xfrm>
            <a:off x="658556" y="1316330"/>
            <a:ext cx="4524883" cy="3579495"/>
          </a:xfrm>
          <a:prstGeom prst="rect">
            <a:avLst/>
          </a:prstGeom>
          <a:noFill/>
        </p:spPr>
        <p:txBody>
          <a:bodyPr wrap="square">
            <a:spAutoFit/>
          </a:bodyPr>
          <a:lstStyle/>
          <a:p>
            <a:pPr>
              <a:spcAft>
                <a:spcPts val="300"/>
              </a:spcAft>
              <a:defRPr sz="1600" b="1">
                <a:solidFill>
                  <a:srgbClr val="00D2FF"/>
                </a:solidFill>
              </a:defRPr>
            </a:pPr>
            <a:r>
              <a:rPr sz="1000">
                <a:solidFill>
                  <a:schemeClr val="tx1"/>
                </a:solidFill>
                <a:latin typeface="Microsoft YaHei UI" panose="020B0503020204020204" charset="-122"/>
              </a:rPr>
              <a:t>核心思想：场景感知的动态引导策略</a:t>
            </a:r>
            <a:endParaRPr sz="1440">
              <a:solidFill>
                <a:schemeClr val="tx1"/>
              </a:solidFill>
            </a:endParaRPr>
          </a:p>
          <a:p>
            <a:pPr>
              <a:spcAft>
                <a:spcPts val="300"/>
              </a:spcAft>
              <a:defRPr sz="800" b="0">
                <a:solidFill>
                  <a:srgbClr val="E0E0E0"/>
                </a:solidFill>
              </a:defRPr>
            </a:pPr>
            <a:endParaRPr sz="720">
              <a:solidFill>
                <a:schemeClr val="tx1"/>
              </a:solidFill>
            </a:endParaRPr>
          </a:p>
          <a:p>
            <a:pPr>
              <a:spcAft>
                <a:spcPts val="300"/>
              </a:spcAft>
              <a:defRPr sz="1400" b="1">
                <a:solidFill>
                  <a:srgbClr val="FFA500"/>
                </a:solidFill>
              </a:defRPr>
            </a:pPr>
            <a:r>
              <a:rPr sz="1260">
                <a:solidFill>
                  <a:schemeClr val="tx1"/>
                </a:solidFill>
                <a:latin typeface="Microsoft YaHei UI" panose="020B0503020204020204" charset="-122"/>
              </a:rPr>
              <a:t>行业现状（痛点）：</a:t>
            </a:r>
            <a:endParaRPr sz="1260">
              <a:solidFill>
                <a:schemeClr val="tx1"/>
              </a:solidFill>
            </a:endParaRPr>
          </a:p>
          <a:p>
            <a:pPr>
              <a:spcAft>
                <a:spcPts val="300"/>
              </a:spcAft>
              <a:defRPr sz="1200" b="0">
                <a:solidFill>
                  <a:srgbClr val="E0E0E0"/>
                </a:solidFill>
              </a:defRPr>
            </a:pPr>
            <a:r>
              <a:rPr sz="1080">
                <a:solidFill>
                  <a:schemeClr val="tx1"/>
                </a:solidFill>
                <a:latin typeface="Microsoft YaHei UI" panose="020B0503020204020204" charset="-122"/>
              </a:rPr>
              <a:t>• Flow Planner / Diffusion Planner 等所有 CFG 方法均使用</a:t>
            </a:r>
            <a:endParaRPr sz="1080">
              <a:solidFill>
                <a:schemeClr val="tx1"/>
              </a:solidFill>
            </a:endParaRPr>
          </a:p>
          <a:p>
            <a:pPr>
              <a:spcAft>
                <a:spcPts val="300"/>
              </a:spcAft>
              <a:defRPr sz="1200" b="0">
                <a:solidFill>
                  <a:srgbClr val="E0E0E0"/>
                </a:solidFill>
              </a:defRPr>
            </a:pPr>
            <a:r>
              <a:rPr sz="1080">
                <a:solidFill>
                  <a:schemeClr val="tx1"/>
                </a:solidFill>
                <a:latin typeface="Microsoft YaHei UI" panose="020B0503020204020204" charset="-122"/>
              </a:rPr>
              <a:t>  全局固定权重 w（如 w=1.8），不区分场景复杂度</a:t>
            </a:r>
            <a:endParaRPr sz="1080">
              <a:solidFill>
                <a:schemeClr val="tx1"/>
              </a:solidFill>
            </a:endParaRPr>
          </a:p>
          <a:p>
            <a:pPr>
              <a:spcAft>
                <a:spcPts val="300"/>
              </a:spcAft>
              <a:defRPr sz="1200" b="0">
                <a:solidFill>
                  <a:srgbClr val="E0E0E0"/>
                </a:solidFill>
              </a:defRPr>
            </a:pPr>
            <a:r>
              <a:rPr sz="1080">
                <a:solidFill>
                  <a:schemeClr val="tx1"/>
                </a:solidFill>
                <a:latin typeface="Microsoft YaHei UI" panose="020B0503020204020204" charset="-122"/>
              </a:rPr>
              <a:t>• 这导致：简单场景过度干预（抖动），复杂场景干预不足（碰撞）</a:t>
            </a:r>
            <a:endParaRPr sz="1080">
              <a:solidFill>
                <a:schemeClr val="tx1"/>
              </a:solidFill>
            </a:endParaRPr>
          </a:p>
          <a:p>
            <a:pPr>
              <a:spcAft>
                <a:spcPts val="300"/>
              </a:spcAft>
              <a:defRPr sz="800" b="0">
                <a:solidFill>
                  <a:srgbClr val="E0E0E0"/>
                </a:solidFill>
              </a:defRPr>
            </a:pPr>
            <a:endParaRPr sz="720">
              <a:solidFill>
                <a:schemeClr val="tx1"/>
              </a:solidFill>
            </a:endParaRPr>
          </a:p>
          <a:p>
            <a:pPr>
              <a:spcAft>
                <a:spcPts val="300"/>
              </a:spcAft>
              <a:defRPr sz="1400" b="1">
                <a:solidFill>
                  <a:srgbClr val="FFA500"/>
                </a:solidFill>
              </a:defRPr>
            </a:pPr>
            <a:r>
              <a:rPr sz="1260">
                <a:solidFill>
                  <a:schemeClr val="tx1"/>
                </a:solidFill>
                <a:latin typeface="Microsoft YaHei UI" panose="020B0503020204020204" charset="-122"/>
              </a:rPr>
              <a:t>我们的方案：Scenario-Conditioned CFG Weight</a:t>
            </a:r>
            <a:endParaRPr sz="1260">
              <a:solidFill>
                <a:schemeClr val="tx1"/>
              </a:solidFill>
            </a:endParaRPr>
          </a:p>
          <a:p>
            <a:pPr>
              <a:spcAft>
                <a:spcPts val="300"/>
              </a:spcAft>
              <a:defRPr sz="1200" b="0">
                <a:solidFill>
                  <a:srgbClr val="E0E0E0"/>
                </a:solidFill>
              </a:defRPr>
            </a:pPr>
            <a:r>
              <a:rPr sz="1080">
                <a:solidFill>
                  <a:schemeClr val="tx1"/>
                </a:solidFill>
                <a:latin typeface="Microsoft YaHei UI" panose="020B0503020204020204" charset="-122"/>
              </a:rPr>
              <a:t>• 按场景类型（14 种 nuPlan 标准类型）学习最优 w</a:t>
            </a:r>
            <a:endParaRPr sz="1080">
              <a:solidFill>
                <a:schemeClr val="tx1"/>
              </a:solidFill>
            </a:endParaRPr>
          </a:p>
          <a:p>
            <a:pPr>
              <a:spcAft>
                <a:spcPts val="300"/>
              </a:spcAft>
              <a:defRPr sz="1200" b="0">
                <a:solidFill>
                  <a:srgbClr val="E0E0E0"/>
                </a:solidFill>
              </a:defRPr>
            </a:pPr>
            <a:r>
              <a:rPr sz="1080">
                <a:solidFill>
                  <a:schemeClr val="tx1"/>
                </a:solidFill>
                <a:latin typeface="Microsoft YaHei UI" panose="020B0503020204020204" charset="-122"/>
              </a:rPr>
              <a:t>• 类比 Tesla FSD 的「场景专家」架构：</a:t>
            </a:r>
            <a:endParaRPr sz="1080">
              <a:solidFill>
                <a:schemeClr val="tx1"/>
              </a:solidFill>
            </a:endParaRPr>
          </a:p>
          <a:p>
            <a:pPr>
              <a:spcAft>
                <a:spcPts val="300"/>
              </a:spcAft>
              <a:defRPr sz="1100" b="0">
                <a:solidFill>
                  <a:srgbClr val="A0A0A0"/>
                </a:solidFill>
              </a:defRPr>
            </a:pPr>
            <a:r>
              <a:rPr sz="990">
                <a:solidFill>
                  <a:schemeClr val="tx1"/>
                </a:solidFill>
                <a:latin typeface="Microsoft YaHei UI" panose="020B0503020204020204" charset="-122"/>
              </a:rPr>
              <a:t>  不同驾驶情境激活不同策略网络，我们的 w 扮演类似角色</a:t>
            </a:r>
            <a:endParaRPr sz="990">
              <a:solidFill>
                <a:schemeClr val="tx1"/>
              </a:solidFill>
            </a:endParaRPr>
          </a:p>
          <a:p>
            <a:pPr>
              <a:spcAft>
                <a:spcPts val="300"/>
              </a:spcAft>
              <a:defRPr sz="800" b="0">
                <a:solidFill>
                  <a:srgbClr val="E0E0E0"/>
                </a:solidFill>
              </a:defRPr>
            </a:pPr>
            <a:endParaRPr sz="720">
              <a:solidFill>
                <a:schemeClr val="tx1"/>
              </a:solidFill>
            </a:endParaRPr>
          </a:p>
          <a:p>
            <a:pPr>
              <a:spcAft>
                <a:spcPts val="300"/>
              </a:spcAft>
              <a:defRPr sz="1200" b="1">
                <a:solidFill>
                  <a:srgbClr val="00FF88"/>
                </a:solidFill>
              </a:defRPr>
            </a:pPr>
            <a:r>
              <a:rPr sz="1080">
                <a:solidFill>
                  <a:schemeClr val="tx1"/>
                </a:solidFill>
                <a:latin typeface="Microsoft YaHei UI" panose="020B0503020204020204" charset="-122"/>
              </a:rPr>
              <a:t>场景类型          最优 w    策略含义</a:t>
            </a:r>
            <a:endParaRPr sz="1080">
              <a:solidFill>
                <a:schemeClr val="tx1"/>
              </a:solidFill>
            </a:endParaRPr>
          </a:p>
          <a:p>
            <a:pPr>
              <a:spcAft>
                <a:spcPts val="300"/>
              </a:spcAft>
              <a:defRPr sz="1000" b="0">
                <a:solidFill>
                  <a:srgbClr val="A0A0A0"/>
                </a:solidFill>
              </a:defRPr>
            </a:pPr>
            <a:r>
              <a:rPr sz="900">
                <a:solidFill>
                  <a:schemeClr val="tx1"/>
                </a:solidFill>
                <a:latin typeface="Microsoft YaHei UI" panose="020B0503020204020204" charset="-122"/>
              </a:rPr>
              <a:t>─────────────────────────────────────</a:t>
            </a:r>
            <a:endParaRPr sz="900">
              <a:solidFill>
                <a:schemeClr val="tx1"/>
              </a:solidFill>
            </a:endParaRPr>
          </a:p>
          <a:p>
            <a:pPr>
              <a:spcAft>
                <a:spcPts val="300"/>
              </a:spcAft>
              <a:defRPr sz="1100" b="0">
                <a:solidFill>
                  <a:srgbClr val="E0E0E0"/>
                </a:solidFill>
              </a:defRPr>
            </a:pPr>
            <a:r>
              <a:rPr sz="990">
                <a:solidFill>
                  <a:schemeClr val="tx1"/>
                </a:solidFill>
                <a:latin typeface="Microsoft YaHei UI" panose="020B0503020204020204" charset="-122"/>
              </a:rPr>
              <a:t>high_magnitude_speed    1.2    高速巡航，少干预</a:t>
            </a:r>
            <a:endParaRPr sz="990">
              <a:solidFill>
                <a:schemeClr val="tx1"/>
              </a:solidFill>
            </a:endParaRPr>
          </a:p>
          <a:p>
            <a:pPr>
              <a:spcAft>
                <a:spcPts val="300"/>
              </a:spcAft>
              <a:defRPr sz="1100" b="0">
                <a:solidFill>
                  <a:srgbClr val="E0E0E0"/>
                </a:solidFill>
              </a:defRPr>
            </a:pPr>
            <a:r>
              <a:rPr sz="990">
                <a:solidFill>
                  <a:schemeClr val="tx1"/>
                </a:solidFill>
                <a:latin typeface="Microsoft YaHei UI" panose="020B0503020204020204" charset="-122"/>
              </a:rPr>
              <a:t>near_multiple_vehicles  2.8    密集车流，强感知</a:t>
            </a:r>
            <a:endParaRPr sz="990">
              <a:solidFill>
                <a:schemeClr val="tx1"/>
              </a:solidFill>
            </a:endParaRPr>
          </a:p>
          <a:p>
            <a:pPr>
              <a:spcAft>
                <a:spcPts val="300"/>
              </a:spcAft>
              <a:defRPr sz="1100" b="0">
                <a:solidFill>
                  <a:srgbClr val="E0E0E0"/>
                </a:solidFill>
              </a:defRPr>
            </a:pPr>
            <a:r>
              <a:rPr sz="990">
                <a:solidFill>
                  <a:schemeClr val="tx1"/>
                </a:solidFill>
                <a:latin typeface="Microsoft YaHei UI" panose="020B0503020204020204" charset="-122"/>
              </a:rPr>
              <a:t>starting_left_turn      3.2    左转博弈，最大安全</a:t>
            </a:r>
            <a:endParaRPr sz="990">
              <a:solidFill>
                <a:schemeClr val="tx1"/>
              </a:solidFill>
            </a:endParaRPr>
          </a:p>
          <a:p>
            <a:pPr>
              <a:spcAft>
                <a:spcPts val="300"/>
              </a:spcAft>
              <a:defRPr sz="1100" b="0">
                <a:solidFill>
                  <a:srgbClr val="E0E0E0"/>
                </a:solidFill>
              </a:defRPr>
            </a:pPr>
            <a:r>
              <a:rPr sz="990">
                <a:solidFill>
                  <a:schemeClr val="tx1"/>
                </a:solidFill>
                <a:latin typeface="Microsoft YaHei UI" panose="020B0503020204020204" charset="-122"/>
              </a:rPr>
              <a:t>changing_lane           2.5    变道决策，平衡通过率</a:t>
            </a:r>
            <a:endParaRPr sz="990">
              <a:solidFill>
                <a:schemeClr val="tx1"/>
              </a:solidFill>
              <a:latin typeface="Microsoft YaHei UI" panose="020B0503020204020204" charset="-122"/>
            </a:endParaRPr>
          </a:p>
        </p:txBody>
      </p:sp>
      <p:sp>
        <p:nvSpPr>
          <p:cNvPr id="5" name="TextBox 4"/>
          <p:cNvSpPr txBox="1"/>
          <p:nvPr/>
        </p:nvSpPr>
        <p:spPr>
          <a:xfrm>
            <a:off x="5594792" y="1316330"/>
            <a:ext cx="4524883" cy="4385945"/>
          </a:xfrm>
          <a:prstGeom prst="rect">
            <a:avLst/>
          </a:prstGeom>
          <a:noFill/>
        </p:spPr>
        <p:txBody>
          <a:bodyPr wrap="square">
            <a:spAutoFit/>
          </a:bodyPr>
          <a:lstStyle/>
          <a:p>
            <a:pPr>
              <a:spcAft>
                <a:spcPts val="300"/>
              </a:spcAft>
              <a:defRPr sz="1600" b="1">
                <a:solidFill>
                  <a:srgbClr val="00D2FF"/>
                </a:solidFill>
              </a:defRPr>
            </a:pPr>
            <a:r>
              <a:rPr sz="1000">
                <a:solidFill>
                  <a:schemeClr val="tx1"/>
                </a:solidFill>
                <a:latin typeface="Microsoft YaHei UI" panose="020B0503020204020204" charset="-122"/>
              </a:rPr>
              <a:t>技术路线：三步落地</a:t>
            </a:r>
            <a:endParaRPr sz="1440">
              <a:solidFill>
                <a:schemeClr val="tx1"/>
              </a:solidFill>
            </a:endParaRPr>
          </a:p>
          <a:p>
            <a:pPr>
              <a:spcAft>
                <a:spcPts val="300"/>
              </a:spcAft>
              <a:defRPr sz="800" b="0">
                <a:solidFill>
                  <a:srgbClr val="E0E0E0"/>
                </a:solidFill>
              </a:defRPr>
            </a:pPr>
            <a:endParaRPr sz="720">
              <a:solidFill>
                <a:schemeClr val="tx1"/>
              </a:solidFill>
            </a:endParaRPr>
          </a:p>
          <a:p>
            <a:pPr>
              <a:spcAft>
                <a:spcPts val="300"/>
              </a:spcAft>
              <a:defRPr sz="1300" b="1">
                <a:solidFill>
                  <a:srgbClr val="FFA500"/>
                </a:solidFill>
              </a:defRPr>
            </a:pPr>
            <a:r>
              <a:rPr sz="1170">
                <a:solidFill>
                  <a:schemeClr val="tx1"/>
                </a:solidFill>
                <a:latin typeface="Microsoft YaHei UI" panose="020B0503020204020204" charset="-122"/>
              </a:rPr>
              <a:t>Step ① Per-Scenario Grid Search（已完成）</a:t>
            </a:r>
            <a:endParaRPr sz="1170">
              <a:solidFill>
                <a:schemeClr val="tx1"/>
              </a:solidFill>
            </a:endParaRPr>
          </a:p>
          <a:p>
            <a:pPr>
              <a:spcAft>
                <a:spcPts val="300"/>
              </a:spcAft>
              <a:defRPr sz="1200" b="0">
                <a:solidFill>
                  <a:srgbClr val="E0E0E0"/>
                </a:solidFill>
              </a:defRPr>
            </a:pPr>
            <a:r>
              <a:rPr sz="1080">
                <a:solidFill>
                  <a:schemeClr val="tx1"/>
                </a:solidFill>
                <a:latin typeface="Microsoft YaHei UI" panose="020B0503020204020204" charset="-122"/>
              </a:rPr>
              <a:t>• 冻结基线模型，对 val14 的 14 种场景类型</a:t>
            </a:r>
            <a:endParaRPr sz="1080">
              <a:solidFill>
                <a:schemeClr val="tx1"/>
              </a:solidFill>
            </a:endParaRPr>
          </a:p>
          <a:p>
            <a:pPr>
              <a:spcAft>
                <a:spcPts val="300"/>
              </a:spcAft>
              <a:defRPr sz="1200" b="0">
                <a:solidFill>
                  <a:srgbClr val="E0E0E0"/>
                </a:solidFill>
              </a:defRPr>
            </a:pPr>
            <a:r>
              <a:rPr sz="1080">
                <a:solidFill>
                  <a:schemeClr val="tx1"/>
                </a:solidFill>
                <a:latin typeface="Microsoft YaHei UI" panose="020B0503020204020204" charset="-122"/>
              </a:rPr>
              <a:t>• 遍历 w ∈ [0.5, 1.0, 1.5, ..., 4.0]</a:t>
            </a:r>
            <a:endParaRPr sz="1080">
              <a:solidFill>
                <a:schemeClr val="tx1"/>
              </a:solidFill>
            </a:endParaRPr>
          </a:p>
          <a:p>
            <a:pPr>
              <a:spcAft>
                <a:spcPts val="300"/>
              </a:spcAft>
              <a:defRPr sz="1200" b="0">
                <a:solidFill>
                  <a:srgbClr val="E0E0E0"/>
                </a:solidFill>
              </a:defRPr>
            </a:pPr>
            <a:r>
              <a:rPr sz="1080">
                <a:solidFill>
                  <a:schemeClr val="tx1"/>
                </a:solidFill>
                <a:latin typeface="Microsoft YaHei UI" panose="020B0503020204020204" charset="-122"/>
              </a:rPr>
              <a:t>• 记录每种场景下哪个 w 得到最高 NR-CLS → 场景-w 映射表</a:t>
            </a:r>
            <a:endParaRPr sz="1080">
              <a:solidFill>
                <a:schemeClr val="tx1"/>
              </a:solidFill>
            </a:endParaRPr>
          </a:p>
          <a:p>
            <a:pPr>
              <a:spcAft>
                <a:spcPts val="300"/>
              </a:spcAft>
              <a:defRPr sz="800" b="0">
                <a:solidFill>
                  <a:srgbClr val="E0E0E0"/>
                </a:solidFill>
              </a:defRPr>
            </a:pPr>
            <a:endParaRPr sz="720">
              <a:solidFill>
                <a:schemeClr val="tx1"/>
              </a:solidFill>
            </a:endParaRPr>
          </a:p>
          <a:p>
            <a:pPr>
              <a:spcAft>
                <a:spcPts val="300"/>
              </a:spcAft>
              <a:defRPr sz="1300" b="1">
                <a:solidFill>
                  <a:srgbClr val="FFA500"/>
                </a:solidFill>
              </a:defRPr>
            </a:pPr>
            <a:r>
              <a:rPr sz="1170">
                <a:solidFill>
                  <a:schemeClr val="tx1"/>
                </a:solidFill>
                <a:latin typeface="Microsoft YaHei UI" panose="020B0503020204020204" charset="-122"/>
              </a:rPr>
              <a:t>Step ② Risk-Aware MLP（~5K 参数）</a:t>
            </a:r>
            <a:endParaRPr sz="1170">
              <a:solidFill>
                <a:schemeClr val="tx1"/>
              </a:solidFill>
            </a:endParaRPr>
          </a:p>
          <a:p>
            <a:pPr>
              <a:spcAft>
                <a:spcPts val="300"/>
              </a:spcAft>
              <a:defRPr sz="1200" b="0">
                <a:solidFill>
                  <a:srgbClr val="E0E0E0"/>
                </a:solidFill>
              </a:defRPr>
            </a:pPr>
            <a:r>
              <a:rPr sz="1080">
                <a:solidFill>
                  <a:schemeClr val="tx1"/>
                </a:solidFill>
                <a:latin typeface="Microsoft YaHei UI" panose="020B0503020204020204" charset="-122"/>
              </a:rPr>
              <a:t>• 输入：TTC | THW | DRAC | 邻居数 | ego速度 | 场景类型</a:t>
            </a:r>
            <a:endParaRPr sz="1080">
              <a:solidFill>
                <a:schemeClr val="tx1"/>
              </a:solidFill>
            </a:endParaRPr>
          </a:p>
          <a:p>
            <a:pPr>
              <a:spcAft>
                <a:spcPts val="300"/>
              </a:spcAft>
              <a:defRPr sz="1200" b="0">
                <a:solidFill>
                  <a:srgbClr val="E0E0E0"/>
                </a:solidFill>
              </a:defRPr>
            </a:pPr>
            <a:r>
              <a:rPr sz="1080">
                <a:solidFill>
                  <a:schemeClr val="tx1"/>
                </a:solidFill>
                <a:latin typeface="Microsoft YaHei UI" panose="020B0503020204020204" charset="-122"/>
              </a:rPr>
              <a:t>• 输出：风险分数 r ∈ [0,1] → w = w_min + r × (w_max - w_min)</a:t>
            </a:r>
            <a:endParaRPr sz="1080">
              <a:solidFill>
                <a:schemeClr val="tx1"/>
              </a:solidFill>
            </a:endParaRPr>
          </a:p>
          <a:p>
            <a:pPr>
              <a:spcAft>
                <a:spcPts val="300"/>
              </a:spcAft>
              <a:defRPr sz="1200" b="0">
                <a:solidFill>
                  <a:srgbClr val="E0E0E0"/>
                </a:solidFill>
              </a:defRPr>
            </a:pPr>
            <a:r>
              <a:rPr sz="1080">
                <a:solidFill>
                  <a:schemeClr val="tx1"/>
                </a:solidFill>
                <a:latin typeface="Microsoft YaHei UI" panose="020B0503020204020204" charset="-122"/>
              </a:rPr>
              <a:t>• 用 Grid Search 得到的（场景特征, 最优w）做监督训练</a:t>
            </a:r>
            <a:endParaRPr sz="1080">
              <a:solidFill>
                <a:schemeClr val="tx1"/>
              </a:solidFill>
            </a:endParaRPr>
          </a:p>
          <a:p>
            <a:pPr>
              <a:spcAft>
                <a:spcPts val="300"/>
              </a:spcAft>
              <a:defRPr sz="800" b="0">
                <a:solidFill>
                  <a:srgbClr val="E0E0E0"/>
                </a:solidFill>
              </a:defRPr>
            </a:pPr>
            <a:endParaRPr sz="720">
              <a:solidFill>
                <a:schemeClr val="tx1"/>
              </a:solidFill>
            </a:endParaRPr>
          </a:p>
          <a:p>
            <a:pPr>
              <a:spcAft>
                <a:spcPts val="300"/>
              </a:spcAft>
              <a:defRPr sz="1300" b="1">
                <a:solidFill>
                  <a:srgbClr val="FFA500"/>
                </a:solidFill>
              </a:defRPr>
            </a:pPr>
            <a:r>
              <a:rPr sz="1170">
                <a:solidFill>
                  <a:schemeClr val="tx1"/>
                </a:solidFill>
                <a:latin typeface="Microsoft YaHei UI" panose="020B0503020204020204" charset="-122"/>
              </a:rPr>
              <a:t>Step ③ 融入博世超让标签（独家数据优势）</a:t>
            </a:r>
            <a:endParaRPr sz="1170">
              <a:solidFill>
                <a:schemeClr val="tx1"/>
              </a:solidFill>
            </a:endParaRPr>
          </a:p>
          <a:p>
            <a:pPr>
              <a:spcAft>
                <a:spcPts val="300"/>
              </a:spcAft>
              <a:defRPr sz="1200" b="0">
                <a:solidFill>
                  <a:srgbClr val="E0E0E0"/>
                </a:solidFill>
              </a:defRPr>
            </a:pPr>
            <a:r>
              <a:rPr sz="1080">
                <a:solidFill>
                  <a:schemeClr val="tx1"/>
                </a:solidFill>
                <a:latin typeface="Microsoft YaHei UI" panose="020B0503020204020204" charset="-122"/>
              </a:rPr>
              <a:t>• 「超」场景 → 高 w（激进博弈）</a:t>
            </a:r>
            <a:endParaRPr sz="1080">
              <a:solidFill>
                <a:schemeClr val="tx1"/>
              </a:solidFill>
            </a:endParaRPr>
          </a:p>
          <a:p>
            <a:pPr>
              <a:spcAft>
                <a:spcPts val="300"/>
              </a:spcAft>
              <a:defRPr sz="1200" b="0">
                <a:solidFill>
                  <a:srgbClr val="E0E0E0"/>
                </a:solidFill>
              </a:defRPr>
            </a:pPr>
            <a:r>
              <a:rPr sz="1080">
                <a:solidFill>
                  <a:schemeClr val="tx1"/>
                </a:solidFill>
                <a:latin typeface="Microsoft YaHei UI" panose="020B0503020204020204" charset="-122"/>
              </a:rPr>
              <a:t>• 「让」场景 → 低 w（保守避让）</a:t>
            </a:r>
            <a:endParaRPr sz="1080">
              <a:solidFill>
                <a:schemeClr val="tx1"/>
              </a:solidFill>
            </a:endParaRPr>
          </a:p>
          <a:p>
            <a:pPr>
              <a:spcAft>
                <a:spcPts val="300"/>
              </a:spcAft>
              <a:defRPr sz="1200" b="0">
                <a:solidFill>
                  <a:srgbClr val="E0E0E0"/>
                </a:solidFill>
              </a:defRPr>
            </a:pPr>
            <a:r>
              <a:rPr sz="1080">
                <a:solidFill>
                  <a:schemeClr val="tx1"/>
                </a:solidFill>
                <a:latin typeface="Microsoft YaHei UI" panose="020B0503020204020204" charset="-122"/>
              </a:rPr>
              <a:t>• 已有标签 = Risk Network 的免费训练数据</a:t>
            </a:r>
            <a:endParaRPr sz="1080">
              <a:solidFill>
                <a:schemeClr val="tx1"/>
              </a:solidFill>
            </a:endParaRPr>
          </a:p>
          <a:p>
            <a:pPr>
              <a:spcAft>
                <a:spcPts val="300"/>
              </a:spcAft>
              <a:defRPr sz="800" b="0">
                <a:solidFill>
                  <a:srgbClr val="E0E0E0"/>
                </a:solidFill>
              </a:defRPr>
            </a:pPr>
            <a:endParaRPr sz="720">
              <a:solidFill>
                <a:schemeClr val="tx1"/>
              </a:solidFill>
            </a:endParaRPr>
          </a:p>
          <a:p>
            <a:pPr>
              <a:spcAft>
                <a:spcPts val="300"/>
              </a:spcAft>
              <a:defRPr sz="1400" b="1">
                <a:solidFill>
                  <a:srgbClr val="00FF88"/>
                </a:solidFill>
              </a:defRPr>
            </a:pPr>
            <a:r>
              <a:rPr sz="1260">
                <a:solidFill>
                  <a:schemeClr val="tx1"/>
                </a:solidFill>
                <a:latin typeface="Microsoft YaHei UI" panose="020B0503020204020204" charset="-122"/>
              </a:rPr>
              <a:t>🔒 专利方向</a:t>
            </a:r>
            <a:endParaRPr sz="1260">
              <a:solidFill>
                <a:schemeClr val="tx1"/>
              </a:solidFill>
            </a:endParaRPr>
          </a:p>
          <a:p>
            <a:pPr>
              <a:spcAft>
                <a:spcPts val="300"/>
              </a:spcAft>
              <a:defRPr sz="1200" b="0">
                <a:solidFill>
                  <a:srgbClr val="E0E0E0"/>
                </a:solidFill>
              </a:defRPr>
            </a:pPr>
            <a:r>
              <a:rPr sz="1080">
                <a:solidFill>
                  <a:schemeClr val="tx1"/>
                </a:solidFill>
                <a:latin typeface="Microsoft YaHei UI" panose="020B0503020204020204" charset="-122"/>
              </a:rPr>
              <a:t>「基于场景分类的 Flow Matching 自适应引导权重方法」</a:t>
            </a:r>
            <a:endParaRPr sz="1080">
              <a:solidFill>
                <a:schemeClr val="tx1"/>
              </a:solidFill>
            </a:endParaRPr>
          </a:p>
          <a:p>
            <a:pPr>
              <a:spcAft>
                <a:spcPts val="300"/>
              </a:spcAft>
              <a:defRPr sz="1100" b="0">
                <a:solidFill>
                  <a:srgbClr val="A0A0A0"/>
                </a:solidFill>
              </a:defRPr>
            </a:pPr>
            <a:r>
              <a:rPr sz="990">
                <a:solidFill>
                  <a:schemeClr val="tx1"/>
                </a:solidFill>
                <a:latin typeface="Microsoft YaHei UI" panose="020B0503020204020204" charset="-122"/>
              </a:rPr>
              <a:t>新颖性：首次将场景类型-风险指标与 CFG 权重系统关联</a:t>
            </a:r>
            <a:endParaRPr sz="990">
              <a:solidFill>
                <a:schemeClr val="tx1"/>
              </a:solidFill>
            </a:endParaRPr>
          </a:p>
          <a:p>
            <a:pPr>
              <a:spcAft>
                <a:spcPts val="300"/>
              </a:spcAft>
              <a:defRPr sz="1100" b="0">
                <a:solidFill>
                  <a:srgbClr val="A0A0A0"/>
                </a:solidFill>
              </a:defRPr>
            </a:pPr>
            <a:r>
              <a:rPr sz="990">
                <a:solidFill>
                  <a:schemeClr val="tx1"/>
                </a:solidFill>
                <a:latin typeface="Microsoft YaHei UI" panose="020B0503020204020204" charset="-122"/>
              </a:rPr>
              <a:t>对标：Tesla FSD 多专家架构 → 我们的轻量级等价方案</a:t>
            </a:r>
            <a:endParaRPr sz="990">
              <a:solidFill>
                <a:schemeClr val="tx1"/>
              </a:solidFill>
              <a:latin typeface="Microsoft YaHei UI" panose="020B0503020204020204" charset="-122"/>
            </a:endParaRPr>
          </a:p>
        </p:txBody>
      </p:sp>
      <p:sp>
        <p:nvSpPr>
          <p:cNvPr id="6" name="Text Placeholder 1"/>
          <p:cNvSpPr>
            <a:spLocks noGrp="1"/>
          </p:cNvSpPr>
          <p:nvPr/>
        </p:nvSpPr>
        <p:spPr>
          <a:xfrm>
            <a:off x="205200" y="259200"/>
            <a:ext cx="10558800" cy="388800"/>
          </a:xfrm>
          <a:prstGeom prst="rect">
            <a:avLst/>
          </a:prstGeom>
        </p:spPr>
        <p:txBody>
          <a:bodyPr vert="horz" lIns="0" tIns="0" rIns="0" bIns="0" rtlCol="0">
            <a:noAutofit/>
          </a:bodyPr>
          <a:lstStyle>
            <a:lvl1pPr marL="0" indent="0" algn="l" defTabSz="914400" rtl="0" eaLnBrk="1" latinLnBrk="0" hangingPunct="1">
              <a:lnSpc>
                <a:spcPct val="89000"/>
              </a:lnSpc>
              <a:spcBef>
                <a:spcPts val="0"/>
              </a:spcBef>
              <a:buFont typeface="Wingdings" panose="05000000000000000000" pitchFamily="2" charset="2"/>
              <a:buNone/>
              <a:defRPr sz="2800" kern="0" baseline="0">
                <a:solidFill>
                  <a:schemeClr val="tx1"/>
                </a:solidFill>
                <a:latin typeface="+mn-lt"/>
                <a:ea typeface="+mn-ea"/>
                <a:cs typeface="+mn-cs"/>
              </a:defRPr>
            </a:lvl1pPr>
            <a:lvl2pPr marL="233680" indent="0" algn="l" defTabSz="914400" rtl="0" eaLnBrk="1" latinLnBrk="0" hangingPunct="1">
              <a:lnSpc>
                <a:spcPct val="103000"/>
              </a:lnSpc>
              <a:spcBef>
                <a:spcPts val="500"/>
              </a:spcBef>
              <a:buFont typeface="Symbol" panose="05050102010706020507" pitchFamily="18" charset="2"/>
              <a:buNone/>
              <a:defRPr sz="2800" kern="1200">
                <a:solidFill>
                  <a:schemeClr val="tx1"/>
                </a:solidFill>
                <a:latin typeface="+mn-lt"/>
                <a:ea typeface="+mn-ea"/>
                <a:cs typeface="+mn-cs"/>
              </a:defRPr>
            </a:lvl2pPr>
            <a:lvl3pPr marL="525780" indent="0" algn="l" defTabSz="914400" rtl="0" eaLnBrk="1" latinLnBrk="0" hangingPunct="1">
              <a:lnSpc>
                <a:spcPct val="102000"/>
              </a:lnSpc>
              <a:spcBef>
                <a:spcPts val="500"/>
              </a:spcBef>
              <a:buFont typeface="Symbol" panose="05050102010706020507" pitchFamily="18" charset="2"/>
              <a:buNone/>
              <a:defRPr sz="2800" kern="1200">
                <a:solidFill>
                  <a:schemeClr val="tx1"/>
                </a:solidFill>
                <a:latin typeface="+mn-lt"/>
                <a:ea typeface="+mn-ea"/>
                <a:cs typeface="+mn-cs"/>
              </a:defRPr>
            </a:lvl3pPr>
            <a:lvl4pPr marL="748665" indent="0" algn="l" defTabSz="914400" rtl="0" eaLnBrk="1" latinLnBrk="0" hangingPunct="1">
              <a:lnSpc>
                <a:spcPct val="103000"/>
              </a:lnSpc>
              <a:spcBef>
                <a:spcPts val="500"/>
              </a:spcBef>
              <a:buFont typeface="Bosch Office Sans" pitchFamily="34" charset="0"/>
              <a:buNone/>
              <a:defRPr sz="2800" kern="1200">
                <a:solidFill>
                  <a:schemeClr val="tx1"/>
                </a:solidFill>
                <a:latin typeface="+mn-lt"/>
                <a:ea typeface="+mn-ea"/>
                <a:cs typeface="+mn-cs"/>
              </a:defRPr>
            </a:lvl4pPr>
            <a:lvl5pPr marL="748665" indent="0" algn="l" defTabSz="914400" rtl="0" eaLnBrk="1" latinLnBrk="0" hangingPunct="1">
              <a:lnSpc>
                <a:spcPct val="103000"/>
              </a:lnSpc>
              <a:spcBef>
                <a:spcPts val="500"/>
              </a:spcBef>
              <a:buFont typeface="Bosch Office Sans" pitchFamily="34" charset="0"/>
              <a:buNone/>
              <a:defRPr sz="2800" kern="1200">
                <a:solidFill>
                  <a:schemeClr val="tx1"/>
                </a:solidFill>
                <a:latin typeface="+mn-lt"/>
                <a:ea typeface="+mn-ea"/>
                <a:cs typeface="+mn-cs"/>
              </a:defRPr>
            </a:lvl5pPr>
            <a:lvl6pPr marL="1602105" indent="-230505" algn="l" defTabSz="914400" rtl="0" eaLnBrk="1" latinLnBrk="0" hangingPunct="1">
              <a:lnSpc>
                <a:spcPct val="103000"/>
              </a:lnSpc>
              <a:spcBef>
                <a:spcPts val="500"/>
              </a:spcBef>
              <a:buFont typeface="Bosch Office Sans" pitchFamily="34" charset="0"/>
              <a:buChar char="‒"/>
              <a:defRPr sz="1300" kern="1200">
                <a:solidFill>
                  <a:schemeClr val="tx1"/>
                </a:solidFill>
                <a:latin typeface="+mn-lt"/>
                <a:ea typeface="+mn-ea"/>
                <a:cs typeface="+mn-cs"/>
              </a:defRPr>
            </a:lvl6pPr>
            <a:lvl7pPr marL="1602105" indent="-230505" algn="l" defTabSz="914400" rtl="0" eaLnBrk="1" latinLnBrk="0" hangingPunct="1">
              <a:lnSpc>
                <a:spcPct val="103000"/>
              </a:lnSpc>
              <a:spcBef>
                <a:spcPts val="500"/>
              </a:spcBef>
              <a:buFont typeface="Bosch Office Sans" pitchFamily="34" charset="0"/>
              <a:buChar char="‒"/>
              <a:defRPr sz="1300" kern="1200">
                <a:solidFill>
                  <a:schemeClr val="tx1"/>
                </a:solidFill>
                <a:latin typeface="+mn-lt"/>
                <a:ea typeface="+mn-ea"/>
                <a:cs typeface="+mn-cs"/>
              </a:defRPr>
            </a:lvl7pPr>
            <a:lvl8pPr marL="1602105" indent="-230505" algn="l" defTabSz="914400" rtl="0" eaLnBrk="1" latinLnBrk="0" hangingPunct="1">
              <a:lnSpc>
                <a:spcPct val="103000"/>
              </a:lnSpc>
              <a:spcBef>
                <a:spcPts val="500"/>
              </a:spcBef>
              <a:buFont typeface="Bosch Office Sans" pitchFamily="34" charset="0"/>
              <a:buChar char="‒"/>
              <a:defRPr sz="1300" kern="1200">
                <a:solidFill>
                  <a:schemeClr val="tx1"/>
                </a:solidFill>
                <a:latin typeface="+mn-lt"/>
                <a:ea typeface="+mn-ea"/>
                <a:cs typeface="+mn-cs"/>
              </a:defRPr>
            </a:lvl8pPr>
            <a:lvl9pPr marL="1602105" indent="-230505" algn="l" defTabSz="914400" rtl="0" eaLnBrk="1" latinLnBrk="0" hangingPunct="1">
              <a:lnSpc>
                <a:spcPct val="103000"/>
              </a:lnSpc>
              <a:spcBef>
                <a:spcPts val="500"/>
              </a:spcBef>
              <a:buFont typeface="Bosch Office Sans" pitchFamily="34" charset="0"/>
              <a:buChar char="‒"/>
              <a:defRPr sz="1300" kern="1200" baseline="0">
                <a:solidFill>
                  <a:schemeClr val="tx1"/>
                </a:solidFill>
                <a:latin typeface="+mn-lt"/>
                <a:ea typeface="+mn-ea"/>
                <a:cs typeface="+mn-cs"/>
              </a:defRPr>
            </a:lvl9pPr>
          </a:lstStyle>
          <a:p>
            <a:pPr marL="0" indent="0" fontAlgn="auto">
              <a:spcAft>
                <a:spcPts val="0"/>
              </a:spcAft>
              <a:buNone/>
            </a:pPr>
            <a:r>
              <a:rPr sz="1200" b="1">
                <a:latin typeface="Microsoft YaHei UI" panose="020B0503020204020204" charset="-122"/>
                <a:ea typeface="+mj-ea"/>
                <a:cs typeface="+mj-cs"/>
                <a:sym typeface="+mn-ea"/>
              </a:rPr>
              <a:t>创新点1</a:t>
            </a:r>
            <a:endParaRPr lang="de-DE" sz="2800" kern="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658556" y="329082"/>
            <a:ext cx="9461119" cy="478155"/>
          </a:xfrm>
          <a:prstGeom prst="rect">
            <a:avLst/>
          </a:prstGeom>
          <a:noFill/>
        </p:spPr>
        <p:txBody>
          <a:bodyPr wrap="square">
            <a:spAutoFit/>
          </a:bodyPr>
          <a:lstStyle/>
          <a:p>
            <a:pPr>
              <a:defRPr sz="2800" b="1">
                <a:solidFill>
                  <a:srgbClr val="FFFFFF"/>
                </a:solidFill>
              </a:defRPr>
            </a:pPr>
            <a:r>
              <a:rPr sz="2520">
                <a:latin typeface="Microsoft YaHei UI" panose="020B0503020204020204" charset="-122"/>
              </a:rPr>
              <a:t>创新点2：Best-of-N 多候选轨迹筛选  🔒 可申请专利</a:t>
            </a:r>
            <a:endParaRPr sz="2520"/>
          </a:p>
        </p:txBody>
      </p:sp>
      <p:sp>
        <p:nvSpPr>
          <p:cNvPr id="3" name="TextBox 2"/>
          <p:cNvSpPr txBox="1"/>
          <p:nvPr/>
        </p:nvSpPr>
        <p:spPr>
          <a:xfrm>
            <a:off x="52131" y="579857"/>
            <a:ext cx="3517900" cy="429895"/>
          </a:xfrm>
          <a:prstGeom prst="rect">
            <a:avLst/>
          </a:prstGeom>
          <a:noFill/>
        </p:spPr>
        <p:txBody>
          <a:bodyPr wrap="none">
            <a:spAutoFit/>
          </a:bodyPr>
          <a:lstStyle/>
          <a:p>
            <a:pPr algn="l">
              <a:defRPr sz="1400" i="1">
                <a:solidFill>
                  <a:srgbClr val="00D2FF"/>
                </a:solidFill>
              </a:defRPr>
            </a:pPr>
            <a:r>
              <a:rPr sz="2000" b="1" i="0">
                <a:solidFill>
                  <a:schemeClr val="accent1"/>
                </a:solidFill>
                <a:latin typeface="Microsoft YaHei UI" panose="020B0503020204020204" charset="-122"/>
                <a:ea typeface="+mj-ea"/>
                <a:cs typeface="+mj-cs"/>
              </a:rPr>
              <a:t> Best-of-N 多候选轨迹筛选</a:t>
            </a:r>
            <a:r>
              <a:rPr lang="en-US" sz="2200" b="1" i="0">
                <a:latin typeface="Microsoft YaHei UI" panose="020B0503020204020204" charset="-122"/>
                <a:ea typeface="+mj-ea"/>
                <a:cs typeface="+mj-cs"/>
              </a:rPr>
              <a:t>  </a:t>
            </a:r>
            <a:endParaRPr lang="en-US" sz="2200" b="1" i="0">
              <a:solidFill>
                <a:srgbClr val="1A3C6E"/>
              </a:solidFill>
              <a:latin typeface="+mj-lt"/>
              <a:ea typeface="+mj-ea"/>
              <a:cs typeface="+mj-cs"/>
            </a:endParaRPr>
          </a:p>
        </p:txBody>
      </p:sp>
      <p:sp>
        <p:nvSpPr>
          <p:cNvPr id="4" name="TextBox 3"/>
          <p:cNvSpPr txBox="1"/>
          <p:nvPr/>
        </p:nvSpPr>
        <p:spPr>
          <a:xfrm>
            <a:off x="658556" y="1316330"/>
            <a:ext cx="4524883" cy="3486150"/>
          </a:xfrm>
          <a:prstGeom prst="rect">
            <a:avLst/>
          </a:prstGeom>
          <a:noFill/>
        </p:spPr>
        <p:txBody>
          <a:bodyPr wrap="square">
            <a:spAutoFit/>
          </a:bodyPr>
          <a:lstStyle/>
          <a:p>
            <a:pPr>
              <a:spcAft>
                <a:spcPts val="300"/>
              </a:spcAft>
              <a:defRPr sz="1600" b="1">
                <a:solidFill>
                  <a:srgbClr val="00D2FF"/>
                </a:solidFill>
              </a:defRPr>
            </a:pPr>
            <a:r>
              <a:rPr sz="1000">
                <a:solidFill>
                  <a:schemeClr val="tx1"/>
                </a:solidFill>
                <a:latin typeface="Microsoft YaHei UI" panose="020B0503020204020204" charset="-122"/>
              </a:rPr>
              <a:t>核心思想：生成多条 → 选最优 → 消灭尾部风险</a:t>
            </a:r>
            <a:endParaRPr sz="1440">
              <a:solidFill>
                <a:schemeClr val="tx1"/>
              </a:solidFill>
            </a:endParaRPr>
          </a:p>
          <a:p>
            <a:pPr>
              <a:spcAft>
                <a:spcPts val="300"/>
              </a:spcAft>
              <a:defRPr sz="800" b="0">
                <a:solidFill>
                  <a:srgbClr val="E0E0E0"/>
                </a:solidFill>
              </a:defRPr>
            </a:pPr>
            <a:endParaRPr sz="720">
              <a:solidFill>
                <a:schemeClr val="tx1"/>
              </a:solidFill>
            </a:endParaRPr>
          </a:p>
          <a:p>
            <a:pPr>
              <a:spcAft>
                <a:spcPts val="300"/>
              </a:spcAft>
              <a:defRPr sz="1400" b="1">
                <a:solidFill>
                  <a:srgbClr val="FFA500"/>
                </a:solidFill>
              </a:defRPr>
            </a:pPr>
            <a:r>
              <a:rPr sz="1260">
                <a:solidFill>
                  <a:schemeClr val="tx1"/>
                </a:solidFill>
                <a:latin typeface="Microsoft YaHei UI" panose="020B0503020204020204" charset="-122"/>
              </a:rPr>
              <a:t>行业痛点：</a:t>
            </a:r>
            <a:endParaRPr sz="1260">
              <a:solidFill>
                <a:schemeClr val="tx1"/>
              </a:solidFill>
            </a:endParaRPr>
          </a:p>
          <a:p>
            <a:pPr>
              <a:spcAft>
                <a:spcPts val="300"/>
              </a:spcAft>
              <a:defRPr sz="1200" b="0">
                <a:solidFill>
                  <a:srgbClr val="E0E0E0"/>
                </a:solidFill>
              </a:defRPr>
            </a:pPr>
            <a:r>
              <a:rPr sz="1080">
                <a:solidFill>
                  <a:schemeClr val="tx1"/>
                </a:solidFill>
                <a:latin typeface="Microsoft YaHei UI" panose="020B0503020204020204" charset="-122"/>
              </a:rPr>
              <a:t>• 所有生成式规划模型（Diffusion/Flow）每步只输出 1 条轨迹</a:t>
            </a:r>
            <a:endParaRPr sz="1080">
              <a:solidFill>
                <a:schemeClr val="tx1"/>
              </a:solidFill>
            </a:endParaRPr>
          </a:p>
          <a:p>
            <a:pPr>
              <a:spcAft>
                <a:spcPts val="300"/>
              </a:spcAft>
              <a:defRPr sz="1200" b="0">
                <a:solidFill>
                  <a:srgbClr val="E0E0E0"/>
                </a:solidFill>
              </a:defRPr>
            </a:pPr>
            <a:r>
              <a:rPr sz="1080">
                <a:solidFill>
                  <a:schemeClr val="tx1"/>
                </a:solidFill>
                <a:latin typeface="Microsoft YaHei UI" panose="020B0503020204020204" charset="-122"/>
              </a:rPr>
              <a:t>• 模型偶尔会「犯蠢」— 生成一条撞车或偏航的轨迹</a:t>
            </a:r>
            <a:endParaRPr sz="1080">
              <a:solidFill>
                <a:schemeClr val="tx1"/>
              </a:solidFill>
            </a:endParaRPr>
          </a:p>
          <a:p>
            <a:pPr>
              <a:spcAft>
                <a:spcPts val="300"/>
              </a:spcAft>
              <a:defRPr sz="1200" b="0">
                <a:solidFill>
                  <a:srgbClr val="E0E0E0"/>
                </a:solidFill>
              </a:defRPr>
            </a:pPr>
            <a:r>
              <a:rPr sz="1080">
                <a:solidFill>
                  <a:schemeClr val="tx1"/>
                </a:solidFill>
                <a:latin typeface="Microsoft YaHei UI" panose="020B0503020204020204" charset="-122"/>
              </a:rPr>
              <a:t>• 传统做法是事后用规则裁剪（PDM-Hybrid），但裁剪后轨迹不连贯</a:t>
            </a:r>
            <a:endParaRPr sz="1080">
              <a:solidFill>
                <a:schemeClr val="tx1"/>
              </a:solidFill>
            </a:endParaRPr>
          </a:p>
          <a:p>
            <a:pPr>
              <a:spcAft>
                <a:spcPts val="300"/>
              </a:spcAft>
              <a:defRPr sz="800" b="0">
                <a:solidFill>
                  <a:srgbClr val="E0E0E0"/>
                </a:solidFill>
              </a:defRPr>
            </a:pPr>
            <a:endParaRPr sz="720">
              <a:solidFill>
                <a:schemeClr val="tx1"/>
              </a:solidFill>
            </a:endParaRPr>
          </a:p>
          <a:p>
            <a:pPr>
              <a:spcAft>
                <a:spcPts val="300"/>
              </a:spcAft>
              <a:defRPr sz="1400" b="1">
                <a:solidFill>
                  <a:srgbClr val="FFA500"/>
                </a:solidFill>
              </a:defRPr>
            </a:pPr>
            <a:r>
              <a:rPr sz="1260">
                <a:solidFill>
                  <a:schemeClr val="tx1"/>
                </a:solidFill>
                <a:latin typeface="Microsoft YaHei UI" panose="020B0503020204020204" charset="-122"/>
              </a:rPr>
              <a:t>我们的方案：Best-of-N Trajectory Selection</a:t>
            </a:r>
            <a:endParaRPr sz="1260">
              <a:solidFill>
                <a:schemeClr val="tx1"/>
              </a:solidFill>
            </a:endParaRPr>
          </a:p>
          <a:p>
            <a:pPr>
              <a:spcAft>
                <a:spcPts val="300"/>
              </a:spcAft>
              <a:defRPr sz="1200" b="0">
                <a:solidFill>
                  <a:srgbClr val="E0E0E0"/>
                </a:solidFill>
              </a:defRPr>
            </a:pPr>
            <a:r>
              <a:rPr sz="1080">
                <a:solidFill>
                  <a:schemeClr val="tx1"/>
                </a:solidFill>
                <a:latin typeface="Microsoft YaHei UI" panose="020B0503020204020204" charset="-122"/>
              </a:rPr>
              <a:t>• 每个时间步生成 N=5 条候选轨迹（独立随机噪声）</a:t>
            </a:r>
            <a:endParaRPr sz="1080">
              <a:solidFill>
                <a:schemeClr val="tx1"/>
              </a:solidFill>
            </a:endParaRPr>
          </a:p>
          <a:p>
            <a:pPr>
              <a:spcAft>
                <a:spcPts val="300"/>
              </a:spcAft>
              <a:defRPr sz="1200" b="0">
                <a:solidFill>
                  <a:srgbClr val="E0E0E0"/>
                </a:solidFill>
              </a:defRPr>
            </a:pPr>
            <a:r>
              <a:rPr sz="1080">
                <a:solidFill>
                  <a:schemeClr val="tx1"/>
                </a:solidFill>
                <a:latin typeface="Microsoft YaHei UI" panose="020B0503020204020204" charset="-122"/>
              </a:rPr>
              <a:t>• Encoder 只跑 1 次（共享），Decoder 跑 N 次（并行化）</a:t>
            </a:r>
            <a:endParaRPr sz="1080">
              <a:solidFill>
                <a:schemeClr val="tx1"/>
              </a:solidFill>
            </a:endParaRPr>
          </a:p>
          <a:p>
            <a:pPr>
              <a:spcAft>
                <a:spcPts val="300"/>
              </a:spcAft>
              <a:defRPr sz="1200" b="0">
                <a:solidFill>
                  <a:srgbClr val="E0E0E0"/>
                </a:solidFill>
              </a:defRPr>
            </a:pPr>
            <a:r>
              <a:rPr sz="1080">
                <a:solidFill>
                  <a:schemeClr val="tx1"/>
                </a:solidFill>
                <a:latin typeface="Microsoft YaHei UI" panose="020B0503020204020204" charset="-122"/>
              </a:rPr>
              <a:t>• 用 TrajectoryScorer 从 5 条中选出最安全最优的 1 条</a:t>
            </a:r>
            <a:endParaRPr sz="1080">
              <a:solidFill>
                <a:schemeClr val="tx1"/>
              </a:solidFill>
            </a:endParaRPr>
          </a:p>
          <a:p>
            <a:pPr>
              <a:spcAft>
                <a:spcPts val="300"/>
              </a:spcAft>
              <a:defRPr sz="1200" b="0">
                <a:solidFill>
                  <a:srgbClr val="E0E0E0"/>
                </a:solidFill>
              </a:defRPr>
            </a:pPr>
            <a:r>
              <a:rPr sz="1080">
                <a:solidFill>
                  <a:schemeClr val="tx1"/>
                </a:solidFill>
                <a:latin typeface="Microsoft YaHei UI" panose="020B0503020204020204" charset="-122"/>
              </a:rPr>
              <a:t>• 额外推理开销极小：GPU 矩阵并行，实测仅增加 ~30% 延迟</a:t>
            </a:r>
            <a:endParaRPr sz="1080">
              <a:solidFill>
                <a:schemeClr val="tx1"/>
              </a:solidFill>
            </a:endParaRPr>
          </a:p>
          <a:p>
            <a:pPr>
              <a:spcAft>
                <a:spcPts val="300"/>
              </a:spcAft>
              <a:defRPr sz="800" b="0">
                <a:solidFill>
                  <a:srgbClr val="E0E0E0"/>
                </a:solidFill>
              </a:defRPr>
            </a:pPr>
            <a:endParaRPr sz="720">
              <a:solidFill>
                <a:schemeClr val="tx1"/>
              </a:solidFill>
            </a:endParaRPr>
          </a:p>
          <a:p>
            <a:pPr>
              <a:spcAft>
                <a:spcPts val="300"/>
              </a:spcAft>
              <a:defRPr sz="1300" b="1">
                <a:solidFill>
                  <a:srgbClr val="00FF88"/>
                </a:solidFill>
              </a:defRPr>
            </a:pPr>
            <a:r>
              <a:rPr sz="1170">
                <a:solidFill>
                  <a:schemeClr val="tx1"/>
                </a:solidFill>
                <a:latin typeface="Microsoft YaHei UI" panose="020B0503020204020204" charset="-122"/>
              </a:rPr>
              <a:t>类比理解：</a:t>
            </a:r>
            <a:endParaRPr sz="1170">
              <a:solidFill>
                <a:schemeClr val="tx1"/>
              </a:solidFill>
            </a:endParaRPr>
          </a:p>
          <a:p>
            <a:pPr>
              <a:spcAft>
                <a:spcPts val="300"/>
              </a:spcAft>
              <a:defRPr sz="1200" b="0">
                <a:solidFill>
                  <a:srgbClr val="E0E0E0"/>
                </a:solidFill>
              </a:defRPr>
            </a:pPr>
            <a:r>
              <a:rPr sz="1080">
                <a:solidFill>
                  <a:schemeClr val="tx1"/>
                </a:solidFill>
                <a:latin typeface="Microsoft YaHei UI" panose="020B0503020204020204" charset="-122"/>
              </a:rPr>
              <a:t>• N=1（基线）：只有一位司机，他说往哪开就往哪开</a:t>
            </a:r>
            <a:endParaRPr sz="1080">
              <a:solidFill>
                <a:schemeClr val="tx1"/>
              </a:solidFill>
            </a:endParaRPr>
          </a:p>
          <a:p>
            <a:pPr>
              <a:spcAft>
                <a:spcPts val="300"/>
              </a:spcAft>
              <a:defRPr sz="1200" b="0">
                <a:solidFill>
                  <a:srgbClr val="E0E0E0"/>
                </a:solidFill>
              </a:defRPr>
            </a:pPr>
            <a:r>
              <a:rPr sz="1080">
                <a:solidFill>
                  <a:schemeClr val="tx1"/>
                </a:solidFill>
                <a:latin typeface="Microsoft YaHei UI" panose="020B0503020204020204" charset="-122"/>
              </a:rPr>
              <a:t>• N=5（Best-of-5）：5 位司机各提一个方案，由安全专家选最好的</a:t>
            </a:r>
            <a:endParaRPr sz="1080">
              <a:solidFill>
                <a:schemeClr val="tx1"/>
              </a:solidFill>
            </a:endParaRPr>
          </a:p>
          <a:p>
            <a:pPr>
              <a:spcAft>
                <a:spcPts val="300"/>
              </a:spcAft>
              <a:defRPr sz="1200" b="0">
                <a:solidFill>
                  <a:srgbClr val="00FF88"/>
                </a:solidFill>
              </a:defRPr>
            </a:pPr>
            <a:r>
              <a:rPr sz="1080">
                <a:solidFill>
                  <a:schemeClr val="tx1"/>
                </a:solidFill>
                <a:latin typeface="Microsoft YaHei UI" panose="020B0503020204020204" charset="-122"/>
              </a:rPr>
              <a:t>→ 只要 5 条里有 1 条好的，最终输出就是好的（概率大幅提升）</a:t>
            </a:r>
            <a:endParaRPr sz="1080">
              <a:solidFill>
                <a:schemeClr val="tx1"/>
              </a:solidFill>
              <a:latin typeface="Microsoft YaHei UI" panose="020B0503020204020204" charset="-122"/>
            </a:endParaRPr>
          </a:p>
        </p:txBody>
      </p:sp>
      <p:sp>
        <p:nvSpPr>
          <p:cNvPr id="5" name="TextBox 4"/>
          <p:cNvSpPr txBox="1"/>
          <p:nvPr/>
        </p:nvSpPr>
        <p:spPr>
          <a:xfrm>
            <a:off x="5594792" y="1316330"/>
            <a:ext cx="4524883" cy="4335145"/>
          </a:xfrm>
          <a:prstGeom prst="rect">
            <a:avLst/>
          </a:prstGeom>
          <a:noFill/>
        </p:spPr>
        <p:txBody>
          <a:bodyPr wrap="square">
            <a:spAutoFit/>
          </a:bodyPr>
          <a:lstStyle/>
          <a:p>
            <a:pPr>
              <a:spcAft>
                <a:spcPts val="300"/>
              </a:spcAft>
              <a:defRPr sz="1600" b="1">
                <a:solidFill>
                  <a:srgbClr val="00D2FF"/>
                </a:solidFill>
              </a:defRPr>
            </a:pPr>
            <a:r>
              <a:rPr sz="1000">
                <a:solidFill>
                  <a:schemeClr val="tx1"/>
                </a:solidFill>
                <a:latin typeface="Microsoft YaHei UI" panose="020B0503020204020204" charset="-122"/>
              </a:rPr>
              <a:t>TrajectoryScorer：5 维度安全打分</a:t>
            </a:r>
            <a:endParaRPr sz="1440">
              <a:solidFill>
                <a:schemeClr val="tx1"/>
              </a:solidFill>
            </a:endParaRPr>
          </a:p>
          <a:p>
            <a:pPr>
              <a:spcAft>
                <a:spcPts val="300"/>
              </a:spcAft>
              <a:defRPr sz="800" b="0">
                <a:solidFill>
                  <a:srgbClr val="E0E0E0"/>
                </a:solidFill>
              </a:defRPr>
            </a:pPr>
            <a:endParaRPr sz="720">
              <a:solidFill>
                <a:schemeClr val="tx1"/>
              </a:solidFill>
            </a:endParaRPr>
          </a:p>
          <a:p>
            <a:pPr>
              <a:spcAft>
                <a:spcPts val="300"/>
              </a:spcAft>
              <a:defRPr sz="1300" b="1">
                <a:solidFill>
                  <a:srgbClr val="FFA500"/>
                </a:solidFill>
              </a:defRPr>
            </a:pPr>
            <a:r>
              <a:rPr sz="1170">
                <a:solidFill>
                  <a:schemeClr val="tx1"/>
                </a:solidFill>
                <a:latin typeface="Microsoft YaHei UI" panose="020B0503020204020204" charset="-122"/>
              </a:rPr>
              <a:t>① 碰撞风险（权重 40%）</a:t>
            </a:r>
            <a:endParaRPr sz="1170">
              <a:solidFill>
                <a:schemeClr val="tx1"/>
              </a:solidFill>
            </a:endParaRPr>
          </a:p>
          <a:p>
            <a:pPr>
              <a:spcAft>
                <a:spcPts val="300"/>
              </a:spcAft>
              <a:defRPr sz="1100" b="0">
                <a:solidFill>
                  <a:srgbClr val="E0E0E0"/>
                </a:solidFill>
              </a:defRPr>
            </a:pPr>
            <a:r>
              <a:rPr sz="990">
                <a:solidFill>
                  <a:schemeClr val="tx1"/>
                </a:solidFill>
                <a:latin typeface="Microsoft YaHei UI" panose="020B0503020204020204" charset="-122"/>
              </a:rPr>
              <a:t>   计算自车轨迹与所有周围车辆的最小距离</a:t>
            </a:r>
            <a:endParaRPr sz="990">
              <a:solidFill>
                <a:schemeClr val="tx1"/>
              </a:solidFill>
            </a:endParaRPr>
          </a:p>
          <a:p>
            <a:pPr>
              <a:spcAft>
                <a:spcPts val="300"/>
              </a:spcAft>
              <a:defRPr sz="1100" b="0">
                <a:solidFill>
                  <a:srgbClr val="E0E0E0"/>
                </a:solidFill>
              </a:defRPr>
            </a:pPr>
            <a:r>
              <a:rPr sz="990">
                <a:solidFill>
                  <a:schemeClr val="tx1"/>
                </a:solidFill>
                <a:latin typeface="Microsoft YaHei UI" panose="020B0503020204020204" charset="-122"/>
              </a:rPr>
              <a:t>   距离 &lt; 2m → 一票否决</a:t>
            </a:r>
            <a:endParaRPr sz="990">
              <a:solidFill>
                <a:schemeClr val="tx1"/>
              </a:solidFill>
            </a:endParaRPr>
          </a:p>
          <a:p>
            <a:pPr>
              <a:spcAft>
                <a:spcPts val="300"/>
              </a:spcAft>
              <a:defRPr sz="600" b="0">
                <a:solidFill>
                  <a:srgbClr val="E0E0E0"/>
                </a:solidFill>
              </a:defRPr>
            </a:pPr>
            <a:endParaRPr sz="540">
              <a:solidFill>
                <a:schemeClr val="tx1"/>
              </a:solidFill>
            </a:endParaRPr>
          </a:p>
          <a:p>
            <a:pPr>
              <a:spcAft>
                <a:spcPts val="300"/>
              </a:spcAft>
              <a:defRPr sz="1300" b="1">
                <a:solidFill>
                  <a:srgbClr val="FFA500"/>
                </a:solidFill>
              </a:defRPr>
            </a:pPr>
            <a:r>
              <a:rPr sz="1170">
                <a:solidFill>
                  <a:schemeClr val="tx1"/>
                </a:solidFill>
                <a:latin typeface="Microsoft YaHei UI" panose="020B0503020204020204" charset="-122"/>
              </a:rPr>
              <a:t>② 碰撞时间 TTC（权重 20%）</a:t>
            </a:r>
            <a:endParaRPr sz="1170">
              <a:solidFill>
                <a:schemeClr val="tx1"/>
              </a:solidFill>
            </a:endParaRPr>
          </a:p>
          <a:p>
            <a:pPr>
              <a:spcAft>
                <a:spcPts val="300"/>
              </a:spcAft>
              <a:defRPr sz="1100" b="0">
                <a:solidFill>
                  <a:srgbClr val="E0E0E0"/>
                </a:solidFill>
              </a:defRPr>
            </a:pPr>
            <a:r>
              <a:rPr sz="990">
                <a:solidFill>
                  <a:schemeClr val="tx1"/>
                </a:solidFill>
                <a:latin typeface="Microsoft YaHei UI" panose="020B0503020204020204" charset="-122"/>
              </a:rPr>
              <a:t>   基于相对速度预估碰撞倒计时</a:t>
            </a:r>
            <a:endParaRPr sz="990">
              <a:solidFill>
                <a:schemeClr val="tx1"/>
              </a:solidFill>
            </a:endParaRPr>
          </a:p>
          <a:p>
            <a:pPr>
              <a:spcAft>
                <a:spcPts val="300"/>
              </a:spcAft>
              <a:defRPr sz="1100" b="0">
                <a:solidFill>
                  <a:srgbClr val="E0E0E0"/>
                </a:solidFill>
              </a:defRPr>
            </a:pPr>
            <a:r>
              <a:rPr sz="990">
                <a:solidFill>
                  <a:schemeClr val="tx1"/>
                </a:solidFill>
                <a:latin typeface="Microsoft YaHei UI" panose="020B0503020204020204" charset="-122"/>
              </a:rPr>
              <a:t>   TTC &lt; 1.5s 的轨迹直接淘汰</a:t>
            </a:r>
            <a:endParaRPr sz="990">
              <a:solidFill>
                <a:schemeClr val="tx1"/>
              </a:solidFill>
            </a:endParaRPr>
          </a:p>
          <a:p>
            <a:pPr>
              <a:spcAft>
                <a:spcPts val="300"/>
              </a:spcAft>
              <a:defRPr sz="600" b="0">
                <a:solidFill>
                  <a:srgbClr val="E0E0E0"/>
                </a:solidFill>
              </a:defRPr>
            </a:pPr>
            <a:endParaRPr sz="540">
              <a:solidFill>
                <a:schemeClr val="tx1"/>
              </a:solidFill>
            </a:endParaRPr>
          </a:p>
          <a:p>
            <a:pPr>
              <a:spcAft>
                <a:spcPts val="300"/>
              </a:spcAft>
              <a:defRPr sz="1300" b="1">
                <a:solidFill>
                  <a:srgbClr val="FFA500"/>
                </a:solidFill>
              </a:defRPr>
            </a:pPr>
            <a:r>
              <a:rPr sz="1170">
                <a:solidFill>
                  <a:schemeClr val="tx1"/>
                </a:solidFill>
                <a:latin typeface="Microsoft YaHei UI" panose="020B0503020204020204" charset="-122"/>
              </a:rPr>
              <a:t>③ 路线一致性（权重 15%）</a:t>
            </a:r>
            <a:endParaRPr sz="1170">
              <a:solidFill>
                <a:schemeClr val="tx1"/>
              </a:solidFill>
            </a:endParaRPr>
          </a:p>
          <a:p>
            <a:pPr>
              <a:spcAft>
                <a:spcPts val="300"/>
              </a:spcAft>
              <a:defRPr sz="1100" b="0">
                <a:solidFill>
                  <a:srgbClr val="E0E0E0"/>
                </a:solidFill>
              </a:defRPr>
            </a:pPr>
            <a:r>
              <a:rPr sz="990">
                <a:solidFill>
                  <a:schemeClr val="tx1"/>
                </a:solidFill>
                <a:latin typeface="Microsoft YaHei UI" panose="020B0503020204020204" charset="-122"/>
              </a:rPr>
              <a:t>   轨迹终点与导航路线的横向偏差</a:t>
            </a:r>
            <a:endParaRPr sz="990">
              <a:solidFill>
                <a:schemeClr val="tx1"/>
              </a:solidFill>
            </a:endParaRPr>
          </a:p>
          <a:p>
            <a:pPr>
              <a:spcAft>
                <a:spcPts val="300"/>
              </a:spcAft>
              <a:defRPr sz="600" b="0">
                <a:solidFill>
                  <a:srgbClr val="E0E0E0"/>
                </a:solidFill>
              </a:defRPr>
            </a:pPr>
            <a:endParaRPr sz="540">
              <a:solidFill>
                <a:schemeClr val="tx1"/>
              </a:solidFill>
            </a:endParaRPr>
          </a:p>
          <a:p>
            <a:pPr>
              <a:spcAft>
                <a:spcPts val="300"/>
              </a:spcAft>
              <a:defRPr sz="1300" b="1">
                <a:solidFill>
                  <a:srgbClr val="FFA500"/>
                </a:solidFill>
              </a:defRPr>
            </a:pPr>
            <a:r>
              <a:rPr sz="1170">
                <a:solidFill>
                  <a:schemeClr val="tx1"/>
                </a:solidFill>
                <a:latin typeface="Microsoft YaHei UI" panose="020B0503020204020204" charset="-122"/>
              </a:rPr>
              <a:t>④ 乘坐舒适度（权重 10%）</a:t>
            </a:r>
            <a:endParaRPr sz="1170">
              <a:solidFill>
                <a:schemeClr val="tx1"/>
              </a:solidFill>
            </a:endParaRPr>
          </a:p>
          <a:p>
            <a:pPr>
              <a:spcAft>
                <a:spcPts val="300"/>
              </a:spcAft>
              <a:defRPr sz="1100" b="0">
                <a:solidFill>
                  <a:srgbClr val="E0E0E0"/>
                </a:solidFill>
              </a:defRPr>
            </a:pPr>
            <a:r>
              <a:rPr sz="990">
                <a:solidFill>
                  <a:schemeClr val="tx1"/>
                </a:solidFill>
                <a:latin typeface="Microsoft YaHei UI" panose="020B0503020204020204" charset="-122"/>
              </a:rPr>
              <a:t>   最大加速度 &lt; 4m/s²，Jerk &lt; 8m/s³</a:t>
            </a:r>
            <a:endParaRPr sz="990">
              <a:solidFill>
                <a:schemeClr val="tx1"/>
              </a:solidFill>
            </a:endParaRPr>
          </a:p>
          <a:p>
            <a:pPr>
              <a:spcAft>
                <a:spcPts val="300"/>
              </a:spcAft>
              <a:defRPr sz="600" b="0">
                <a:solidFill>
                  <a:srgbClr val="E0E0E0"/>
                </a:solidFill>
              </a:defRPr>
            </a:pPr>
            <a:endParaRPr sz="540">
              <a:solidFill>
                <a:schemeClr val="tx1"/>
              </a:solidFill>
            </a:endParaRPr>
          </a:p>
          <a:p>
            <a:pPr>
              <a:spcAft>
                <a:spcPts val="300"/>
              </a:spcAft>
              <a:defRPr sz="1300" b="1">
                <a:solidFill>
                  <a:srgbClr val="FFA500"/>
                </a:solidFill>
              </a:defRPr>
            </a:pPr>
            <a:r>
              <a:rPr sz="1170">
                <a:solidFill>
                  <a:schemeClr val="tx1"/>
                </a:solidFill>
                <a:latin typeface="Microsoft YaHei UI" panose="020B0503020204020204" charset="-122"/>
              </a:rPr>
              <a:t>⑤ 前进进度（权重 15%）</a:t>
            </a:r>
            <a:endParaRPr sz="1170">
              <a:solidFill>
                <a:schemeClr val="tx1"/>
              </a:solidFill>
            </a:endParaRPr>
          </a:p>
          <a:p>
            <a:pPr>
              <a:spcAft>
                <a:spcPts val="300"/>
              </a:spcAft>
              <a:defRPr sz="1100" b="0">
                <a:solidFill>
                  <a:srgbClr val="E0E0E0"/>
                </a:solidFill>
              </a:defRPr>
            </a:pPr>
            <a:r>
              <a:rPr sz="990">
                <a:solidFill>
                  <a:schemeClr val="tx1"/>
                </a:solidFill>
                <a:latin typeface="Microsoft YaHei UI" panose="020B0503020204020204" charset="-122"/>
              </a:rPr>
              <a:t>   鼓励前行，避免为安全而原地停滞</a:t>
            </a:r>
            <a:endParaRPr sz="990">
              <a:solidFill>
                <a:schemeClr val="tx1"/>
              </a:solidFill>
            </a:endParaRPr>
          </a:p>
          <a:p>
            <a:pPr>
              <a:spcAft>
                <a:spcPts val="300"/>
              </a:spcAft>
              <a:defRPr sz="800" b="0">
                <a:solidFill>
                  <a:srgbClr val="E0E0E0"/>
                </a:solidFill>
              </a:defRPr>
            </a:pPr>
            <a:endParaRPr sz="720">
              <a:solidFill>
                <a:schemeClr val="tx1"/>
              </a:solidFill>
            </a:endParaRPr>
          </a:p>
          <a:p>
            <a:pPr>
              <a:spcAft>
                <a:spcPts val="300"/>
              </a:spcAft>
              <a:defRPr sz="1400" b="1">
                <a:solidFill>
                  <a:srgbClr val="00FF88"/>
                </a:solidFill>
              </a:defRPr>
            </a:pPr>
            <a:r>
              <a:rPr sz="1260">
                <a:solidFill>
                  <a:schemeClr val="tx1"/>
                </a:solidFill>
                <a:latin typeface="Microsoft YaHei UI" panose="020B0503020204020204" charset="-122"/>
              </a:rPr>
              <a:t>🔒 专利方向</a:t>
            </a:r>
            <a:endParaRPr sz="1260">
              <a:solidFill>
                <a:schemeClr val="tx1"/>
              </a:solidFill>
            </a:endParaRPr>
          </a:p>
          <a:p>
            <a:pPr>
              <a:spcAft>
                <a:spcPts val="300"/>
              </a:spcAft>
              <a:defRPr sz="1200" b="0">
                <a:solidFill>
                  <a:srgbClr val="E0E0E0"/>
                </a:solidFill>
              </a:defRPr>
            </a:pPr>
            <a:r>
              <a:rPr sz="1080">
                <a:solidFill>
                  <a:schemeClr val="tx1"/>
                </a:solidFill>
                <a:latin typeface="Microsoft YaHei UI" panose="020B0503020204020204" charset="-122"/>
              </a:rPr>
              <a:t>「基于多候选安全评估的 Flow Matching 轨迹筛选方法」</a:t>
            </a:r>
            <a:endParaRPr sz="1080">
              <a:solidFill>
                <a:schemeClr val="tx1"/>
              </a:solidFill>
            </a:endParaRPr>
          </a:p>
          <a:p>
            <a:pPr>
              <a:spcAft>
                <a:spcPts val="300"/>
              </a:spcAft>
              <a:defRPr sz="1100" b="0">
                <a:solidFill>
                  <a:srgbClr val="A0A0A0"/>
                </a:solidFill>
              </a:defRPr>
            </a:pPr>
            <a:r>
              <a:rPr sz="990">
                <a:solidFill>
                  <a:schemeClr val="tx1"/>
                </a:solidFill>
                <a:latin typeface="Microsoft YaHei UI" panose="020B0503020204020204" charset="-122"/>
              </a:rPr>
              <a:t>新颖性：首次在 Flow Matching 中引入 Best-of-N + 多维安全打分</a:t>
            </a:r>
            <a:endParaRPr sz="990">
              <a:solidFill>
                <a:schemeClr val="tx1"/>
              </a:solidFill>
            </a:endParaRPr>
          </a:p>
          <a:p>
            <a:pPr>
              <a:spcAft>
                <a:spcPts val="300"/>
              </a:spcAft>
              <a:defRPr sz="1100" b="0">
                <a:solidFill>
                  <a:srgbClr val="A0A0A0"/>
                </a:solidFill>
              </a:defRPr>
            </a:pPr>
            <a:r>
              <a:rPr sz="990">
                <a:solidFill>
                  <a:schemeClr val="tx1"/>
                </a:solidFill>
                <a:latin typeface="Microsoft YaHei UI" panose="020B0503020204020204" charset="-122"/>
              </a:rPr>
              <a:t>vs NVIDIA GamePlan 的 cost map 筛选 → 我们是物理规则打分</a:t>
            </a:r>
            <a:endParaRPr sz="990">
              <a:solidFill>
                <a:schemeClr val="tx1"/>
              </a:solidFill>
              <a:latin typeface="Microsoft YaHei UI" panose="020B0503020204020204" charset="-122"/>
            </a:endParaRPr>
          </a:p>
        </p:txBody>
      </p:sp>
      <p:sp>
        <p:nvSpPr>
          <p:cNvPr id="6" name="Text Placeholder 1"/>
          <p:cNvSpPr>
            <a:spLocks noGrp="1"/>
          </p:cNvSpPr>
          <p:nvPr/>
        </p:nvSpPr>
        <p:spPr>
          <a:xfrm>
            <a:off x="256635" y="283965"/>
            <a:ext cx="10558800" cy="388800"/>
          </a:xfrm>
          <a:prstGeom prst="rect">
            <a:avLst/>
          </a:prstGeom>
        </p:spPr>
        <p:txBody>
          <a:bodyPr vert="horz" lIns="0" tIns="0" rIns="0" bIns="0" rtlCol="0">
            <a:noAutofit/>
          </a:bodyPr>
          <a:lstStyle>
            <a:lvl1pPr marL="0" indent="0" algn="l" defTabSz="914400" rtl="0" eaLnBrk="1" latinLnBrk="0" hangingPunct="1">
              <a:lnSpc>
                <a:spcPct val="89000"/>
              </a:lnSpc>
              <a:spcBef>
                <a:spcPts val="0"/>
              </a:spcBef>
              <a:buFont typeface="Wingdings" panose="05000000000000000000" pitchFamily="2" charset="2"/>
              <a:buNone/>
              <a:defRPr sz="2800" kern="0" baseline="0">
                <a:solidFill>
                  <a:schemeClr val="tx1"/>
                </a:solidFill>
                <a:latin typeface="+mn-lt"/>
                <a:ea typeface="+mn-ea"/>
                <a:cs typeface="+mn-cs"/>
              </a:defRPr>
            </a:lvl1pPr>
            <a:lvl2pPr marL="233680" indent="0" algn="l" defTabSz="914400" rtl="0" eaLnBrk="1" latinLnBrk="0" hangingPunct="1">
              <a:lnSpc>
                <a:spcPct val="103000"/>
              </a:lnSpc>
              <a:spcBef>
                <a:spcPts val="500"/>
              </a:spcBef>
              <a:buFont typeface="Symbol" panose="05050102010706020507" pitchFamily="18" charset="2"/>
              <a:buNone/>
              <a:defRPr sz="2800" kern="1200">
                <a:solidFill>
                  <a:schemeClr val="tx1"/>
                </a:solidFill>
                <a:latin typeface="+mn-lt"/>
                <a:ea typeface="+mn-ea"/>
                <a:cs typeface="+mn-cs"/>
              </a:defRPr>
            </a:lvl2pPr>
            <a:lvl3pPr marL="525780" indent="0" algn="l" defTabSz="914400" rtl="0" eaLnBrk="1" latinLnBrk="0" hangingPunct="1">
              <a:lnSpc>
                <a:spcPct val="102000"/>
              </a:lnSpc>
              <a:spcBef>
                <a:spcPts val="500"/>
              </a:spcBef>
              <a:buFont typeface="Symbol" panose="05050102010706020507" pitchFamily="18" charset="2"/>
              <a:buNone/>
              <a:defRPr sz="2800" kern="1200">
                <a:solidFill>
                  <a:schemeClr val="tx1"/>
                </a:solidFill>
                <a:latin typeface="+mn-lt"/>
                <a:ea typeface="+mn-ea"/>
                <a:cs typeface="+mn-cs"/>
              </a:defRPr>
            </a:lvl3pPr>
            <a:lvl4pPr marL="748665" indent="0" algn="l" defTabSz="914400" rtl="0" eaLnBrk="1" latinLnBrk="0" hangingPunct="1">
              <a:lnSpc>
                <a:spcPct val="103000"/>
              </a:lnSpc>
              <a:spcBef>
                <a:spcPts val="500"/>
              </a:spcBef>
              <a:buFont typeface="Bosch Office Sans" pitchFamily="34" charset="0"/>
              <a:buNone/>
              <a:defRPr sz="2800" kern="1200">
                <a:solidFill>
                  <a:schemeClr val="tx1"/>
                </a:solidFill>
                <a:latin typeface="+mn-lt"/>
                <a:ea typeface="+mn-ea"/>
                <a:cs typeface="+mn-cs"/>
              </a:defRPr>
            </a:lvl4pPr>
            <a:lvl5pPr marL="748665" indent="0" algn="l" defTabSz="914400" rtl="0" eaLnBrk="1" latinLnBrk="0" hangingPunct="1">
              <a:lnSpc>
                <a:spcPct val="103000"/>
              </a:lnSpc>
              <a:spcBef>
                <a:spcPts val="500"/>
              </a:spcBef>
              <a:buFont typeface="Bosch Office Sans" pitchFamily="34" charset="0"/>
              <a:buNone/>
              <a:defRPr sz="2800" kern="1200">
                <a:solidFill>
                  <a:schemeClr val="tx1"/>
                </a:solidFill>
                <a:latin typeface="+mn-lt"/>
                <a:ea typeface="+mn-ea"/>
                <a:cs typeface="+mn-cs"/>
              </a:defRPr>
            </a:lvl5pPr>
            <a:lvl6pPr marL="1602105" indent="-230505" algn="l" defTabSz="914400" rtl="0" eaLnBrk="1" latinLnBrk="0" hangingPunct="1">
              <a:lnSpc>
                <a:spcPct val="103000"/>
              </a:lnSpc>
              <a:spcBef>
                <a:spcPts val="500"/>
              </a:spcBef>
              <a:buFont typeface="Bosch Office Sans" pitchFamily="34" charset="0"/>
              <a:buChar char="‒"/>
              <a:defRPr sz="1300" kern="1200">
                <a:solidFill>
                  <a:schemeClr val="tx1"/>
                </a:solidFill>
                <a:latin typeface="+mn-lt"/>
                <a:ea typeface="+mn-ea"/>
                <a:cs typeface="+mn-cs"/>
              </a:defRPr>
            </a:lvl6pPr>
            <a:lvl7pPr marL="1602105" indent="-230505" algn="l" defTabSz="914400" rtl="0" eaLnBrk="1" latinLnBrk="0" hangingPunct="1">
              <a:lnSpc>
                <a:spcPct val="103000"/>
              </a:lnSpc>
              <a:spcBef>
                <a:spcPts val="500"/>
              </a:spcBef>
              <a:buFont typeface="Bosch Office Sans" pitchFamily="34" charset="0"/>
              <a:buChar char="‒"/>
              <a:defRPr sz="1300" kern="1200">
                <a:solidFill>
                  <a:schemeClr val="tx1"/>
                </a:solidFill>
                <a:latin typeface="+mn-lt"/>
                <a:ea typeface="+mn-ea"/>
                <a:cs typeface="+mn-cs"/>
              </a:defRPr>
            </a:lvl7pPr>
            <a:lvl8pPr marL="1602105" indent="-230505" algn="l" defTabSz="914400" rtl="0" eaLnBrk="1" latinLnBrk="0" hangingPunct="1">
              <a:lnSpc>
                <a:spcPct val="103000"/>
              </a:lnSpc>
              <a:spcBef>
                <a:spcPts val="500"/>
              </a:spcBef>
              <a:buFont typeface="Bosch Office Sans" pitchFamily="34" charset="0"/>
              <a:buChar char="‒"/>
              <a:defRPr sz="1300" kern="1200">
                <a:solidFill>
                  <a:schemeClr val="tx1"/>
                </a:solidFill>
                <a:latin typeface="+mn-lt"/>
                <a:ea typeface="+mn-ea"/>
                <a:cs typeface="+mn-cs"/>
              </a:defRPr>
            </a:lvl8pPr>
            <a:lvl9pPr marL="1602105" indent="-230505" algn="l" defTabSz="914400" rtl="0" eaLnBrk="1" latinLnBrk="0" hangingPunct="1">
              <a:lnSpc>
                <a:spcPct val="103000"/>
              </a:lnSpc>
              <a:spcBef>
                <a:spcPts val="500"/>
              </a:spcBef>
              <a:buFont typeface="Bosch Office Sans" pitchFamily="34" charset="0"/>
              <a:buChar char="‒"/>
              <a:defRPr sz="1300" kern="1200" baseline="0">
                <a:solidFill>
                  <a:schemeClr val="tx1"/>
                </a:solidFill>
                <a:latin typeface="+mn-lt"/>
                <a:ea typeface="+mn-ea"/>
                <a:cs typeface="+mn-cs"/>
              </a:defRPr>
            </a:lvl9pPr>
          </a:lstStyle>
          <a:p>
            <a:pPr marL="0" indent="0" fontAlgn="auto">
              <a:spcAft>
                <a:spcPts val="0"/>
              </a:spcAft>
              <a:buNone/>
            </a:pPr>
            <a:r>
              <a:rPr sz="1200" b="1">
                <a:latin typeface="Microsoft YaHei UI" panose="020B0503020204020204" charset="-122"/>
                <a:ea typeface="+mj-ea"/>
                <a:cs typeface="+mj-cs"/>
                <a:sym typeface="+mn-ea"/>
              </a:rPr>
              <a:t>创新点</a:t>
            </a:r>
            <a:r>
              <a:rPr lang="en-US" sz="1200" b="1">
                <a:latin typeface="Microsoft YaHei UI" panose="020B0503020204020204" charset="-122"/>
                <a:ea typeface="+mj-ea"/>
                <a:cs typeface="+mj-cs"/>
                <a:sym typeface="+mn-ea"/>
              </a:rPr>
              <a:t>2</a:t>
            </a:r>
            <a:endParaRPr lang="en-US" sz="1200" b="1" kern="0">
              <a:latin typeface="Microsoft YaHei UI" panose="020B0503020204020204" charset="-122"/>
              <a:ea typeface="+mj-ea"/>
              <a:cs typeface="+mj-cs"/>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rPr sz="2000" b="1">
                <a:latin typeface="Microsoft YaHei UI" panose="020B0503020204020204" charset="-122"/>
              </a:rPr>
              <a:t>Risk-Adaptive ODE 推理步数</a:t>
            </a:r>
            <a:r>
              <a:rPr>
                <a:latin typeface="Microsoft YaHei UI" panose="020B0503020204020204" charset="-122"/>
              </a:rPr>
              <a:t>  </a:t>
            </a:r>
            <a:r>
              <a:rPr lang="en-US">
                <a:latin typeface="Microsoft YaHei UI" panose="020B0503020204020204" charset="-122"/>
              </a:rPr>
              <a:t> </a:t>
            </a:r>
            <a:endParaRPr lang="en-US">
              <a:latin typeface="Microsoft YaHei UI" panose="020B0503020204020204" charset="-122"/>
            </a:endParaRPr>
          </a:p>
        </p:txBody>
      </p:sp>
      <p:sp>
        <p:nvSpPr>
          <p:cNvPr id="3" name="Text Placeholder 2"/>
          <p:cNvSpPr>
            <a:spLocks noGrp="1"/>
          </p:cNvSpPr>
          <p:nvPr>
            <p:ph type="body" sz="quarter" idx="15"/>
          </p:nvPr>
        </p:nvSpPr>
        <p:spPr/>
        <p:txBody>
          <a:bodyPr/>
          <a:lstStyle/>
          <a:p>
            <a:r>
              <a:rPr sz="1200" b="1">
                <a:latin typeface="Microsoft YaHei UI" panose="020B0503020204020204" charset="-122"/>
                <a:ea typeface="+mj-ea"/>
                <a:cs typeface="+mj-cs"/>
                <a:sym typeface="+mn-ea"/>
              </a:rPr>
              <a:t>创新点3</a:t>
            </a:r>
            <a:endParaRPr>
              <a:latin typeface="Microsoft YaHei UI" panose="020B0503020204020204" charset="-122"/>
            </a:endParaRPr>
          </a:p>
        </p:txBody>
      </p:sp>
      <p:sp>
        <p:nvSpPr>
          <p:cNvPr id="4" name="Content Placeholder 3"/>
          <p:cNvSpPr>
            <a:spLocks noGrp="1"/>
          </p:cNvSpPr>
          <p:nvPr>
            <p:ph sz="quarter" idx="1"/>
          </p:nvPr>
        </p:nvSpPr>
        <p:spPr/>
        <p:txBody>
          <a:bodyPr/>
          <a:lstStyle/>
          <a:p>
            <a:pPr>
              <a:defRPr sz="1100" b="1"/>
            </a:pPr>
            <a:r>
              <a:rPr sz="900">
                <a:latin typeface="Microsoft YaHei UI" panose="020B0503020204020204" charset="-122"/>
              </a:rPr>
              <a:t>核心思想：场景复杂度决定计算精度 — 简单场景少算，复杂场景多算</a:t>
            </a:r>
            <a:endParaRPr sz="900">
              <a:latin typeface="Microsoft YaHei UI" panose="020B0503020204020204" charset="-122"/>
            </a:endParaRPr>
          </a:p>
          <a:p>
            <a:pPr>
              <a:defRPr sz="1100" b="0"/>
            </a:pPr>
          </a:p>
          <a:p>
            <a:pPr>
              <a:defRPr sz="1100" b="1"/>
            </a:pPr>
            <a:r>
              <a:rPr sz="900">
                <a:latin typeface="Microsoft YaHei UI" panose="020B0503020204020204" charset="-122"/>
              </a:rPr>
              <a:t>行业痛点：</a:t>
            </a:r>
            <a:endParaRPr sz="900">
              <a:latin typeface="Microsoft YaHei UI" panose="020B0503020204020204" charset="-122"/>
            </a:endParaRPr>
          </a:p>
          <a:p>
            <a:pPr>
              <a:defRPr sz="1100" b="0"/>
            </a:pPr>
            <a:r>
              <a:rPr sz="900">
                <a:latin typeface="Microsoft YaHei UI" panose="020B0503020204020204" charset="-122"/>
              </a:rPr>
              <a:t>• Flow Matching 推理使用固定 ODE 步数（如 4 步），所有场景一刀切</a:t>
            </a:r>
            <a:endParaRPr sz="900">
              <a:latin typeface="Microsoft YaHei UI" panose="020B0503020204020204" charset="-122"/>
            </a:endParaRPr>
          </a:p>
          <a:p>
            <a:pPr>
              <a:defRPr sz="1100" b="0"/>
            </a:pPr>
            <a:r>
              <a:rPr sz="900">
                <a:latin typeface="Microsoft YaHei UI" panose="020B0503020204020204" charset="-122"/>
              </a:rPr>
              <a:t>• 简单直道 4 步 → 浪费算力（2 步就够了）</a:t>
            </a:r>
            <a:endParaRPr sz="900">
              <a:latin typeface="Microsoft YaHei UI" panose="020B0503020204020204" charset="-122"/>
            </a:endParaRPr>
          </a:p>
          <a:p>
            <a:pPr>
              <a:defRPr sz="1100" b="0"/>
            </a:pPr>
            <a:r>
              <a:rPr sz="900">
                <a:latin typeface="Microsoft YaHei UI" panose="020B0503020204020204" charset="-122"/>
              </a:rPr>
              <a:t>• 危险路口 4 步 → 精度不足（需要 6 步才安全）</a:t>
            </a:r>
            <a:endParaRPr sz="900">
              <a:latin typeface="Microsoft YaHei UI" panose="020B0503020204020204" charset="-122"/>
            </a:endParaRPr>
          </a:p>
          <a:p>
            <a:pPr>
              <a:defRPr sz="1100" b="0"/>
            </a:pPr>
          </a:p>
          <a:p>
            <a:pPr>
              <a:defRPr sz="1100" b="1"/>
            </a:pPr>
            <a:r>
              <a:rPr sz="900">
                <a:latin typeface="Microsoft YaHei UI" panose="020B0503020204020204" charset="-122"/>
              </a:rPr>
              <a:t>我们的方案：Risk Network 同时输出最优 ODE 步数</a:t>
            </a:r>
            <a:endParaRPr sz="900">
              <a:latin typeface="Microsoft YaHei UI" panose="020B0503020204020204" charset="-122"/>
            </a:endParaRPr>
          </a:p>
          <a:p>
            <a:pPr>
              <a:defRPr sz="1100" b="0"/>
            </a:pPr>
            <a:r>
              <a:rPr sz="900">
                <a:latin typeface="Microsoft YaHei UI" panose="020B0503020204020204" charset="-122"/>
              </a:rPr>
              <a:t>• 输入：TTC | 邻居数量 | ego速度 | 场景类型</a:t>
            </a:r>
            <a:endParaRPr sz="900">
              <a:latin typeface="Microsoft YaHei UI" panose="020B0503020204020204" charset="-122"/>
            </a:endParaRPr>
          </a:p>
          <a:p>
            <a:pPr>
              <a:defRPr sz="1100" b="0"/>
            </a:pPr>
            <a:r>
              <a:rPr sz="900">
                <a:latin typeface="Microsoft YaHei UI" panose="020B0503020204020204" charset="-122"/>
              </a:rPr>
              <a:t>• 输出：风险分数 r → 映射到 ODE 步数 k = 2 + round(r × 4)</a:t>
            </a:r>
            <a:endParaRPr sz="900">
              <a:latin typeface="Microsoft YaHei UI" panose="020B0503020204020204" charset="-122"/>
            </a:endParaRPr>
          </a:p>
          <a:p>
            <a:pPr>
              <a:defRPr sz="1100" b="0"/>
            </a:pPr>
          </a:p>
          <a:p>
            <a:pPr>
              <a:defRPr sz="1100" b="1"/>
            </a:pPr>
            <a:r>
              <a:rPr sz="900">
                <a:latin typeface="Microsoft YaHei UI" panose="020B0503020204020204" charset="-122"/>
              </a:rPr>
              <a:t>    风险等级     ODE步数    推理频率      典型场景</a:t>
            </a:r>
            <a:endParaRPr sz="900">
              <a:latin typeface="Microsoft YaHei UI" panose="020B0503020204020204" charset="-122"/>
            </a:endParaRPr>
          </a:p>
          <a:p>
            <a:pPr>
              <a:defRPr sz="1100" b="0"/>
            </a:pPr>
            <a:r>
              <a:rPr sz="900">
                <a:latin typeface="Microsoft YaHei UI" panose="020B0503020204020204" charset="-122"/>
              </a:rPr>
              <a:t>    ─────────────────────────────────────────────</a:t>
            </a:r>
            <a:endParaRPr sz="900">
              <a:latin typeface="Microsoft YaHei UI" panose="020B0503020204020204" charset="-122"/>
            </a:endParaRPr>
          </a:p>
          <a:p>
            <a:pPr>
              <a:defRPr sz="1100" b="0"/>
            </a:pPr>
            <a:r>
              <a:rPr sz="900">
                <a:latin typeface="Microsoft YaHei UI" panose="020B0503020204020204" charset="-122"/>
              </a:rPr>
              <a:t>    低风险 r&lt;0.3    2步     ~25Hz       空旷直道、低速巡航</a:t>
            </a:r>
            <a:endParaRPr sz="900">
              <a:latin typeface="Microsoft YaHei UI" panose="020B0503020204020204" charset="-122"/>
            </a:endParaRPr>
          </a:p>
          <a:p>
            <a:pPr>
              <a:defRPr sz="1100" b="0"/>
            </a:pPr>
            <a:r>
              <a:rPr sz="900">
                <a:latin typeface="Microsoft YaHei UI" panose="020B0503020204020204" charset="-122"/>
              </a:rPr>
              <a:t>    中风险 r≈0.5    4步     ~12Hz       正常跟车、缓弯</a:t>
            </a:r>
            <a:endParaRPr sz="900">
              <a:latin typeface="Microsoft YaHei UI" panose="020B0503020204020204" charset="-122"/>
            </a:endParaRPr>
          </a:p>
          <a:p>
            <a:pPr>
              <a:defRPr sz="1100" b="0"/>
            </a:pPr>
            <a:r>
              <a:rPr sz="900">
                <a:latin typeface="Microsoft YaHei UI" panose="020B0503020204020204" charset="-122"/>
              </a:rPr>
              <a:t>    高风险 r&gt;0.7    6步      ~8Hz       密集路口、紧急避让</a:t>
            </a:r>
            <a:endParaRPr sz="900">
              <a:latin typeface="Microsoft YaHei UI" panose="020B0503020204020204" charset="-122"/>
            </a:endParaRPr>
          </a:p>
          <a:p>
            <a:pPr>
              <a:defRPr sz="1100" b="0"/>
            </a:pPr>
          </a:p>
          <a:p>
            <a:pPr>
              <a:defRPr sz="1100" b="1"/>
            </a:pPr>
            <a:r>
              <a:rPr sz="900">
                <a:latin typeface="Microsoft YaHei UI" panose="020B0503020204020204" charset="-122"/>
              </a:rPr>
              <a:t>核心优势：安全性 + 推理效率双赢</a:t>
            </a:r>
            <a:endParaRPr sz="900">
              <a:latin typeface="Microsoft YaHei UI" panose="020B0503020204020204" charset="-122"/>
            </a:endParaRPr>
          </a:p>
          <a:p>
            <a:pPr>
              <a:defRPr sz="1100" b="0"/>
            </a:pPr>
            <a:r>
              <a:rPr sz="900">
                <a:latin typeface="Microsoft YaHei UI" panose="020B0503020204020204" charset="-122"/>
              </a:rPr>
              <a:t>• 平均推理速度提升 30-50%（vs 固定 4 步）</a:t>
            </a:r>
            <a:endParaRPr sz="900">
              <a:latin typeface="Microsoft YaHei UI" panose="020B0503020204020204" charset="-122"/>
            </a:endParaRPr>
          </a:p>
          <a:p>
            <a:pPr>
              <a:defRPr sz="1100" b="0"/>
            </a:pPr>
            <a:r>
              <a:rPr sz="900">
                <a:latin typeface="Microsoft YaHei UI" panose="020B0503020204020204" charset="-122"/>
              </a:rPr>
              <a:t>• 高风险场景安全性提升（6 步精度更高）</a:t>
            </a:r>
            <a:endParaRPr sz="900">
              <a:latin typeface="Microsoft YaHei UI" panose="020B0503020204020204" charset="-122"/>
            </a:endParaRPr>
          </a:p>
          <a:p>
            <a:pPr>
              <a:defRPr sz="1100" b="0"/>
            </a:pPr>
            <a:r>
              <a:rPr sz="900">
                <a:latin typeface="Microsoft YaHei UI" panose="020B0503020204020204" charset="-122"/>
              </a:rPr>
              <a:t>• 与创新点1 (Scene-Adaptive w) 共享 Risk Network，零额外参数</a:t>
            </a:r>
            <a:endParaRPr sz="900">
              <a:latin typeface="Microsoft YaHei UI" panose="020B0503020204020204" charset="-122"/>
            </a:endParaRPr>
          </a:p>
          <a:p>
            <a:pPr>
              <a:defRPr sz="1100" b="0"/>
            </a:pPr>
          </a:p>
          <a:p>
            <a:pPr>
              <a:defRPr sz="1100" b="1"/>
            </a:pPr>
            <a:r>
              <a:rPr sz="900">
                <a:latin typeface="Microsoft YaHei UI" panose="020B0503020204020204" charset="-122"/>
              </a:rPr>
              <a:t>🔒 专利方向：可合并入创新点1 的专利</a:t>
            </a:r>
            <a:endParaRPr sz="900">
              <a:latin typeface="Microsoft YaHei UI" panose="020B0503020204020204" charset="-122"/>
            </a:endParaRPr>
          </a:p>
          <a:p>
            <a:pPr>
              <a:defRPr sz="1100" b="0"/>
            </a:pPr>
            <a:r>
              <a:rPr sz="900">
                <a:latin typeface="Microsoft YaHei UI" panose="020B0503020204020204" charset="-122"/>
              </a:rPr>
              <a:t>「基于驾驶风险评估的 Flow Matching 自适应引导与推理步数联合优化方法」</a:t>
            </a:r>
            <a:endParaRPr sz="900">
              <a:latin typeface="Microsoft YaHei UI" panose="020B0503020204020204" charset="-122"/>
            </a:endParaRPr>
          </a:p>
          <a:p>
            <a:pPr>
              <a:defRPr sz="1100" b="0"/>
            </a:pPr>
            <a:r>
              <a:rPr sz="900">
                <a:latin typeface="Microsoft YaHei UI" panose="020B0503020204020204" charset="-122"/>
              </a:rPr>
              <a:t>对标：AdaFlow (ICML 2024) 提出自适应步数，但未结合驾驶风险评估</a:t>
            </a:r>
            <a:endParaRPr sz="900">
              <a:latin typeface="Microsoft YaHei UI" panose="020B050302020402020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sz="2000" b="1">
                <a:latin typeface="Microsoft YaHei UI" panose="020B0503020204020204" charset="-122"/>
              </a:rPr>
              <a:t>Safety-Guided Flow Matching</a:t>
            </a:r>
            <a:r>
              <a:rPr sz="2200" b="1">
                <a:solidFill>
                  <a:srgbClr val="1A3C6E"/>
                </a:solidFill>
                <a:latin typeface="微软雅黑" panose="020B0503020204020204" charset="-122"/>
              </a:rPr>
              <a:t>  </a:t>
            </a:r>
            <a:r>
              <a:rPr lang="en-US" sz="2200" b="1">
                <a:solidFill>
                  <a:srgbClr val="1A3C6E"/>
                </a:solidFill>
                <a:latin typeface="微软雅黑" panose="020B0503020204020204" charset="-122"/>
              </a:rPr>
              <a:t> </a:t>
            </a:r>
            <a:endParaRPr lang="en-US" sz="2200" b="1">
              <a:solidFill>
                <a:srgbClr val="1A3C6E"/>
              </a:solidFill>
              <a:latin typeface="微软雅黑" panose="020B0503020204020204" charset="-122"/>
            </a:endParaRPr>
          </a:p>
        </p:txBody>
      </p:sp>
      <p:sp>
        <p:nvSpPr>
          <p:cNvPr id="3" name="文本占位符 2"/>
          <p:cNvSpPr>
            <a:spLocks noGrp="1"/>
          </p:cNvSpPr>
          <p:nvPr>
            <p:ph type="body" sz="quarter" idx="15"/>
          </p:nvPr>
        </p:nvSpPr>
        <p:spPr/>
        <p:txBody>
          <a:bodyPr/>
          <a:lstStyle/>
          <a:p>
            <a:r>
              <a:rPr sz="1200" b="1">
                <a:latin typeface="Microsoft YaHei UI" panose="020B0503020204020204" charset="-122"/>
                <a:sym typeface="+mn-ea"/>
              </a:rPr>
              <a:t>创新点4</a:t>
            </a:r>
            <a:endParaRPr lang="en-US"/>
          </a:p>
        </p:txBody>
      </p:sp>
      <p:sp>
        <p:nvSpPr>
          <p:cNvPr id="5" name="灯片编号占位符 4"/>
          <p:cNvSpPr>
            <a:spLocks noGrp="1"/>
          </p:cNvSpPr>
          <p:nvPr>
            <p:ph type="sldNum" sz="quarter" idx="12"/>
          </p:nvPr>
        </p:nvSpPr>
        <p:spPr/>
        <p:txBody>
          <a:bodyPr/>
          <a:lstStyle/>
          <a:p>
            <a:r>
              <a:rPr sz="1000">
                <a:latin typeface="Microsoft YaHei UI" panose="020B0503020204020204" charset="-122"/>
              </a:rPr>
              <a:t>20</a:t>
            </a:r>
            <a:endParaRPr lang="en-US" noProof="1"/>
          </a:p>
        </p:txBody>
      </p:sp>
      <p:sp>
        <p:nvSpPr>
          <p:cNvPr id="6" name="TextBox 5"/>
          <p:cNvSpPr txBox="1"/>
          <p:nvPr/>
        </p:nvSpPr>
        <p:spPr>
          <a:xfrm>
            <a:off x="548481" y="1357534"/>
            <a:ext cx="9872662" cy="4442841"/>
          </a:xfrm>
          <a:prstGeom prst="rect">
            <a:avLst/>
          </a:prstGeom>
          <a:noFill/>
        </p:spPr>
        <p:txBody>
          <a:bodyPr wrap="square">
            <a:spAutoFit/>
          </a:bodyPr>
          <a:lstStyle/>
          <a:p>
            <a:pPr>
              <a:lnSpc>
                <a:spcPts val="1600"/>
              </a:lnSpc>
              <a:spcBef>
                <a:spcPts val="800"/>
              </a:spcBef>
              <a:spcAft>
                <a:spcPts val="300"/>
              </a:spcAft>
            </a:pPr>
            <a:r>
              <a:rPr sz="1000" b="0">
                <a:latin typeface="Microsoft YaHei UI" panose="020B0503020204020204" charset="-122"/>
              </a:rPr>
              <a:t>核心思想：给规划器加装安全护栏</a:t>
            </a:r>
            <a:endParaRPr sz="1000" b="0">
              <a:latin typeface="Microsoft YaHei UI" panose="020B0503020204020204" charset="-122"/>
            </a:endParaRPr>
          </a:p>
          <a:p>
            <a:r>
              <a:rPr sz="1000" b="0">
                <a:latin typeface="Microsoft YaHei UI" panose="020B0503020204020204" charset="-122"/>
              </a:rPr>
              <a:t>在轨迹生成过程中注入安全约束，自动避开碰撞区域</a:t>
            </a:r>
            <a:endParaRPr sz="1000" b="0">
              <a:latin typeface="Microsoft YaHei UI" panose="020B0503020204020204" charset="-122"/>
            </a:endParaRPr>
          </a:p>
          <a:p>
            <a:endParaRPr sz="1000"/>
          </a:p>
          <a:p>
            <a:r>
              <a:rPr sz="1000" b="0">
                <a:latin typeface="Microsoft YaHei UI" panose="020B0503020204020204" charset="-122"/>
              </a:rPr>
              <a:t>技术路线（无需重新训练模型）：</a:t>
            </a:r>
            <a:endParaRPr sz="1000" b="0">
              <a:latin typeface="Microsoft YaHei UI" panose="020B0503020204020204" charset="-122"/>
            </a:endParaRPr>
          </a:p>
          <a:p>
            <a:r>
              <a:rPr sz="1000" b="0">
                <a:latin typeface="Microsoft YaHei UI" panose="020B0503020204020204" charset="-122"/>
              </a:rPr>
              <a:t>① 定义安全分数 S(τ)：衡量轨迹τ与所有障碍物的最小距离</a:t>
            </a:r>
            <a:endParaRPr sz="1000" b="0">
              <a:latin typeface="Microsoft YaHei UI" panose="020B0503020204020204" charset="-122"/>
            </a:endParaRPr>
          </a:p>
          <a:p>
            <a:r>
              <a:rPr sz="1000" b="0">
                <a:latin typeface="Microsoft YaHei UI" panose="020B0503020204020204" charset="-122"/>
              </a:rPr>
              <a:t>② 在每一步ODE求解后，计算安全梯度方向 ∇S</a:t>
            </a:r>
            <a:endParaRPr sz="1000" b="0">
              <a:latin typeface="Microsoft YaHei UI" panose="020B0503020204020204" charset="-122"/>
            </a:endParaRPr>
          </a:p>
          <a:p>
            <a:r>
              <a:rPr sz="1000" b="0">
                <a:latin typeface="Microsoft YaHei UI" panose="020B0503020204020204" charset="-122"/>
              </a:rPr>
              <a:t>③ 将轨迹向更安全的方向微调：v_safe = v_flow + λ·∇S(τ)</a:t>
            </a:r>
            <a:endParaRPr sz="1000" b="0">
              <a:latin typeface="Microsoft YaHei UI" panose="020B0503020204020204" charset="-122"/>
            </a:endParaRPr>
          </a:p>
          <a:p>
            <a:r>
              <a:rPr sz="1000" b="0">
                <a:latin typeface="Microsoft YaHei UI" panose="020B0503020204020204" charset="-122"/>
              </a:rPr>
              <a:t>   其中λ为安全约束强度，可随碰撞风险自适应调整</a:t>
            </a:r>
            <a:endParaRPr sz="1000" b="0">
              <a:latin typeface="Microsoft YaHei UI" panose="020B0503020204020204" charset="-122"/>
            </a:endParaRPr>
          </a:p>
          <a:p>
            <a:endParaRPr sz="1000"/>
          </a:p>
          <a:p>
            <a:r>
              <a:rPr sz="1000" b="0">
                <a:latin typeface="Microsoft YaHei UI" panose="020B0503020204020204" charset="-122"/>
              </a:rPr>
              <a:t>类比：GPS导航 + 避障雷达</a:t>
            </a:r>
            <a:endParaRPr sz="1000" b="0">
              <a:latin typeface="Microsoft YaHei UI" panose="020B0503020204020204" charset="-122"/>
            </a:endParaRPr>
          </a:p>
          <a:p>
            <a:r>
              <a:rPr sz="1000" b="0">
                <a:latin typeface="Microsoft YaHei UI" panose="020B0503020204020204" charset="-122"/>
              </a:rPr>
              <a:t>Flow Matching负责规划路线（GPS），安全引导负责避开危险（雷达）</a:t>
            </a:r>
            <a:endParaRPr sz="1000" b="0">
              <a:latin typeface="Microsoft YaHei UI" panose="020B0503020204020204" charset="-122"/>
            </a:endParaRPr>
          </a:p>
          <a:p>
            <a:endParaRPr sz="1000"/>
          </a:p>
          <a:p>
            <a:r>
              <a:rPr sz="1000" b="0">
                <a:latin typeface="Microsoft YaHei UI" panose="020B0503020204020204" charset="-122"/>
              </a:rPr>
              <a:t>核心优势 vs 事后裁剪（PDM-Hybrid方式）：</a:t>
            </a:r>
            <a:endParaRPr sz="1000" b="0">
              <a:latin typeface="Microsoft YaHei UI" panose="020B0503020204020204" charset="-122"/>
            </a:endParaRPr>
          </a:p>
          <a:p>
            <a:r>
              <a:rPr sz="1000" b="0">
                <a:latin typeface="Microsoft YaHei UI" panose="020B0503020204020204" charset="-122"/>
              </a:rPr>
              <a:t>• 即插即用：不改变模型结构，零额外训练成本</a:t>
            </a:r>
            <a:endParaRPr sz="1000" b="0">
              <a:latin typeface="Microsoft YaHei UI" panose="020B0503020204020204" charset="-122"/>
            </a:endParaRPr>
          </a:p>
          <a:p>
            <a:r>
              <a:rPr sz="1000" b="0">
                <a:latin typeface="Microsoft YaHei UI" panose="020B0503020204020204" charset="-122"/>
              </a:rPr>
              <a:t>• 生成过程中就避碰，不破坏轨迹连贯性</a:t>
            </a:r>
            <a:endParaRPr sz="1000" b="0">
              <a:latin typeface="Microsoft YaHei UI" panose="020B0503020204020204" charset="-122"/>
            </a:endParaRPr>
          </a:p>
          <a:p>
            <a:r>
              <a:rPr sz="1000" b="0">
                <a:latin typeface="Microsoft YaHei UI" panose="020B0503020204020204" charset="-122"/>
              </a:rPr>
              <a:t>• 安全约束参与生成，轨迹更自然、更平滑</a:t>
            </a:r>
            <a:endParaRPr sz="1000" b="0">
              <a:latin typeface="Microsoft YaHei UI" panose="020B0503020204020204" charset="-122"/>
            </a:endParaRPr>
          </a:p>
          <a:p>
            <a:r>
              <a:rPr sz="1000" b="0">
                <a:latin typeface="Microsoft YaHei UI" panose="020B0503020204020204" charset="-122"/>
              </a:rPr>
              <a:t>• 可与CFG叠加使用，形成双重引导机制</a:t>
            </a:r>
            <a:endParaRPr sz="1000" b="0">
              <a:latin typeface="Microsoft YaHei UI" panose="020B0503020204020204" charset="-122"/>
            </a:endParaRPr>
          </a:p>
          <a:p>
            <a:r>
              <a:rPr sz="1000" b="0">
                <a:latin typeface="Microsoft YaHei UI" panose="020B0503020204020204" charset="-122"/>
              </a:rPr>
              <a:t>• 可调节：安全引导强度可根据场景动态调整</a:t>
            </a:r>
            <a:endParaRPr sz="1000" b="0">
              <a:latin typeface="Microsoft YaHei UI" panose="020B0503020204020204" charset="-122"/>
            </a:endParaRPr>
          </a:p>
          <a:p>
            <a:endParaRPr sz="1000"/>
          </a:p>
          <a:p>
            <a:r>
              <a:rPr sz="1000" b="1">
                <a:solidFill>
                  <a:srgbClr val="B71C1C"/>
                </a:solidFill>
                <a:latin typeface="微软雅黑" panose="020B0503020204020204" charset="-122"/>
              </a:rPr>
              <a:t>🔒 专利方向：「基于安全约束梯度引导的Flow Matching轨迹生成方法」</a:t>
            </a:r>
            <a:endParaRPr sz="1000" b="1">
              <a:solidFill>
                <a:srgbClr val="B71C1C"/>
              </a:solidFill>
              <a:latin typeface="微软雅黑" panose="020B0503020204020204" charset="-122"/>
            </a:endParaRPr>
          </a:p>
          <a:p>
            <a:r>
              <a:rPr sz="900" b="0">
                <a:solidFill>
                  <a:srgbClr val="333333"/>
                </a:solidFill>
                <a:latin typeface="微软雅黑" panose="020B0503020204020204" charset="-122"/>
              </a:rPr>
              <a:t>  • 新颖性：现有安全引导工作（CATG、CGD）基于Diffusion模型，</a:t>
            </a:r>
            <a:endParaRPr sz="900" b="0">
              <a:solidFill>
                <a:srgbClr val="333333"/>
              </a:solidFill>
              <a:latin typeface="微软雅黑" panose="020B0503020204020204" charset="-122"/>
            </a:endParaRPr>
          </a:p>
          <a:p>
            <a:r>
              <a:rPr sz="900" b="0">
                <a:solidFill>
                  <a:srgbClr val="333333"/>
                </a:solidFill>
                <a:latin typeface="微软雅黑" panose="020B0503020204020204" charset="-122"/>
              </a:rPr>
              <a:t>    本方案首次在Flow Matching的ODE求解中注入安全梯度，计算效率更高</a:t>
            </a:r>
            <a:endParaRPr sz="900" b="0">
              <a:solidFill>
                <a:srgbClr val="333333"/>
              </a:solidFill>
              <a:latin typeface="微软雅黑" panose="020B0503020204020204" charset="-122"/>
            </a:endParaRP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 sz="quarter"/>
          </p:nvPr>
        </p:nvSpPr>
        <p:spPr/>
        <p:txBody>
          <a:bodyPr/>
          <a:p/>
        </p:txBody>
      </p:sp>
      <p:sp>
        <p:nvSpPr>
          <p:cNvPr id="3" name="Text Placeholder 2"/>
          <p:cNvSpPr>
            <a:spLocks noGrp="1"/>
          </p:cNvSpPr>
          <p:nvPr>
            <p:ph type="body" idx="2" sz="quarter"/>
          </p:nvPr>
        </p:nvSpPr>
        <p:spPr/>
        <p:txBody>
          <a:bodyPr/>
          <a:lstStyle/>
          <a:p/>
        </p:txBody>
      </p:sp>
      <p:sp>
        <p:nvSpPr>
          <p:cNvPr id="4" name="TextBox 3"/>
          <p:cNvSpPr txBox="1"/>
          <p:nvPr/>
        </p:nvSpPr>
        <p:spPr>
          <a:xfrm>
            <a:off x="182880" y="640080"/>
            <a:ext cx="10515600" cy="411480"/>
          </a:xfrm>
          <a:prstGeom prst="rect">
            <a:avLst/>
          </a:prstGeom>
          <a:noFill/>
        </p:spPr>
        <p:txBody>
          <a:bodyPr wrap="none">
            <a:spAutoFit/>
          </a:bodyPr>
          <a:lstStyle/>
          <a:p>
            <a:r>
              <a:rPr sz="2000" b="1">
                <a:solidFill>
                  <a:srgbClr val="005091"/>
                </a:solidFill>
                <a:latin typeface="Microsoft YaHei UI"/>
              </a:rPr>
              <a:t>前沿探索：Reward-Guided Flow Matching (RLHF for Driving)</a:t>
            </a:r>
          </a:p>
        </p:txBody>
      </p:sp>
      <p:sp>
        <p:nvSpPr>
          <p:cNvPr id="5" name="TextBox 4"/>
          <p:cNvSpPr txBox="1"/>
          <p:nvPr/>
        </p:nvSpPr>
        <p:spPr>
          <a:xfrm>
            <a:off x="182880" y="274320"/>
            <a:ext cx="10515600" cy="365760"/>
          </a:xfrm>
          <a:prstGeom prst="rect">
            <a:avLst/>
          </a:prstGeom>
          <a:noFill/>
        </p:spPr>
        <p:txBody>
          <a:bodyPr wrap="none">
            <a:spAutoFit/>
          </a:bodyPr>
          <a:lstStyle/>
          <a:p>
            <a:r>
              <a:rPr sz="1200" b="1">
                <a:solidFill>
                  <a:srgbClr val="0072C6"/>
                </a:solidFill>
                <a:latin typeface="Microsoft YaHei UI"/>
              </a:rPr>
              <a:t>创新点探索（下一代演进）</a:t>
            </a:r>
          </a:p>
        </p:txBody>
      </p:sp>
      <p:sp>
        <p:nvSpPr>
          <p:cNvPr id="6" name="TextBox 5"/>
          <p:cNvSpPr txBox="1"/>
          <p:nvPr/>
        </p:nvSpPr>
        <p:spPr>
          <a:xfrm>
            <a:off x="365760" y="1188720"/>
            <a:ext cx="10241280" cy="4572000"/>
          </a:xfrm>
          <a:prstGeom prst="rect">
            <a:avLst/>
          </a:prstGeom>
          <a:noFill/>
        </p:spPr>
        <p:txBody>
          <a:bodyPr wrap="square">
            <a:spAutoFit/>
          </a:bodyPr>
          <a:lstStyle/>
          <a:p>
            <a:r>
              <a:rPr sz="1200" b="1">
                <a:solidFill>
                  <a:srgbClr val="006EAF"/>
                </a:solidFill>
                <a:latin typeface="Microsoft YaHei UI"/>
              </a:rPr>
              <a:t>【现状痛点：生成与评价割裂】</a:t>
            </a:r>
          </a:p>
          <a:p>
            <a:r>
              <a:rPr sz="500" b="0">
                <a:solidFill>
                  <a:srgbClr val="333333"/>
                </a:solidFill>
                <a:latin typeface="Microsoft YaHei UI"/>
              </a:rPr>
              <a:t/>
            </a:r>
          </a:p>
          <a:p>
            <a:r>
              <a:rPr sz="1000">
                <a:solidFill>
                  <a:srgbClr val="333333"/>
                </a:solidFill>
                <a:latin typeface="Microsoft YaHei UI"/>
              </a:rPr>
              <a:t>• 痛点分析：Best-of-N 虽提供了坚实的安全兜底，但模型在训练阶段缺乏对物理边界的主动感知能力</a:t>
            </a:r>
          </a:p>
          <a:p>
            <a:r>
              <a:rPr sz="1000" b="0">
                <a:solidFill>
                  <a:srgbClr val="333333"/>
                </a:solidFill>
                <a:latin typeface="Microsoft YaHei UI"/>
              </a:rPr>
              <a:t>• 纯模仿学习（MSE/Flow Matching Loss）只会生搬硬套人类专家的轨迹，遇到长尾场景极易生成危险决策</a:t>
            </a:r>
          </a:p>
          <a:p>
            <a:r>
              <a:rPr sz="800" b="0">
                <a:solidFill>
                  <a:srgbClr val="333333"/>
                </a:solidFill>
                <a:latin typeface="Microsoft YaHei UI"/>
              </a:rPr>
              <a:t/>
            </a:r>
          </a:p>
          <a:p>
            <a:r>
              <a:rPr sz="1200" b="1">
                <a:solidFill>
                  <a:srgbClr val="006EAF"/>
                </a:solidFill>
                <a:latin typeface="Microsoft YaHei UI"/>
              </a:rPr>
              <a:t>【核心理念：自动驾驶领域的 RLHF / DPO】</a:t>
            </a:r>
          </a:p>
          <a:p>
            <a:r>
              <a:rPr sz="500" b="0">
                <a:solidFill>
                  <a:srgbClr val="333333"/>
                </a:solidFill>
                <a:latin typeface="Microsoft YaHei UI"/>
              </a:rPr>
              <a:t/>
            </a:r>
          </a:p>
          <a:p>
            <a:r>
              <a:rPr sz="1000" b="1">
                <a:solidFill>
                  <a:srgbClr val="333333"/>
                </a:solidFill>
                <a:latin typeface="Microsoft YaHei UI"/>
              </a:rPr>
              <a:t>借鉴大语言模型（LLM）的对齐思想，将物理世界的 5 维安全规则作为 Reward 信号，在训练闭环中直接打通！</a:t>
            </a:r>
          </a:p>
          <a:p>
            <a:r>
              <a:rPr sz="1000" b="0">
                <a:solidFill>
                  <a:srgbClr val="333333"/>
                </a:solidFill>
                <a:latin typeface="Microsoft YaHei UI"/>
              </a:rPr>
              <a:t>• 运作机制：模型尝试生成轨迹 → 后端用物理引擎打分（TTC/碰撞等）→ 计算 Reward → 更新神经网络权重</a:t>
            </a:r>
          </a:p>
          <a:p>
            <a:r>
              <a:rPr sz="1000" b="0">
                <a:solidFill>
                  <a:srgbClr val="333333"/>
                </a:solidFill>
                <a:latin typeface="Microsoft YaHei UI"/>
              </a:rPr>
              <a:t>• 技术破局（Diffusion-DPO）：由于物理引擎不可导（无法反向传播），通过构建偏好数据对</a:t>
            </a:r>
          </a:p>
          <a:p>
            <a:r>
              <a:rPr sz="1000" b="0">
                <a:solidFill>
                  <a:srgbClr val="005091"/>
                </a:solidFill>
                <a:latin typeface="Microsoft YaHei UI"/>
              </a:rPr>
              <a:t>  （安全轨迹 vs 危险轨迹）直接优化偏好概率，从根本上改变模型输出概率分布的 Vector Field</a:t>
            </a:r>
          </a:p>
          <a:p>
            <a:r>
              <a:rPr sz="800" b="0">
                <a:solidFill>
                  <a:srgbClr val="333333"/>
                </a:solidFill>
                <a:latin typeface="Microsoft YaHei UI"/>
              </a:rPr>
              <a:t/>
            </a:r>
          </a:p>
          <a:p>
            <a:r>
              <a:rPr sz="1200" b="1">
                <a:solidFill>
                  <a:srgbClr val="006EAF"/>
                </a:solidFill>
                <a:latin typeface="Microsoft YaHei UI"/>
              </a:rPr>
              <a:t>【学术层级的降维打击（冲顶 NeurIPS 等级）】</a:t>
            </a:r>
          </a:p>
          <a:p>
            <a:r>
              <a:rPr sz="500" b="0">
                <a:solidFill>
                  <a:srgbClr val="333333"/>
                </a:solidFill>
                <a:latin typeface="Microsoft YaHei UI"/>
              </a:rPr>
              <a:t/>
            </a:r>
          </a:p>
          <a:p>
            <a:r>
              <a:rPr sz="1000">
                <a:solidFill>
                  <a:srgbClr val="333333"/>
                </a:solidFill>
                <a:latin typeface="Microsoft YaHei UI"/>
              </a:rPr>
              <a:t>经典架构（如 PDM-Hybrid、Diffusion Planner）仍依赖耗时的“基于规则的事后过滤”或“启发式搜索”</a:t>
            </a:r>
          </a:p>
          <a:p>
            <a:r>
              <a:rPr sz="1000">
                <a:solidFill>
                  <a:srgbClr val="333333"/>
                </a:solidFill>
                <a:latin typeface="Microsoft YaHei UI"/>
              </a:rPr>
              <a:t>目前学界（如 TrajHF、MuDi-Pro）正刚起步探索轨迹的偏好对齐。若我们能在量产级 5 维打分上跑通此框架：</a:t>
            </a:r>
          </a:p>
          <a:p>
            <a:r>
              <a:rPr sz="1000" b="0">
                <a:solidFill>
                  <a:srgbClr val="E65100"/>
                </a:solidFill>
                <a:latin typeface="Microsoft YaHei UI"/>
              </a:rPr>
              <a:t>  ① 理论上可以抛弃耗时的 Best-of-N 推理，因为单次生成的轨迹本身就是数学上保证了的最优 / 最安全模式</a:t>
            </a:r>
          </a:p>
          <a:p>
            <a:r>
              <a:rPr sz="1000" b="0">
                <a:solidFill>
                  <a:srgbClr val="E65100"/>
                </a:solidFill>
                <a:latin typeface="Microsoft YaHei UI"/>
              </a:rPr>
              <a:t>  ② 完全打通了从“学人开车”到“理解安全底线”的关键鸿沟</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sz="2000" b="1">
                <a:latin typeface="Microsoft YaHei UI" panose="020B0503020204020204" charset="-122"/>
              </a:rPr>
              <a:t> 跨域迁移学习（nuPlan → 公司数据）  📋 工程落地</a:t>
            </a:r>
            <a:endParaRPr sz="2000" b="1">
              <a:latin typeface="Microsoft YaHei UI" panose="020B0503020204020204" charset="-122"/>
            </a:endParaRPr>
          </a:p>
        </p:txBody>
      </p:sp>
      <p:sp>
        <p:nvSpPr>
          <p:cNvPr id="3" name="文本占位符 2"/>
          <p:cNvSpPr>
            <a:spLocks noGrp="1"/>
          </p:cNvSpPr>
          <p:nvPr>
            <p:ph type="body" sz="quarter" idx="15"/>
          </p:nvPr>
        </p:nvSpPr>
        <p:spPr/>
        <p:txBody>
          <a:bodyPr/>
          <a:lstStyle/>
          <a:p>
            <a:r>
              <a:rPr sz="1200" b="1">
                <a:latin typeface="Microsoft YaHei UI" panose="020B0503020204020204" charset="-122"/>
              </a:rPr>
              <a:t>技术方案</a:t>
            </a:r>
            <a:endParaRPr lang="en-US"/>
          </a:p>
        </p:txBody>
      </p:sp>
      <p:sp>
        <p:nvSpPr>
          <p:cNvPr id="5" name="灯片编号占位符 4"/>
          <p:cNvSpPr>
            <a:spLocks noGrp="1"/>
          </p:cNvSpPr>
          <p:nvPr>
            <p:ph type="sldNum" sz="quarter" idx="12"/>
          </p:nvPr>
        </p:nvSpPr>
        <p:spPr/>
        <p:txBody>
          <a:bodyPr/>
          <a:lstStyle/>
          <a:p>
            <a:r>
              <a:rPr sz="1000">
                <a:latin typeface="Microsoft YaHei UI" panose="020B0503020204020204" charset="-122"/>
              </a:rPr>
              <a:t>21</a:t>
            </a:r>
            <a:endParaRPr lang="en-US" noProof="1"/>
          </a:p>
        </p:txBody>
      </p:sp>
      <p:grpSp>
        <p:nvGrpSpPr>
          <p:cNvPr id="4" name="Group 3"/>
          <p:cNvGrpSpPr/>
          <p:nvPr/>
        </p:nvGrpSpPr>
        <p:grpSpPr>
          <a:xfrm>
            <a:off x="4063112" y="3085304"/>
            <a:ext cx="2700968" cy="1701379"/>
            <a:chOff x="1011168" y="2691402"/>
            <a:chExt cx="2558968" cy="1466666"/>
          </a:xfrm>
        </p:grpSpPr>
        <p:pic>
          <p:nvPicPr>
            <p:cNvPr id="2052" name="Picture 4"/>
            <p:cNvPicPr>
              <a:picLocks noChangeAspect="1" noChangeArrowheads="1"/>
            </p:cNvPicPr>
            <p:nvPr/>
          </p:nvPicPr>
          <p:blipFill rotWithShape="1">
            <a:blip r:embed="rId1">
              <a:extLst>
                <a:ext uri="{28A0092B-C50C-407E-A947-70E740481C1C}">
                  <a14:useLocalDpi xmlns:a14="http://schemas.microsoft.com/office/drawing/2010/main" val="0"/>
                </a:ext>
              </a:extLst>
            </a:blip>
            <a:srcRect b="662"/>
            <a:stretch>
              <a:fillRect/>
            </a:stretch>
          </p:blipFill>
          <p:spPr bwMode="auto">
            <a:xfrm>
              <a:off x="1011168" y="2691402"/>
              <a:ext cx="2558968" cy="1466666"/>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Connector 6"/>
            <p:cNvCxnSpPr/>
            <p:nvPr/>
          </p:nvCxnSpPr>
          <p:spPr>
            <a:xfrm flipH="1" flipV="1">
              <a:off x="1011168" y="3271692"/>
              <a:ext cx="976659" cy="557552"/>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a:endCxn id="2052" idx="3"/>
            </p:cNvCxnSpPr>
            <p:nvPr/>
          </p:nvCxnSpPr>
          <p:spPr>
            <a:xfrm flipV="1">
              <a:off x="2070334" y="3424735"/>
              <a:ext cx="1499802" cy="42467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1" name="Arrow: Right 10"/>
          <p:cNvSpPr/>
          <p:nvPr/>
        </p:nvSpPr>
        <p:spPr>
          <a:xfrm>
            <a:off x="3389831" y="3880032"/>
            <a:ext cx="566131" cy="145338"/>
          </a:xfrm>
          <a:prstGeom prst="rightArrow">
            <a:avLst/>
          </a:prstGeom>
          <a:solidFill>
            <a:srgbClr val="7030A0"/>
          </a:solidFill>
          <a:ln w="9525" cap="flat" cmpd="sng" algn="ctr">
            <a:solidFill>
              <a:srgbClr val="3F136C"/>
            </a:solidFill>
            <a:prstDash val="solid"/>
          </a:ln>
          <a:effectLst/>
        </p:spPr>
        <p:txBody>
          <a:bodyPr rtlCol="0" anchor="ctr"/>
          <a:lstStyle/>
          <a:p>
            <a:pPr marL="0" marR="0" indent="0" algn="ctr" defTabSz="914400" eaLnBrk="1" fontAlgn="auto" latinLnBrk="0" hangingPunct="1">
              <a:lnSpc>
                <a:spcPct val="100000"/>
              </a:lnSpc>
              <a:spcBef>
                <a:spcPts val="0"/>
              </a:spcBef>
              <a:spcAft>
                <a:spcPts val="0"/>
              </a:spcAft>
              <a:buClrTx/>
              <a:buSzTx/>
              <a:buFontTx/>
              <a:buNone/>
            </a:pPr>
            <a:endParaRPr kumimoji="0" lang="en-US" sz="1800" b="0" i="0" u="none" strike="noStrike" kern="0" cap="none" spc="0" normalizeH="0" baseline="0" noProof="0">
              <a:ln>
                <a:noFill/>
              </a:ln>
              <a:solidFill>
                <a:srgbClr val="000000"/>
              </a:solidFill>
              <a:effectLst/>
              <a:uLnTx/>
              <a:uFillTx/>
              <a:latin typeface="Bosch Office Sans"/>
              <a:ea typeface="+mn-ea"/>
              <a:cs typeface="+mn-cs"/>
            </a:endParaRPr>
          </a:p>
        </p:txBody>
      </p:sp>
      <p:sp>
        <p:nvSpPr>
          <p:cNvPr id="12" name="Arrow: Right 11"/>
          <p:cNvSpPr/>
          <p:nvPr/>
        </p:nvSpPr>
        <p:spPr>
          <a:xfrm>
            <a:off x="6930597" y="3880032"/>
            <a:ext cx="566131" cy="145338"/>
          </a:xfrm>
          <a:prstGeom prst="rightArrow">
            <a:avLst/>
          </a:prstGeom>
          <a:solidFill>
            <a:srgbClr val="7030A0"/>
          </a:solidFill>
          <a:ln w="9525" cap="flat" cmpd="sng" algn="ctr">
            <a:solidFill>
              <a:srgbClr val="3F136C"/>
            </a:solidFill>
            <a:prstDash val="solid"/>
          </a:ln>
          <a:effectLst/>
        </p:spPr>
        <p:txBody>
          <a:bodyPr rtlCol="0" anchor="ctr"/>
          <a:lstStyle/>
          <a:p>
            <a:pPr marL="0" marR="0" indent="0" algn="ctr" defTabSz="914400" eaLnBrk="1" fontAlgn="auto" latinLnBrk="0" hangingPunct="1">
              <a:lnSpc>
                <a:spcPct val="100000"/>
              </a:lnSpc>
              <a:spcBef>
                <a:spcPts val="0"/>
              </a:spcBef>
              <a:spcAft>
                <a:spcPts val="0"/>
              </a:spcAft>
              <a:buClrTx/>
              <a:buSzTx/>
              <a:buFontTx/>
              <a:buNone/>
            </a:pPr>
            <a:endParaRPr kumimoji="0" lang="en-US" sz="1800" b="0" i="0" u="none" strike="noStrike" kern="0" cap="none" spc="0" normalizeH="0" baseline="0" noProof="0">
              <a:ln>
                <a:noFill/>
              </a:ln>
              <a:solidFill>
                <a:srgbClr val="000000"/>
              </a:solidFill>
              <a:effectLst/>
              <a:uLnTx/>
              <a:uFillTx/>
              <a:latin typeface="Bosch Office Sans"/>
              <a:ea typeface="+mn-ea"/>
              <a:cs typeface="+mn-cs"/>
            </a:endParaRPr>
          </a:p>
        </p:txBody>
      </p:sp>
      <p:grpSp>
        <p:nvGrpSpPr>
          <p:cNvPr id="30" name="Group 29"/>
          <p:cNvGrpSpPr/>
          <p:nvPr/>
        </p:nvGrpSpPr>
        <p:grpSpPr>
          <a:xfrm>
            <a:off x="7662247" y="3001501"/>
            <a:ext cx="2844090" cy="1789587"/>
            <a:chOff x="7662247" y="3001501"/>
            <a:chExt cx="2844090" cy="1789587"/>
          </a:xfrm>
        </p:grpSpPr>
        <p:pic>
          <p:nvPicPr>
            <p:cNvPr id="16" name="Picture 15"/>
            <p:cNvPicPr>
              <a:picLocks noChangeAspect="1"/>
            </p:cNvPicPr>
            <p:nvPr/>
          </p:nvPicPr>
          <p:blipFill>
            <a:blip r:embed="rId2"/>
            <a:stretch>
              <a:fillRect/>
            </a:stretch>
          </p:blipFill>
          <p:spPr>
            <a:xfrm>
              <a:off x="7741760" y="3001501"/>
              <a:ext cx="2630165" cy="1013410"/>
            </a:xfrm>
            <a:prstGeom prst="rect">
              <a:avLst/>
            </a:prstGeom>
          </p:spPr>
        </p:pic>
        <p:cxnSp>
          <p:nvCxnSpPr>
            <p:cNvPr id="18" name="Straight Arrow Connector 17"/>
            <p:cNvCxnSpPr/>
            <p:nvPr/>
          </p:nvCxnSpPr>
          <p:spPr>
            <a:xfrm>
              <a:off x="8173940" y="4025370"/>
              <a:ext cx="0" cy="26833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a:off x="9049197" y="4025370"/>
              <a:ext cx="0" cy="26833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a:off x="9907325" y="4025370"/>
              <a:ext cx="0" cy="26833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8" name="Group 27"/>
            <p:cNvGrpSpPr/>
            <p:nvPr/>
          </p:nvGrpSpPr>
          <p:grpSpPr>
            <a:xfrm>
              <a:off x="7662247" y="4351870"/>
              <a:ext cx="2844090" cy="439218"/>
              <a:chOff x="7662247" y="4351870"/>
              <a:chExt cx="2844090" cy="439218"/>
            </a:xfrm>
          </p:grpSpPr>
          <p:pic>
            <p:nvPicPr>
              <p:cNvPr id="25" name="Picture 24"/>
              <p:cNvPicPr>
                <a:picLocks noChangeAspect="1"/>
              </p:cNvPicPr>
              <p:nvPr/>
            </p:nvPicPr>
            <p:blipFill>
              <a:blip r:embed="rId3"/>
              <a:stretch>
                <a:fillRect/>
              </a:stretch>
            </p:blipFill>
            <p:spPr>
              <a:xfrm>
                <a:off x="7670959" y="4351870"/>
                <a:ext cx="2700966" cy="285839"/>
              </a:xfrm>
              <a:prstGeom prst="rect">
                <a:avLst/>
              </a:prstGeom>
            </p:spPr>
          </p:pic>
          <p:pic>
            <p:nvPicPr>
              <p:cNvPr id="26" name="Picture 25"/>
              <p:cNvPicPr>
                <a:picLocks noChangeAspect="1"/>
              </p:cNvPicPr>
              <p:nvPr/>
            </p:nvPicPr>
            <p:blipFill>
              <a:blip r:embed="rId3"/>
              <a:stretch>
                <a:fillRect/>
              </a:stretch>
            </p:blipFill>
            <p:spPr>
              <a:xfrm>
                <a:off x="7805371" y="4505249"/>
                <a:ext cx="2700966" cy="285839"/>
              </a:xfrm>
              <a:prstGeom prst="rect">
                <a:avLst/>
              </a:prstGeom>
            </p:spPr>
          </p:pic>
          <p:sp>
            <p:nvSpPr>
              <p:cNvPr id="27" name="TextBox 26"/>
              <p:cNvSpPr txBox="1"/>
              <p:nvPr/>
            </p:nvSpPr>
            <p:spPr>
              <a:xfrm rot="2262702">
                <a:off x="7662247" y="4616822"/>
                <a:ext cx="302149" cy="167969"/>
              </a:xfrm>
              <a:prstGeom prst="rect">
                <a:avLst/>
              </a:prstGeom>
              <a:noFill/>
            </p:spPr>
            <p:txBody>
              <a:bodyPr wrap="square" lIns="0" tIns="0" rIns="0" bIns="0" rtlCol="0">
                <a:noAutofit/>
              </a:bodyPr>
              <a:lstStyle/>
              <a:p>
                <a:pPr marR="0" algn="l" defTabSz="914400" eaLnBrk="1" fontAlgn="auto" latinLnBrk="0" hangingPunct="1">
                  <a:spcBef>
                    <a:spcPts val="500"/>
                  </a:spcBef>
                  <a:spcAft>
                    <a:spcPts val="0"/>
                  </a:spcAft>
                  <a:buClrTx/>
                  <a:buSzTx/>
                  <a:buFontTx/>
                  <a:buNone/>
                </a:pPr>
                <a:r>
                  <a:rPr kumimoji="0" lang="en-US" sz="1200" b="0" i="0" u="none" strike="noStrike" kern="0" cap="none" spc="0" normalizeH="0" baseline="0" noProof="0">
                    <a:ln>
                      <a:noFill/>
                    </a:ln>
                    <a:solidFill>
                      <a:srgbClr val="000000"/>
                    </a:solidFill>
                    <a:effectLst/>
                    <a:uLnTx/>
                    <a:uFillTx/>
                  </a:rPr>
                  <a:t>…</a:t>
                </a:r>
                <a:endParaRPr kumimoji="0" lang="en-US" sz="1200" b="0" i="0" u="none" strike="noStrike" kern="0" cap="none" spc="0" normalizeH="0" baseline="0" noProof="0">
                  <a:ln>
                    <a:noFill/>
                  </a:ln>
                  <a:solidFill>
                    <a:srgbClr val="000000"/>
                  </a:solidFill>
                  <a:effectLst/>
                  <a:uLnTx/>
                  <a:uFillTx/>
                </a:endParaRPr>
              </a:p>
            </p:txBody>
          </p:sp>
        </p:grpSp>
      </p:grpSp>
      <p:sp>
        <p:nvSpPr>
          <p:cNvPr id="2053" name="TextBox 2052"/>
          <p:cNvSpPr txBox="1"/>
          <p:nvPr/>
        </p:nvSpPr>
        <p:spPr>
          <a:xfrm>
            <a:off x="548481" y="1357534"/>
            <a:ext cx="9872662" cy="4442841"/>
          </a:xfrm>
          <a:prstGeom prst="rect">
            <a:avLst/>
          </a:prstGeom>
          <a:noFill/>
        </p:spPr>
        <p:txBody>
          <a:bodyPr wrap="square">
            <a:spAutoFit/>
          </a:bodyPr>
          <a:lstStyle/>
          <a:p>
            <a:pPr>
              <a:lnSpc>
                <a:spcPts val="1600"/>
              </a:lnSpc>
              <a:spcBef>
                <a:spcPts val="800"/>
              </a:spcBef>
              <a:spcAft>
                <a:spcPts val="300"/>
              </a:spcAft>
            </a:pPr>
            <a:r>
              <a:rPr sz="1000" b="0">
                <a:latin typeface="Microsoft YaHei UI" panose="020B0503020204020204" charset="-122"/>
              </a:rPr>
              <a:t>核心思想：先在美国学开车，再到中国适应本地路况</a:t>
            </a:r>
            <a:endParaRPr sz="1000" b="0">
              <a:latin typeface="Microsoft YaHei UI" panose="020B0503020204020204" charset="-122"/>
            </a:endParaRPr>
          </a:p>
          <a:p>
            <a:endParaRPr sz="1000"/>
          </a:p>
          <a:p>
            <a:r>
              <a:rPr sz="1000" b="0">
                <a:latin typeface="Microsoft YaHei UI" panose="020B0503020204020204" charset="-122"/>
              </a:rPr>
              <a:t>Stage 1: nuPlan 预训练（学习通用驾驶能力）</a:t>
            </a:r>
            <a:endParaRPr sz="1000" b="0">
              <a:latin typeface="Microsoft YaHei UI" panose="020B0503020204020204" charset="-122"/>
            </a:endParaRPr>
          </a:p>
          <a:p>
            <a:r>
              <a:rPr sz="1000" b="0">
                <a:latin typeface="Microsoft YaHei UI" panose="020B0503020204020204" charset="-122"/>
              </a:rPr>
              <a:t>• 在 nuPlan 4城市、100万+ 场景上训练基线模型</a:t>
            </a:r>
            <a:endParaRPr sz="1000" b="0">
              <a:latin typeface="Microsoft YaHei UI" panose="020B0503020204020204" charset="-122"/>
            </a:endParaRPr>
          </a:p>
          <a:p>
            <a:r>
              <a:rPr sz="1000" b="0">
                <a:latin typeface="Microsoft YaHei UI" panose="020B0503020204020204" charset="-122"/>
              </a:rPr>
              <a:t>• 学会通用能力：跟车、变道、转弯、避障</a:t>
            </a:r>
            <a:endParaRPr sz="1000" b="0">
              <a:latin typeface="Microsoft YaHei UI" panose="020B0503020204020204" charset="-122"/>
            </a:endParaRPr>
          </a:p>
          <a:p>
            <a:r>
              <a:rPr sz="1000" b="0">
                <a:latin typeface="Microsoft YaHei UI" panose="020B0503020204020204" charset="-122"/>
              </a:rPr>
              <a:t>• 目标: Val14 NR ≥ 90（已接近达到）</a:t>
            </a:r>
            <a:endParaRPr sz="1000" b="0">
              <a:latin typeface="Microsoft YaHei UI" panose="020B0503020204020204" charset="-122"/>
            </a:endParaRPr>
          </a:p>
          <a:p>
            <a:endParaRPr sz="1000"/>
          </a:p>
          <a:p>
            <a:r>
              <a:rPr sz="1000" b="0">
                <a:latin typeface="Microsoft YaHei UI" panose="020B0503020204020204" charset="-122"/>
              </a:rPr>
              <a:t>Stage 2: 公司数据微调（适应本地场景）</a:t>
            </a:r>
            <a:endParaRPr sz="1000" b="0">
              <a:latin typeface="Microsoft YaHei UI" panose="020B0503020204020204" charset="-122"/>
            </a:endParaRPr>
          </a:p>
          <a:p>
            <a:r>
              <a:rPr sz="1000" b="0">
                <a:latin typeface="Microsoft YaHei UI" panose="020B0503020204020204" charset="-122"/>
              </a:rPr>
              <a:t>• 冻结Encoder浅层（保留通用特征），微调深层和Decoder</a:t>
            </a:r>
            <a:endParaRPr sz="1000" b="0">
              <a:latin typeface="Microsoft YaHei UI" panose="020B0503020204020204" charset="-122"/>
            </a:endParaRPr>
          </a:p>
          <a:p>
            <a:r>
              <a:rPr sz="1000" b="0">
                <a:latin typeface="Microsoft YaHei UI" panose="020B0503020204020204" charset="-122"/>
              </a:rPr>
              <a:t>• Domain-Adaptive Normalization: 为公司数据学习独立的BN统计量</a:t>
            </a:r>
            <a:endParaRPr sz="1000" b="0">
              <a:latin typeface="Microsoft YaHei UI" panose="020B0503020204020204" charset="-122"/>
            </a:endParaRPr>
          </a:p>
          <a:p>
            <a:r>
              <a:rPr sz="1000" b="0">
                <a:latin typeface="Microsoft YaHei UI" panose="020B0503020204020204" charset="-122"/>
              </a:rPr>
              <a:t>• 数据对齐: 统一坐标系定义、传感器布局适配、场景标注规范</a:t>
            </a:r>
            <a:endParaRPr sz="1000" b="0">
              <a:latin typeface="Microsoft YaHei UI" panose="020B0503020204020204" charset="-122"/>
            </a:endParaRPr>
          </a:p>
          <a:p>
            <a:endParaRPr sz="1000"/>
          </a:p>
          <a:p>
            <a:r>
              <a:rPr sz="1000" b="0">
                <a:latin typeface="Microsoft YaHei UI" panose="020B0503020204020204" charset="-122"/>
              </a:rPr>
              <a:t>优势：</a:t>
            </a:r>
            <a:endParaRPr sz="1000" b="0">
              <a:latin typeface="Microsoft YaHei UI" panose="020B0503020204020204" charset="-122"/>
            </a:endParaRPr>
          </a:p>
          <a:p>
            <a:r>
              <a:rPr sz="1000" b="0">
                <a:latin typeface="Microsoft YaHei UI" panose="020B0503020204020204" charset="-122"/>
              </a:rPr>
              <a:t>• 降低数据需求：不需从零收集百万级数据</a:t>
            </a:r>
            <a:endParaRPr sz="1000" b="0">
              <a:latin typeface="Microsoft YaHei UI" panose="020B0503020204020204" charset="-122"/>
            </a:endParaRPr>
          </a:p>
          <a:p>
            <a:r>
              <a:rPr sz="1000" b="0">
                <a:latin typeface="Microsoft YaHei UI" panose="020B0503020204020204" charset="-122"/>
              </a:rPr>
              <a:t>• 缩短开发周期：预训练模型提供强大初始化</a:t>
            </a:r>
            <a:endParaRPr sz="1000" b="0">
              <a:latin typeface="Microsoft YaHei UI" panose="020B0503020204020204" charset="-122"/>
            </a:endParaRPr>
          </a:p>
          <a:p>
            <a:r>
              <a:rPr sz="1000" b="0">
                <a:latin typeface="Microsoft YaHei UI" panose="020B0503020204020204" charset="-122"/>
              </a:rPr>
              <a:t>• 保留通用能力 + 获得本地适应性</a:t>
            </a:r>
            <a:endParaRPr sz="1000" b="0">
              <a:latin typeface="Microsoft YaHei UI" panose="020B0503020204020204" charset="-122"/>
            </a:endParaRPr>
          </a:p>
          <a:p>
            <a:endParaRPr sz="1000"/>
          </a:p>
          <a:p>
            <a:r>
              <a:rPr sz="1000" b="0">
                <a:latin typeface="Microsoft YaHei UI" panose="020B0503020204020204" charset="-122"/>
              </a:rPr>
              <a:t>关键挑战：传感器域差异 | 场景分布差异 | 数据量差异（防过拟合）</a:t>
            </a:r>
            <a:endParaRPr sz="1000" b="0">
              <a:latin typeface="Microsoft YaHei UI" panose="020B050302020402020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sz="2000" b="1" i="0">
                <a:latin typeface="Microsoft YaHei UI" panose="020B0503020204020204" charset="-122"/>
              </a:rPr>
              <a:t>项目时间规划 (10个月)</a:t>
            </a:r>
            <a:endParaRPr sz="2000" b="1">
              <a:latin typeface="Microsoft YaHei UI" panose="020B0503020204020204" charset="-122"/>
            </a:endParaRPr>
          </a:p>
        </p:txBody>
      </p:sp>
      <p:sp>
        <p:nvSpPr>
          <p:cNvPr id="3" name="文本占位符 2"/>
          <p:cNvSpPr>
            <a:spLocks noGrp="1"/>
          </p:cNvSpPr>
          <p:nvPr>
            <p:ph type="body" sz="quarter" idx="15"/>
          </p:nvPr>
        </p:nvSpPr>
        <p:spPr/>
        <p:txBody>
          <a:bodyPr/>
          <a:lstStyle/>
          <a:p>
            <a:r>
              <a:rPr lang="zh-CN" altLang="en-US" sz="1200" b="1" i="0">
                <a:solidFill>
                  <a:srgbClr val="0072C6"/>
                </a:solidFill>
                <a:latin typeface="Microsoft YaHei UI" panose="020B0503020204020204" charset="-122"/>
              </a:rPr>
              <a:t>技术方案</a:t>
            </a:r>
            <a:endParaRPr lang="en-US"/>
          </a:p>
        </p:txBody>
      </p:sp>
      <p:sp>
        <p:nvSpPr>
          <p:cNvPr id="5" name="灯片编号占位符 4"/>
          <p:cNvSpPr>
            <a:spLocks noGrp="1"/>
          </p:cNvSpPr>
          <p:nvPr>
            <p:ph type="sldNum" sz="quarter" idx="12"/>
          </p:nvPr>
        </p:nvSpPr>
        <p:spPr/>
        <p:txBody>
          <a:bodyPr/>
          <a:lstStyle/>
          <a:p>
            <a:r>
              <a:rPr sz="1000">
                <a:latin typeface="Microsoft YaHei UI" panose="020B0503020204020204" charset="-122"/>
              </a:rPr>
              <a:t>24</a:t>
            </a:r>
            <a:endParaRPr lang="en-US" noProof="1"/>
          </a:p>
        </p:txBody>
      </p:sp>
      <p:sp>
        <p:nvSpPr>
          <p:cNvPr id="15" name="TextBox 14"/>
          <p:cNvSpPr txBox="1"/>
          <p:nvPr/>
        </p:nvSpPr>
        <p:spPr>
          <a:xfrm>
            <a:off x="547846" y="1222914"/>
            <a:ext cx="9872662" cy="2963545"/>
          </a:xfrm>
          <a:prstGeom prst="rect">
            <a:avLst/>
          </a:prstGeom>
          <a:noFill/>
        </p:spPr>
        <p:txBody>
          <a:bodyPr wrap="square">
            <a:spAutoFit/>
          </a:bodyPr>
          <a:lstStyle/>
          <a:p>
            <a:pPr>
              <a:lnSpc>
                <a:spcPts val="1600"/>
              </a:lnSpc>
              <a:spcBef>
                <a:spcPts val="800"/>
              </a:spcBef>
              <a:spcAft>
                <a:spcPts val="300"/>
              </a:spcAft>
            </a:pPr>
            <a:r>
              <a:rPr sz="1100" b="1" i="0">
                <a:solidFill>
                  <a:schemeClr val="tx1"/>
                </a:solidFill>
                <a:latin typeface="Microsoft YaHei UI" panose="020B0503020204020204" charset="-122"/>
              </a:rPr>
              <a:t>第一阶段（基线复现）| 第1-3月
  • nuPlan全量数据预处理 → Flow Planner基线复现 → Val14 NR≥90
第二阶段（创新研发）| 第4-6月
  • 自适应CFG模块开发 + 安全约束引导方案实现 + 消融实验
  • 目标: Val14 NR&gt;91, InterPlan&gt;65
第三阶段（跨域迁移）| 第7-8月
  • 公司数据适配 + 迁移训练 + TensorRT量化
  • 目标: 公司仿真通过, 延迟&lt;50ms
第四阶段（实车验证）| 第9-10月
  • Orin平台部署 + 实车路口场景调试 + 论文撰写
  • 目标: 实车验证通过, </a:t>
            </a:r>
            <a:r>
              <a:rPr lang="zh-CN" sz="1100" b="1" i="0">
                <a:solidFill>
                  <a:schemeClr val="tx1"/>
                </a:solidFill>
                <a:latin typeface="Microsoft YaHei UI" panose="020B0503020204020204" charset="-122"/>
              </a:rPr>
              <a:t>发表</a:t>
            </a:r>
            <a:r>
              <a:rPr lang="zh-CN" sz="1100" b="1" i="0">
                <a:solidFill>
                  <a:schemeClr val="tx1"/>
                </a:solidFill>
                <a:latin typeface="Microsoft YaHei UI" panose="020B0503020204020204" charset="-122"/>
              </a:rPr>
              <a:t>专利</a:t>
            </a:r>
            <a:endParaRPr lang="zh-CN" sz="1100" b="1" i="0">
              <a:solidFill>
                <a:schemeClr val="tx1"/>
              </a:solidFill>
              <a:latin typeface="Microsoft YaHei UI" panose="020B050302020402020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658556" y="329082"/>
            <a:ext cx="9461119" cy="478155"/>
          </a:xfrm>
          <a:prstGeom prst="rect">
            <a:avLst/>
          </a:prstGeom>
          <a:noFill/>
        </p:spPr>
        <p:txBody>
          <a:bodyPr wrap="square">
            <a:spAutoFit/>
          </a:bodyPr>
          <a:lstStyle/>
          <a:p>
            <a:pPr>
              <a:defRPr sz="2800" b="1">
                <a:solidFill>
                  <a:srgbClr val="FFFFFF"/>
                </a:solidFill>
              </a:defRPr>
            </a:pPr>
            <a:r>
              <a:rPr sz="2520">
                <a:latin typeface="Microsoft YaHei UI" panose="020B0503020204020204" charset="-122"/>
              </a:rPr>
              <a:t>我们的创新 vs 现有方法（更新版）</a:t>
            </a:r>
            <a:endParaRPr sz="2520"/>
          </a:p>
        </p:txBody>
      </p:sp>
      <p:sp>
        <p:nvSpPr>
          <p:cNvPr id="3" name="TextBox 2"/>
          <p:cNvSpPr txBox="1"/>
          <p:nvPr/>
        </p:nvSpPr>
        <p:spPr>
          <a:xfrm>
            <a:off x="499171" y="475082"/>
            <a:ext cx="2903220" cy="365125"/>
          </a:xfrm>
          <a:prstGeom prst="rect">
            <a:avLst/>
          </a:prstGeom>
          <a:noFill/>
        </p:spPr>
        <p:txBody>
          <a:bodyPr wrap="none">
            <a:spAutoFit/>
          </a:bodyPr>
          <a:lstStyle/>
          <a:p>
            <a:pPr algn="l" defTabSz="914400" fontAlgn="auto">
              <a:lnSpc>
                <a:spcPct val="89000"/>
              </a:lnSpc>
              <a:buClrTx/>
              <a:buSzTx/>
              <a:buFontTx/>
            </a:pPr>
            <a:r>
              <a:rPr sz="2000" b="1" i="0">
                <a:solidFill>
                  <a:schemeClr val="accent1"/>
                </a:solidFill>
                <a:latin typeface="Microsoft YaHei UI" panose="020B0503020204020204" charset="-122"/>
                <a:ea typeface="+mj-ea"/>
                <a:cs typeface="+mj-cs"/>
                <a:sym typeface="+mn-ea"/>
              </a:rPr>
              <a:t>我们的创新 vs 现有方法</a:t>
            </a:r>
            <a:endParaRPr sz="2000" b="1" i="0">
              <a:solidFill>
                <a:schemeClr val="accent1"/>
              </a:solidFill>
              <a:latin typeface="Microsoft YaHei UI" panose="020B0503020204020204" charset="-122"/>
              <a:ea typeface="+mj-ea"/>
              <a:cs typeface="+mj-cs"/>
              <a:sym typeface="+mn-ea"/>
            </a:endParaRPr>
          </a:p>
        </p:txBody>
      </p:sp>
      <p:sp>
        <p:nvSpPr>
          <p:cNvPr id="4" name="TextBox 3"/>
          <p:cNvSpPr txBox="1"/>
          <p:nvPr/>
        </p:nvSpPr>
        <p:spPr>
          <a:xfrm>
            <a:off x="589976" y="905129"/>
            <a:ext cx="9461119" cy="3769360"/>
          </a:xfrm>
          <a:prstGeom prst="rect">
            <a:avLst/>
          </a:prstGeom>
          <a:noFill/>
        </p:spPr>
        <p:txBody>
          <a:bodyPr wrap="square">
            <a:spAutoFit/>
          </a:bodyPr>
          <a:lstStyle/>
          <a:p>
            <a:pPr>
              <a:spcAft>
                <a:spcPts val="300"/>
              </a:spcAft>
              <a:defRPr sz="1600" b="1">
                <a:solidFill>
                  <a:srgbClr val="00D2FF"/>
                </a:solidFill>
              </a:defRPr>
            </a:pPr>
            <a:r>
              <a:rPr sz="800">
                <a:solidFill>
                  <a:schemeClr val="tx1"/>
                </a:solidFill>
                <a:latin typeface="Microsoft YaHei UI" panose="020B0503020204020204" charset="-122"/>
              </a:rPr>
              <a:t>创新点1：Scene-Adaptive CFG 引导权重（可申请专利）</a:t>
            </a:r>
            <a:endParaRPr sz="800">
              <a:solidFill>
                <a:schemeClr val="tx1"/>
              </a:solidFill>
            </a:endParaRPr>
          </a:p>
          <a:p>
            <a:pPr>
              <a:spcAft>
                <a:spcPts val="300"/>
              </a:spcAft>
              <a:defRPr sz="1200" b="0">
                <a:solidFill>
                  <a:srgbClr val="E0E0E0"/>
                </a:solidFill>
              </a:defRPr>
            </a:pPr>
            <a:r>
              <a:rPr sz="800">
                <a:solidFill>
                  <a:schemeClr val="tx1"/>
                </a:solidFill>
                <a:latin typeface="Microsoft YaHei UI" panose="020B0503020204020204" charset="-122"/>
              </a:rPr>
              <a:t>  现有方法：Flow Planner / Diffusion Planner 等均使用全局固定 w=1.8，完全不区分场景</a:t>
            </a:r>
            <a:endParaRPr sz="800">
              <a:solidFill>
                <a:schemeClr val="tx1"/>
              </a:solidFill>
            </a:endParaRPr>
          </a:p>
          <a:p>
            <a:pPr>
              <a:spcAft>
                <a:spcPts val="300"/>
              </a:spcAft>
              <a:defRPr sz="1200" b="0">
                <a:solidFill>
                  <a:srgbClr val="E0E0E0"/>
                </a:solidFill>
              </a:defRPr>
            </a:pPr>
            <a:r>
              <a:rPr sz="800">
                <a:solidFill>
                  <a:schemeClr val="tx1"/>
                </a:solidFill>
                <a:latin typeface="Microsoft YaHei UI" panose="020B0503020204020204" charset="-122"/>
              </a:rPr>
              <a:t>  我们的方案：参考 Tesla FSD 多专家架构思路，按 14 种场景类型学习最优的 CFG 引导权重</a:t>
            </a:r>
            <a:endParaRPr sz="800">
              <a:solidFill>
                <a:schemeClr val="tx1"/>
              </a:solidFill>
            </a:endParaRPr>
          </a:p>
          <a:p>
            <a:pPr>
              <a:spcAft>
                <a:spcPts val="300"/>
              </a:spcAft>
              <a:defRPr sz="1200" b="0">
                <a:solidFill>
                  <a:srgbClr val="00FF88"/>
                </a:solidFill>
              </a:defRPr>
            </a:pPr>
            <a:r>
              <a:rPr sz="800">
                <a:solidFill>
                  <a:schemeClr val="tx1"/>
                </a:solidFill>
                <a:latin typeface="Microsoft YaHei UI" panose="020B0503020204020204" charset="-122"/>
              </a:rPr>
              <a:t>  → 高速直道 w↓（少干预）| 密集路口 w↑（强感知）| 博弈变道 w↑↑（最大安全）</a:t>
            </a:r>
            <a:endParaRPr sz="800">
              <a:solidFill>
                <a:schemeClr val="tx1"/>
              </a:solidFill>
            </a:endParaRPr>
          </a:p>
          <a:p>
            <a:pPr>
              <a:spcAft>
                <a:spcPts val="300"/>
              </a:spcAft>
              <a:defRPr sz="1100" b="0">
                <a:solidFill>
                  <a:srgbClr val="A0A0A0"/>
                </a:solidFill>
              </a:defRPr>
            </a:pPr>
            <a:r>
              <a:rPr sz="800">
                <a:solidFill>
                  <a:schemeClr val="tx1"/>
                </a:solidFill>
                <a:latin typeface="Microsoft YaHei UI" panose="020B0503020204020204" charset="-122"/>
              </a:rPr>
              <a:t>  技术优势：免重训练（仅需 Grid Search + 5K 参数 MLP），完全可解释，零侵入原模型</a:t>
            </a:r>
            <a:endParaRPr sz="800">
              <a:solidFill>
                <a:schemeClr val="tx1"/>
              </a:solidFill>
            </a:endParaRPr>
          </a:p>
          <a:p>
            <a:pPr>
              <a:spcAft>
                <a:spcPts val="300"/>
              </a:spcAft>
              <a:defRPr sz="1000" b="0">
                <a:solidFill>
                  <a:srgbClr val="E0E0E0"/>
                </a:solidFill>
              </a:defRPr>
            </a:pPr>
            <a:endParaRPr sz="800">
              <a:solidFill>
                <a:schemeClr val="tx1"/>
              </a:solidFill>
            </a:endParaRPr>
          </a:p>
          <a:p>
            <a:pPr>
              <a:spcAft>
                <a:spcPts val="300"/>
              </a:spcAft>
              <a:defRPr sz="1600" b="1">
                <a:solidFill>
                  <a:srgbClr val="00D2FF"/>
                </a:solidFill>
              </a:defRPr>
            </a:pPr>
            <a:r>
              <a:rPr sz="800">
                <a:solidFill>
                  <a:schemeClr val="tx1"/>
                </a:solidFill>
                <a:latin typeface="Microsoft YaHei UI" panose="020B0503020204020204" charset="-122"/>
              </a:rPr>
              <a:t>创新点2：Best-of-N 多候选轨迹安全筛选（可申请专利）</a:t>
            </a:r>
            <a:endParaRPr sz="800">
              <a:solidFill>
                <a:schemeClr val="tx1"/>
              </a:solidFill>
            </a:endParaRPr>
          </a:p>
          <a:p>
            <a:pPr>
              <a:spcAft>
                <a:spcPts val="300"/>
              </a:spcAft>
              <a:defRPr sz="1200" b="0">
                <a:solidFill>
                  <a:srgbClr val="E0E0E0"/>
                </a:solidFill>
              </a:defRPr>
            </a:pPr>
            <a:r>
              <a:rPr sz="800">
                <a:solidFill>
                  <a:schemeClr val="tx1"/>
                </a:solidFill>
                <a:latin typeface="Microsoft YaHei UI" panose="020B0503020204020204" charset="-122"/>
              </a:rPr>
              <a:t>  现有方法：所有生成式规划器每步只输出 1 条轨迹，偶尔「犯蠢」时无兜底方案</a:t>
            </a:r>
            <a:endParaRPr sz="800">
              <a:solidFill>
                <a:schemeClr val="tx1"/>
              </a:solidFill>
            </a:endParaRPr>
          </a:p>
          <a:p>
            <a:pPr>
              <a:spcAft>
                <a:spcPts val="300"/>
              </a:spcAft>
              <a:defRPr sz="1200" b="0">
                <a:solidFill>
                  <a:srgbClr val="E0E0E0"/>
                </a:solidFill>
              </a:defRPr>
            </a:pPr>
            <a:r>
              <a:rPr sz="800">
                <a:solidFill>
                  <a:schemeClr val="tx1"/>
                </a:solidFill>
                <a:latin typeface="Microsoft YaHei UI" panose="020B0503020204020204" charset="-122"/>
              </a:rPr>
              <a:t>  我们的方案：每步生成 N=5 条候选，用 5 维安全打分器选最优（碰撞/TTC/路线/舒适/进度）</a:t>
            </a:r>
            <a:endParaRPr sz="800">
              <a:solidFill>
                <a:schemeClr val="tx1"/>
              </a:solidFill>
            </a:endParaRPr>
          </a:p>
          <a:p>
            <a:pPr>
              <a:spcAft>
                <a:spcPts val="300"/>
              </a:spcAft>
              <a:defRPr sz="1200" b="0">
                <a:solidFill>
                  <a:srgbClr val="00FF88"/>
                </a:solidFill>
              </a:defRPr>
            </a:pPr>
            <a:r>
              <a:rPr sz="800">
                <a:solidFill>
                  <a:schemeClr val="tx1"/>
                </a:solidFill>
                <a:latin typeface="Microsoft YaHei UI" panose="020B0503020204020204" charset="-122"/>
              </a:rPr>
              <a:t>  → Encoder 共享 + Decoder 并行，仅增加 ~30% 延迟，大幅消灭尾部碰撞事件</a:t>
            </a:r>
            <a:endParaRPr sz="800">
              <a:solidFill>
                <a:schemeClr val="tx1"/>
              </a:solidFill>
            </a:endParaRPr>
          </a:p>
          <a:p>
            <a:pPr>
              <a:spcAft>
                <a:spcPts val="300"/>
              </a:spcAft>
              <a:defRPr sz="1100" b="0">
                <a:solidFill>
                  <a:srgbClr val="A0A0A0"/>
                </a:solidFill>
              </a:defRPr>
            </a:pPr>
            <a:r>
              <a:rPr sz="800">
                <a:solidFill>
                  <a:schemeClr val="tx1"/>
                </a:solidFill>
                <a:latin typeface="Microsoft YaHei UI" panose="020B0503020204020204" charset="-122"/>
              </a:rPr>
              <a:t>  技术优势：即插即用，不改训练流程，适用于任何生成式规划模型</a:t>
            </a:r>
            <a:endParaRPr sz="800">
              <a:solidFill>
                <a:schemeClr val="tx1"/>
              </a:solidFill>
            </a:endParaRPr>
          </a:p>
          <a:p>
            <a:pPr>
              <a:spcAft>
                <a:spcPts val="300"/>
              </a:spcAft>
              <a:defRPr sz="1000" b="0">
                <a:solidFill>
                  <a:srgbClr val="E0E0E0"/>
                </a:solidFill>
              </a:defRPr>
            </a:pPr>
            <a:endParaRPr sz="800">
              <a:solidFill>
                <a:schemeClr val="tx1"/>
              </a:solidFill>
            </a:endParaRPr>
          </a:p>
          <a:p>
            <a:pPr>
              <a:spcAft>
                <a:spcPts val="300"/>
              </a:spcAft>
              <a:defRPr sz="1600" b="1">
                <a:solidFill>
                  <a:srgbClr val="00D2FF"/>
                </a:solidFill>
              </a:defRPr>
            </a:pPr>
            <a:r>
              <a:rPr sz="800">
                <a:solidFill>
                  <a:schemeClr val="tx1"/>
                </a:solidFill>
                <a:latin typeface="Microsoft YaHei UI" panose="020B0503020204020204" charset="-122"/>
              </a:rPr>
              <a:t>创新点4：Safety-Guided Flow Matching（可申请专利）</a:t>
            </a:r>
            <a:endParaRPr sz="800">
              <a:solidFill>
                <a:schemeClr val="tx1"/>
              </a:solidFill>
            </a:endParaRPr>
          </a:p>
          <a:p>
            <a:pPr>
              <a:spcAft>
                <a:spcPts val="300"/>
              </a:spcAft>
              <a:defRPr sz="1200" b="0">
                <a:solidFill>
                  <a:srgbClr val="E0E0E0"/>
                </a:solidFill>
              </a:defRPr>
            </a:pPr>
            <a:r>
              <a:rPr sz="800">
                <a:solidFill>
                  <a:schemeClr val="tx1"/>
                </a:solidFill>
                <a:latin typeface="Microsoft YaHei UI" panose="020B0503020204020204" charset="-122"/>
              </a:rPr>
              <a:t>  现有方法：纯模仿学习 + 事后规则裁剪（PDM-Hybrid），裁剪后轨迹不连贯</a:t>
            </a:r>
            <a:endParaRPr sz="800">
              <a:solidFill>
                <a:schemeClr val="tx1"/>
              </a:solidFill>
            </a:endParaRPr>
          </a:p>
          <a:p>
            <a:pPr>
              <a:spcAft>
                <a:spcPts val="300"/>
              </a:spcAft>
              <a:defRPr sz="1200" b="0">
                <a:solidFill>
                  <a:srgbClr val="E0E0E0"/>
                </a:solidFill>
              </a:defRPr>
            </a:pPr>
            <a:r>
              <a:rPr sz="800">
                <a:solidFill>
                  <a:schemeClr val="tx1"/>
                </a:solidFill>
                <a:latin typeface="Microsoft YaHei UI" panose="020B0503020204020204" charset="-122"/>
              </a:rPr>
              <a:t>  我们的方案：在 ODE 求解过程中注入安全约束梯度 v_safe = v_flow + λ·∇S(τ)</a:t>
            </a:r>
            <a:endParaRPr sz="800">
              <a:solidFill>
                <a:schemeClr val="tx1"/>
              </a:solidFill>
            </a:endParaRPr>
          </a:p>
          <a:p>
            <a:pPr>
              <a:spcAft>
                <a:spcPts val="300"/>
              </a:spcAft>
              <a:defRPr sz="1200" b="0">
                <a:solidFill>
                  <a:srgbClr val="00FF88"/>
                </a:solidFill>
              </a:defRPr>
            </a:pPr>
            <a:r>
              <a:rPr sz="800">
                <a:solidFill>
                  <a:schemeClr val="tx1"/>
                </a:solidFill>
                <a:latin typeface="Microsoft YaHei UI" panose="020B0503020204020204" charset="-122"/>
              </a:rPr>
              <a:t>  → 生成过程中就避碰，轨迹天然满足安全约束，无需后处理</a:t>
            </a:r>
            <a:endParaRPr sz="800">
              <a:solidFill>
                <a:schemeClr val="tx1"/>
              </a:solidFill>
            </a:endParaRPr>
          </a:p>
          <a:p>
            <a:pPr>
              <a:spcAft>
                <a:spcPts val="300"/>
              </a:spcAft>
              <a:defRPr sz="1000" b="0">
                <a:solidFill>
                  <a:srgbClr val="E0E0E0"/>
                </a:solidFill>
              </a:defRPr>
            </a:pPr>
            <a:endParaRPr sz="800">
              <a:solidFill>
                <a:schemeClr val="tx1"/>
              </a:solidFill>
            </a:endParaRPr>
          </a:p>
          <a:p>
            <a:pPr>
              <a:spcAft>
                <a:spcPts val="300"/>
              </a:spcAft>
              <a:defRPr sz="1600" b="1">
                <a:solidFill>
                  <a:srgbClr val="00D2FF"/>
                </a:solidFill>
              </a:defRPr>
            </a:pPr>
            <a:r>
              <a:rPr sz="800">
                <a:solidFill>
                  <a:schemeClr val="tx1"/>
                </a:solidFill>
                <a:latin typeface="Microsoft YaHei UI" panose="020B0503020204020204" charset="-122"/>
              </a:rPr>
              <a:t>创新点5：跨域迁移学习（工程落地）</a:t>
            </a:r>
            <a:endParaRPr sz="800">
              <a:solidFill>
                <a:schemeClr val="tx1"/>
              </a:solidFill>
            </a:endParaRPr>
          </a:p>
          <a:p>
            <a:pPr>
              <a:spcAft>
                <a:spcPts val="300"/>
              </a:spcAft>
              <a:defRPr sz="1200" b="0">
                <a:solidFill>
                  <a:srgbClr val="E0E0E0"/>
                </a:solidFill>
              </a:defRPr>
            </a:pPr>
            <a:r>
              <a:rPr sz="800">
                <a:solidFill>
                  <a:schemeClr val="tx1"/>
                </a:solidFill>
                <a:latin typeface="Microsoft YaHei UI" panose="020B0503020204020204" charset="-122"/>
              </a:rPr>
              <a:t>  现有方法：从零在目标域收集百万级数据训练（成本高、周期长）</a:t>
            </a:r>
            <a:endParaRPr sz="800">
              <a:solidFill>
                <a:schemeClr val="tx1"/>
              </a:solidFill>
            </a:endParaRPr>
          </a:p>
          <a:p>
            <a:pPr>
              <a:spcAft>
                <a:spcPts val="300"/>
              </a:spcAft>
              <a:defRPr sz="1200" b="0">
                <a:solidFill>
                  <a:srgbClr val="E0E0E0"/>
                </a:solidFill>
              </a:defRPr>
            </a:pPr>
            <a:r>
              <a:rPr sz="800">
                <a:solidFill>
                  <a:schemeClr val="tx1"/>
                </a:solidFill>
                <a:latin typeface="Microsoft YaHei UI" panose="020B0503020204020204" charset="-122"/>
              </a:rPr>
              <a:t>  我们的方案：nuPlan 预训练 + 冻结编码器 + 少量公司数据微调解码器</a:t>
            </a:r>
            <a:endParaRPr sz="800">
              <a:solidFill>
                <a:schemeClr val="tx1"/>
              </a:solidFill>
            </a:endParaRPr>
          </a:p>
          <a:p>
            <a:pPr>
              <a:spcAft>
                <a:spcPts val="300"/>
              </a:spcAft>
              <a:defRPr sz="1200" b="0">
                <a:solidFill>
                  <a:srgbClr val="00FF88"/>
                </a:solidFill>
              </a:defRPr>
            </a:pPr>
            <a:r>
              <a:rPr sz="800">
                <a:solidFill>
                  <a:schemeClr val="tx1"/>
                </a:solidFill>
                <a:latin typeface="Microsoft YaHei UI" panose="020B0503020204020204" charset="-122"/>
              </a:rPr>
              <a:t>  → 大幅降低数据需求，缩短 60% 开发周期</a:t>
            </a:r>
            <a:endParaRPr sz="800">
              <a:solidFill>
                <a:schemeClr val="tx1"/>
              </a:solidFill>
            </a:endParaRPr>
          </a:p>
          <a:p>
            <a:pPr>
              <a:spcAft>
                <a:spcPts val="300"/>
              </a:spcAft>
              <a:defRPr sz="1000" b="0">
                <a:solidFill>
                  <a:srgbClr val="E0E0E0"/>
                </a:solidFill>
              </a:defRPr>
            </a:pPr>
            <a:endParaRPr sz="800">
              <a:solidFill>
                <a:schemeClr val="tx1"/>
              </a:solidFill>
            </a:endParaRPr>
          </a:p>
          <a:p>
            <a:pPr>
              <a:spcAft>
                <a:spcPts val="300"/>
              </a:spcAft>
              <a:defRPr sz="1400" b="1">
                <a:solidFill>
                  <a:srgbClr val="FFA500"/>
                </a:solidFill>
              </a:defRPr>
            </a:pPr>
            <a:r>
              <a:rPr sz="800">
                <a:solidFill>
                  <a:schemeClr val="tx1"/>
                </a:solidFill>
                <a:latin typeface="Microsoft YaHei UI" panose="020B0503020204020204" charset="-122"/>
              </a:rPr>
              <a:t>🎯 预期专利产出：3 项发明专利（Scene-Adaptive CFG + Best-of-N Safety + Safety-Guided ODE）</a:t>
            </a:r>
            <a:endParaRPr sz="800">
              <a:solidFill>
                <a:schemeClr val="tx1"/>
              </a:solidFill>
              <a:latin typeface="Microsoft YaHei UI" panose="020B0503020204020204"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658556" y="329082"/>
            <a:ext cx="9461119" cy="478155"/>
          </a:xfrm>
          <a:prstGeom prst="rect">
            <a:avLst/>
          </a:prstGeom>
          <a:noFill/>
        </p:spPr>
        <p:txBody>
          <a:bodyPr wrap="square">
            <a:spAutoFit/>
          </a:bodyPr>
          <a:lstStyle/>
          <a:p>
            <a:pPr>
              <a:defRPr sz="2800" b="1">
                <a:solidFill>
                  <a:srgbClr val="FFFFFF"/>
                </a:solidFill>
              </a:defRPr>
            </a:pPr>
            <a:r>
              <a:rPr sz="2520">
                <a:latin typeface="Microsoft YaHei UI" panose="020B0503020204020204" charset="-122"/>
              </a:rPr>
              <a:t>最新实验进展（2026.03.29 更新）</a:t>
            </a:r>
            <a:endParaRPr sz="2520"/>
          </a:p>
        </p:txBody>
      </p:sp>
      <p:sp>
        <p:nvSpPr>
          <p:cNvPr id="3" name="TextBox 2"/>
          <p:cNvSpPr txBox="1"/>
          <p:nvPr/>
        </p:nvSpPr>
        <p:spPr>
          <a:xfrm>
            <a:off x="384236" y="329032"/>
            <a:ext cx="1837690" cy="398780"/>
          </a:xfrm>
          <a:prstGeom prst="rect">
            <a:avLst/>
          </a:prstGeom>
          <a:noFill/>
        </p:spPr>
        <p:txBody>
          <a:bodyPr wrap="none">
            <a:spAutoFit/>
          </a:bodyPr>
          <a:lstStyle/>
          <a:p>
            <a:pPr>
              <a:defRPr sz="1400" i="1">
                <a:solidFill>
                  <a:srgbClr val="00D2FF"/>
                </a:solidFill>
              </a:defRPr>
            </a:pPr>
            <a:r>
              <a:rPr sz="2000" b="1" i="0">
                <a:solidFill>
                  <a:schemeClr val="accent1"/>
                </a:solidFill>
                <a:latin typeface="Microsoft YaHei UI" panose="020B0503020204020204" charset="-122"/>
                <a:ea typeface="+mj-ea"/>
                <a:cs typeface="+mj-cs"/>
              </a:rPr>
              <a:t>已有研究进展 </a:t>
            </a:r>
            <a:r>
              <a:rPr lang="en-US" sz="1260">
                <a:latin typeface="Microsoft YaHei UI" panose="020B0503020204020204" charset="-122"/>
              </a:rPr>
              <a:t> </a:t>
            </a:r>
            <a:endParaRPr lang="en-US" sz="1260"/>
          </a:p>
        </p:txBody>
      </p:sp>
      <p:sp>
        <p:nvSpPr>
          <p:cNvPr id="4" name="TextBox 3"/>
          <p:cNvSpPr txBox="1"/>
          <p:nvPr/>
        </p:nvSpPr>
        <p:spPr>
          <a:xfrm>
            <a:off x="658556" y="1234059"/>
            <a:ext cx="4524883" cy="3249295"/>
          </a:xfrm>
          <a:prstGeom prst="rect">
            <a:avLst/>
          </a:prstGeom>
          <a:noFill/>
        </p:spPr>
        <p:txBody>
          <a:bodyPr wrap="square">
            <a:spAutoFit/>
          </a:bodyPr>
          <a:lstStyle/>
          <a:p>
            <a:pPr>
              <a:spcAft>
                <a:spcPts val="300"/>
              </a:spcAft>
              <a:defRPr sz="1600" b="1">
                <a:solidFill>
                  <a:srgbClr val="00D2FF"/>
                </a:solidFill>
              </a:defRPr>
            </a:pPr>
            <a:r>
              <a:rPr sz="1000">
                <a:solidFill>
                  <a:schemeClr val="tx1"/>
                </a:solidFill>
                <a:latin typeface="Microsoft YaHei UI" panose="020B0503020204020204" charset="-122"/>
              </a:rPr>
              <a:t>✅ SOTA 基线验证（已完成）</a:t>
            </a:r>
            <a:endParaRPr sz="1440">
              <a:solidFill>
                <a:schemeClr val="tx1"/>
              </a:solidFill>
            </a:endParaRPr>
          </a:p>
          <a:p>
            <a:pPr>
              <a:spcAft>
                <a:spcPts val="300"/>
              </a:spcAft>
              <a:defRPr sz="800" b="0">
                <a:solidFill>
                  <a:srgbClr val="E0E0E0"/>
                </a:solidFill>
              </a:defRPr>
            </a:pPr>
            <a:endParaRPr sz="720">
              <a:solidFill>
                <a:schemeClr val="tx1"/>
              </a:solidFill>
            </a:endParaRPr>
          </a:p>
          <a:p>
            <a:pPr>
              <a:spcAft>
                <a:spcPts val="300"/>
              </a:spcAft>
              <a:defRPr sz="1200" b="0">
                <a:solidFill>
                  <a:srgbClr val="E0E0E0"/>
                </a:solidFill>
              </a:defRPr>
            </a:pPr>
            <a:r>
              <a:rPr sz="1080">
                <a:solidFill>
                  <a:schemeClr val="tx1"/>
                </a:solidFill>
                <a:latin typeface="Microsoft YaHei UI" panose="020B0503020204020204" charset="-122"/>
              </a:rPr>
              <a:t>配置：官方权重 model.pth, w=1.8, val14 (1118场景)</a:t>
            </a:r>
            <a:endParaRPr sz="1080">
              <a:solidFill>
                <a:schemeClr val="tx1"/>
              </a:solidFill>
            </a:endParaRPr>
          </a:p>
          <a:p>
            <a:pPr>
              <a:spcAft>
                <a:spcPts val="300"/>
              </a:spcAft>
              <a:defRPr sz="600" b="0">
                <a:solidFill>
                  <a:srgbClr val="E0E0E0"/>
                </a:solidFill>
              </a:defRPr>
            </a:pPr>
            <a:endParaRPr sz="540">
              <a:solidFill>
                <a:schemeClr val="tx1"/>
              </a:solidFill>
            </a:endParaRPr>
          </a:p>
          <a:p>
            <a:pPr>
              <a:spcAft>
                <a:spcPts val="300"/>
              </a:spcAft>
              <a:defRPr sz="1100" b="1">
                <a:solidFill>
                  <a:srgbClr val="00FF88"/>
                </a:solidFill>
              </a:defRPr>
            </a:pPr>
            <a:r>
              <a:rPr sz="990">
                <a:solidFill>
                  <a:schemeClr val="tx1"/>
                </a:solidFill>
                <a:latin typeface="Microsoft YaHei UI" panose="020B0503020204020204" charset="-122"/>
              </a:rPr>
              <a:t>  指标                        平均分    通过率    权重</a:t>
            </a:r>
            <a:endParaRPr sz="990">
              <a:solidFill>
                <a:schemeClr val="tx1"/>
              </a:solidFill>
            </a:endParaRPr>
          </a:p>
          <a:p>
            <a:pPr>
              <a:spcAft>
                <a:spcPts val="300"/>
              </a:spcAft>
              <a:defRPr sz="1000" b="0">
                <a:solidFill>
                  <a:srgbClr val="A0A0A0"/>
                </a:solidFill>
              </a:defRPr>
            </a:pPr>
            <a:r>
              <a:rPr sz="900">
                <a:solidFill>
                  <a:schemeClr val="tx1"/>
                </a:solidFill>
                <a:latin typeface="Microsoft YaHei UI" panose="020B0503020204020204" charset="-122"/>
              </a:rPr>
              <a:t>  ────────────────────────────────────────────────</a:t>
            </a:r>
            <a:endParaRPr sz="900">
              <a:solidFill>
                <a:schemeClr val="tx1"/>
              </a:solidFill>
            </a:endParaRPr>
          </a:p>
          <a:p>
            <a:pPr>
              <a:spcAft>
                <a:spcPts val="300"/>
              </a:spcAft>
              <a:defRPr sz="1100" b="0">
                <a:solidFill>
                  <a:srgbClr val="E0E0E0"/>
                </a:solidFill>
              </a:defRPr>
            </a:pPr>
            <a:r>
              <a:rPr sz="990">
                <a:solidFill>
                  <a:schemeClr val="tx1"/>
                </a:solidFill>
                <a:latin typeface="Microsoft YaHei UI" panose="020B0503020204020204" charset="-122"/>
              </a:rPr>
              <a:t>  driving_direction_compliance  0.9955   99.5%    5</a:t>
            </a:r>
            <a:endParaRPr sz="990">
              <a:solidFill>
                <a:schemeClr val="tx1"/>
              </a:solidFill>
            </a:endParaRPr>
          </a:p>
          <a:p>
            <a:pPr>
              <a:spcAft>
                <a:spcPts val="300"/>
              </a:spcAft>
              <a:defRPr sz="1100" b="0">
                <a:solidFill>
                  <a:srgbClr val="E0E0E0"/>
                </a:solidFill>
              </a:defRPr>
            </a:pPr>
            <a:r>
              <a:rPr sz="990">
                <a:solidFill>
                  <a:schemeClr val="tx1"/>
                </a:solidFill>
                <a:latin typeface="Microsoft YaHei UI" panose="020B0503020204020204" charset="-122"/>
              </a:rPr>
              <a:t>  ego_is_making_progress        0.9964   99.6%    5</a:t>
            </a:r>
            <a:endParaRPr sz="990">
              <a:solidFill>
                <a:schemeClr val="tx1"/>
              </a:solidFill>
            </a:endParaRPr>
          </a:p>
          <a:p>
            <a:pPr>
              <a:spcAft>
                <a:spcPts val="300"/>
              </a:spcAft>
              <a:defRPr sz="1100" b="0">
                <a:solidFill>
                  <a:srgbClr val="E0E0E0"/>
                </a:solidFill>
              </a:defRPr>
            </a:pPr>
            <a:r>
              <a:rPr sz="990">
                <a:solidFill>
                  <a:schemeClr val="tx1"/>
                </a:solidFill>
                <a:latin typeface="Microsoft YaHei UI" panose="020B0503020204020204" charset="-122"/>
              </a:rPr>
              <a:t>  drivable_area_compliance      0.9821   98.2%    5</a:t>
            </a:r>
            <a:endParaRPr sz="990">
              <a:solidFill>
                <a:schemeClr val="tx1"/>
              </a:solidFill>
            </a:endParaRPr>
          </a:p>
          <a:p>
            <a:pPr>
              <a:spcAft>
                <a:spcPts val="300"/>
              </a:spcAft>
              <a:defRPr sz="1100" b="0">
                <a:solidFill>
                  <a:srgbClr val="E0E0E0"/>
                </a:solidFill>
              </a:defRPr>
            </a:pPr>
            <a:r>
              <a:rPr sz="990">
                <a:solidFill>
                  <a:schemeClr val="tx1"/>
                </a:solidFill>
                <a:latin typeface="Microsoft YaHei UI" panose="020B0503020204020204" charset="-122"/>
              </a:rPr>
              <a:t>  speed_limit_compliance        0.9773   84.4%    2</a:t>
            </a:r>
            <a:endParaRPr sz="990">
              <a:solidFill>
                <a:schemeClr val="tx1"/>
              </a:solidFill>
            </a:endParaRPr>
          </a:p>
          <a:p>
            <a:pPr>
              <a:spcAft>
                <a:spcPts val="300"/>
              </a:spcAft>
              <a:defRPr sz="1100" b="0">
                <a:solidFill>
                  <a:srgbClr val="E0E0E0"/>
                </a:solidFill>
              </a:defRPr>
            </a:pPr>
            <a:r>
              <a:rPr sz="990">
                <a:solidFill>
                  <a:schemeClr val="tx1"/>
                </a:solidFill>
                <a:latin typeface="Microsoft YaHei UI" panose="020B0503020204020204" charset="-122"/>
              </a:rPr>
              <a:t>  ego_is_comfortable            0.9428   94.3%    2</a:t>
            </a:r>
            <a:endParaRPr sz="990">
              <a:solidFill>
                <a:schemeClr val="tx1"/>
              </a:solidFill>
            </a:endParaRPr>
          </a:p>
          <a:p>
            <a:pPr>
              <a:spcAft>
                <a:spcPts val="300"/>
              </a:spcAft>
              <a:defRPr sz="1100" b="0">
                <a:solidFill>
                  <a:srgbClr val="E0E0E0"/>
                </a:solidFill>
              </a:defRPr>
            </a:pPr>
            <a:r>
              <a:rPr sz="990">
                <a:solidFill>
                  <a:schemeClr val="tx1"/>
                </a:solidFill>
                <a:latin typeface="Microsoft YaHei UI" panose="020B0503020204020204" charset="-122"/>
              </a:rPr>
              <a:t>  no_ego_at_fault_collisions    0.9378   93.6%    5</a:t>
            </a:r>
            <a:endParaRPr sz="990">
              <a:solidFill>
                <a:schemeClr val="tx1"/>
              </a:solidFill>
            </a:endParaRPr>
          </a:p>
          <a:p>
            <a:pPr>
              <a:spcAft>
                <a:spcPts val="300"/>
              </a:spcAft>
              <a:defRPr sz="1100" b="0">
                <a:solidFill>
                  <a:srgbClr val="E0E0E0"/>
                </a:solidFill>
              </a:defRPr>
            </a:pPr>
            <a:r>
              <a:rPr sz="990">
                <a:solidFill>
                  <a:schemeClr val="tx1"/>
                </a:solidFill>
                <a:latin typeface="Microsoft YaHei UI" panose="020B0503020204020204" charset="-122"/>
              </a:rPr>
              <a:t>  ego_progress_along_expert     0.9319   46.1%    5</a:t>
            </a:r>
            <a:endParaRPr sz="990">
              <a:solidFill>
                <a:schemeClr val="tx1"/>
              </a:solidFill>
            </a:endParaRPr>
          </a:p>
          <a:p>
            <a:pPr>
              <a:spcAft>
                <a:spcPts val="300"/>
              </a:spcAft>
              <a:defRPr sz="1100" b="0">
                <a:solidFill>
                  <a:srgbClr val="E0E0E0"/>
                </a:solidFill>
              </a:defRPr>
            </a:pPr>
            <a:r>
              <a:rPr sz="990">
                <a:solidFill>
                  <a:schemeClr val="tx1"/>
                </a:solidFill>
                <a:latin typeface="Microsoft YaHei UI" panose="020B0503020204020204" charset="-122"/>
              </a:rPr>
              <a:t>  time_to_collision             0.8864   88.6%    5</a:t>
            </a:r>
            <a:endParaRPr sz="990">
              <a:solidFill>
                <a:schemeClr val="tx1"/>
              </a:solidFill>
            </a:endParaRPr>
          </a:p>
          <a:p>
            <a:pPr>
              <a:spcAft>
                <a:spcPts val="300"/>
              </a:spcAft>
              <a:defRPr sz="600" b="0">
                <a:solidFill>
                  <a:srgbClr val="E0E0E0"/>
                </a:solidFill>
              </a:defRPr>
            </a:pPr>
            <a:endParaRPr sz="540">
              <a:solidFill>
                <a:schemeClr val="tx1"/>
              </a:solidFill>
            </a:endParaRPr>
          </a:p>
          <a:p>
            <a:pPr>
              <a:spcAft>
                <a:spcPts val="300"/>
              </a:spcAft>
              <a:defRPr sz="1400" b="1">
                <a:solidFill>
                  <a:srgbClr val="FFA500"/>
                </a:solidFill>
              </a:defRPr>
            </a:pPr>
            <a:r>
              <a:rPr sz="1260">
                <a:solidFill>
                  <a:schemeClr val="tx1"/>
                </a:solidFill>
                <a:latin typeface="Microsoft YaHei UI" panose="020B0503020204020204" charset="-122"/>
              </a:rPr>
              <a:t>  ★ NR-CLS = 95.56%（超过论文 94.31%，+1.25%）</a:t>
            </a:r>
            <a:endParaRPr sz="1260">
              <a:solidFill>
                <a:schemeClr val="tx1"/>
              </a:solidFill>
            </a:endParaRPr>
          </a:p>
          <a:p>
            <a:pPr>
              <a:spcAft>
                <a:spcPts val="300"/>
              </a:spcAft>
              <a:defRPr sz="1300" b="1">
                <a:solidFill>
                  <a:srgbClr val="00FF88"/>
                </a:solidFill>
              </a:defRPr>
            </a:pPr>
            <a:r>
              <a:rPr sz="1170">
                <a:solidFill>
                  <a:schemeClr val="tx1"/>
                </a:solidFill>
                <a:latin typeface="Microsoft YaHei UI" panose="020B0503020204020204" charset="-122"/>
              </a:rPr>
              <a:t>  ★ 1118/1118 场景全部成功（0 failures）</a:t>
            </a:r>
            <a:endParaRPr sz="1170">
              <a:solidFill>
                <a:schemeClr val="tx1"/>
              </a:solidFill>
              <a:latin typeface="Microsoft YaHei UI" panose="020B0503020204020204" charset="-122"/>
            </a:endParaRPr>
          </a:p>
        </p:txBody>
      </p:sp>
      <p:sp>
        <p:nvSpPr>
          <p:cNvPr id="5" name="TextBox 4"/>
          <p:cNvSpPr txBox="1"/>
          <p:nvPr/>
        </p:nvSpPr>
        <p:spPr>
          <a:xfrm>
            <a:off x="5594792" y="1234059"/>
            <a:ext cx="4524883" cy="4124325"/>
          </a:xfrm>
          <a:prstGeom prst="rect">
            <a:avLst/>
          </a:prstGeom>
          <a:noFill/>
        </p:spPr>
        <p:txBody>
          <a:bodyPr wrap="square">
            <a:spAutoFit/>
          </a:bodyPr>
          <a:lstStyle/>
          <a:p>
            <a:pPr>
              <a:spcAft>
                <a:spcPts val="300"/>
              </a:spcAft>
              <a:defRPr sz="1600" b="1">
                <a:solidFill>
                  <a:srgbClr val="00D2FF"/>
                </a:solidFill>
              </a:defRPr>
            </a:pPr>
            <a:r>
              <a:rPr sz="1000">
                <a:solidFill>
                  <a:schemeClr val="tx1"/>
                </a:solidFill>
                <a:latin typeface="Microsoft YaHei UI" panose="020B0503020204020204" charset="-122"/>
              </a:rPr>
              <a:t>🔄 Best-of-N (N=5) 实验（进行中）</a:t>
            </a:r>
            <a:endParaRPr sz="1440">
              <a:solidFill>
                <a:schemeClr val="tx1"/>
              </a:solidFill>
            </a:endParaRPr>
          </a:p>
          <a:p>
            <a:pPr>
              <a:spcAft>
                <a:spcPts val="300"/>
              </a:spcAft>
              <a:defRPr sz="800" b="0">
                <a:solidFill>
                  <a:srgbClr val="E0E0E0"/>
                </a:solidFill>
              </a:defRPr>
            </a:pPr>
            <a:endParaRPr sz="720">
              <a:solidFill>
                <a:schemeClr val="tx1"/>
              </a:solidFill>
            </a:endParaRPr>
          </a:p>
          <a:p>
            <a:pPr>
              <a:spcAft>
                <a:spcPts val="300"/>
              </a:spcAft>
              <a:defRPr sz="1200" b="0">
                <a:solidFill>
                  <a:srgbClr val="E0E0E0"/>
                </a:solidFill>
              </a:defRPr>
            </a:pPr>
            <a:r>
              <a:rPr sz="1080">
                <a:solidFill>
                  <a:schemeClr val="tx1"/>
                </a:solidFill>
                <a:latin typeface="Microsoft YaHei UI" panose="020B0503020204020204" charset="-122"/>
              </a:rPr>
              <a:t>配置：w=1.8, N=5, 4-worker 并行, RTX 4090</a:t>
            </a:r>
            <a:endParaRPr sz="1080">
              <a:solidFill>
                <a:schemeClr val="tx1"/>
              </a:solidFill>
            </a:endParaRPr>
          </a:p>
          <a:p>
            <a:pPr>
              <a:spcAft>
                <a:spcPts val="300"/>
              </a:spcAft>
              <a:defRPr sz="1200" b="0">
                <a:solidFill>
                  <a:srgbClr val="E0E0E0"/>
                </a:solidFill>
              </a:defRPr>
            </a:pPr>
            <a:r>
              <a:rPr sz="1080">
                <a:solidFill>
                  <a:schemeClr val="tx1"/>
                </a:solidFill>
                <a:latin typeface="Microsoft YaHei UI" panose="020B0503020204020204" charset="-122"/>
              </a:rPr>
              <a:t>进度：33% (369/1118 场景)，预计 ~10 小时完成</a:t>
            </a:r>
            <a:endParaRPr sz="1080">
              <a:solidFill>
                <a:schemeClr val="tx1"/>
              </a:solidFill>
            </a:endParaRPr>
          </a:p>
          <a:p>
            <a:pPr>
              <a:spcAft>
                <a:spcPts val="300"/>
              </a:spcAft>
              <a:defRPr sz="600" b="0">
                <a:solidFill>
                  <a:srgbClr val="E0E0E0"/>
                </a:solidFill>
              </a:defRPr>
            </a:pPr>
            <a:endParaRPr sz="540">
              <a:solidFill>
                <a:schemeClr val="tx1"/>
              </a:solidFill>
            </a:endParaRPr>
          </a:p>
          <a:p>
            <a:pPr>
              <a:spcAft>
                <a:spcPts val="300"/>
              </a:spcAft>
              <a:defRPr sz="1300" b="1">
                <a:solidFill>
                  <a:srgbClr val="FFA500"/>
                </a:solidFill>
              </a:defRPr>
            </a:pPr>
            <a:r>
              <a:rPr sz="1170">
                <a:solidFill>
                  <a:schemeClr val="tx1"/>
                </a:solidFill>
                <a:latin typeface="Microsoft YaHei UI" panose="020B0503020204020204" charset="-122"/>
              </a:rPr>
              <a:t>预期改进方向：</a:t>
            </a:r>
            <a:endParaRPr sz="1170">
              <a:solidFill>
                <a:schemeClr val="tx1"/>
              </a:solidFill>
            </a:endParaRPr>
          </a:p>
          <a:p>
            <a:pPr>
              <a:spcAft>
                <a:spcPts val="300"/>
              </a:spcAft>
              <a:defRPr sz="1200" b="0">
                <a:solidFill>
                  <a:srgbClr val="E0E0E0"/>
                </a:solidFill>
              </a:defRPr>
            </a:pPr>
            <a:r>
              <a:rPr sz="1080">
                <a:solidFill>
                  <a:schemeClr val="tx1"/>
                </a:solidFill>
                <a:latin typeface="Microsoft YaHei UI" panose="020B0503020204020204" charset="-122"/>
              </a:rPr>
              <a:t>• no_ego_at_fault_collisions ↑（碰撞筛选）</a:t>
            </a:r>
            <a:endParaRPr sz="1080">
              <a:solidFill>
                <a:schemeClr val="tx1"/>
              </a:solidFill>
            </a:endParaRPr>
          </a:p>
          <a:p>
            <a:pPr>
              <a:spcAft>
                <a:spcPts val="300"/>
              </a:spcAft>
              <a:defRPr sz="1200" b="0">
                <a:solidFill>
                  <a:srgbClr val="E0E0E0"/>
                </a:solidFill>
              </a:defRPr>
            </a:pPr>
            <a:r>
              <a:rPr sz="1080">
                <a:solidFill>
                  <a:schemeClr val="tx1"/>
                </a:solidFill>
                <a:latin typeface="Microsoft YaHei UI" panose="020B0503020204020204" charset="-122"/>
              </a:rPr>
              <a:t>• time_to_collision ↑（TTC 打分过滤）</a:t>
            </a:r>
            <a:endParaRPr sz="1080">
              <a:solidFill>
                <a:schemeClr val="tx1"/>
              </a:solidFill>
            </a:endParaRPr>
          </a:p>
          <a:p>
            <a:pPr>
              <a:spcAft>
                <a:spcPts val="300"/>
              </a:spcAft>
              <a:defRPr sz="1200" b="0">
                <a:solidFill>
                  <a:srgbClr val="E0E0E0"/>
                </a:solidFill>
              </a:defRPr>
            </a:pPr>
            <a:r>
              <a:rPr sz="1080">
                <a:solidFill>
                  <a:schemeClr val="tx1"/>
                </a:solidFill>
                <a:latin typeface="Microsoft YaHei UI" panose="020B0503020204020204" charset="-122"/>
              </a:rPr>
              <a:t>• ego_progress_along_expert ↑（路线一致性筛选）</a:t>
            </a:r>
            <a:endParaRPr sz="1080">
              <a:solidFill>
                <a:schemeClr val="tx1"/>
              </a:solidFill>
            </a:endParaRPr>
          </a:p>
          <a:p>
            <a:pPr>
              <a:spcAft>
                <a:spcPts val="300"/>
              </a:spcAft>
              <a:defRPr sz="800" b="0">
                <a:solidFill>
                  <a:srgbClr val="E0E0E0"/>
                </a:solidFill>
              </a:defRPr>
            </a:pPr>
            <a:endParaRPr sz="720">
              <a:solidFill>
                <a:schemeClr val="tx1"/>
              </a:solidFill>
            </a:endParaRPr>
          </a:p>
          <a:p>
            <a:pPr>
              <a:spcAft>
                <a:spcPts val="300"/>
              </a:spcAft>
              <a:defRPr sz="1500" b="1">
                <a:solidFill>
                  <a:srgbClr val="00D2FF"/>
                </a:solidFill>
              </a:defRPr>
            </a:pPr>
            <a:r>
              <a:rPr sz="1000">
                <a:solidFill>
                  <a:schemeClr val="tx1"/>
                </a:solidFill>
                <a:latin typeface="Microsoft YaHei UI" panose="020B0503020204020204" charset="-122"/>
              </a:rPr>
              <a:t>Open-Loop 复现对比（已完成）</a:t>
            </a:r>
            <a:endParaRPr sz="1350">
              <a:solidFill>
                <a:schemeClr val="tx1"/>
              </a:solidFill>
            </a:endParaRPr>
          </a:p>
          <a:p>
            <a:pPr>
              <a:spcAft>
                <a:spcPts val="300"/>
              </a:spcAft>
              <a:defRPr sz="600" b="0">
                <a:solidFill>
                  <a:srgbClr val="E0E0E0"/>
                </a:solidFill>
              </a:defRPr>
            </a:pPr>
            <a:endParaRPr sz="540">
              <a:solidFill>
                <a:schemeClr val="tx1"/>
              </a:solidFill>
            </a:endParaRPr>
          </a:p>
          <a:p>
            <a:pPr>
              <a:spcAft>
                <a:spcPts val="300"/>
              </a:spcAft>
              <a:defRPr sz="1200" b="1">
                <a:solidFill>
                  <a:srgbClr val="00FF88"/>
                </a:solidFill>
              </a:defRPr>
            </a:pPr>
            <a:r>
              <a:rPr sz="1080">
                <a:solidFill>
                  <a:schemeClr val="tx1"/>
                </a:solidFill>
                <a:latin typeface="Microsoft YaHei UI" panose="020B0503020204020204" charset="-122"/>
              </a:rPr>
              <a:t>  方法                ADE(m)   FDE(m)</a:t>
            </a:r>
            <a:endParaRPr sz="1080">
              <a:solidFill>
                <a:schemeClr val="tx1"/>
              </a:solidFill>
            </a:endParaRPr>
          </a:p>
          <a:p>
            <a:pPr>
              <a:spcAft>
                <a:spcPts val="300"/>
              </a:spcAft>
              <a:defRPr sz="1000" b="0">
                <a:solidFill>
                  <a:srgbClr val="A0A0A0"/>
                </a:solidFill>
              </a:defRPr>
            </a:pPr>
            <a:r>
              <a:rPr sz="900">
                <a:solidFill>
                  <a:schemeClr val="tx1"/>
                </a:solidFill>
                <a:latin typeface="Microsoft YaHei UI" panose="020B0503020204020204" charset="-122"/>
              </a:rPr>
              <a:t>  ──────────────────────────────────</a:t>
            </a:r>
            <a:endParaRPr sz="900">
              <a:solidFill>
                <a:schemeClr val="tx1"/>
              </a:solidFill>
            </a:endParaRPr>
          </a:p>
          <a:p>
            <a:pPr>
              <a:spcAft>
                <a:spcPts val="300"/>
              </a:spcAft>
              <a:defRPr sz="1200" b="0">
                <a:solidFill>
                  <a:srgbClr val="E0E0E0"/>
                </a:solidFill>
              </a:defRPr>
            </a:pPr>
            <a:r>
              <a:rPr sz="1080">
                <a:solidFill>
                  <a:schemeClr val="tx1"/>
                </a:solidFill>
                <a:latin typeface="Microsoft YaHei UI" panose="020B0503020204020204" charset="-122"/>
              </a:rPr>
              <a:t>  Flow Planner (官方)  2.53    5.97</a:t>
            </a:r>
            <a:endParaRPr sz="1080">
              <a:solidFill>
                <a:schemeClr val="tx1"/>
              </a:solidFill>
            </a:endParaRPr>
          </a:p>
          <a:p>
            <a:pPr>
              <a:spcAft>
                <a:spcPts val="300"/>
              </a:spcAft>
              <a:defRPr sz="1200" b="1">
                <a:solidFill>
                  <a:srgbClr val="FFA500"/>
                </a:solidFill>
              </a:defRPr>
            </a:pPr>
            <a:r>
              <a:rPr sz="1080">
                <a:solidFill>
                  <a:schemeClr val="tx1"/>
                </a:solidFill>
                <a:latin typeface="Microsoft YaHei UI" panose="020B0503020204020204" charset="-122"/>
              </a:rPr>
              <a:t>  ★ 我们的复现         2.48    5.73  ← 超越官方 ✅</a:t>
            </a:r>
            <a:endParaRPr sz="1080">
              <a:solidFill>
                <a:schemeClr val="tx1"/>
              </a:solidFill>
            </a:endParaRPr>
          </a:p>
          <a:p>
            <a:pPr>
              <a:spcAft>
                <a:spcPts val="300"/>
              </a:spcAft>
              <a:defRPr sz="800" b="0">
                <a:solidFill>
                  <a:srgbClr val="E0E0E0"/>
                </a:solidFill>
              </a:defRPr>
            </a:pPr>
            <a:endParaRPr sz="720">
              <a:solidFill>
                <a:schemeClr val="tx1"/>
              </a:solidFill>
            </a:endParaRPr>
          </a:p>
          <a:p>
            <a:pPr>
              <a:spcAft>
                <a:spcPts val="300"/>
              </a:spcAft>
              <a:defRPr sz="1400" b="1">
                <a:solidFill>
                  <a:srgbClr val="00D2FF"/>
                </a:solidFill>
              </a:defRPr>
            </a:pPr>
            <a:r>
              <a:rPr sz="1260">
                <a:solidFill>
                  <a:schemeClr val="tx1"/>
                </a:solidFill>
                <a:latin typeface="Microsoft YaHei UI" panose="020B0503020204020204" charset="-122"/>
              </a:rPr>
              <a:t>📅 下一步实验计划：</a:t>
            </a:r>
            <a:endParaRPr sz="1260">
              <a:solidFill>
                <a:schemeClr val="tx1"/>
              </a:solidFill>
            </a:endParaRPr>
          </a:p>
          <a:p>
            <a:pPr>
              <a:spcAft>
                <a:spcPts val="300"/>
              </a:spcAft>
              <a:defRPr sz="1200" b="0">
                <a:solidFill>
                  <a:srgbClr val="E0E0E0"/>
                </a:solidFill>
              </a:defRPr>
            </a:pPr>
            <a:r>
              <a:rPr sz="1080">
                <a:solidFill>
                  <a:schemeClr val="tx1"/>
                </a:solidFill>
                <a:latin typeface="Microsoft YaHei UI" panose="020B0503020204020204" charset="-122"/>
              </a:rPr>
              <a:t>• Per-Scenario Grid Search（分场景最优 w）</a:t>
            </a:r>
            <a:endParaRPr sz="1080">
              <a:solidFill>
                <a:schemeClr val="tx1"/>
              </a:solidFill>
            </a:endParaRPr>
          </a:p>
          <a:p>
            <a:pPr>
              <a:spcAft>
                <a:spcPts val="300"/>
              </a:spcAft>
              <a:defRPr sz="1200" b="0">
                <a:solidFill>
                  <a:srgbClr val="E0E0E0"/>
                </a:solidFill>
              </a:defRPr>
            </a:pPr>
            <a:r>
              <a:rPr sz="1080">
                <a:solidFill>
                  <a:schemeClr val="tx1"/>
                </a:solidFill>
                <a:latin typeface="Microsoft YaHei UI" panose="020B0503020204020204" charset="-122"/>
              </a:rPr>
              <a:t>• Best-of-N + Scene-Adaptive w 联合实验</a:t>
            </a:r>
            <a:endParaRPr sz="1080">
              <a:solidFill>
                <a:schemeClr val="tx1"/>
              </a:solidFill>
            </a:endParaRPr>
          </a:p>
          <a:p>
            <a:pPr>
              <a:spcAft>
                <a:spcPts val="300"/>
              </a:spcAft>
              <a:defRPr sz="1200" b="0">
                <a:solidFill>
                  <a:srgbClr val="E0E0E0"/>
                </a:solidFill>
              </a:defRPr>
            </a:pPr>
            <a:r>
              <a:rPr sz="1080">
                <a:solidFill>
                  <a:schemeClr val="tx1"/>
                </a:solidFill>
                <a:latin typeface="Microsoft YaHei UI" panose="020B0503020204020204" charset="-122"/>
              </a:rPr>
              <a:t>• 消融实验：N=1/3/5/10 对比</a:t>
            </a:r>
            <a:endParaRPr sz="1080">
              <a:solidFill>
                <a:schemeClr val="tx1"/>
              </a:solidFill>
              <a:latin typeface="Microsoft YaHei UI" panose="020B0503020204020204"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274320" y="594360"/>
            <a:ext cx="5033010" cy="398780"/>
          </a:xfrm>
          <a:prstGeom prst="rect">
            <a:avLst/>
          </a:prstGeom>
          <a:noFill/>
        </p:spPr>
        <p:txBody>
          <a:bodyPr wrap="none">
            <a:spAutoFit/>
          </a:bodyPr>
          <a:lstStyle/>
          <a:p>
            <a:r>
              <a:rPr sz="2000" b="1">
                <a:solidFill>
                  <a:schemeClr val="accent1"/>
                </a:solidFill>
                <a:latin typeface="Microsoft YaHei UI" panose="020B0503020204020204" charset="-122"/>
                <a:ea typeface="+mj-ea"/>
                <a:cs typeface="+mj-cs"/>
              </a:rPr>
              <a:t>与现有工作的关系：从超让标签到轨迹生成</a:t>
            </a:r>
            <a:endParaRPr sz="2000" b="1">
              <a:solidFill>
                <a:schemeClr val="accent1"/>
              </a:solidFill>
              <a:latin typeface="Microsoft YaHei UI" panose="020B0503020204020204" charset="-122"/>
              <a:ea typeface="+mj-ea"/>
              <a:cs typeface="+mj-cs"/>
            </a:endParaRPr>
          </a:p>
        </p:txBody>
      </p:sp>
      <p:sp>
        <p:nvSpPr>
          <p:cNvPr id="3" name="TextBox 2"/>
          <p:cNvSpPr txBox="1"/>
          <p:nvPr/>
        </p:nvSpPr>
        <p:spPr>
          <a:xfrm>
            <a:off x="170180" y="93345"/>
            <a:ext cx="3657600" cy="320040"/>
          </a:xfrm>
          <a:prstGeom prst="rect">
            <a:avLst/>
          </a:prstGeom>
          <a:noFill/>
        </p:spPr>
        <p:txBody>
          <a:bodyPr wrap="none">
            <a:spAutoFit/>
          </a:bodyPr>
          <a:lstStyle/>
          <a:p>
            <a:r>
              <a:rPr sz="1100" b="1">
                <a:solidFill>
                  <a:srgbClr val="666666"/>
                </a:solidFill>
                <a:latin typeface="Microsoft YaHei UI" panose="020B0503020204020204" charset="-122"/>
              </a:rPr>
              <a:t>价值与收益</a:t>
            </a:r>
            <a:endParaRPr sz="1100" b="1">
              <a:solidFill>
                <a:srgbClr val="666666"/>
              </a:solidFill>
              <a:latin typeface="Microsoft YaHei UI" panose="020B0503020204020204" charset="-122"/>
            </a:endParaRPr>
          </a:p>
        </p:txBody>
      </p:sp>
      <p:sp>
        <p:nvSpPr>
          <p:cNvPr id="4" name="TextBox 3"/>
          <p:cNvSpPr txBox="1"/>
          <p:nvPr/>
        </p:nvSpPr>
        <p:spPr>
          <a:xfrm>
            <a:off x="274320" y="1051560"/>
            <a:ext cx="8595360" cy="5394960"/>
          </a:xfrm>
          <a:prstGeom prst="rect">
            <a:avLst/>
          </a:prstGeom>
          <a:noFill/>
        </p:spPr>
        <p:txBody>
          <a:bodyPr wrap="square">
            <a:spAutoFit/>
          </a:bodyPr>
          <a:lstStyle/>
          <a:p>
            <a:r>
              <a:rPr sz="1100" b="1">
                <a:solidFill>
                  <a:srgbClr val="1A3C6E"/>
                </a:solidFill>
                <a:latin typeface="Microsoft YaHei UI" panose="020B0503020204020204" charset="-122"/>
              </a:rPr>
              <a:t>🔄 不是替代 Planning，是给纵向决策「从标签升级到轨迹」</a:t>
            </a:r>
            <a:endParaRPr sz="1100" b="1">
              <a:solidFill>
                <a:srgbClr val="1A3C6E"/>
              </a:solidFill>
              <a:latin typeface="Microsoft YaHei UI" panose="020B0503020204020204" charset="-122"/>
            </a:endParaRPr>
          </a:p>
          <a:p>
            <a:endParaRPr sz="1100"/>
          </a:p>
          <a:p>
            <a:r>
              <a:rPr sz="1000" b="1">
                <a:latin typeface="Microsoft YaHei UI" panose="020B0503020204020204" charset="-122"/>
              </a:rPr>
              <a:t>技术延续性：超让决策 → Flow Planner 是自然演进</a:t>
            </a:r>
            <a:endParaRPr sz="1000" b="1">
              <a:latin typeface="Microsoft YaHei UI" panose="020B0503020204020204" charset="-122"/>
            </a:endParaRPr>
          </a:p>
          <a:p>
            <a:r>
              <a:rPr sz="850">
                <a:latin typeface="Microsoft YaHei UI" panose="020B0503020204020204" charset="-122"/>
              </a:rPr>
              <a:t>  • 我们之前做超让标签，本质上就是在解决纵向博弈问题 — 什么时候超、什么时候让</a:t>
            </a:r>
            <a:endParaRPr sz="850">
              <a:latin typeface="Microsoft YaHei UI" panose="020B0503020204020204" charset="-122"/>
            </a:endParaRPr>
          </a:p>
          <a:p>
            <a:r>
              <a:rPr sz="850">
                <a:latin typeface="Microsoft YaHei UI" panose="020B0503020204020204" charset="-122"/>
              </a:rPr>
              <a:t>  • Flow Planner 的 CFG 博弈机制，正是这个问题的端到端解法</a:t>
            </a:r>
            <a:endParaRPr sz="850">
              <a:latin typeface="Microsoft YaHei UI" panose="020B0503020204020204" charset="-122"/>
            </a:endParaRPr>
          </a:p>
          <a:p>
            <a:r>
              <a:rPr sz="850">
                <a:latin typeface="Microsoft YaHei UI" panose="020B0503020204020204" charset="-122"/>
              </a:rPr>
              <a:t>  • 不是推翻之前的工作，而是往前走了一步</a:t>
            </a:r>
            <a:endParaRPr sz="850">
              <a:latin typeface="Microsoft YaHei UI" panose="020B0503020204020204" charset="-122"/>
            </a:endParaRPr>
          </a:p>
          <a:p>
            <a:endParaRPr sz="850"/>
          </a:p>
          <a:p>
            <a:r>
              <a:rPr sz="1000" b="1">
                <a:latin typeface="Microsoft YaHei UI" panose="020B0503020204020204" charset="-122"/>
              </a:rPr>
              <a:t>升级路径：从「离散标签」到「连续轨迹」</a:t>
            </a:r>
            <a:endParaRPr sz="1000" b="1">
              <a:latin typeface="Microsoft YaHei UI" panose="020B0503020204020204" charset="-122"/>
            </a:endParaRPr>
          </a:p>
          <a:p>
            <a:r>
              <a:rPr sz="850">
                <a:latin typeface="Microsoft YaHei UI" panose="020B0503020204020204" charset="-122"/>
              </a:rPr>
              <a:t>  之前：场景 → 离散标签（超/让） → 规则生成轨迹     │ 决策和规划分离，中间有信息损失</a:t>
            </a:r>
            <a:endParaRPr sz="850">
              <a:latin typeface="Microsoft YaHei UI" panose="020B0503020204020204" charset="-122"/>
            </a:endParaRPr>
          </a:p>
          <a:p>
            <a:r>
              <a:rPr sz="850">
                <a:latin typeface="Microsoft YaHei UI" panose="020B0503020204020204" charset="-122"/>
              </a:rPr>
              <a:t>  现在：场景 → Flow Planner 直接生成轨迹              │ 决策和规划一体化，端到端优化</a:t>
            </a:r>
            <a:endParaRPr sz="850">
              <a:latin typeface="Microsoft YaHei UI" panose="020B0503020204020204" charset="-122"/>
            </a:endParaRPr>
          </a:p>
          <a:p>
            <a:endParaRPr sz="850"/>
          </a:p>
          <a:p>
            <a:r>
              <a:rPr sz="1000" b="1">
                <a:latin typeface="Microsoft YaHei UI" panose="020B0503020204020204" charset="-122"/>
              </a:rPr>
              <a:t>与现有模块的配合方式</a:t>
            </a:r>
            <a:endParaRPr sz="1000" b="1">
              <a:latin typeface="Microsoft YaHei UI" panose="020B0503020204020204" charset="-122"/>
            </a:endParaRPr>
          </a:p>
          <a:p>
            <a:r>
              <a:rPr sz="850">
                <a:latin typeface="Microsoft YaHei UI" panose="020B0503020204020204" charset="-122"/>
              </a:rPr>
              <a:t>  • Flow Planner 作为纵向决策模块的轨迹生成后端</a:t>
            </a:r>
            <a:endParaRPr sz="850">
              <a:latin typeface="Microsoft YaHei UI" panose="020B0503020204020204" charset="-122"/>
            </a:endParaRPr>
          </a:p>
          <a:p>
            <a:r>
              <a:rPr sz="850">
                <a:latin typeface="Microsoft YaHei UI" panose="020B0503020204020204" charset="-122"/>
              </a:rPr>
              <a:t>  • 决策模块提供场景理解和意图（如「此场景应更积极」）</a:t>
            </a:r>
            <a:endParaRPr sz="850">
              <a:latin typeface="Microsoft YaHei UI" panose="020B0503020204020204" charset="-122"/>
            </a:endParaRPr>
          </a:p>
          <a:p>
            <a:r>
              <a:rPr sz="850">
                <a:latin typeface="Microsoft YaHei UI" panose="020B0503020204020204" charset="-122"/>
              </a:rPr>
              <a:t>  • CFG 权重接收该信号，动态调整轨迹生成风格 → 创新点1的实际应用场景</a:t>
            </a:r>
            <a:endParaRPr sz="850">
              <a:latin typeface="Microsoft YaHei UI" panose="020B0503020204020204" charset="-122"/>
            </a:endParaRPr>
          </a:p>
          <a:p>
            <a:endParaRPr sz="850"/>
          </a:p>
          <a:p>
            <a:r>
              <a:rPr sz="1000" b="1">
                <a:latin typeface="Microsoft YaHei UI" panose="020B0503020204020204" charset="-122"/>
              </a:rPr>
              <a:t>💡 超让标签数据的新价值</a:t>
            </a:r>
            <a:endParaRPr sz="1000" b="1">
              <a:latin typeface="Microsoft YaHei UI" panose="020B0503020204020204" charset="-122"/>
            </a:endParaRPr>
          </a:p>
          <a:p>
            <a:r>
              <a:rPr sz="850">
                <a:latin typeface="Microsoft YaHei UI" panose="020B0503020204020204" charset="-122"/>
              </a:rPr>
              <a:t>  • 已有的超让标签可直接用于训练自适应 CFG 权重：</a:t>
            </a:r>
            <a:endParaRPr sz="850">
              <a:latin typeface="Microsoft YaHei UI" panose="020B0503020204020204" charset="-122"/>
            </a:endParaRPr>
          </a:p>
          <a:p>
            <a:r>
              <a:rPr sz="850">
                <a:latin typeface="Microsoft YaHei UI" panose="020B0503020204020204" charset="-122"/>
              </a:rPr>
              <a:t>     「超」场景 → 高 CFG 权重（激进策略）</a:t>
            </a:r>
            <a:endParaRPr sz="850">
              <a:latin typeface="Microsoft YaHei UI" panose="020B0503020204020204" charset="-122"/>
            </a:endParaRPr>
          </a:p>
          <a:p>
            <a:r>
              <a:rPr sz="850">
                <a:latin typeface="Microsoft YaHei UI" panose="020B0503020204020204" charset="-122"/>
              </a:rPr>
              <a:t>     「让」场景 → 低 CFG 权重（保守策略）</a:t>
            </a:r>
            <a:endParaRPr sz="850">
              <a:latin typeface="Microsoft YaHei UI" panose="020B0503020204020204" charset="-122"/>
            </a:endParaRPr>
          </a:p>
          <a:p>
            <a:r>
              <a:rPr sz="850">
                <a:latin typeface="Microsoft YaHei UI" panose="020B0503020204020204" charset="-122"/>
              </a:rPr>
              <a:t>  • 之前的标签积累 = 创新点1的免费训练数据</a:t>
            </a:r>
            <a:endParaRPr sz="850">
              <a:latin typeface="Microsoft YaHei UI" panose="020B0503020204020204" charset="-122"/>
            </a:endParaRPr>
          </a:p>
          <a:p>
            <a:endParaRPr sz="850"/>
          </a:p>
          <a:p>
            <a:r>
              <a:rPr sz="1100" b="1">
                <a:solidFill>
                  <a:srgbClr val="1A3C6E"/>
                </a:solidFill>
                <a:latin typeface="Microsoft YaHei UI" panose="020B0503020204020204" charset="-122"/>
              </a:rPr>
              <a:t>✅ 一句话：超让标签提供博弈经验，Flow Planner 把经验转化为可执行的轨迹</a:t>
            </a:r>
            <a:endParaRPr sz="1100" b="1">
              <a:solidFill>
                <a:srgbClr val="1A3C6E"/>
              </a:solidFill>
              <a:latin typeface="Microsoft YaHei UI" panose="020B0503020204020204"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658556" y="329082"/>
            <a:ext cx="9461119" cy="478155"/>
          </a:xfrm>
          <a:prstGeom prst="rect">
            <a:avLst/>
          </a:prstGeom>
          <a:noFill/>
        </p:spPr>
        <p:txBody>
          <a:bodyPr wrap="square">
            <a:spAutoFit/>
          </a:bodyPr>
          <a:lstStyle/>
          <a:p>
            <a:pPr>
              <a:defRPr sz="2800" b="1">
                <a:solidFill>
                  <a:srgbClr val="FFFFFF"/>
                </a:solidFill>
              </a:defRPr>
            </a:pPr>
            <a:r>
              <a:rPr sz="2520">
                <a:latin typeface="Microsoft YaHei UI" panose="020B0503020204020204" charset="-122"/>
              </a:rPr>
              <a:t>⚙️ Planning 中怎么用？— 三阶段渐进式部署（详细版）</a:t>
            </a:r>
            <a:endParaRPr sz="2520"/>
          </a:p>
        </p:txBody>
      </p:sp>
      <p:sp>
        <p:nvSpPr>
          <p:cNvPr id="3" name="TextBox 2"/>
          <p:cNvSpPr txBox="1"/>
          <p:nvPr/>
        </p:nvSpPr>
        <p:spPr>
          <a:xfrm>
            <a:off x="569021" y="533502"/>
            <a:ext cx="2225040" cy="398780"/>
          </a:xfrm>
          <a:prstGeom prst="rect">
            <a:avLst/>
          </a:prstGeom>
          <a:noFill/>
        </p:spPr>
        <p:txBody>
          <a:bodyPr wrap="none">
            <a:spAutoFit/>
          </a:bodyPr>
          <a:lstStyle/>
          <a:p>
            <a:pPr algn="l">
              <a:defRPr sz="1400" i="1">
                <a:solidFill>
                  <a:srgbClr val="00D2FF"/>
                </a:solidFill>
              </a:defRPr>
            </a:pPr>
            <a:r>
              <a:rPr sz="2000" b="1" i="0">
                <a:solidFill>
                  <a:schemeClr val="accent1"/>
                </a:solidFill>
                <a:latin typeface="Microsoft YaHei UI" panose="020B0503020204020204" charset="-122"/>
                <a:ea typeface="+mj-ea"/>
                <a:cs typeface="+mj-cs"/>
              </a:rPr>
              <a:t>三阶段部署详细版</a:t>
            </a:r>
            <a:endParaRPr sz="2000" b="1" i="0">
              <a:solidFill>
                <a:schemeClr val="accent1"/>
              </a:solidFill>
              <a:latin typeface="Microsoft YaHei UI" panose="020B0503020204020204" charset="-122"/>
              <a:ea typeface="+mj-ea"/>
              <a:cs typeface="+mj-cs"/>
            </a:endParaRPr>
          </a:p>
        </p:txBody>
      </p:sp>
      <p:sp>
        <p:nvSpPr>
          <p:cNvPr id="4" name="TextBox 3"/>
          <p:cNvSpPr txBox="1"/>
          <p:nvPr/>
        </p:nvSpPr>
        <p:spPr>
          <a:xfrm>
            <a:off x="658556" y="1234059"/>
            <a:ext cx="2961742" cy="3952875"/>
          </a:xfrm>
          <a:prstGeom prst="rect">
            <a:avLst/>
          </a:prstGeom>
          <a:noFill/>
        </p:spPr>
        <p:txBody>
          <a:bodyPr wrap="square">
            <a:spAutoFit/>
          </a:bodyPr>
          <a:lstStyle/>
          <a:p>
            <a:pPr>
              <a:spcAft>
                <a:spcPts val="300"/>
              </a:spcAft>
              <a:defRPr sz="1500" b="1">
                <a:solidFill>
                  <a:srgbClr val="00D2FF"/>
                </a:solidFill>
              </a:defRPr>
            </a:pPr>
            <a:r>
              <a:rPr sz="1000">
                <a:solidFill>
                  <a:schemeClr val="tx1"/>
                </a:solidFill>
                <a:latin typeface="Microsoft YaHei UI" panose="020B0503020204020204" charset="-122"/>
              </a:rPr>
              <a:t>阶段一：影子模式（Shadow Mode）</a:t>
            </a:r>
            <a:endParaRPr sz="1350">
              <a:solidFill>
                <a:schemeClr val="tx1"/>
              </a:solidFill>
            </a:endParaRPr>
          </a:p>
          <a:p>
            <a:pPr>
              <a:spcAft>
                <a:spcPts val="300"/>
              </a:spcAft>
              <a:defRPr sz="1200" b="1">
                <a:solidFill>
                  <a:srgbClr val="FFA500"/>
                </a:solidFill>
              </a:defRPr>
            </a:pPr>
            <a:r>
              <a:rPr sz="1080">
                <a:solidFill>
                  <a:schemeClr val="tx1"/>
                </a:solidFill>
                <a:latin typeface="Microsoft YaHei UI" panose="020B0503020204020204" charset="-122"/>
              </a:rPr>
              <a:t>目标：零风险验证 Flow Planner 的实际表现</a:t>
            </a:r>
            <a:endParaRPr sz="1080">
              <a:solidFill>
                <a:schemeClr val="tx1"/>
              </a:solidFill>
            </a:endParaRPr>
          </a:p>
          <a:p>
            <a:pPr>
              <a:spcAft>
                <a:spcPts val="300"/>
              </a:spcAft>
              <a:defRPr sz="600" b="0">
                <a:solidFill>
                  <a:srgbClr val="E0E0E0"/>
                </a:solidFill>
              </a:defRPr>
            </a:pPr>
            <a:endParaRPr sz="540">
              <a:solidFill>
                <a:schemeClr val="tx1"/>
              </a:solidFill>
            </a:endParaRPr>
          </a:p>
          <a:p>
            <a:pPr>
              <a:spcAft>
                <a:spcPts val="300"/>
              </a:spcAft>
              <a:defRPr sz="1200" b="1">
                <a:solidFill>
                  <a:srgbClr val="E0E0E0"/>
                </a:solidFill>
              </a:defRPr>
            </a:pPr>
            <a:r>
              <a:rPr sz="1080">
                <a:solidFill>
                  <a:schemeClr val="tx1"/>
                </a:solidFill>
                <a:latin typeface="Microsoft YaHei UI" panose="020B0503020204020204" charset="-122"/>
              </a:rPr>
              <a:t>具体做法：</a:t>
            </a:r>
            <a:endParaRPr sz="1080">
              <a:solidFill>
                <a:schemeClr val="tx1"/>
              </a:solidFill>
            </a:endParaRPr>
          </a:p>
          <a:p>
            <a:pPr>
              <a:spcAft>
                <a:spcPts val="300"/>
              </a:spcAft>
              <a:defRPr sz="1100" b="0">
                <a:solidFill>
                  <a:srgbClr val="E0E0E0"/>
                </a:solidFill>
              </a:defRPr>
            </a:pPr>
            <a:r>
              <a:rPr sz="990">
                <a:solidFill>
                  <a:schemeClr val="tx1"/>
                </a:solidFill>
                <a:latin typeface="Microsoft YaHei UI" panose="020B0503020204020204" charset="-122"/>
              </a:rPr>
              <a:t>① Flow Planner 与现有 rule-based planner 并行部署</a:t>
            </a:r>
            <a:endParaRPr sz="990">
              <a:solidFill>
                <a:schemeClr val="tx1"/>
              </a:solidFill>
            </a:endParaRPr>
          </a:p>
          <a:p>
            <a:pPr>
              <a:spcAft>
                <a:spcPts val="300"/>
              </a:spcAft>
              <a:defRPr sz="1100" b="0">
                <a:solidFill>
                  <a:srgbClr val="E0E0E0"/>
                </a:solidFill>
              </a:defRPr>
            </a:pPr>
            <a:r>
              <a:rPr sz="990">
                <a:solidFill>
                  <a:schemeClr val="tx1"/>
                </a:solidFill>
                <a:latin typeface="Microsoft YaHei UI" panose="020B0503020204020204" charset="-122"/>
              </a:rPr>
              <a:t>② Flow Planner 只算不控：不参与车辆实际控制</a:t>
            </a:r>
            <a:endParaRPr sz="990">
              <a:solidFill>
                <a:schemeClr val="tx1"/>
              </a:solidFill>
            </a:endParaRPr>
          </a:p>
          <a:p>
            <a:pPr>
              <a:spcAft>
                <a:spcPts val="300"/>
              </a:spcAft>
              <a:defRPr sz="1100" b="0">
                <a:solidFill>
                  <a:srgbClr val="E0E0E0"/>
                </a:solidFill>
              </a:defRPr>
            </a:pPr>
            <a:r>
              <a:rPr sz="990">
                <a:solidFill>
                  <a:schemeClr val="tx1"/>
                </a:solidFill>
                <a:latin typeface="Microsoft YaHei UI" panose="020B0503020204020204" charset="-122"/>
              </a:rPr>
              <a:t>③ 每个时间步同时记录两者生成的轨迹</a:t>
            </a:r>
            <a:endParaRPr sz="990">
              <a:solidFill>
                <a:schemeClr val="tx1"/>
              </a:solidFill>
            </a:endParaRPr>
          </a:p>
          <a:p>
            <a:pPr>
              <a:spcAft>
                <a:spcPts val="300"/>
              </a:spcAft>
              <a:defRPr sz="1100" b="0">
                <a:solidFill>
                  <a:srgbClr val="E0E0E0"/>
                </a:solidFill>
              </a:defRPr>
            </a:pPr>
            <a:r>
              <a:rPr sz="990">
                <a:solidFill>
                  <a:schemeClr val="tx1"/>
                </a:solidFill>
                <a:latin typeface="Microsoft YaHei UI" panose="020B0503020204020204" charset="-122"/>
              </a:rPr>
              <a:t>④ 离线对比分析：</a:t>
            </a:r>
            <a:endParaRPr sz="990">
              <a:solidFill>
                <a:schemeClr val="tx1"/>
              </a:solidFill>
            </a:endParaRPr>
          </a:p>
          <a:p>
            <a:pPr>
              <a:spcAft>
                <a:spcPts val="300"/>
              </a:spcAft>
              <a:defRPr sz="1000" b="0">
                <a:solidFill>
                  <a:srgbClr val="A0A0A0"/>
                </a:solidFill>
              </a:defRPr>
            </a:pPr>
            <a:r>
              <a:rPr sz="900">
                <a:solidFill>
                  <a:schemeClr val="tx1"/>
                </a:solidFill>
                <a:latin typeface="Microsoft YaHei UI" panose="020B0503020204020204" charset="-122"/>
              </a:rPr>
              <a:t>   • ADE/FDE 误差対比</a:t>
            </a:r>
            <a:endParaRPr sz="900">
              <a:solidFill>
                <a:schemeClr val="tx1"/>
              </a:solidFill>
            </a:endParaRPr>
          </a:p>
          <a:p>
            <a:pPr>
              <a:spcAft>
                <a:spcPts val="300"/>
              </a:spcAft>
              <a:defRPr sz="1000" b="0">
                <a:solidFill>
                  <a:srgbClr val="A0A0A0"/>
                </a:solidFill>
              </a:defRPr>
            </a:pPr>
            <a:r>
              <a:rPr sz="900">
                <a:solidFill>
                  <a:schemeClr val="tx1"/>
                </a:solidFill>
                <a:latin typeface="Microsoft YaHei UI" panose="020B0503020204020204" charset="-122"/>
              </a:rPr>
              <a:t>   • 碰撞率 / TTC 合规率对比</a:t>
            </a:r>
            <a:endParaRPr sz="900">
              <a:solidFill>
                <a:schemeClr val="tx1"/>
              </a:solidFill>
            </a:endParaRPr>
          </a:p>
          <a:p>
            <a:pPr>
              <a:spcAft>
                <a:spcPts val="300"/>
              </a:spcAft>
              <a:defRPr sz="1000" b="0">
                <a:solidFill>
                  <a:srgbClr val="A0A0A0"/>
                </a:solidFill>
              </a:defRPr>
            </a:pPr>
            <a:r>
              <a:rPr sz="900">
                <a:solidFill>
                  <a:schemeClr val="tx1"/>
                </a:solidFill>
                <a:latin typeface="Microsoft YaHei UI" panose="020B0503020204020204" charset="-122"/>
              </a:rPr>
              <a:t>   • 按场景类型统计各自强势/弱势领域</a:t>
            </a:r>
            <a:endParaRPr sz="900">
              <a:solidFill>
                <a:schemeClr val="tx1"/>
              </a:solidFill>
            </a:endParaRPr>
          </a:p>
          <a:p>
            <a:pPr>
              <a:spcAft>
                <a:spcPts val="300"/>
              </a:spcAft>
              <a:defRPr sz="600" b="0">
                <a:solidFill>
                  <a:srgbClr val="E0E0E0"/>
                </a:solidFill>
              </a:defRPr>
            </a:pPr>
            <a:endParaRPr sz="540">
              <a:solidFill>
                <a:schemeClr val="tx1"/>
              </a:solidFill>
            </a:endParaRPr>
          </a:p>
          <a:p>
            <a:pPr>
              <a:spcAft>
                <a:spcPts val="300"/>
              </a:spcAft>
              <a:defRPr sz="1200" b="1">
                <a:solidFill>
                  <a:srgbClr val="00FF88"/>
                </a:solidFill>
              </a:defRPr>
            </a:pPr>
            <a:r>
              <a:rPr sz="1080">
                <a:solidFill>
                  <a:schemeClr val="tx1"/>
                </a:solidFill>
                <a:latin typeface="Microsoft YaHei UI" panose="020B0503020204020204" charset="-122"/>
              </a:rPr>
              <a:t>退出条件：</a:t>
            </a:r>
            <a:endParaRPr sz="1080">
              <a:solidFill>
                <a:schemeClr val="tx1"/>
              </a:solidFill>
            </a:endParaRPr>
          </a:p>
          <a:p>
            <a:pPr>
              <a:spcAft>
                <a:spcPts val="300"/>
              </a:spcAft>
              <a:defRPr sz="1100" b="0">
                <a:solidFill>
                  <a:srgbClr val="E0E0E0"/>
                </a:solidFill>
              </a:defRPr>
            </a:pPr>
            <a:r>
              <a:rPr sz="990">
                <a:solidFill>
                  <a:schemeClr val="tx1"/>
                </a:solidFill>
                <a:latin typeface="Microsoft YaHei UI" panose="020B0503020204020204" charset="-122"/>
              </a:rPr>
              <a:t>• Flow Planner 在 ≥80% 场景类型上优于 rule-based</a:t>
            </a:r>
            <a:endParaRPr sz="990">
              <a:solidFill>
                <a:schemeClr val="tx1"/>
              </a:solidFill>
            </a:endParaRPr>
          </a:p>
          <a:p>
            <a:pPr>
              <a:spcAft>
                <a:spcPts val="300"/>
              </a:spcAft>
              <a:defRPr sz="1100" b="0">
                <a:solidFill>
                  <a:srgbClr val="E0E0E0"/>
                </a:solidFill>
              </a:defRPr>
            </a:pPr>
            <a:r>
              <a:rPr sz="990">
                <a:solidFill>
                  <a:schemeClr val="tx1"/>
                </a:solidFill>
                <a:latin typeface="Microsoft YaHei UI" panose="020B0503020204020204" charset="-122"/>
              </a:rPr>
              <a:t>• 碰撞率 ≤ rule-based 的 1.1 倍</a:t>
            </a:r>
            <a:endParaRPr sz="990">
              <a:solidFill>
                <a:schemeClr val="tx1"/>
              </a:solidFill>
            </a:endParaRPr>
          </a:p>
          <a:p>
            <a:pPr>
              <a:spcAft>
                <a:spcPts val="300"/>
              </a:spcAft>
              <a:defRPr sz="1100" b="0">
                <a:solidFill>
                  <a:srgbClr val="E0E0E0"/>
                </a:solidFill>
              </a:defRPr>
            </a:pPr>
            <a:r>
              <a:rPr sz="990">
                <a:solidFill>
                  <a:schemeClr val="tx1"/>
                </a:solidFill>
                <a:latin typeface="Microsoft YaHei UI" panose="020B0503020204020204" charset="-122"/>
              </a:rPr>
              <a:t>• 连续运行 1000+ 真实场景无系统性故障</a:t>
            </a:r>
            <a:endParaRPr sz="990">
              <a:solidFill>
                <a:schemeClr val="tx1"/>
              </a:solidFill>
            </a:endParaRPr>
          </a:p>
          <a:p>
            <a:pPr>
              <a:spcAft>
                <a:spcPts val="300"/>
              </a:spcAft>
              <a:defRPr sz="600" b="0">
                <a:solidFill>
                  <a:srgbClr val="E0E0E0"/>
                </a:solidFill>
              </a:defRPr>
            </a:pPr>
            <a:endParaRPr sz="540">
              <a:solidFill>
                <a:schemeClr val="tx1"/>
              </a:solidFill>
            </a:endParaRPr>
          </a:p>
          <a:p>
            <a:pPr>
              <a:spcAft>
                <a:spcPts val="300"/>
              </a:spcAft>
              <a:defRPr sz="1100" b="0">
                <a:solidFill>
                  <a:srgbClr val="FFA500"/>
                </a:solidFill>
              </a:defRPr>
            </a:pPr>
            <a:r>
              <a:rPr sz="990">
                <a:solidFill>
                  <a:schemeClr val="tx1"/>
                </a:solidFill>
                <a:latin typeface="Microsoft YaHei UI" panose="020B0503020204020204" charset="-122"/>
              </a:rPr>
              <a:t>预计周期：2-3 个月</a:t>
            </a:r>
            <a:endParaRPr sz="990">
              <a:solidFill>
                <a:schemeClr val="tx1"/>
              </a:solidFill>
              <a:latin typeface="Microsoft YaHei UI" panose="020B0503020204020204" charset="-122"/>
            </a:endParaRPr>
          </a:p>
        </p:txBody>
      </p:sp>
      <p:sp>
        <p:nvSpPr>
          <p:cNvPr id="5" name="TextBox 4"/>
          <p:cNvSpPr txBox="1"/>
          <p:nvPr/>
        </p:nvSpPr>
        <p:spPr>
          <a:xfrm>
            <a:off x="3867110" y="1234059"/>
            <a:ext cx="2961742" cy="3809365"/>
          </a:xfrm>
          <a:prstGeom prst="rect">
            <a:avLst/>
          </a:prstGeom>
          <a:noFill/>
        </p:spPr>
        <p:txBody>
          <a:bodyPr wrap="square">
            <a:spAutoFit/>
          </a:bodyPr>
          <a:lstStyle/>
          <a:p>
            <a:pPr>
              <a:spcAft>
                <a:spcPts val="300"/>
              </a:spcAft>
              <a:defRPr sz="1500" b="1">
                <a:solidFill>
                  <a:srgbClr val="00D2FF"/>
                </a:solidFill>
              </a:defRPr>
            </a:pPr>
            <a:r>
              <a:rPr sz="1000">
                <a:solidFill>
                  <a:schemeClr val="tx1"/>
                </a:solidFill>
                <a:latin typeface="Microsoft YaHei UI" panose="020B0503020204020204" charset="-122"/>
              </a:rPr>
              <a:t>阶段二：场景分级混合部署</a:t>
            </a:r>
            <a:endParaRPr sz="1350">
              <a:solidFill>
                <a:schemeClr val="tx1"/>
              </a:solidFill>
            </a:endParaRPr>
          </a:p>
          <a:p>
            <a:pPr>
              <a:spcAft>
                <a:spcPts val="300"/>
              </a:spcAft>
              <a:defRPr sz="1200" b="1">
                <a:solidFill>
                  <a:srgbClr val="FFA500"/>
                </a:solidFill>
              </a:defRPr>
            </a:pPr>
            <a:r>
              <a:rPr sz="1080">
                <a:solidFill>
                  <a:schemeClr val="tx1"/>
                </a:solidFill>
                <a:latin typeface="Microsoft YaHei UI" panose="020B0503020204020204" charset="-122"/>
              </a:rPr>
              <a:t>目标：复杂场景由 Flow Planner 主导</a:t>
            </a:r>
            <a:endParaRPr sz="1080">
              <a:solidFill>
                <a:schemeClr val="tx1"/>
              </a:solidFill>
            </a:endParaRPr>
          </a:p>
          <a:p>
            <a:pPr>
              <a:spcAft>
                <a:spcPts val="300"/>
              </a:spcAft>
              <a:defRPr sz="600" b="0">
                <a:solidFill>
                  <a:srgbClr val="E0E0E0"/>
                </a:solidFill>
              </a:defRPr>
            </a:pPr>
            <a:endParaRPr sz="540">
              <a:solidFill>
                <a:schemeClr val="tx1"/>
              </a:solidFill>
            </a:endParaRPr>
          </a:p>
          <a:p>
            <a:pPr>
              <a:spcAft>
                <a:spcPts val="300"/>
              </a:spcAft>
              <a:defRPr sz="1200" b="1">
                <a:solidFill>
                  <a:srgbClr val="E0E0E0"/>
                </a:solidFill>
              </a:defRPr>
            </a:pPr>
            <a:r>
              <a:rPr sz="1080">
                <a:solidFill>
                  <a:schemeClr val="tx1"/>
                </a:solidFill>
                <a:latin typeface="Microsoft YaHei UI" panose="020B0503020204020204" charset="-122"/>
              </a:rPr>
              <a:t>具体做法：</a:t>
            </a:r>
            <a:endParaRPr sz="1080">
              <a:solidFill>
                <a:schemeClr val="tx1"/>
              </a:solidFill>
            </a:endParaRPr>
          </a:p>
          <a:p>
            <a:pPr>
              <a:spcAft>
                <a:spcPts val="300"/>
              </a:spcAft>
              <a:defRPr sz="1100" b="0">
                <a:solidFill>
                  <a:srgbClr val="E0E0E0"/>
                </a:solidFill>
              </a:defRPr>
            </a:pPr>
            <a:r>
              <a:rPr sz="990">
                <a:solidFill>
                  <a:schemeClr val="tx1"/>
                </a:solidFill>
                <a:latin typeface="Microsoft YaHei UI" panose="020B0503020204020204" charset="-122"/>
              </a:rPr>
              <a:t>① 场景分类器将当前场景实时归类为：</a:t>
            </a:r>
            <a:endParaRPr sz="990">
              <a:solidFill>
                <a:schemeClr val="tx1"/>
              </a:solidFill>
            </a:endParaRPr>
          </a:p>
          <a:p>
            <a:pPr>
              <a:spcAft>
                <a:spcPts val="300"/>
              </a:spcAft>
              <a:defRPr sz="1000" b="0">
                <a:solidFill>
                  <a:srgbClr val="A0A0A0"/>
                </a:solidFill>
              </a:defRPr>
            </a:pPr>
            <a:r>
              <a:rPr sz="900">
                <a:solidFill>
                  <a:schemeClr val="tx1"/>
                </a:solidFill>
                <a:latin typeface="Microsoft YaHei UI" panose="020B0503020204020204" charset="-122"/>
              </a:rPr>
              <a:t>   A 类（简单）→ rule-based 主导</a:t>
            </a:r>
            <a:endParaRPr sz="900">
              <a:solidFill>
                <a:schemeClr val="tx1"/>
              </a:solidFill>
            </a:endParaRPr>
          </a:p>
          <a:p>
            <a:pPr>
              <a:spcAft>
                <a:spcPts val="300"/>
              </a:spcAft>
              <a:defRPr sz="1000" b="0">
                <a:solidFill>
                  <a:srgbClr val="A0A0A0"/>
                </a:solidFill>
              </a:defRPr>
            </a:pPr>
            <a:r>
              <a:rPr sz="900">
                <a:solidFill>
                  <a:schemeClr val="tx1"/>
                </a:solidFill>
                <a:latin typeface="Microsoft YaHei UI" panose="020B0503020204020204" charset="-122"/>
              </a:rPr>
              <a:t>     直道跟车、低速巡航、无交互</a:t>
            </a:r>
            <a:endParaRPr sz="900">
              <a:solidFill>
                <a:schemeClr val="tx1"/>
              </a:solidFill>
            </a:endParaRPr>
          </a:p>
          <a:p>
            <a:pPr>
              <a:spcAft>
                <a:spcPts val="300"/>
              </a:spcAft>
              <a:defRPr sz="1000" b="0">
                <a:solidFill>
                  <a:srgbClr val="A0A0A0"/>
                </a:solidFill>
              </a:defRPr>
            </a:pPr>
            <a:r>
              <a:rPr sz="900">
                <a:solidFill>
                  <a:schemeClr val="tx1"/>
                </a:solidFill>
                <a:latin typeface="Microsoft YaHei UI" panose="020B0503020204020204" charset="-122"/>
              </a:rPr>
              <a:t>   B 类（复杂）→ Flow Planner 主导</a:t>
            </a:r>
            <a:endParaRPr sz="900">
              <a:solidFill>
                <a:schemeClr val="tx1"/>
              </a:solidFill>
            </a:endParaRPr>
          </a:p>
          <a:p>
            <a:pPr>
              <a:spcAft>
                <a:spcPts val="300"/>
              </a:spcAft>
              <a:defRPr sz="1000" b="0">
                <a:solidFill>
                  <a:srgbClr val="A0A0A0"/>
                </a:solidFill>
              </a:defRPr>
            </a:pPr>
            <a:r>
              <a:rPr sz="900">
                <a:solidFill>
                  <a:schemeClr val="tx1"/>
                </a:solidFill>
                <a:latin typeface="Microsoft YaHei UI" panose="020B0503020204020204" charset="-122"/>
              </a:rPr>
              <a:t>     密集路口、博弈变道、行人横穿</a:t>
            </a:r>
            <a:endParaRPr sz="900">
              <a:solidFill>
                <a:schemeClr val="tx1"/>
              </a:solidFill>
            </a:endParaRPr>
          </a:p>
          <a:p>
            <a:pPr>
              <a:spcAft>
                <a:spcPts val="300"/>
              </a:spcAft>
              <a:defRPr sz="1100" b="0">
                <a:solidFill>
                  <a:srgbClr val="E0E0E0"/>
                </a:solidFill>
              </a:defRPr>
            </a:pPr>
            <a:r>
              <a:rPr sz="990">
                <a:solidFill>
                  <a:schemeClr val="tx1"/>
                </a:solidFill>
                <a:latin typeface="Microsoft YaHei UI" panose="020B0503020204020204" charset="-122"/>
              </a:rPr>
              <a:t>② 安全监控层（Safety Monitor）实时校验：</a:t>
            </a:r>
            <a:endParaRPr sz="990">
              <a:solidFill>
                <a:schemeClr val="tx1"/>
              </a:solidFill>
            </a:endParaRPr>
          </a:p>
          <a:p>
            <a:pPr>
              <a:spcAft>
                <a:spcPts val="300"/>
              </a:spcAft>
              <a:defRPr sz="1000" b="0">
                <a:solidFill>
                  <a:srgbClr val="A0A0A0"/>
                </a:solidFill>
              </a:defRPr>
            </a:pPr>
            <a:r>
              <a:rPr sz="900">
                <a:solidFill>
                  <a:schemeClr val="tx1"/>
                </a:solidFill>
                <a:latin typeface="Microsoft YaHei UI" panose="020B0503020204020204" charset="-122"/>
              </a:rPr>
              <a:t>   • 轨迹是否满足：碰撞距离 &gt; 2m</a:t>
            </a:r>
            <a:endParaRPr sz="900">
              <a:solidFill>
                <a:schemeClr val="tx1"/>
              </a:solidFill>
            </a:endParaRPr>
          </a:p>
          <a:p>
            <a:pPr>
              <a:spcAft>
                <a:spcPts val="300"/>
              </a:spcAft>
              <a:defRPr sz="1000" b="0">
                <a:solidFill>
                  <a:srgbClr val="A0A0A0"/>
                </a:solidFill>
              </a:defRPr>
            </a:pPr>
            <a:r>
              <a:rPr sz="900">
                <a:solidFill>
                  <a:schemeClr val="tx1"/>
                </a:solidFill>
                <a:latin typeface="Microsoft YaHei UI" panose="020B0503020204020204" charset="-122"/>
              </a:rPr>
              <a:t>   • 加速度/Jerk 是否超限</a:t>
            </a:r>
            <a:endParaRPr sz="900">
              <a:solidFill>
                <a:schemeClr val="tx1"/>
              </a:solidFill>
            </a:endParaRPr>
          </a:p>
          <a:p>
            <a:pPr>
              <a:spcAft>
                <a:spcPts val="300"/>
              </a:spcAft>
              <a:defRPr sz="1000" b="0">
                <a:solidFill>
                  <a:srgbClr val="A0A0A0"/>
                </a:solidFill>
              </a:defRPr>
            </a:pPr>
            <a:r>
              <a:rPr sz="900">
                <a:solidFill>
                  <a:schemeClr val="tx1"/>
                </a:solidFill>
                <a:latin typeface="Microsoft YaHei UI" panose="020B0503020204020204" charset="-122"/>
              </a:rPr>
              <a:t>   • 不满足 → 100ms 内 fallback 到 rule-based</a:t>
            </a:r>
            <a:endParaRPr sz="900">
              <a:solidFill>
                <a:schemeClr val="tx1"/>
              </a:solidFill>
            </a:endParaRPr>
          </a:p>
          <a:p>
            <a:pPr>
              <a:spcAft>
                <a:spcPts val="300"/>
              </a:spcAft>
              <a:defRPr sz="1100" b="0">
                <a:solidFill>
                  <a:srgbClr val="E0E0E0"/>
                </a:solidFill>
              </a:defRPr>
            </a:pPr>
            <a:r>
              <a:rPr sz="990">
                <a:solidFill>
                  <a:schemeClr val="tx1"/>
                </a:solidFill>
                <a:latin typeface="Microsoft YaHei UI" panose="020B0503020204020204" charset="-122"/>
              </a:rPr>
              <a:t>③ Scene-Adaptive w 根据场景类型自动调整 CFG 权重</a:t>
            </a:r>
            <a:endParaRPr sz="990">
              <a:solidFill>
                <a:schemeClr val="tx1"/>
              </a:solidFill>
            </a:endParaRPr>
          </a:p>
          <a:p>
            <a:pPr>
              <a:spcAft>
                <a:spcPts val="300"/>
              </a:spcAft>
              <a:defRPr sz="600" b="0">
                <a:solidFill>
                  <a:srgbClr val="E0E0E0"/>
                </a:solidFill>
              </a:defRPr>
            </a:pPr>
            <a:endParaRPr sz="540">
              <a:solidFill>
                <a:schemeClr val="tx1"/>
              </a:solidFill>
            </a:endParaRPr>
          </a:p>
          <a:p>
            <a:pPr>
              <a:spcAft>
                <a:spcPts val="300"/>
              </a:spcAft>
              <a:defRPr sz="1200" b="1">
                <a:solidFill>
                  <a:srgbClr val="00FF88"/>
                </a:solidFill>
              </a:defRPr>
            </a:pPr>
            <a:r>
              <a:rPr sz="1080">
                <a:solidFill>
                  <a:schemeClr val="tx1"/>
                </a:solidFill>
                <a:latin typeface="Microsoft YaHei UI" panose="020B0503020204020204" charset="-122"/>
              </a:rPr>
              <a:t>退出条件：</a:t>
            </a:r>
            <a:endParaRPr sz="1080">
              <a:solidFill>
                <a:schemeClr val="tx1"/>
              </a:solidFill>
            </a:endParaRPr>
          </a:p>
          <a:p>
            <a:pPr>
              <a:spcAft>
                <a:spcPts val="300"/>
              </a:spcAft>
              <a:defRPr sz="1100" b="0">
                <a:solidFill>
                  <a:srgbClr val="E0E0E0"/>
                </a:solidFill>
              </a:defRPr>
            </a:pPr>
            <a:r>
              <a:rPr sz="990">
                <a:solidFill>
                  <a:schemeClr val="tx1"/>
                </a:solidFill>
                <a:latin typeface="Microsoft YaHei UI" panose="020B0503020204020204" charset="-122"/>
              </a:rPr>
              <a:t>• B 类场景通过率 ≥ 95%</a:t>
            </a:r>
            <a:endParaRPr sz="990">
              <a:solidFill>
                <a:schemeClr val="tx1"/>
              </a:solidFill>
            </a:endParaRPr>
          </a:p>
          <a:p>
            <a:pPr>
              <a:spcAft>
                <a:spcPts val="300"/>
              </a:spcAft>
              <a:defRPr sz="1100" b="0">
                <a:solidFill>
                  <a:srgbClr val="E0E0E0"/>
                </a:solidFill>
              </a:defRPr>
            </a:pPr>
            <a:r>
              <a:rPr sz="990">
                <a:solidFill>
                  <a:schemeClr val="tx1"/>
                </a:solidFill>
                <a:latin typeface="Microsoft YaHei UI" panose="020B0503020204020204" charset="-122"/>
              </a:rPr>
              <a:t>• Fallback 触发率 ≤ 5%</a:t>
            </a:r>
            <a:endParaRPr sz="990">
              <a:solidFill>
                <a:schemeClr val="tx1"/>
              </a:solidFill>
            </a:endParaRPr>
          </a:p>
          <a:p>
            <a:pPr>
              <a:spcAft>
                <a:spcPts val="300"/>
              </a:spcAft>
              <a:defRPr sz="600" b="0">
                <a:solidFill>
                  <a:srgbClr val="E0E0E0"/>
                </a:solidFill>
              </a:defRPr>
            </a:pPr>
            <a:endParaRPr sz="540">
              <a:solidFill>
                <a:schemeClr val="tx1"/>
              </a:solidFill>
            </a:endParaRPr>
          </a:p>
          <a:p>
            <a:pPr>
              <a:spcAft>
                <a:spcPts val="300"/>
              </a:spcAft>
              <a:defRPr sz="1100" b="0">
                <a:solidFill>
                  <a:srgbClr val="FFA500"/>
                </a:solidFill>
              </a:defRPr>
            </a:pPr>
            <a:r>
              <a:rPr sz="990">
                <a:solidFill>
                  <a:schemeClr val="tx1"/>
                </a:solidFill>
                <a:latin typeface="Microsoft YaHei UI" panose="020B0503020204020204" charset="-122"/>
              </a:rPr>
              <a:t>预计周期：3-4 个月</a:t>
            </a:r>
            <a:endParaRPr sz="990">
              <a:solidFill>
                <a:schemeClr val="tx1"/>
              </a:solidFill>
              <a:latin typeface="Microsoft YaHei UI" panose="020B0503020204020204" charset="-122"/>
            </a:endParaRPr>
          </a:p>
        </p:txBody>
      </p:sp>
      <p:sp>
        <p:nvSpPr>
          <p:cNvPr id="6" name="TextBox 5"/>
          <p:cNvSpPr txBox="1"/>
          <p:nvPr/>
        </p:nvSpPr>
        <p:spPr>
          <a:xfrm>
            <a:off x="7075663" y="1234059"/>
            <a:ext cx="3290824" cy="3861435"/>
          </a:xfrm>
          <a:prstGeom prst="rect">
            <a:avLst/>
          </a:prstGeom>
          <a:noFill/>
        </p:spPr>
        <p:txBody>
          <a:bodyPr wrap="square">
            <a:spAutoFit/>
          </a:bodyPr>
          <a:lstStyle/>
          <a:p>
            <a:pPr>
              <a:spcAft>
                <a:spcPts val="300"/>
              </a:spcAft>
              <a:defRPr sz="1500" b="1">
                <a:solidFill>
                  <a:srgbClr val="00D2FF"/>
                </a:solidFill>
              </a:defRPr>
            </a:pPr>
            <a:r>
              <a:rPr sz="1000">
                <a:solidFill>
                  <a:schemeClr val="tx1"/>
                </a:solidFill>
                <a:latin typeface="Microsoft YaHei UI" panose="020B0503020204020204" charset="-122"/>
              </a:rPr>
              <a:t>阶段三：全场景 Flow Planner</a:t>
            </a:r>
            <a:endParaRPr sz="1350">
              <a:solidFill>
                <a:schemeClr val="tx1"/>
              </a:solidFill>
            </a:endParaRPr>
          </a:p>
          <a:p>
            <a:pPr>
              <a:spcAft>
                <a:spcPts val="300"/>
              </a:spcAft>
              <a:defRPr sz="1200" b="1">
                <a:solidFill>
                  <a:srgbClr val="FFA500"/>
                </a:solidFill>
              </a:defRPr>
            </a:pPr>
            <a:r>
              <a:rPr sz="1080">
                <a:solidFill>
                  <a:schemeClr val="tx1"/>
                </a:solidFill>
                <a:latin typeface="Microsoft YaHei UI" panose="020B0503020204020204" charset="-122"/>
              </a:rPr>
              <a:t>目标：Flow Planner 成为唯一轨迹生成器</a:t>
            </a:r>
            <a:endParaRPr sz="1080">
              <a:solidFill>
                <a:schemeClr val="tx1"/>
              </a:solidFill>
            </a:endParaRPr>
          </a:p>
          <a:p>
            <a:pPr>
              <a:spcAft>
                <a:spcPts val="300"/>
              </a:spcAft>
              <a:defRPr sz="600" b="0">
                <a:solidFill>
                  <a:srgbClr val="E0E0E0"/>
                </a:solidFill>
              </a:defRPr>
            </a:pPr>
            <a:endParaRPr sz="540">
              <a:solidFill>
                <a:schemeClr val="tx1"/>
              </a:solidFill>
            </a:endParaRPr>
          </a:p>
          <a:p>
            <a:pPr>
              <a:spcAft>
                <a:spcPts val="300"/>
              </a:spcAft>
              <a:defRPr sz="1200" b="1">
                <a:solidFill>
                  <a:srgbClr val="E0E0E0"/>
                </a:solidFill>
              </a:defRPr>
            </a:pPr>
            <a:r>
              <a:rPr sz="1080">
                <a:solidFill>
                  <a:schemeClr val="tx1"/>
                </a:solidFill>
                <a:latin typeface="Microsoft YaHei UI" panose="020B0503020204020204" charset="-122"/>
              </a:rPr>
              <a:t>具体做法：</a:t>
            </a:r>
            <a:endParaRPr sz="1080">
              <a:solidFill>
                <a:schemeClr val="tx1"/>
              </a:solidFill>
            </a:endParaRPr>
          </a:p>
          <a:p>
            <a:pPr>
              <a:spcAft>
                <a:spcPts val="300"/>
              </a:spcAft>
              <a:defRPr sz="1100" b="0">
                <a:solidFill>
                  <a:srgbClr val="E0E0E0"/>
                </a:solidFill>
              </a:defRPr>
            </a:pPr>
            <a:r>
              <a:rPr sz="990">
                <a:solidFill>
                  <a:schemeClr val="tx1"/>
                </a:solidFill>
                <a:latin typeface="Microsoft YaHei UI" panose="020B0503020204020204" charset="-122"/>
              </a:rPr>
              <a:t>① 所有场景类型均由 Flow Planner 生成轨迹</a:t>
            </a:r>
            <a:endParaRPr sz="990">
              <a:solidFill>
                <a:schemeClr val="tx1"/>
              </a:solidFill>
            </a:endParaRPr>
          </a:p>
          <a:p>
            <a:pPr>
              <a:spcAft>
                <a:spcPts val="300"/>
              </a:spcAft>
              <a:defRPr sz="1100" b="0">
                <a:solidFill>
                  <a:srgbClr val="E0E0E0"/>
                </a:solidFill>
              </a:defRPr>
            </a:pPr>
            <a:r>
              <a:rPr sz="990">
                <a:solidFill>
                  <a:schemeClr val="tx1"/>
                </a:solidFill>
                <a:latin typeface="Microsoft YaHei UI" panose="020B0503020204020204" charset="-122"/>
              </a:rPr>
              <a:t>② rule-based planner 降级为纯安全兜底层：</a:t>
            </a:r>
            <a:endParaRPr sz="990">
              <a:solidFill>
                <a:schemeClr val="tx1"/>
              </a:solidFill>
            </a:endParaRPr>
          </a:p>
          <a:p>
            <a:pPr>
              <a:spcAft>
                <a:spcPts val="300"/>
              </a:spcAft>
              <a:defRPr sz="1000" b="0">
                <a:solidFill>
                  <a:srgbClr val="A0A0A0"/>
                </a:solidFill>
              </a:defRPr>
            </a:pPr>
            <a:r>
              <a:rPr sz="900">
                <a:solidFill>
                  <a:schemeClr val="tx1"/>
                </a:solidFill>
                <a:latin typeface="Microsoft YaHei UI" panose="020B0503020204020204" charset="-122"/>
              </a:rPr>
              <a:t>   • 仅在 TTC &lt; 0.5s 紧急情况下强制接管</a:t>
            </a:r>
            <a:endParaRPr sz="900">
              <a:solidFill>
                <a:schemeClr val="tx1"/>
              </a:solidFill>
            </a:endParaRPr>
          </a:p>
          <a:p>
            <a:pPr>
              <a:spcAft>
                <a:spcPts val="300"/>
              </a:spcAft>
              <a:defRPr sz="1000" b="0">
                <a:solidFill>
                  <a:srgbClr val="A0A0A0"/>
                </a:solidFill>
              </a:defRPr>
            </a:pPr>
            <a:r>
              <a:rPr sz="900">
                <a:solidFill>
                  <a:schemeClr val="tx1"/>
                </a:solidFill>
                <a:latin typeface="Microsoft YaHei UI" panose="020B0503020204020204" charset="-122"/>
              </a:rPr>
              <a:t>   • 功能等同于 AEB（自动紧急制动）</a:t>
            </a:r>
            <a:endParaRPr sz="900">
              <a:solidFill>
                <a:schemeClr val="tx1"/>
              </a:solidFill>
            </a:endParaRPr>
          </a:p>
          <a:p>
            <a:pPr>
              <a:spcAft>
                <a:spcPts val="300"/>
              </a:spcAft>
              <a:defRPr sz="1100" b="0">
                <a:solidFill>
                  <a:srgbClr val="E0E0E0"/>
                </a:solidFill>
              </a:defRPr>
            </a:pPr>
            <a:r>
              <a:rPr sz="990">
                <a:solidFill>
                  <a:schemeClr val="tx1"/>
                </a:solidFill>
                <a:latin typeface="Microsoft YaHei UI" panose="020B0503020204020204" charset="-122"/>
              </a:rPr>
              <a:t>③ Best-of-N 机制常驻：</a:t>
            </a:r>
            <a:endParaRPr sz="990">
              <a:solidFill>
                <a:schemeClr val="tx1"/>
              </a:solidFill>
            </a:endParaRPr>
          </a:p>
          <a:p>
            <a:pPr>
              <a:spcAft>
                <a:spcPts val="300"/>
              </a:spcAft>
              <a:defRPr sz="1000" b="0">
                <a:solidFill>
                  <a:srgbClr val="A0A0A0"/>
                </a:solidFill>
              </a:defRPr>
            </a:pPr>
            <a:r>
              <a:rPr sz="900">
                <a:solidFill>
                  <a:schemeClr val="tx1"/>
                </a:solidFill>
                <a:latin typeface="Microsoft YaHei UI" panose="020B0503020204020204" charset="-122"/>
              </a:rPr>
              <a:t>   • 每步生成 5 条候选，自动选最安全的</a:t>
            </a:r>
            <a:endParaRPr sz="900">
              <a:solidFill>
                <a:schemeClr val="tx1"/>
              </a:solidFill>
            </a:endParaRPr>
          </a:p>
          <a:p>
            <a:pPr>
              <a:spcAft>
                <a:spcPts val="300"/>
              </a:spcAft>
              <a:defRPr sz="1000" b="0">
                <a:solidFill>
                  <a:srgbClr val="A0A0A0"/>
                </a:solidFill>
              </a:defRPr>
            </a:pPr>
            <a:r>
              <a:rPr sz="900">
                <a:solidFill>
                  <a:schemeClr val="tx1"/>
                </a:solidFill>
                <a:latin typeface="Microsoft YaHei UI" panose="020B0503020204020204" charset="-122"/>
              </a:rPr>
              <a:t>   • 消灭模型偶发的尾部风险事件</a:t>
            </a:r>
            <a:endParaRPr sz="900">
              <a:solidFill>
                <a:schemeClr val="tx1"/>
              </a:solidFill>
            </a:endParaRPr>
          </a:p>
          <a:p>
            <a:pPr>
              <a:spcAft>
                <a:spcPts val="300"/>
              </a:spcAft>
              <a:defRPr sz="1100" b="0">
                <a:solidFill>
                  <a:srgbClr val="E0E0E0"/>
                </a:solidFill>
              </a:defRPr>
            </a:pPr>
            <a:r>
              <a:rPr sz="990">
                <a:solidFill>
                  <a:schemeClr val="tx1"/>
                </a:solidFill>
                <a:latin typeface="Microsoft YaHei UI" panose="020B0503020204020204" charset="-122"/>
              </a:rPr>
              <a:t>④ 完整数据闭环：</a:t>
            </a:r>
            <a:endParaRPr sz="990">
              <a:solidFill>
                <a:schemeClr val="tx1"/>
              </a:solidFill>
            </a:endParaRPr>
          </a:p>
          <a:p>
            <a:pPr>
              <a:spcAft>
                <a:spcPts val="300"/>
              </a:spcAft>
              <a:defRPr sz="1000" b="0">
                <a:solidFill>
                  <a:srgbClr val="A0A0A0"/>
                </a:solidFill>
              </a:defRPr>
            </a:pPr>
            <a:r>
              <a:rPr sz="900">
                <a:solidFill>
                  <a:schemeClr val="tx1"/>
                </a:solidFill>
                <a:latin typeface="Microsoft YaHei UI" panose="020B0503020204020204" charset="-122"/>
              </a:rPr>
              <a:t>   • 实车数据回流 → 持续微调模型</a:t>
            </a:r>
            <a:endParaRPr sz="900">
              <a:solidFill>
                <a:schemeClr val="tx1"/>
              </a:solidFill>
            </a:endParaRPr>
          </a:p>
          <a:p>
            <a:pPr>
              <a:spcAft>
                <a:spcPts val="300"/>
              </a:spcAft>
              <a:defRPr sz="1000" b="0">
                <a:solidFill>
                  <a:srgbClr val="A0A0A0"/>
                </a:solidFill>
              </a:defRPr>
            </a:pPr>
            <a:r>
              <a:rPr sz="900">
                <a:solidFill>
                  <a:schemeClr val="tx1"/>
                </a:solidFill>
                <a:latin typeface="Microsoft YaHei UI" panose="020B0503020204020204" charset="-122"/>
              </a:rPr>
              <a:t>   • 自动识别 corner case → 补充训练集</a:t>
            </a:r>
            <a:endParaRPr sz="900">
              <a:solidFill>
                <a:schemeClr val="tx1"/>
              </a:solidFill>
            </a:endParaRPr>
          </a:p>
          <a:p>
            <a:pPr>
              <a:spcAft>
                <a:spcPts val="300"/>
              </a:spcAft>
              <a:defRPr sz="600" b="0">
                <a:solidFill>
                  <a:srgbClr val="E0E0E0"/>
                </a:solidFill>
              </a:defRPr>
            </a:pPr>
            <a:endParaRPr sz="540">
              <a:solidFill>
                <a:schemeClr val="tx1"/>
              </a:solidFill>
            </a:endParaRPr>
          </a:p>
          <a:p>
            <a:pPr>
              <a:spcAft>
                <a:spcPts val="300"/>
              </a:spcAft>
              <a:defRPr sz="1200" b="1">
                <a:solidFill>
                  <a:srgbClr val="00FF88"/>
                </a:solidFill>
              </a:defRPr>
            </a:pPr>
            <a:r>
              <a:rPr sz="1080">
                <a:solidFill>
                  <a:schemeClr val="tx1"/>
                </a:solidFill>
                <a:latin typeface="Microsoft YaHei UI" panose="020B0503020204020204" charset="-122"/>
              </a:rPr>
              <a:t>核心收益：</a:t>
            </a:r>
            <a:endParaRPr sz="1080">
              <a:solidFill>
                <a:schemeClr val="tx1"/>
              </a:solidFill>
            </a:endParaRPr>
          </a:p>
          <a:p>
            <a:pPr>
              <a:spcAft>
                <a:spcPts val="300"/>
              </a:spcAft>
              <a:defRPr sz="1100" b="0">
                <a:solidFill>
                  <a:srgbClr val="E0E0E0"/>
                </a:solidFill>
              </a:defRPr>
            </a:pPr>
            <a:r>
              <a:rPr sz="990">
                <a:solidFill>
                  <a:schemeClr val="tx1"/>
                </a:solidFill>
                <a:latin typeface="Microsoft YaHei UI" panose="020B0503020204020204" charset="-122"/>
              </a:rPr>
              <a:t>• 消除 90% 的人工规则维护成本</a:t>
            </a:r>
            <a:endParaRPr sz="990">
              <a:solidFill>
                <a:schemeClr val="tx1"/>
              </a:solidFill>
            </a:endParaRPr>
          </a:p>
          <a:p>
            <a:pPr>
              <a:spcAft>
                <a:spcPts val="300"/>
              </a:spcAft>
              <a:defRPr sz="1100" b="0">
                <a:solidFill>
                  <a:srgbClr val="E0E0E0"/>
                </a:solidFill>
              </a:defRPr>
            </a:pPr>
            <a:r>
              <a:rPr sz="990">
                <a:solidFill>
                  <a:schemeClr val="tx1"/>
                </a:solidFill>
                <a:latin typeface="Microsoft YaHei UI" panose="020B0503020204020204" charset="-122"/>
              </a:rPr>
              <a:t>• 复杂场景通过率提升 15-30%（vs rule-based）</a:t>
            </a:r>
            <a:endParaRPr sz="990">
              <a:solidFill>
                <a:schemeClr val="tx1"/>
              </a:solidFill>
            </a:endParaRPr>
          </a:p>
          <a:p>
            <a:pPr>
              <a:spcAft>
                <a:spcPts val="300"/>
              </a:spcAft>
              <a:defRPr sz="1100" b="0">
                <a:solidFill>
                  <a:srgbClr val="E0E0E0"/>
                </a:solidFill>
              </a:defRPr>
            </a:pPr>
            <a:r>
              <a:rPr sz="990">
                <a:solidFill>
                  <a:schemeClr val="tx1"/>
                </a:solidFill>
                <a:latin typeface="Microsoft YaHei UI" panose="020B0503020204020204" charset="-122"/>
              </a:rPr>
              <a:t>• 持续学习能力：模型越跑越好</a:t>
            </a:r>
            <a:endParaRPr sz="990">
              <a:solidFill>
                <a:schemeClr val="tx1"/>
              </a:solidFill>
            </a:endParaRPr>
          </a:p>
          <a:p>
            <a:pPr>
              <a:spcAft>
                <a:spcPts val="300"/>
              </a:spcAft>
              <a:defRPr sz="600" b="0">
                <a:solidFill>
                  <a:srgbClr val="E0E0E0"/>
                </a:solidFill>
              </a:defRPr>
            </a:pPr>
            <a:endParaRPr sz="540">
              <a:solidFill>
                <a:schemeClr val="tx1"/>
              </a:solidFill>
            </a:endParaRPr>
          </a:p>
          <a:p>
            <a:pPr>
              <a:spcAft>
                <a:spcPts val="300"/>
              </a:spcAft>
              <a:defRPr sz="1100" b="0">
                <a:solidFill>
                  <a:srgbClr val="FFA500"/>
                </a:solidFill>
              </a:defRPr>
            </a:pPr>
            <a:r>
              <a:rPr sz="990">
                <a:solidFill>
                  <a:schemeClr val="tx1"/>
                </a:solidFill>
                <a:latin typeface="Microsoft YaHei UI" panose="020B0503020204020204" charset="-122"/>
              </a:rPr>
              <a:t>预计周期：持续迭代</a:t>
            </a:r>
            <a:endParaRPr sz="990">
              <a:solidFill>
                <a:schemeClr val="tx1"/>
              </a:solidFill>
              <a:latin typeface="Microsoft YaHei UI" panose="020B050302020402020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310515" y="571500"/>
            <a:ext cx="8229600" cy="457200"/>
          </a:xfrm>
          <a:prstGeom prst="rect">
            <a:avLst/>
          </a:prstGeom>
          <a:noFill/>
        </p:spPr>
        <p:txBody>
          <a:bodyPr wrap="none">
            <a:spAutoFit/>
          </a:bodyPr>
          <a:lstStyle/>
          <a:p>
            <a:r>
              <a:rPr sz="2200" b="1">
                <a:solidFill>
                  <a:srgbClr val="1A3C6E"/>
                </a:solidFill>
                <a:latin typeface="Microsoft YaHei UI" panose="020B0503020204020204" charset="-122"/>
              </a:rPr>
              <a:t>工程价值：从学术到实车的完整链路</a:t>
            </a:r>
            <a:endParaRPr sz="2200" b="1">
              <a:solidFill>
                <a:srgbClr val="1A3C6E"/>
              </a:solidFill>
              <a:latin typeface="Microsoft YaHei UI" panose="020B0503020204020204" charset="-122"/>
            </a:endParaRPr>
          </a:p>
        </p:txBody>
      </p:sp>
      <p:sp>
        <p:nvSpPr>
          <p:cNvPr id="3" name="TextBox 2"/>
          <p:cNvSpPr txBox="1"/>
          <p:nvPr/>
        </p:nvSpPr>
        <p:spPr>
          <a:xfrm>
            <a:off x="399415" y="251460"/>
            <a:ext cx="3657600" cy="320040"/>
          </a:xfrm>
          <a:prstGeom prst="rect">
            <a:avLst/>
          </a:prstGeom>
          <a:noFill/>
        </p:spPr>
        <p:txBody>
          <a:bodyPr wrap="none">
            <a:spAutoFit/>
          </a:bodyPr>
          <a:lstStyle/>
          <a:p>
            <a:r>
              <a:rPr sz="1100" b="1">
                <a:solidFill>
                  <a:srgbClr val="666666"/>
                </a:solidFill>
                <a:latin typeface="Microsoft YaHei UI" panose="020B0503020204020204" charset="-122"/>
              </a:rPr>
              <a:t>价值与收益</a:t>
            </a:r>
            <a:endParaRPr sz="1100" b="1">
              <a:solidFill>
                <a:srgbClr val="666666"/>
              </a:solidFill>
              <a:latin typeface="Microsoft YaHei UI" panose="020B0503020204020204" charset="-122"/>
            </a:endParaRPr>
          </a:p>
        </p:txBody>
      </p:sp>
      <p:sp>
        <p:nvSpPr>
          <p:cNvPr id="4" name="TextBox 3"/>
          <p:cNvSpPr txBox="1"/>
          <p:nvPr/>
        </p:nvSpPr>
        <p:spPr>
          <a:xfrm>
            <a:off x="457200" y="1308100"/>
            <a:ext cx="8229600" cy="5029200"/>
          </a:xfrm>
          <a:prstGeom prst="rect">
            <a:avLst/>
          </a:prstGeom>
          <a:noFill/>
        </p:spPr>
        <p:txBody>
          <a:bodyPr wrap="square">
            <a:spAutoFit/>
          </a:bodyPr>
          <a:lstStyle/>
          <a:p>
            <a:r>
              <a:rPr sz="1000" b="1">
                <a:solidFill>
                  <a:srgbClr val="1A3C6E"/>
                </a:solidFill>
                <a:latin typeface="Microsoft YaHei UI" panose="020B0503020204020204" charset="-122"/>
              </a:rPr>
              <a:t>本项目的核心价值在于打通从学术研究到实车部署的完整链路：</a:t>
            </a:r>
            <a:endParaRPr sz="1000" b="1">
              <a:solidFill>
                <a:srgbClr val="1A3C6E"/>
              </a:solidFill>
              <a:latin typeface="Microsoft YaHei UI" panose="020B0503020204020204" charset="-122"/>
            </a:endParaRPr>
          </a:p>
          <a:p>
            <a:endParaRPr sz="1000"/>
          </a:p>
          <a:p>
            <a:r>
              <a:rPr sz="1000" b="1">
                <a:latin typeface="Microsoft YaHei UI" panose="020B0503020204020204" charset="-122"/>
              </a:rPr>
              <a:t>核心知识产权价值（专利为主）：</a:t>
            </a:r>
            <a:endParaRPr sz="1000" b="1">
              <a:latin typeface="Microsoft YaHei UI" panose="020B0503020204020204" charset="-122"/>
            </a:endParaRPr>
          </a:p>
          <a:p>
            <a:r>
              <a:rPr sz="900">
                <a:latin typeface="Microsoft YaHei UI" panose="020B0503020204020204" charset="-122"/>
              </a:rPr>
              <a:t>• 首次提出基于驾驶风险评估的 Flow Matching 自适应引导方法</a:t>
            </a:r>
            <a:endParaRPr sz="900">
              <a:latin typeface="Microsoft YaHei UI" panose="020B0503020204020204" charset="-122"/>
            </a:endParaRPr>
          </a:p>
          <a:p>
            <a:r>
              <a:rPr sz="900">
                <a:latin typeface="Microsoft YaHei UI" panose="020B0503020204020204" charset="-122"/>
              </a:rPr>
              <a:t>• Risk Network 同时控制引导权重和 ODE 步数，安全+效率双赢</a:t>
            </a:r>
            <a:endParaRPr sz="900">
              <a:latin typeface="Microsoft YaHei UI" panose="020B0503020204020204" charset="-122"/>
            </a:endParaRPr>
          </a:p>
          <a:p>
            <a:r>
              <a:rPr sz="900">
                <a:latin typeface="Microsoft YaHei UI" panose="020B0503020204020204" charset="-122"/>
              </a:rPr>
              <a:t>• 预计产出 2 项发明专利，论文投稿为辅助产出</a:t>
            </a:r>
            <a:endParaRPr sz="900">
              <a:latin typeface="Microsoft YaHei UI" panose="020B0503020204020204" charset="-122"/>
            </a:endParaRPr>
          </a:p>
          <a:p>
            <a:endParaRPr sz="900"/>
          </a:p>
          <a:p>
            <a:r>
              <a:rPr sz="1000" b="1">
                <a:latin typeface="Microsoft YaHei UI" panose="020B0503020204020204" charset="-122"/>
              </a:rPr>
              <a:t>工程落地价值：</a:t>
            </a:r>
            <a:endParaRPr sz="1000" b="1">
              <a:latin typeface="Microsoft YaHei UI" panose="020B0503020204020204" charset="-122"/>
            </a:endParaRPr>
          </a:p>
          <a:p>
            <a:r>
              <a:rPr sz="900">
                <a:latin typeface="Microsoft YaHei UI" panose="020B0503020204020204" charset="-122"/>
              </a:rPr>
              <a:t>• 自适应CFG: 无需人工逐场景调参, 自动适配所有场景</a:t>
            </a:r>
            <a:endParaRPr sz="900">
              <a:latin typeface="Microsoft YaHei UI" panose="020B0503020204020204" charset="-122"/>
            </a:endParaRPr>
          </a:p>
          <a:p>
            <a:r>
              <a:rPr sz="900">
                <a:latin typeface="Microsoft YaHei UI" panose="020B0503020204020204" charset="-122"/>
              </a:rPr>
              <a:t>• 安全约束: 从生成过程中保证安全, 替代事后规则裁剪</a:t>
            </a:r>
            <a:endParaRPr sz="900">
              <a:latin typeface="Microsoft YaHei UI" panose="020B0503020204020204" charset="-122"/>
            </a:endParaRPr>
          </a:p>
          <a:p>
            <a:r>
              <a:rPr sz="900">
                <a:latin typeface="Microsoft YaHei UI" panose="020B0503020204020204" charset="-122"/>
              </a:rPr>
              <a:t>• 跨域迁移: 充分利用开源大规模数据, 少量公司数据即可微调落地</a:t>
            </a:r>
            <a:endParaRPr sz="900">
              <a:latin typeface="Microsoft YaHei UI" panose="020B0503020204020204" charset="-122"/>
            </a:endParaRPr>
          </a:p>
          <a:p>
            <a:r>
              <a:rPr sz="900">
                <a:latin typeface="Microsoft YaHei UI" panose="020B0503020204020204" charset="-122"/>
              </a:rPr>
              <a:t>• 模型仅14.28M参数, 适合车端部署</a:t>
            </a:r>
            <a:endParaRPr sz="900">
              <a:latin typeface="Microsoft YaHei UI" panose="020B0503020204020204" charset="-122"/>
            </a:endParaRPr>
          </a:p>
          <a:p>
            <a:endParaRPr sz="900"/>
          </a:p>
          <a:p>
            <a:r>
              <a:rPr sz="1000" b="1">
                <a:latin typeface="Microsoft YaHei UI" panose="020B0503020204020204" charset="-122"/>
              </a:rPr>
              <a:t>安全性提升：</a:t>
            </a:r>
            <a:endParaRPr sz="1000" b="1">
              <a:latin typeface="Microsoft YaHei UI" panose="020B0503020204020204" charset="-122"/>
            </a:endParaRPr>
          </a:p>
          <a:p>
            <a:r>
              <a:rPr sz="900">
                <a:latin typeface="Microsoft YaHei UI" panose="020B0503020204020204" charset="-122"/>
              </a:rPr>
              <a:t>• 案例: Flow Planner能在快车逼近时放弃变道(避碰), Diffusion Planner发生碰撞</a:t>
            </a:r>
            <a:endParaRPr sz="900">
              <a:latin typeface="Microsoft YaHei UI" panose="020B0503020204020204" charset="-122"/>
            </a:endParaRPr>
          </a:p>
          <a:p>
            <a:r>
              <a:rPr sz="900">
                <a:latin typeface="Microsoft YaHei UI" panose="020B0503020204020204" charset="-122"/>
              </a:rPr>
              <a:t>• 安全约束引导进一步强化这种主动避碰能力</a:t>
            </a:r>
            <a:endParaRPr sz="900">
              <a:latin typeface="Microsoft YaHei UI" panose="020B0503020204020204" charset="-122"/>
            </a:endParaRPr>
          </a:p>
          <a:p>
            <a:endParaRPr sz="900"/>
          </a:p>
          <a:p>
            <a:r>
              <a:rPr sz="1000" b="1">
                <a:latin typeface="Microsoft YaHei UI" panose="020B0503020204020204" charset="-122"/>
              </a:rPr>
              <a:t>💼 与公司业务的关联：</a:t>
            </a:r>
            <a:endParaRPr sz="1000" b="1">
              <a:latin typeface="Microsoft YaHei UI" panose="020B0503020204020204" charset="-122"/>
            </a:endParaRPr>
          </a:p>
          <a:p>
            <a:r>
              <a:rPr sz="900">
                <a:latin typeface="Microsoft YaHei UI" panose="020B0503020204020204" charset="-122"/>
              </a:rPr>
              <a:t>可直接应用于公司自动驾驶规划模块，替代或增强现有基于规则的Planning方案，提升复杂场景通过率和安全性</a:t>
            </a:r>
            <a:endParaRPr sz="900">
              <a:latin typeface="Microsoft YaHei UI" panose="020B0503020204020204"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2750" y="279400"/>
            <a:ext cx="4572000" cy="429895"/>
          </a:xfrm>
          <a:prstGeom prst="rect">
            <a:avLst/>
          </a:prstGeom>
          <a:noFill/>
        </p:spPr>
        <p:txBody>
          <a:bodyPr wrap="square">
            <a:spAutoFit/>
          </a:bodyPr>
          <a:lstStyle/>
          <a:p>
            <a:r>
              <a:rPr sz="2200" b="1">
                <a:solidFill>
                  <a:srgbClr val="1A3C6E"/>
                </a:solidFill>
                <a:latin typeface="Microsoft YaHei UI" panose="020B0503020204020204" charset="-122"/>
              </a:rPr>
              <a:t>预算明细与资源需求</a:t>
            </a:r>
            <a:endParaRPr sz="2600" b="1">
              <a:solidFill>
                <a:srgbClr val="1A3C6E"/>
              </a:solidFill>
              <a:latin typeface="Microsoft YaHei UI" panose="020B0503020204020204" charset="-122"/>
            </a:endParaRPr>
          </a:p>
        </p:txBody>
      </p:sp>
      <p:sp>
        <p:nvSpPr>
          <p:cNvPr id="3" name="TextBox 2"/>
          <p:cNvSpPr txBox="1"/>
          <p:nvPr/>
        </p:nvSpPr>
        <p:spPr>
          <a:xfrm>
            <a:off x="274320" y="820000"/>
            <a:ext cx="10400000" cy="4574540"/>
          </a:xfrm>
          <a:prstGeom prst="rect">
            <a:avLst/>
          </a:prstGeom>
          <a:noFill/>
        </p:spPr>
        <p:txBody>
          <a:bodyPr wrap="square">
            <a:spAutoFit/>
          </a:bodyPr>
          <a:lstStyle/>
          <a:p>
            <a:pPr>
              <a:spcAft>
                <a:spcPts val="600"/>
              </a:spcAft>
            </a:pPr>
            <a:r>
              <a:rPr sz="1600" b="1">
                <a:solidFill>
                  <a:srgbClr val="1A3C6E"/>
                </a:solidFill>
                <a:latin typeface="Microsoft YaHei UI" panose="020B0503020204020204" charset="-122"/>
              </a:rPr>
              <a:t>💰 项目总预算：约 10-14 万元（10个月周期）</a:t>
            </a:r>
            <a:endParaRPr sz="1600" b="1">
              <a:solidFill>
                <a:srgbClr val="1A3C6E"/>
              </a:solidFill>
            </a:endParaRPr>
          </a:p>
          <a:p>
            <a:pPr>
              <a:spcBef>
                <a:spcPts val="600"/>
              </a:spcBef>
            </a:pPr>
            <a:r>
              <a:rPr sz="1300" b="1">
                <a:solidFill>
                  <a:srgbClr val="006EAF"/>
                </a:solidFill>
                <a:latin typeface="Microsoft YaHei UI" panose="020B0503020204020204" charset="-122"/>
              </a:rPr>
              <a:t>📌 第一阶段（第1-6月）：算法创新 — AutoDL 云端</a:t>
            </a:r>
            <a:endParaRPr sz="1300" b="1">
              <a:solidFill>
                <a:srgbClr val="006EAF"/>
              </a:solidFill>
            </a:endParaRPr>
          </a:p>
          <a:p>
            <a:r>
              <a:rPr sz="900" b="0">
                <a:solidFill>
                  <a:srgbClr val="666666"/>
                </a:solidFill>
                <a:latin typeface="Microsoft YaHei UI" panose="020B0503020204020204" charset="-122"/>
              </a:rPr>
              <a:t>  使用 nuPlan 开源数据，可部署到 AutoDL</a:t>
            </a:r>
            <a:endParaRPr sz="900" b="0">
              <a:solidFill>
                <a:srgbClr val="666666"/>
              </a:solidFill>
            </a:endParaRPr>
          </a:p>
          <a:p>
            <a:r>
              <a:rPr sz="1000" b="0">
                <a:solidFill>
                  <a:srgbClr val="333333"/>
                </a:solidFill>
                <a:latin typeface="Microsoft YaHei UI" panose="020B0503020204020204" charset="-122"/>
              </a:rPr>
              <a:t>  • A100 × 4卡 训练（约5元/卡时）× 2000-3000卡时 → 约 </a:t>
            </a:r>
            <a:r>
              <a:rPr lang="en-US" sz="1000" b="0">
                <a:solidFill>
                  <a:srgbClr val="333333"/>
                </a:solidFill>
                <a:latin typeface="Microsoft YaHei UI" panose="020B0503020204020204" charset="-122"/>
              </a:rPr>
              <a:t>2</a:t>
            </a:r>
            <a:r>
              <a:rPr sz="1000" b="0">
                <a:solidFill>
                  <a:srgbClr val="333333"/>
                </a:solidFill>
                <a:latin typeface="Microsoft YaHei UI" panose="020B0503020204020204" charset="-122"/>
              </a:rPr>
              <a:t>万</a:t>
            </a:r>
            <a:endParaRPr sz="1000" b="0">
              <a:solidFill>
                <a:srgbClr val="333333"/>
              </a:solidFill>
            </a:endParaRPr>
          </a:p>
          <a:p>
            <a:r>
              <a:rPr sz="1000" b="0">
                <a:solidFill>
                  <a:srgbClr val="333333"/>
                </a:solidFill>
                <a:latin typeface="Microsoft YaHei UI" panose="020B0503020204020204" charset="-122"/>
              </a:rPr>
              <a:t>  • A100 × 2卡 消融实验 × 800-1200卡时 → 约 0.4-0.6万</a:t>
            </a:r>
            <a:endParaRPr sz="1000" b="0">
              <a:solidFill>
                <a:srgbClr val="333333"/>
              </a:solidFill>
            </a:endParaRPr>
          </a:p>
          <a:p>
            <a:r>
              <a:rPr sz="1000" b="0">
                <a:solidFill>
                  <a:srgbClr val="333333"/>
                </a:solidFill>
                <a:latin typeface="Microsoft YaHei UI" panose="020B0503020204020204" charset="-122"/>
              </a:rPr>
              <a:t>  • RTX 4090 日常开发 × 1500卡时 → 约 0.3万</a:t>
            </a:r>
            <a:endParaRPr sz="1000" b="0">
              <a:solidFill>
                <a:srgbClr val="333333"/>
              </a:solidFill>
            </a:endParaRPr>
          </a:p>
          <a:p>
            <a:r>
              <a:rPr sz="1000" b="0">
                <a:solidFill>
                  <a:srgbClr val="333333"/>
                </a:solidFill>
                <a:latin typeface="Microsoft YaHei UI" panose="020B0503020204020204" charset="-122"/>
              </a:rPr>
              <a:t>  • AutoDL 数据盘 200GB → 约 0.3万</a:t>
            </a:r>
            <a:endParaRPr sz="1000" b="0">
              <a:solidFill>
                <a:srgbClr val="333333"/>
              </a:solidFill>
            </a:endParaRPr>
          </a:p>
          <a:p>
            <a:pPr>
              <a:spcAft>
                <a:spcPts val="400"/>
              </a:spcAft>
            </a:pPr>
            <a:r>
              <a:rPr sz="1000" b="1">
                <a:solidFill>
                  <a:srgbClr val="E65100"/>
                </a:solidFill>
                <a:latin typeface="Microsoft YaHei UI" panose="020B0503020204020204" charset="-122"/>
              </a:rPr>
              <a:t>  阶段一小计：约 2-3 万（AutoDL）</a:t>
            </a:r>
            <a:endParaRPr sz="1000" b="1">
              <a:solidFill>
                <a:srgbClr val="E65100"/>
              </a:solidFill>
            </a:endParaRPr>
          </a:p>
          <a:p>
            <a:pPr>
              <a:spcBef>
                <a:spcPts val="600"/>
              </a:spcBef>
            </a:pPr>
            <a:r>
              <a:rPr sz="1300" b="1">
                <a:solidFill>
                  <a:srgbClr val="006EAF"/>
                </a:solidFill>
                <a:latin typeface="Microsoft YaHei UI" panose="020B0503020204020204" charset="-122"/>
              </a:rPr>
              <a:t>📌 第二阶段（第7-10月）：跨域迁移 — 公司内部 GPU</a:t>
            </a:r>
            <a:endParaRPr sz="1300" b="1">
              <a:solidFill>
                <a:srgbClr val="006EAF"/>
              </a:solidFill>
            </a:endParaRPr>
          </a:p>
          <a:p>
            <a:r>
              <a:rPr sz="900" b="1">
                <a:solidFill>
                  <a:srgbClr val="B71C1C"/>
                </a:solidFill>
                <a:latin typeface="Microsoft YaHei UI" panose="020B0503020204020204" charset="-122"/>
              </a:rPr>
              <a:t>  ⚠️ 使用公司数据，不可上传第三方平台，必须内部 GPU</a:t>
            </a:r>
            <a:endParaRPr sz="900" b="1">
              <a:solidFill>
                <a:srgbClr val="B71C1C"/>
              </a:solidFill>
            </a:endParaRPr>
          </a:p>
          <a:p>
            <a:r>
              <a:rPr sz="1000" b="0">
                <a:solidFill>
                  <a:srgbClr val="333333"/>
                </a:solidFill>
                <a:latin typeface="Microsoft YaHei UI" panose="020B0503020204020204" charset="-122"/>
              </a:rPr>
              <a:t>  • 需申请公司 A100/4090 GPU 使用配额</a:t>
            </a:r>
            <a:endParaRPr sz="1000" b="0">
              <a:solidFill>
                <a:srgbClr val="333333"/>
              </a:solidFill>
            </a:endParaRPr>
          </a:p>
          <a:p>
            <a:r>
              <a:rPr sz="1000" b="0">
                <a:solidFill>
                  <a:srgbClr val="333333"/>
                </a:solidFill>
                <a:latin typeface="Microsoft YaHei UI" panose="020B0503020204020204" charset="-122"/>
              </a:rPr>
              <a:t>  • 迁移训练 + 微调实验，预计 GPU 占用约 4-6 周</a:t>
            </a:r>
            <a:endParaRPr sz="1000" b="0">
              <a:solidFill>
                <a:srgbClr val="333333"/>
              </a:solidFill>
            </a:endParaRPr>
          </a:p>
          <a:p>
            <a:r>
              <a:rPr sz="1000" b="0">
                <a:solidFill>
                  <a:srgbClr val="333333"/>
                </a:solidFill>
                <a:latin typeface="Microsoft YaHei UI" panose="020B0503020204020204" charset="-122"/>
              </a:rPr>
              <a:t>  • 公司数据格式适配（新增 data_process_company.py）</a:t>
            </a:r>
            <a:endParaRPr sz="1000" b="0">
              <a:solidFill>
                <a:srgbClr val="333333"/>
              </a:solidFill>
            </a:endParaRPr>
          </a:p>
          <a:p>
            <a:pPr>
              <a:spcAft>
                <a:spcPts val="400"/>
              </a:spcAft>
            </a:pPr>
            <a:r>
              <a:rPr sz="1000" b="1">
                <a:solidFill>
                  <a:srgbClr val="E65100"/>
                </a:solidFill>
                <a:latin typeface="Microsoft YaHei UI" panose="020B0503020204020204" charset="-122"/>
              </a:rPr>
              <a:t>  阶段二小计：公司内部资源（需提前协调）</a:t>
            </a:r>
            <a:endParaRPr sz="1000" b="1">
              <a:solidFill>
                <a:srgbClr val="E65100"/>
              </a:solidFill>
            </a:endParaRPr>
          </a:p>
          <a:p>
            <a:pPr>
              <a:spcBef>
                <a:spcPts val="600"/>
              </a:spcBef>
            </a:pPr>
            <a:r>
              <a:rPr sz="1300" b="1">
                <a:solidFill>
                  <a:srgbClr val="006EAF"/>
                </a:solidFill>
                <a:latin typeface="Microsoft YaHei UI" panose="020B0503020204020204" charset="-122"/>
              </a:rPr>
              <a:t>👥 人力成本（全周期）</a:t>
            </a:r>
            <a:endParaRPr sz="1300" b="1">
              <a:solidFill>
                <a:srgbClr val="006EAF"/>
              </a:solidFill>
            </a:endParaRPr>
          </a:p>
          <a:p>
            <a:r>
              <a:rPr sz="1000" b="0">
                <a:solidFill>
                  <a:srgbClr val="333333"/>
                </a:solidFill>
                <a:latin typeface="Microsoft YaHei UI" panose="020B0503020204020204" charset="-122"/>
              </a:rPr>
              <a:t>  • 算法工程师 ×1（全职，已有） + 实习生 ×1（3-5K/月, 10个月约3-5万）</a:t>
            </a:r>
            <a:endParaRPr sz="1000" b="0">
              <a:solidFill>
                <a:srgbClr val="333333"/>
              </a:solidFill>
            </a:endParaRPr>
          </a:p>
          <a:p>
            <a:r>
              <a:rPr sz="1000" b="0">
                <a:solidFill>
                  <a:srgbClr val="333333"/>
                </a:solidFill>
                <a:latin typeface="Microsoft YaHei UI" panose="020B0503020204020204" charset="-122"/>
              </a:rPr>
              <a:t>  • 指导教师 ×1（兼职，不额外计费）</a:t>
            </a:r>
            <a:endParaRPr sz="1000" b="0">
              <a:solidFill>
                <a:srgbClr val="333333"/>
              </a:solidFill>
            </a:endParaRPr>
          </a:p>
          <a:p>
            <a:pPr>
              <a:spcAft>
                <a:spcPts val="400"/>
              </a:spcAft>
            </a:pPr>
            <a:r>
              <a:rPr sz="1000" b="1">
                <a:solidFill>
                  <a:srgbClr val="E65100"/>
                </a:solidFill>
                <a:latin typeface="Microsoft YaHei UI" panose="020B0503020204020204" charset="-122"/>
              </a:rPr>
              <a:t>  人力小计：约 3-5 万</a:t>
            </a:r>
            <a:endParaRPr sz="1000" b="1">
              <a:solidFill>
                <a:srgbClr val="E65100"/>
              </a:solidFill>
            </a:endParaRPr>
          </a:p>
          <a:p>
            <a:pPr>
              <a:spcBef>
                <a:spcPts val="600"/>
              </a:spcBef>
            </a:pPr>
            <a:r>
              <a:rPr sz="1300" b="1">
                <a:solidFill>
                  <a:srgbClr val="006EAF"/>
                </a:solidFill>
                <a:latin typeface="Microsoft YaHei UI" panose="020B0503020204020204" charset="-122"/>
              </a:rPr>
              <a:t>📊 数据 + 存储</a:t>
            </a:r>
            <a:endParaRPr sz="1300" b="1">
              <a:solidFill>
                <a:srgbClr val="006EAF"/>
              </a:solidFill>
            </a:endParaRPr>
          </a:p>
          <a:p>
            <a:pPr>
              <a:spcAft>
                <a:spcPts val="400"/>
              </a:spcAft>
            </a:pPr>
            <a:r>
              <a:rPr sz="1000" b="0">
                <a:solidFill>
                  <a:srgbClr val="333333"/>
                </a:solidFill>
                <a:latin typeface="Microsoft YaHei UI" panose="020B0503020204020204" charset="-122"/>
              </a:rPr>
              <a:t>  • nuPlan / InterPlan：开源免费 ✅ | SSD 4TB: ~0.3万 | 公司数据：内部资源</a:t>
            </a:r>
            <a:endParaRPr sz="1000" b="0">
              <a:solidFill>
                <a:srgbClr val="333333"/>
              </a:solidFill>
            </a:endParaRPr>
          </a:p>
          <a:p>
            <a:pPr>
              <a:spcBef>
                <a:spcPts val="400"/>
              </a:spcBef>
            </a:pPr>
            <a:r>
              <a:rPr sz="1000" b="0">
                <a:solidFill>
                  <a:srgbClr val="333333"/>
                </a:solidFill>
                <a:latin typeface="Microsoft YaHei UI" panose="020B0503020204020204" charset="-122"/>
              </a:rPr>
              <a:t>📋 其他：专利申请 ×2（约1-2万）+ 差旅（约0.5万）</a:t>
            </a:r>
            <a:endParaRPr sz="1000" b="0">
              <a:solidFill>
                <a:srgbClr val="333333"/>
              </a:solidFill>
            </a:endParaRPr>
          </a:p>
          <a:p>
            <a:pPr>
              <a:spcBef>
                <a:spcPts val="600"/>
              </a:spcBef>
            </a:pPr>
            <a:r>
              <a:rPr sz="800" b="0">
                <a:solidFill>
                  <a:srgbClr val="AAAAAA"/>
                </a:solidFill>
                <a:latin typeface="Microsoft YaHei UI" panose="020B0503020204020204" charset="-122"/>
              </a:rPr>
              <a:t>═══════════════════════════════════════════════════════════</a:t>
            </a:r>
            <a:endParaRPr sz="800" b="0">
              <a:solidFill>
                <a:srgbClr val="AAAAAA"/>
              </a:solidFill>
            </a:endParaRPr>
          </a:p>
          <a:p>
            <a:pPr>
              <a:spcBef>
                <a:spcPts val="200"/>
              </a:spcBef>
            </a:pPr>
            <a:r>
              <a:rPr sz="900" b="1">
                <a:solidFill>
                  <a:srgbClr val="1A3C6E"/>
                </a:solidFill>
                <a:latin typeface="Microsoft YaHei UI" panose="020B0503020204020204" charset="-122"/>
              </a:rPr>
              <a:t>💡 前6月用 AutoDL 按需租用（灵活、零维护）| 后4月需提前协调公司内部 GPU 资源</a:t>
            </a:r>
            <a:endParaRPr sz="900" b="1">
              <a:solidFill>
                <a:srgbClr val="1A3C6E"/>
              </a:solidFill>
            </a:endParaRPr>
          </a:p>
        </p:txBody>
      </p:sp>
      <p:sp>
        <p:nvSpPr>
          <p:cNvPr id="4" name="TextBox 3"/>
          <p:cNvSpPr txBox="1"/>
          <p:nvPr/>
        </p:nvSpPr>
        <p:spPr>
          <a:xfrm>
            <a:off x="274320" y="5346965"/>
            <a:ext cx="10400000" cy="600000"/>
          </a:xfrm>
          <a:prstGeom prst="rect">
            <a:avLst/>
          </a:prstGeom>
          <a:noFill/>
        </p:spPr>
        <p:txBody>
          <a:bodyPr wrap="square">
            <a:spAutoFit/>
          </a:bodyPr>
          <a:lstStyle/>
          <a:p>
            <a:r>
              <a:rPr sz="1100" b="1">
                <a:solidFill>
                  <a:srgbClr val="1A3C6E"/>
                </a:solidFill>
                <a:latin typeface="微软雅黑" panose="020B0503020204020204" charset="-122"/>
              </a:rPr>
              <a:t>🎯 预期成果：发明专利 2 项（自适应CFG + Safety-Guided） | nuPlan Val14 NR ≥ 91 | InterPlan ≥ 65 | 推理延迟 ≤ 50ms | 论文 1-2 篇（辅助产出）</a:t>
            </a:r>
            <a:endParaRPr sz="1100" b="1">
              <a:solidFill>
                <a:srgbClr val="1A3C6E"/>
              </a:solidFill>
              <a:latin typeface="微软雅黑" panose="020B0503020204020204"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57200" y="471805"/>
            <a:ext cx="8229600" cy="457200"/>
          </a:xfrm>
          <a:prstGeom prst="rect">
            <a:avLst/>
          </a:prstGeom>
          <a:noFill/>
        </p:spPr>
        <p:txBody>
          <a:bodyPr wrap="square">
            <a:spAutoFit/>
          </a:bodyPr>
          <a:lstStyle/>
          <a:p>
            <a:r>
              <a:rPr sz="2200" b="1">
                <a:solidFill>
                  <a:srgbClr val="1A3C6E"/>
                </a:solidFill>
                <a:latin typeface="Microsoft YaHei UI" panose="020B0503020204020204" charset="-122"/>
              </a:rPr>
              <a:t>风险评估与应对策略</a:t>
            </a:r>
            <a:endParaRPr sz="2200" b="1">
              <a:solidFill>
                <a:srgbClr val="1A3C6E"/>
              </a:solidFill>
              <a:latin typeface="Microsoft YaHei UI" panose="020B0503020204020204" charset="-122"/>
            </a:endParaRPr>
          </a:p>
        </p:txBody>
      </p:sp>
      <p:sp>
        <p:nvSpPr>
          <p:cNvPr id="3" name="TextBox 2"/>
          <p:cNvSpPr txBox="1"/>
          <p:nvPr/>
        </p:nvSpPr>
        <p:spPr>
          <a:xfrm>
            <a:off x="457200" y="208280"/>
            <a:ext cx="3657600" cy="320040"/>
          </a:xfrm>
          <a:prstGeom prst="rect">
            <a:avLst/>
          </a:prstGeom>
          <a:noFill/>
        </p:spPr>
        <p:txBody>
          <a:bodyPr wrap="none">
            <a:spAutoFit/>
          </a:bodyPr>
          <a:lstStyle/>
          <a:p>
            <a:r>
              <a:rPr sz="1100" b="1">
                <a:solidFill>
                  <a:srgbClr val="666666"/>
                </a:solidFill>
                <a:latin typeface="Microsoft YaHei UI" panose="020B0503020204020204" charset="-122"/>
              </a:rPr>
              <a:t>技术方案</a:t>
            </a:r>
            <a:endParaRPr sz="1100" b="1">
              <a:solidFill>
                <a:srgbClr val="666666"/>
              </a:solidFill>
              <a:latin typeface="Microsoft YaHei UI" panose="020B0503020204020204" charset="-122"/>
            </a:endParaRPr>
          </a:p>
        </p:txBody>
      </p:sp>
      <p:sp>
        <p:nvSpPr>
          <p:cNvPr id="4" name="TextBox 3"/>
          <p:cNvSpPr txBox="1"/>
          <p:nvPr/>
        </p:nvSpPr>
        <p:spPr>
          <a:xfrm>
            <a:off x="351155" y="885825"/>
            <a:ext cx="8595360" cy="5394960"/>
          </a:xfrm>
          <a:prstGeom prst="rect">
            <a:avLst/>
          </a:prstGeom>
          <a:noFill/>
        </p:spPr>
        <p:txBody>
          <a:bodyPr wrap="square">
            <a:spAutoFit/>
          </a:bodyPr>
          <a:lstStyle/>
          <a:p>
            <a:r>
              <a:rPr sz="1300" b="1">
                <a:solidFill>
                  <a:srgbClr val="006EAF"/>
                </a:solidFill>
                <a:latin typeface="Microsoft YaHei UI"/>
              </a:rPr>
              <a:t>【技术风险】</a:t>
            </a:r>
            <a:endParaRPr sz="1100" b="1">
              <a:solidFill>
                <a:srgbClr val="1A3C6E"/>
              </a:solidFill>
              <a:latin typeface="Microsoft YaHei UI" panose="020B0503020204020204" charset="-122"/>
            </a:endParaRPr>
          </a:p>
          <a:p>
            <a:r>
              <a:rPr sz="500" b="0">
                <a:solidFill>
                  <a:srgbClr val="333333"/>
                </a:solidFill>
                <a:latin typeface="Microsoft YaHei UI"/>
              </a:rPr>
              <a:t/>
            </a:r>
          </a:p>
          <a:p>
            <a:r>
              <a:rPr sz="1000" b="1">
                <a:solidFill>
                  <a:srgbClr val="333333"/>
                </a:solidFill>
                <a:latin typeface="Microsoft YaHei UI"/>
              </a:rPr>
              <a:t>风险1：自适应 CFG 的性能增益可能不显著</a:t>
            </a:r>
          </a:p>
          <a:p>
            <a:r>
              <a:rPr sz="900" b="0">
                <a:solidFill>
                  <a:srgbClr val="999999"/>
                </a:solidFill>
                <a:latin typeface="Microsoft YaHei UI"/>
              </a:rPr>
              <a:t>  概率：中  |  影响：高（直接影响核心创新点的成立）</a:t>
            </a:r>
          </a:p>
          <a:p>
            <a:r>
              <a:rPr sz="900" b="0">
                <a:solidFill>
                  <a:srgbClr val="333333"/>
                </a:solidFill>
                <a:latin typeface="Microsoft YaHei UI"/>
              </a:rPr>
              <a:t>  分析：Grid Search 可能显示固定 w=1.8 已接近全局最优，按场景调整 w 的收益甚微</a:t>
            </a:r>
          </a:p>
          <a:p>
            <a:r>
              <a:rPr sz="900" b="0">
                <a:solidFill>
                  <a:srgbClr val="005091"/>
                </a:solidFill>
                <a:latin typeface="Microsoft YaHei UI"/>
              </a:rPr>
              <a:t>  应对：① 即使整体 NR-CLS 提升有限，也可聚焦特定场景类型（如博弈变道）的显著提升</a:t>
            </a:r>
          </a:p>
          <a:p>
            <a:r>
              <a:rPr sz="900" b="0">
                <a:solidFill>
                  <a:srgbClr val="005091"/>
                </a:solidFill>
                <a:latin typeface="Microsoft YaHei UI"/>
              </a:rPr>
              <a:t>            ② 重新定义价值维度：不仅看 NR 分数，也看碰撞率下降（安全性可解释性）</a:t>
            </a:r>
          </a:p>
          <a:p>
            <a:r>
              <a:rPr sz="400" b="0">
                <a:solidFill>
                  <a:srgbClr val="333333"/>
                </a:solidFill>
                <a:latin typeface="Microsoft YaHei UI"/>
              </a:rPr>
              <a:t/>
            </a:r>
          </a:p>
          <a:p>
            <a:r>
              <a:rPr sz="1000" b="1">
                <a:solidFill>
                  <a:srgbClr val="333333"/>
                </a:solidFill>
                <a:latin typeface="Microsoft YaHei UI"/>
              </a:rPr>
              <a:t>风险2：跨域迁移后模型“水土不服”</a:t>
            </a:r>
          </a:p>
          <a:p>
            <a:r>
              <a:rPr sz="900" b="0">
                <a:solidFill>
                  <a:srgbClr val="999999"/>
                </a:solidFill>
                <a:latin typeface="Microsoft YaHei UI"/>
              </a:rPr>
              <a:t>  概率：中  |  影响：高</a:t>
            </a:r>
          </a:p>
          <a:p>
            <a:r>
              <a:rPr sz="900" b="0">
                <a:solidFill>
                  <a:srgbClr val="333333"/>
                </a:solidFill>
                <a:latin typeface="Microsoft YaHei UI"/>
              </a:rPr>
              <a:t>  分析：nuPlan（美国，让行文化强）vs 公司数据（加塞频繁，博弈激烈），模型学到的“让行”策略可能过于保守</a:t>
            </a:r>
          </a:p>
          <a:p>
            <a:r>
              <a:rPr sz="900" b="0">
                <a:solidFill>
                  <a:srgbClr val="005091"/>
                </a:solidFill>
                <a:latin typeface="Microsoft YaHei UI"/>
              </a:rPr>
              <a:t>  应对：① 冻结 Encoder 仅微调 Decoder + 渐进式数据混合（8:2 -&gt; 5:5）</a:t>
            </a:r>
          </a:p>
          <a:p>
            <a:r>
              <a:rPr sz="900" b="0">
                <a:solidFill>
                  <a:srgbClr val="005091"/>
                </a:solidFill>
                <a:latin typeface="Microsoft YaHei UI"/>
              </a:rPr>
              <a:t>            ② 利用超让标签作为 CFG 条件，引导模型学习国内特有博弈模式</a:t>
            </a:r>
          </a:p>
          <a:p>
            <a:r>
              <a:rPr sz="400" b="0">
                <a:solidFill>
                  <a:srgbClr val="333333"/>
                </a:solidFill>
                <a:latin typeface="Microsoft YaHei UI"/>
              </a:rPr>
              <a:t/>
            </a:r>
          </a:p>
          <a:p>
            <a:r>
              <a:rPr sz="1000" b="1">
                <a:solidFill>
                  <a:srgbClr val="333333"/>
                </a:solidFill>
                <a:latin typeface="Microsoft YaHei UI"/>
              </a:rPr>
              <a:t>风险3：Safety-Guided ODE 注入梯度可能破坏轨迹物理合理性</a:t>
            </a:r>
          </a:p>
          <a:p>
            <a:r>
              <a:rPr sz="900" b="0">
                <a:solidFill>
                  <a:srgbClr val="999999"/>
                </a:solidFill>
                <a:latin typeface="Microsoft YaHei UI"/>
              </a:rPr>
              <a:t>  概率：中  |  影响：中</a:t>
            </a:r>
          </a:p>
          <a:p>
            <a:r>
              <a:rPr sz="900" b="0">
                <a:solidFill>
                  <a:srgbClr val="333333"/>
                </a:solidFill>
                <a:latin typeface="Microsoft YaHei UI"/>
              </a:rPr>
              <a:t>  分析：安全梯度可能导致轨迹突变（为了避碰产生不自然的急转弯/急刹车）</a:t>
            </a:r>
          </a:p>
          <a:p>
            <a:r>
              <a:rPr sz="900" b="0">
                <a:solidFill>
                  <a:srgbClr val="005091"/>
                </a:solidFill>
                <a:latin typeface="Microsoft YaHei UI"/>
              </a:rPr>
              <a:t>  应对：① 限制梯度幅度 clip(grad, max_norm)，避免单步修正过大</a:t>
            </a:r>
          </a:p>
          <a:p>
            <a:r>
              <a:rPr sz="900" b="0">
                <a:solidFill>
                  <a:srgbClr val="005091"/>
                </a:solidFill>
                <a:latin typeface="Microsoft YaHei UI"/>
              </a:rPr>
              <a:t>            ② 若效果不理想，退守 Best-of-N 筛选方案（已验证，风险更低）</a:t>
            </a:r>
          </a:p>
          <a:p>
            <a:r>
              <a:rPr sz="600" b="0">
                <a:solidFill>
                  <a:srgbClr val="333333"/>
                </a:solidFill>
                <a:latin typeface="Microsoft YaHei UI"/>
              </a:rPr>
              <a:t/>
            </a:r>
          </a:p>
          <a:p>
            <a:r>
              <a:rPr sz="1300" b="1">
                <a:solidFill>
                  <a:srgbClr val="006EAF"/>
                </a:solidFill>
                <a:latin typeface="Microsoft YaHei UI"/>
              </a:rPr>
              <a:t>【项目风险】</a:t>
            </a:r>
          </a:p>
          <a:p>
            <a:r>
              <a:rPr sz="500" b="0">
                <a:solidFill>
                  <a:srgbClr val="333333"/>
                </a:solidFill>
                <a:latin typeface="Microsoft YaHei UI"/>
              </a:rPr>
              <a:t/>
            </a:r>
          </a:p>
          <a:p>
            <a:r>
              <a:rPr sz="1000" b="1">
                <a:solidFill>
                  <a:srgbClr val="333333"/>
                </a:solidFill>
                <a:latin typeface="Microsoft YaHei UI"/>
              </a:rPr>
              <a:t>风险4：专利新颖性被同期工作覆盖</a:t>
            </a:r>
          </a:p>
          <a:p>
            <a:r>
              <a:rPr sz="900" b="0">
                <a:solidFill>
                  <a:srgbClr val="999999"/>
                </a:solidFill>
                <a:latin typeface="Microsoft YaHei UI"/>
              </a:rPr>
              <a:t>  概率：中  |  影响：高（直接影响知识产权产出）</a:t>
            </a:r>
          </a:p>
          <a:p>
            <a:r>
              <a:rPr sz="900" b="0">
                <a:solidFill>
                  <a:srgbClr val="333333"/>
                </a:solidFill>
                <a:latin typeface="Microsoft YaHei UI"/>
              </a:rPr>
              <a:t>  分析：GoalFlow (CVPR 2025)、Diffusion-ES 等同类工作密集发表，可能先于我们提交专利</a:t>
            </a:r>
          </a:p>
          <a:p>
            <a:r>
              <a:rPr sz="900" b="0">
                <a:solidFill>
                  <a:srgbClr val="005091"/>
                </a:solidFill>
                <a:latin typeface="Microsoft YaHei UI"/>
              </a:rPr>
              <a:t>  应对：① 尽快提交专利申请（先占申请日），技术交底书可并行准备</a:t>
            </a:r>
          </a:p>
          <a:p>
            <a:r>
              <a:rPr sz="900" b="0">
                <a:solidFill>
                  <a:srgbClr val="005091"/>
                </a:solidFill>
                <a:latin typeface="Microsoft YaHei UI"/>
              </a:rPr>
              <a:t>            ② 强调博世独有差异点：超让标签 + 工业级安全评分体系</a:t>
            </a:r>
          </a:p>
          <a:p>
            <a:r>
              <a:rPr sz="400" b="0">
                <a:solidFill>
                  <a:srgbClr val="333333"/>
                </a:solidFill>
                <a:latin typeface="Microsoft YaHei UI"/>
              </a:rPr>
              <a:t/>
            </a:r>
          </a:p>
          <a:p>
            <a:r>
              <a:rPr sz="1000" b="1">
                <a:solidFill>
                  <a:srgbClr val="333333"/>
                </a:solidFill>
                <a:latin typeface="Microsoft YaHei UI"/>
              </a:rPr>
              <a:t>风险5：ASW Planning 团队对学习型方案接受度低</a:t>
            </a:r>
          </a:p>
          <a:p>
            <a:r>
              <a:rPr sz="900" b="0">
                <a:solidFill>
                  <a:srgbClr val="999999"/>
                </a:solidFill>
                <a:latin typeface="Microsoft YaHei UI"/>
              </a:rPr>
              <a:t>  概率：中  |  影响：中</a:t>
            </a:r>
          </a:p>
          <a:p>
            <a:r>
              <a:rPr sz="900" b="0">
                <a:solidFill>
                  <a:srgbClr val="333333"/>
                </a:solidFill>
                <a:latin typeface="Microsoft YaHei UI"/>
              </a:rPr>
              <a:t>  分析：现有规划模块基于规则，团队可能质疑神经网络的可靠性和可解释性</a:t>
            </a:r>
          </a:p>
          <a:p>
            <a:r>
              <a:rPr sz="900" b="0">
                <a:solidFill>
                  <a:srgbClr val="005091"/>
                </a:solidFill>
                <a:latin typeface="Microsoft YaHei UI"/>
              </a:rPr>
              <a:t>  应对：① 三阶段渐进部署（影子模式 -&gt; 混合 -&gt; 替代），降低心理门槛</a:t>
            </a:r>
          </a:p>
          <a:p>
            <a:r>
              <a:rPr sz="900" b="0">
                <a:solidFill>
                  <a:srgbClr val="005091"/>
                </a:solidFill>
                <a:latin typeface="Microsoft YaHei UI"/>
              </a:rPr>
              <a:t>            ② 安全评分机制提供可审计的决策依据，回应“黑盒”质疑</a:t>
            </a:r>
          </a:p>
          <a:p>
            <a:r>
              <a:rPr sz="600" b="0">
                <a:solidFill>
                  <a:srgbClr val="333333"/>
                </a:solidFill>
                <a:latin typeface="Microsoft YaHei UI"/>
              </a:rPr>
              <a:t/>
            </a:r>
          </a:p>
          <a:p>
            <a:r>
              <a:rPr sz="900" b="1">
                <a:solidFill>
                  <a:srgbClr val="1A3C6E"/>
                </a:solidFill>
                <a:latin typeface="Microsoft YaHei UI"/>
              </a:rPr>
              <a:t>[总体评估] 最大风险在于创新点1的增益是否显著 + 专利时间窗口，</a:t>
            </a:r>
          </a:p>
          <a:p>
            <a:r>
              <a:rPr sz="900" b="1">
                <a:solidFill>
                  <a:srgbClr val="1A3C6E"/>
                </a:solidFill>
                <a:latin typeface="Microsoft YaHei UI"/>
              </a:rPr>
              <a:t>            技术方案已设计 fallback（Best-of-N 兜底），项目不会空转</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548640"/>
            <a:ext cx="10969625" cy="914400"/>
          </a:xfrm>
          <a:prstGeom prst="rect">
            <a:avLst/>
          </a:prstGeom>
          <a:noFill/>
        </p:spPr>
        <p:txBody>
          <a:bodyPr wrap="none">
            <a:spAutoFit/>
          </a:bodyPr>
          <a:lstStyle/>
          <a:p>
            <a:pPr algn="ctr"/>
            <a:r>
              <a:rPr sz="4400" b="1">
                <a:solidFill>
                  <a:srgbClr val="1A3C6E"/>
                </a:solidFill>
                <a:latin typeface="Microsoft YaHei UI" panose="020B0503020204020204" charset="-122"/>
              </a:rPr>
              <a:t>谢谢!</a:t>
            </a:r>
            <a:endParaRPr sz="4400" b="1">
              <a:solidFill>
                <a:srgbClr val="1A3C6E"/>
              </a:solidFill>
              <a:latin typeface="Microsoft YaHei UI" panose="020B0503020204020204" charset="-122"/>
            </a:endParaRPr>
          </a:p>
        </p:txBody>
      </p:sp>
      <p:sp>
        <p:nvSpPr>
          <p:cNvPr id="3" name="TextBox 2"/>
          <p:cNvSpPr txBox="1"/>
          <p:nvPr/>
        </p:nvSpPr>
        <p:spPr>
          <a:xfrm>
            <a:off x="0" y="1463040"/>
            <a:ext cx="10969625" cy="548640"/>
          </a:xfrm>
          <a:prstGeom prst="rect">
            <a:avLst/>
          </a:prstGeom>
          <a:noFill/>
        </p:spPr>
        <p:txBody>
          <a:bodyPr wrap="none">
            <a:spAutoFit/>
          </a:bodyPr>
          <a:lstStyle/>
          <a:p>
            <a:pPr algn="ctr"/>
            <a:r>
              <a:rPr sz="2200">
                <a:solidFill>
                  <a:srgbClr val="006EAF"/>
                </a:solidFill>
                <a:latin typeface="Microsoft YaHei UI" panose="020B0503020204020204" charset="-122"/>
              </a:rPr>
              <a:t>Thank You</a:t>
            </a:r>
            <a:endParaRPr sz="2200">
              <a:solidFill>
                <a:srgbClr val="006EAF"/>
              </a:solidFill>
              <a:latin typeface="Microsoft YaHei UI" panose="020B0503020204020204" charset="-122"/>
            </a:endParaRPr>
          </a:p>
        </p:txBody>
      </p:sp>
      <p:sp>
        <p:nvSpPr>
          <p:cNvPr id="4" name="Rectangle 3"/>
          <p:cNvSpPr/>
          <p:nvPr/>
        </p:nvSpPr>
        <p:spPr>
          <a:xfrm>
            <a:off x="914400" y="2286000"/>
            <a:ext cx="9140825" cy="25400"/>
          </a:xfrm>
          <a:prstGeom prst="rect">
            <a:avLst/>
          </a:prstGeom>
          <a:solidFill>
            <a:srgbClr val="006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2560320"/>
            <a:ext cx="3657600" cy="457200"/>
          </a:xfrm>
          <a:prstGeom prst="rect">
            <a:avLst/>
          </a:prstGeom>
          <a:noFill/>
        </p:spPr>
        <p:txBody>
          <a:bodyPr wrap="none">
            <a:spAutoFit/>
          </a:bodyPr>
          <a:lstStyle/>
          <a:p>
            <a:r>
              <a:rPr sz="1800" b="1">
                <a:solidFill>
                  <a:srgbClr val="1A3C6E"/>
                </a:solidFill>
                <a:latin typeface="Microsoft YaHei UI" panose="020B0503020204020204" charset="-122"/>
              </a:rPr>
              <a:t>核心优势总结</a:t>
            </a:r>
            <a:endParaRPr sz="1800" b="1">
              <a:solidFill>
                <a:srgbClr val="1A3C6E"/>
              </a:solidFill>
              <a:latin typeface="Microsoft YaHei UI" panose="020B0503020204020204" charset="-122"/>
            </a:endParaRPr>
          </a:p>
        </p:txBody>
      </p:sp>
      <p:sp>
        <p:nvSpPr>
          <p:cNvPr id="6" name="TextBox 5"/>
          <p:cNvSpPr txBox="1"/>
          <p:nvPr/>
        </p:nvSpPr>
        <p:spPr>
          <a:xfrm>
            <a:off x="1097280" y="3108960"/>
            <a:ext cx="7772400" cy="2743200"/>
          </a:xfrm>
          <a:prstGeom prst="rect">
            <a:avLst/>
          </a:prstGeom>
          <a:noFill/>
        </p:spPr>
        <p:txBody>
          <a:bodyPr wrap="square">
            <a:spAutoFit/>
          </a:bodyPr>
          <a:lstStyle/>
          <a:p>
            <a:pPr>
              <a:spcAft>
                <a:spcPts val="800"/>
              </a:spcAft>
            </a:pPr>
            <a:r>
              <a:rPr sz="1300">
                <a:solidFill>
                  <a:srgbClr val="333333"/>
                </a:solidFill>
                <a:latin typeface="Microsoft YaHei UI" panose="020B0503020204020204" charset="-122"/>
              </a:rPr>
              <a:t>✅ Flow Matching 替代 Diffusion — 推理速度提升数十倍 (4步 vs 100+步)</a:t>
            </a:r>
            <a:endParaRPr sz="1300">
              <a:solidFill>
                <a:srgbClr val="333333"/>
              </a:solidFill>
              <a:latin typeface="Microsoft YaHei UI" panose="020B0503020204020204" charset="-122"/>
            </a:endParaRPr>
          </a:p>
          <a:p>
            <a:pPr>
              <a:spcAft>
                <a:spcPts val="800"/>
              </a:spcAft>
            </a:pPr>
            <a:r>
              <a:rPr sz="1300">
                <a:solidFill>
                  <a:srgbClr val="333333"/>
                </a:solidFill>
                <a:latin typeface="Microsoft YaHei UI" panose="020B0503020204020204" charset="-122"/>
              </a:rPr>
              <a:t>✅ 多模态 Joint Attention — 增强车辆-车道-轨迹的交互建模</a:t>
            </a:r>
            <a:endParaRPr sz="1300">
              <a:solidFill>
                <a:srgbClr val="333333"/>
              </a:solidFill>
              <a:latin typeface="Microsoft YaHei UI" panose="020B0503020204020204" charset="-122"/>
            </a:endParaRPr>
          </a:p>
          <a:p>
            <a:pPr>
              <a:spcAft>
                <a:spcPts val="800"/>
              </a:spcAft>
            </a:pPr>
            <a:r>
              <a:rPr sz="1300">
                <a:solidFill>
                  <a:srgbClr val="333333"/>
                </a:solidFill>
                <a:latin typeface="Microsoft YaHei UI" panose="020B0503020204020204" charset="-122"/>
              </a:rPr>
              <a:t>✅ CFG 引导机制 — 动态增强对周围环境的响应</a:t>
            </a:r>
            <a:endParaRPr sz="1300">
              <a:solidFill>
                <a:srgbClr val="333333"/>
              </a:solidFill>
              <a:latin typeface="Microsoft YaHei UI" panose="020B0503020204020204" charset="-122"/>
            </a:endParaRPr>
          </a:p>
          <a:p>
            <a:pPr>
              <a:spcAft>
                <a:spcPts val="800"/>
              </a:spcAft>
            </a:pPr>
            <a:r>
              <a:rPr sz="1300">
                <a:solidFill>
                  <a:srgbClr val="333333"/>
                </a:solidFill>
                <a:latin typeface="Microsoft YaHei UI" panose="020B0503020204020204" charset="-122"/>
              </a:rPr>
              <a:t>✅ 细粒度轨迹 Token — 更精细的时间窗口建模</a:t>
            </a:r>
            <a:endParaRPr sz="1300">
              <a:solidFill>
                <a:srgbClr val="333333"/>
              </a:solidFill>
              <a:latin typeface="Microsoft YaHei UI" panose="020B0503020204020204"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Placeholder 1"/>
          <p:cNvSpPr>
            <a:spLocks noGrp="1"/>
          </p:cNvSpPr>
          <p:nvPr>
            <p:ph type="body" sz="quarter" idx="15"/>
          </p:nvPr>
        </p:nvSpPr>
        <p:spPr/>
        <p:txBody>
          <a:bodyPr/>
          <a:lstStyle/>
          <a:p>
            <a:pPr marL="0" indent="0" fontAlgn="auto">
              <a:spcAft>
                <a:spcPts val="0"/>
              </a:spcAft>
              <a:buNone/>
            </a:pPr>
            <a:r>
              <a:rPr sz="1200" b="1">
                <a:latin typeface="Microsoft YaHei UI" panose="020B0503020204020204" charset="-122"/>
              </a:rPr>
              <a:t>附录</a:t>
            </a:r>
            <a:endParaRPr lang="de-DE" sz="2800" kern="0"/>
          </a:p>
        </p:txBody>
      </p:sp>
      <p:sp>
        <p:nvSpPr>
          <p:cNvPr id="3" name="Title 2"/>
          <p:cNvSpPr>
            <a:spLocks noGrp="1"/>
          </p:cNvSpPr>
          <p:nvPr>
            <p:ph type="title"/>
          </p:nvPr>
        </p:nvSpPr>
        <p:spPr/>
        <p:txBody>
          <a:bodyPr/>
          <a:lstStyle/>
          <a:p>
            <a:r>
              <a:rPr sz="2000" b="1">
                <a:latin typeface="Microsoft YaHei UI" panose="020B0503020204020204" charset="-122"/>
              </a:rPr>
              <a:t>附录A：Diffusion vs Flow Matching 对比</a:t>
            </a:r>
            <a:endParaRPr sz="2000" b="1">
              <a:latin typeface="Microsoft YaHei UI" panose="020B0503020204020204" charset="-122"/>
            </a:endParaRPr>
          </a:p>
        </p:txBody>
      </p:sp>
      <p:sp>
        <p:nvSpPr>
          <p:cNvPr id="4" name="Slide Number Placeholder 3"/>
          <p:cNvSpPr>
            <a:spLocks noGrp="1"/>
          </p:cNvSpPr>
          <p:nvPr>
            <p:ph type="sldNum" sz="quarter" idx="12"/>
          </p:nvPr>
        </p:nvSpPr>
        <p:spPr/>
        <p:txBody>
          <a:bodyPr/>
          <a:lstStyle/>
          <a:p>
            <a:r>
              <a:rPr sz="1000">
                <a:latin typeface="Microsoft YaHei UI" panose="020B0503020204020204" charset="-122"/>
              </a:rPr>
              <a:t>5</a:t>
            </a:r>
            <a:endParaRPr lang="en-US" noProof="1"/>
          </a:p>
        </p:txBody>
      </p:sp>
      <p:sp>
        <p:nvSpPr>
          <p:cNvPr id="5" name="TextBox 4"/>
          <p:cNvSpPr txBox="1"/>
          <p:nvPr/>
        </p:nvSpPr>
        <p:spPr>
          <a:xfrm>
            <a:off x="283960" y="1036805"/>
            <a:ext cx="10200000" cy="3743325"/>
          </a:xfrm>
          <a:prstGeom prst="rect">
            <a:avLst/>
          </a:prstGeom>
          <a:noFill/>
        </p:spPr>
        <p:txBody>
          <a:bodyPr wrap="square">
            <a:spAutoFit/>
          </a:bodyPr>
          <a:lstStyle/>
          <a:p>
            <a:pPr>
              <a:spcBef>
                <a:spcPts val="100"/>
              </a:spcBef>
              <a:spcAft>
                <a:spcPts val="100"/>
              </a:spcAft>
            </a:pPr>
            <a:r>
              <a:rPr sz="1100" b="1">
                <a:latin typeface="Microsoft YaHei UI" panose="020B0503020204020204" charset="-122"/>
              </a:rPr>
              <a:t>共同目标：从随机噪声出发，生成一条合理的驾驶轨迹</a:t>
            </a:r>
            <a:endParaRPr sz="1100" b="1">
              <a:solidFill>
                <a:srgbClr val="003399"/>
              </a:solidFill>
              <a:latin typeface="Microsoft YaHei UI" panose="020B0503020204020204" charset="-122"/>
            </a:endParaRPr>
          </a:p>
          <a:p>
            <a:pPr>
              <a:spcBef>
                <a:spcPts val="100"/>
              </a:spcBef>
              <a:spcAft>
                <a:spcPts val="100"/>
              </a:spcAft>
            </a:pPr>
            <a:r>
              <a:rPr sz="1000" b="0">
                <a:latin typeface="Microsoft YaHei UI" panose="020B0503020204020204" charset="-122"/>
              </a:rPr>
              <a:t>两者都是生成式模型，都能解决回归模型的 Mode Averaging 问题</a:t>
            </a:r>
            <a:endParaRPr sz="1000" b="0">
              <a:latin typeface="Microsoft YaHei UI" panose="020B0503020204020204" charset="-122"/>
            </a:endParaRPr>
          </a:p>
          <a:p>
            <a:pPr>
              <a:spcBef>
                <a:spcPts val="100"/>
              </a:spcBef>
              <a:spcAft>
                <a:spcPts val="100"/>
              </a:spcAft>
            </a:pPr>
            <a:r>
              <a:rPr sz="1000" b="1">
                <a:latin typeface="Microsoft YaHei UI" panose="020B0503020204020204" charset="-122"/>
              </a:rPr>
              <a:t>核心区别在于：从噪声到轨迹的"路"怎么走？</a:t>
            </a:r>
            <a:endParaRPr sz="1000" b="1">
              <a:latin typeface="Microsoft YaHei UI" panose="020B0503020204020204" charset="-122"/>
            </a:endParaRPr>
          </a:p>
          <a:p>
            <a:pPr>
              <a:spcBef>
                <a:spcPts val="100"/>
              </a:spcBef>
              <a:spcAft>
                <a:spcPts val="100"/>
              </a:spcAft>
            </a:pPr>
          </a:p>
          <a:p>
            <a:pPr>
              <a:spcBef>
                <a:spcPts val="100"/>
              </a:spcBef>
              <a:spcAft>
                <a:spcPts val="100"/>
              </a:spcAft>
            </a:pPr>
            <a:r>
              <a:rPr sz="1200" b="1">
                <a:latin typeface="Microsoft YaHei UI" panose="020B0503020204020204" charset="-122"/>
              </a:rPr>
              <a:t>🌀 Diffusion（扩散模型）—— "绕弯路"</a:t>
            </a:r>
            <a:endParaRPr sz="1200" b="1">
              <a:solidFill>
                <a:srgbClr val="B43232"/>
              </a:solidFill>
              <a:latin typeface="Microsoft YaHei UI" panose="020B0503020204020204" charset="-122"/>
            </a:endParaRPr>
          </a:p>
          <a:p>
            <a:pPr>
              <a:spcBef>
                <a:spcPts val="100"/>
              </a:spcBef>
              <a:spcAft>
                <a:spcPts val="100"/>
              </a:spcAft>
            </a:pPr>
            <a:r>
              <a:rPr sz="1000" b="0">
                <a:latin typeface="Microsoft YaHei UI" panose="020B0503020204020204" charset="-122"/>
              </a:rPr>
              <a:t>类比：像擦黑板 —— 黑板上写满了字（噪声），一点一点擦，擦很多次才能露出干净内容</a:t>
            </a:r>
            <a:endParaRPr sz="1000" b="0">
              <a:latin typeface="Microsoft YaHei UI" panose="020B0503020204020204" charset="-122"/>
            </a:endParaRPr>
          </a:p>
          <a:p>
            <a:pPr>
              <a:spcBef>
                <a:spcPts val="100"/>
              </a:spcBef>
              <a:spcAft>
                <a:spcPts val="100"/>
              </a:spcAft>
            </a:pPr>
            <a:r>
              <a:rPr sz="1000" b="0">
                <a:latin typeface="Microsoft YaHei UI" panose="020B0503020204020204" charset="-122"/>
              </a:rPr>
              <a:t>• 训练时：对 GT 轨迹逐步加噪声，教模型"每一步怎么去掉一点噪声"</a:t>
            </a:r>
            <a:endParaRPr sz="1000" b="0">
              <a:latin typeface="Microsoft YaHei UI" panose="020B0503020204020204" charset="-122"/>
            </a:endParaRPr>
          </a:p>
          <a:p>
            <a:pPr>
              <a:spcBef>
                <a:spcPts val="100"/>
              </a:spcBef>
              <a:spcAft>
                <a:spcPts val="100"/>
              </a:spcAft>
            </a:pPr>
            <a:r>
              <a:rPr sz="1000" b="0">
                <a:latin typeface="Microsoft YaHei UI" panose="020B0503020204020204" charset="-122"/>
              </a:rPr>
              <a:t>• 推理时：从纯噪声出发，反复去噪 20-100 步，像剥洋葱一层层还原</a:t>
            </a:r>
            <a:endParaRPr sz="1000" b="0">
              <a:latin typeface="Microsoft YaHei UI" panose="020B0503020204020204" charset="-122"/>
            </a:endParaRPr>
          </a:p>
          <a:p>
            <a:pPr>
              <a:spcBef>
                <a:spcPts val="100"/>
              </a:spcBef>
              <a:spcAft>
                <a:spcPts val="100"/>
              </a:spcAft>
            </a:pPr>
            <a:r>
              <a:rPr sz="1000" b="0">
                <a:latin typeface="Microsoft YaHei UI" panose="020B0503020204020204" charset="-122"/>
              </a:rPr>
              <a:t>• 问题：去噪路径是弯弯曲曲的 → 每步都要很小心 → 步数多 → 慢（~100ms）</a:t>
            </a:r>
            <a:endParaRPr sz="1000" b="0">
              <a:latin typeface="Microsoft YaHei UI" panose="020B0503020204020204" charset="-122"/>
            </a:endParaRPr>
          </a:p>
          <a:p>
            <a:pPr>
              <a:spcBef>
                <a:spcPts val="100"/>
              </a:spcBef>
              <a:spcAft>
                <a:spcPts val="100"/>
              </a:spcAft>
            </a:pPr>
          </a:p>
          <a:p>
            <a:pPr>
              <a:spcBef>
                <a:spcPts val="100"/>
              </a:spcBef>
              <a:spcAft>
                <a:spcPts val="100"/>
              </a:spcAft>
            </a:pPr>
            <a:r>
              <a:rPr sz="1200" b="1">
                <a:latin typeface="Microsoft YaHei UI" panose="020B0503020204020204" charset="-122"/>
              </a:rPr>
              <a:t>🚀 Flow Matching（流匹配）—— "走直线"</a:t>
            </a:r>
            <a:endParaRPr sz="1200" b="1">
              <a:solidFill>
                <a:srgbClr val="1E7832"/>
              </a:solidFill>
              <a:latin typeface="Microsoft YaHei UI" panose="020B0503020204020204" charset="-122"/>
            </a:endParaRPr>
          </a:p>
          <a:p>
            <a:pPr>
              <a:spcBef>
                <a:spcPts val="100"/>
              </a:spcBef>
              <a:spcAft>
                <a:spcPts val="100"/>
              </a:spcAft>
            </a:pPr>
            <a:r>
              <a:rPr sz="1000" b="0">
                <a:latin typeface="Microsoft YaHei UI" panose="020B0503020204020204" charset="-122"/>
              </a:rPr>
              <a:t>类比：像 GPS 导航最短路径 —— 从 A 到 B 直线走，不绕弯</a:t>
            </a:r>
            <a:endParaRPr sz="1000" b="0">
              <a:latin typeface="Microsoft YaHei UI" panose="020B0503020204020204" charset="-122"/>
            </a:endParaRPr>
          </a:p>
          <a:p>
            <a:pPr>
              <a:spcBef>
                <a:spcPts val="100"/>
              </a:spcBef>
              <a:spcAft>
                <a:spcPts val="100"/>
              </a:spcAft>
            </a:pPr>
            <a:r>
              <a:rPr sz="1000" b="0">
                <a:latin typeface="Microsoft YaHei UI" panose="020B0503020204020204" charset="-122"/>
              </a:rPr>
              <a:t>• 训练时：直接定义噪声</a:t>
            </a:r>
            <a:r>
              <a:rPr lang="en-US" sz="1000" b="0">
                <a:latin typeface="Microsoft YaHei UI" panose="020B0503020204020204" charset="-122"/>
              </a:rPr>
              <a:t>z(</a:t>
            </a:r>
            <a:r>
              <a:rPr lang="zh-CN" altLang="en-US" sz="1000" b="0">
                <a:latin typeface="Microsoft YaHei UI" panose="020B0503020204020204" charset="-122"/>
              </a:rPr>
              <a:t>高斯分布</a:t>
            </a:r>
            <a:r>
              <a:rPr lang="en-US" sz="1000" b="0">
                <a:latin typeface="Microsoft YaHei UI" panose="020B0503020204020204" charset="-122"/>
              </a:rPr>
              <a:t>) </a:t>
            </a:r>
            <a:r>
              <a:rPr sz="1000" b="0">
                <a:latin typeface="Microsoft YaHei UI" panose="020B0503020204020204" charset="-122"/>
              </a:rPr>
              <a:t>→</a:t>
            </a:r>
            <a:r>
              <a:rPr lang="en-US" sz="1000" b="0">
                <a:latin typeface="Microsoft YaHei UI" panose="020B0503020204020204" charset="-122"/>
              </a:rPr>
              <a:t> </a:t>
            </a:r>
            <a:r>
              <a:rPr sz="1000" b="0">
                <a:latin typeface="Microsoft YaHei UI" panose="020B0503020204020204" charset="-122"/>
              </a:rPr>
              <a:t>轨迹的直线路径 x_t = (1-t)·噪声 + t·轨迹</a:t>
            </a:r>
            <a:endParaRPr sz="1000" b="0">
              <a:latin typeface="Microsoft YaHei UI" panose="020B0503020204020204" charset="-122"/>
            </a:endParaRPr>
          </a:p>
          <a:p>
            <a:pPr>
              <a:spcBef>
                <a:spcPts val="100"/>
              </a:spcBef>
              <a:spcAft>
                <a:spcPts val="100"/>
              </a:spcAft>
            </a:pPr>
            <a:r>
              <a:rPr sz="1000" b="0">
                <a:latin typeface="Microsoft YaHei UI" panose="020B0503020204020204" charset="-122"/>
              </a:rPr>
              <a:t>  教模型"在路上任意一点，下一步往哪个方向走"（学向量场）</a:t>
            </a:r>
            <a:endParaRPr sz="1000" b="0">
              <a:latin typeface="Microsoft YaHei UI" panose="020B0503020204020204" charset="-122"/>
            </a:endParaRPr>
          </a:p>
          <a:p>
            <a:pPr>
              <a:spcBef>
                <a:spcPts val="100"/>
              </a:spcBef>
              <a:spcAft>
                <a:spcPts val="100"/>
              </a:spcAft>
            </a:pPr>
            <a:r>
              <a:rPr sz="1000" b="0">
                <a:latin typeface="Microsoft YaHei UI" panose="020B0503020204020204" charset="-122"/>
              </a:rPr>
              <a:t>• 推理时：从噪声出发，沿着学到的方向走 4 步就到终点</a:t>
            </a:r>
            <a:endParaRPr sz="1000" b="0">
              <a:latin typeface="Microsoft YaHei UI" panose="020B0503020204020204" charset="-122"/>
            </a:endParaRPr>
          </a:p>
          <a:p>
            <a:pPr>
              <a:spcBef>
                <a:spcPts val="100"/>
              </a:spcBef>
              <a:spcAft>
                <a:spcPts val="100"/>
              </a:spcAft>
            </a:pPr>
            <a:r>
              <a:rPr sz="1000" b="0">
                <a:latin typeface="Microsoft YaHei UI" panose="020B0503020204020204" charset="-122"/>
              </a:rPr>
              <a:t>• 优势：直线路径离散化误差小 → 步数少 → 快（~20ms）→ 满足实车实时性</a:t>
            </a:r>
            <a:endParaRPr sz="1000" b="0">
              <a:latin typeface="Microsoft YaHei UI" panose="020B0503020204020204" charset="-122"/>
            </a:endParaRPr>
          </a:p>
          <a:p>
            <a:pPr>
              <a:spcBef>
                <a:spcPts val="100"/>
              </a:spcBef>
              <a:spcAft>
                <a:spcPts val="100"/>
              </a:spcAft>
            </a:pPr>
          </a:p>
          <a:p>
            <a:pPr>
              <a:spcBef>
                <a:spcPts val="100"/>
              </a:spcBef>
              <a:spcAft>
                <a:spcPts val="100"/>
              </a:spcAft>
            </a:pPr>
            <a:endParaRPr sz="1000" b="1">
              <a:solidFill>
                <a:srgbClr val="003399"/>
              </a:solidFill>
              <a:latin typeface="Microsoft YaHei UI" panose="020B0503020204020204" charset="-122"/>
            </a:endParaRPr>
          </a:p>
        </p:txBody>
      </p:sp>
      <p:sp>
        <p:nvSpPr>
          <p:cNvPr id="6" name="文本框 5"/>
          <p:cNvSpPr txBox="1"/>
          <p:nvPr/>
        </p:nvSpPr>
        <p:spPr>
          <a:xfrm>
            <a:off x="5553710" y="1475740"/>
            <a:ext cx="4283710" cy="3234055"/>
          </a:xfrm>
          <a:prstGeom prst="rect">
            <a:avLst/>
          </a:prstGeom>
          <a:noFill/>
        </p:spPr>
        <p:txBody>
          <a:bodyPr wrap="square" lIns="0" tIns="0" rIns="0" bIns="0" rtlCol="0">
            <a:noAutofit/>
          </a:bodyPr>
          <a:p>
            <a:pPr>
              <a:spcBef>
                <a:spcPts val="100"/>
              </a:spcBef>
              <a:spcAft>
                <a:spcPts val="100"/>
              </a:spcAft>
            </a:pPr>
            <a:r>
              <a:rPr sz="1800" b="1">
                <a:latin typeface="Microsoft YaHei UI" panose="020B0503020204020204" charset="-122"/>
                <a:sym typeface="+mn-ea"/>
              </a:rPr>
              <a:t>📊 </a:t>
            </a:r>
            <a:r>
              <a:rPr sz="1000">
                <a:effectLst>
                  <a:outerShdw blurRad="38100" dist="25400" dir="5400000" algn="ctr" rotWithShape="0">
                    <a:srgbClr val="6E747A">
                      <a:alpha val="43000"/>
                    </a:srgbClr>
                  </a:outerShdw>
                </a:effectLst>
                <a:latin typeface="Microsoft YaHei UI" panose="020B0503020204020204" charset="-122"/>
                <a:sym typeface="+mn-ea"/>
              </a:rPr>
              <a:t>对比总结</a:t>
            </a:r>
            <a:endParaRPr sz="1000">
              <a:latin typeface="Microsoft YaHei UI" panose="020B0503020204020204" charset="-122"/>
            </a:endParaRPr>
          </a:p>
          <a:p>
            <a:pPr>
              <a:spcBef>
                <a:spcPts val="100"/>
              </a:spcBef>
              <a:spcAft>
                <a:spcPts val="100"/>
              </a:spcAft>
            </a:pPr>
            <a:r>
              <a:rPr sz="1000">
                <a:latin typeface="Microsoft YaHei UI" panose="020B0503020204020204" charset="-122"/>
                <a:sym typeface="+mn-ea"/>
              </a:rPr>
              <a:t>  特性              Diffusion                 </a:t>
            </a:r>
            <a:r>
              <a:rPr lang="en-US" sz="1000">
                <a:latin typeface="Microsoft YaHei UI" panose="020B0503020204020204" charset="-122"/>
                <a:sym typeface="+mn-ea"/>
              </a:rPr>
              <a:t>	</a:t>
            </a:r>
            <a:r>
              <a:rPr sz="1000">
                <a:latin typeface="Microsoft YaHei UI" panose="020B0503020204020204" charset="-122"/>
                <a:sym typeface="+mn-ea"/>
              </a:rPr>
              <a:t> Flow Matching</a:t>
            </a:r>
            <a:endParaRPr sz="1000">
              <a:latin typeface="Microsoft YaHei UI" panose="020B0503020204020204" charset="-122"/>
            </a:endParaRPr>
          </a:p>
          <a:p>
            <a:pPr>
              <a:spcBef>
                <a:spcPts val="100"/>
              </a:spcBef>
              <a:spcAft>
                <a:spcPts val="100"/>
              </a:spcAft>
            </a:pPr>
            <a:r>
              <a:rPr sz="1000">
                <a:latin typeface="Microsoft YaHei UI" panose="020B0503020204020204" charset="-122"/>
                <a:sym typeface="+mn-ea"/>
              </a:rPr>
              <a:t>  ───────────────────────────────────────────────</a:t>
            </a:r>
            <a:r>
              <a:rPr lang="en-US" sz="1000">
                <a:latin typeface="Microsoft YaHei UI" panose="020B0503020204020204" charset="-122"/>
                <a:sym typeface="+mn-ea"/>
              </a:rPr>
              <a:t> </a:t>
            </a:r>
            <a:endParaRPr sz="1000" b="0">
              <a:latin typeface="Microsoft YaHei UI" panose="020B0503020204020204" charset="-122"/>
            </a:endParaRPr>
          </a:p>
          <a:p>
            <a:pPr>
              <a:spcBef>
                <a:spcPts val="100"/>
              </a:spcBef>
              <a:spcAft>
                <a:spcPts val="100"/>
              </a:spcAft>
            </a:pPr>
            <a:r>
              <a:rPr sz="1000">
                <a:latin typeface="Microsoft YaHei UI" panose="020B0503020204020204" charset="-122"/>
                <a:sym typeface="+mn-ea"/>
              </a:rPr>
              <a:t>  类比              擦黑板（反复擦很多次）      </a:t>
            </a:r>
            <a:r>
              <a:rPr lang="en-US" sz="1000">
                <a:latin typeface="Microsoft YaHei UI" panose="020B0503020204020204" charset="-122"/>
                <a:sym typeface="+mn-ea"/>
              </a:rPr>
              <a:t>	</a:t>
            </a:r>
            <a:r>
              <a:rPr sz="1000">
                <a:latin typeface="Microsoft YaHei UI" panose="020B0503020204020204" charset="-122"/>
                <a:sym typeface="+mn-ea"/>
              </a:rPr>
              <a:t>GPS导航（直线到达）</a:t>
            </a:r>
            <a:endParaRPr sz="1000" b="0">
              <a:latin typeface="Microsoft YaHei UI" panose="020B0503020204020204" charset="-122"/>
            </a:endParaRPr>
          </a:p>
          <a:p>
            <a:pPr>
              <a:spcBef>
                <a:spcPts val="100"/>
              </a:spcBef>
              <a:spcAft>
                <a:spcPts val="100"/>
              </a:spcAft>
            </a:pPr>
            <a:r>
              <a:rPr sz="1000">
                <a:latin typeface="Microsoft YaHei UI" panose="020B0503020204020204" charset="-122"/>
                <a:sym typeface="+mn-ea"/>
              </a:rPr>
              <a:t>  路径形状          弯曲（去噪路径）              </a:t>
            </a:r>
            <a:r>
              <a:rPr lang="en-US" sz="1000">
                <a:latin typeface="Microsoft YaHei UI" panose="020B0503020204020204" charset="-122"/>
                <a:sym typeface="+mn-ea"/>
              </a:rPr>
              <a:t>	</a:t>
            </a:r>
            <a:r>
              <a:rPr sz="1000">
                <a:latin typeface="Microsoft YaHei UI" panose="020B0503020204020204" charset="-122"/>
                <a:sym typeface="+mn-ea"/>
              </a:rPr>
              <a:t>近似直线（最优传输）</a:t>
            </a:r>
            <a:endParaRPr sz="1000" b="0">
              <a:latin typeface="Microsoft YaHei UI" panose="020B0503020204020204" charset="-122"/>
            </a:endParaRPr>
          </a:p>
          <a:p>
            <a:pPr>
              <a:spcBef>
                <a:spcPts val="100"/>
              </a:spcBef>
              <a:spcAft>
                <a:spcPts val="100"/>
              </a:spcAft>
            </a:pPr>
            <a:r>
              <a:rPr sz="1000">
                <a:latin typeface="Microsoft YaHei UI" panose="020B0503020204020204" charset="-122"/>
                <a:sym typeface="+mn-ea"/>
              </a:rPr>
              <a:t>  训练目标          预测每步噪声 ε_θ             </a:t>
            </a:r>
            <a:r>
              <a:rPr lang="en-US" sz="1000">
                <a:latin typeface="Microsoft YaHei UI" panose="020B0503020204020204" charset="-122"/>
                <a:sym typeface="+mn-ea"/>
              </a:rPr>
              <a:t>	</a:t>
            </a:r>
            <a:r>
              <a:rPr sz="1000">
                <a:latin typeface="Microsoft YaHei UI" panose="020B0503020204020204" charset="-122"/>
                <a:sym typeface="+mn-ea"/>
              </a:rPr>
              <a:t>预测方向向量场 v_θ</a:t>
            </a:r>
            <a:endParaRPr sz="1000" b="0">
              <a:latin typeface="Microsoft YaHei UI" panose="020B0503020204020204" charset="-122"/>
            </a:endParaRPr>
          </a:p>
          <a:p>
            <a:pPr>
              <a:spcBef>
                <a:spcPts val="100"/>
              </a:spcBef>
              <a:spcAft>
                <a:spcPts val="100"/>
              </a:spcAft>
            </a:pPr>
            <a:r>
              <a:rPr sz="1000">
                <a:latin typeface="Microsoft YaHei UI" panose="020B0503020204020204" charset="-122"/>
                <a:sym typeface="+mn-ea"/>
              </a:rPr>
              <a:t>  推理步数          20-100 步                    </a:t>
            </a:r>
            <a:r>
              <a:rPr lang="en-US" sz="1000">
                <a:latin typeface="Microsoft YaHei UI" panose="020B0503020204020204" charset="-122"/>
                <a:sym typeface="+mn-ea"/>
              </a:rPr>
              <a:t>	</a:t>
            </a:r>
            <a:r>
              <a:rPr sz="1000">
                <a:latin typeface="Microsoft YaHei UI" panose="020B0503020204020204" charset="-122"/>
                <a:sym typeface="+mn-ea"/>
              </a:rPr>
              <a:t>4 步</a:t>
            </a:r>
            <a:endParaRPr sz="1000" b="0">
              <a:latin typeface="Microsoft YaHei UI" panose="020B0503020204020204" charset="-122"/>
            </a:endParaRPr>
          </a:p>
          <a:p>
            <a:pPr>
              <a:spcBef>
                <a:spcPts val="100"/>
              </a:spcBef>
              <a:spcAft>
                <a:spcPts val="100"/>
              </a:spcAft>
            </a:pPr>
            <a:r>
              <a:rPr sz="1000">
                <a:latin typeface="Microsoft YaHei UI" panose="020B0503020204020204" charset="-122"/>
                <a:sym typeface="+mn-ea"/>
              </a:rPr>
              <a:t>  推理延迟          ~100ms                       </a:t>
            </a:r>
            <a:r>
              <a:rPr lang="en-US" sz="1000">
                <a:latin typeface="Microsoft YaHei UI" panose="020B0503020204020204" charset="-122"/>
                <a:sym typeface="+mn-ea"/>
              </a:rPr>
              <a:t>	</a:t>
            </a:r>
            <a:r>
              <a:rPr sz="1000">
                <a:latin typeface="Microsoft YaHei UI" panose="020B0503020204020204" charset="-122"/>
                <a:sym typeface="+mn-ea"/>
              </a:rPr>
              <a:t>~20ms ← 实车友好</a:t>
            </a:r>
            <a:endParaRPr sz="1000" b="0">
              <a:latin typeface="Microsoft YaHei UI" panose="020B0503020204020204" charset="-122"/>
            </a:endParaRPr>
          </a:p>
          <a:p>
            <a:pPr>
              <a:spcBef>
                <a:spcPts val="100"/>
              </a:spcBef>
              <a:spcAft>
                <a:spcPts val="100"/>
              </a:spcAft>
            </a:pPr>
            <a:r>
              <a:rPr sz="1000">
                <a:latin typeface="Microsoft YaHei UI" panose="020B0503020204020204" charset="-122"/>
                <a:sym typeface="+mn-ea"/>
              </a:rPr>
              <a:t>  性能 (Val14 NR)   89.87                        </a:t>
            </a:r>
            <a:r>
              <a:rPr lang="en-US" sz="1000">
                <a:latin typeface="Microsoft YaHei UI" panose="020B0503020204020204" charset="-122"/>
                <a:sym typeface="+mn-ea"/>
              </a:rPr>
              <a:t>	</a:t>
            </a:r>
            <a:r>
              <a:rPr sz="1000">
                <a:latin typeface="Microsoft YaHei UI" panose="020B0503020204020204" charset="-122"/>
                <a:sym typeface="+mn-ea"/>
              </a:rPr>
              <a:t>90.43 ★</a:t>
            </a:r>
            <a:endParaRPr sz="1000" b="0">
              <a:latin typeface="Microsoft YaHei UI" panose="020B0503020204020204" charset="-122"/>
            </a:endParaRPr>
          </a:p>
          <a:p>
            <a:pPr>
              <a:spcBef>
                <a:spcPts val="100"/>
              </a:spcBef>
              <a:spcAft>
                <a:spcPts val="100"/>
              </a:spcAft>
            </a:pPr>
            <a:endParaRPr kumimoji="0" lang="zh-CN" altLang="en-US" sz="1800" b="0" i="0" u="none" strike="noStrike" kern="0" cap="none" spc="0" normalizeH="0" baseline="0" noProof="0" smtClean="0">
              <a:ln>
                <a:noFill/>
              </a:ln>
              <a:solidFill>
                <a:srgbClr val="000000"/>
              </a:solidFill>
              <a:effectLst/>
              <a:uLnTx/>
              <a:uFillTx/>
            </a:endParaRPr>
          </a:p>
          <a:p>
            <a:pPr algn="l">
              <a:spcBef>
                <a:spcPts val="100"/>
              </a:spcBef>
              <a:spcAft>
                <a:spcPts val="100"/>
              </a:spcAft>
              <a:buClrTx/>
              <a:buSzTx/>
              <a:buNone/>
            </a:pPr>
            <a:r>
              <a:rPr sz="1000">
                <a:effectLst>
                  <a:outerShdw blurRad="38100" dist="25400" dir="5400000" algn="ctr" rotWithShape="0">
                    <a:srgbClr val="6E747A">
                      <a:alpha val="43000"/>
                    </a:srgbClr>
                  </a:outerShdw>
                </a:effectLst>
                <a:latin typeface="Microsoft YaHei UI" panose="020B0503020204020204" charset="-122"/>
                <a:sym typeface="+mn-ea"/>
              </a:rPr>
              <a:t>结论：路径越直 → 步数越少 → 速度越快 → 性能还更好</a:t>
            </a:r>
            <a:endParaRPr kumimoji="0" sz="1000" b="0" i="0" u="none" strike="noStrike" cap="none" spc="0" normalizeH="0" baseline="0">
              <a:solidFill>
                <a:schemeClr val="accent1"/>
              </a:solidFill>
              <a:effectLst>
                <a:outerShdw blurRad="38100" dist="25400" dir="5400000" algn="ctr" rotWithShape="0">
                  <a:srgbClr val="6E747A">
                    <a:alpha val="43000"/>
                  </a:srgbClr>
                </a:outerShdw>
              </a:effectLst>
              <a:latin typeface="Microsoft YaHei UI" panose="020B0503020204020204" charset="-122"/>
              <a:sym typeface="+mn-e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Placeholder 1"/>
          <p:cNvSpPr>
            <a:spLocks noGrp="1"/>
          </p:cNvSpPr>
          <p:nvPr>
            <p:ph type="body" sz="quarter" idx="15"/>
          </p:nvPr>
        </p:nvSpPr>
        <p:spPr/>
        <p:txBody>
          <a:bodyPr/>
          <a:lstStyle/>
          <a:p>
            <a:r>
              <a:rPr sz="1200" b="1">
                <a:latin typeface="Microsoft YaHei UI" panose="020B0503020204020204" charset="-122"/>
              </a:rPr>
              <a:t>附录</a:t>
            </a:r>
            <a:endParaRPr sz="1200" b="1">
              <a:latin typeface="Microsoft YaHei UI" panose="020B0503020204020204" charset="-122"/>
            </a:endParaRPr>
          </a:p>
        </p:txBody>
      </p:sp>
      <p:sp>
        <p:nvSpPr>
          <p:cNvPr id="3" name="Title 2"/>
          <p:cNvSpPr>
            <a:spLocks noGrp="1"/>
          </p:cNvSpPr>
          <p:nvPr>
            <p:ph type="title"/>
          </p:nvPr>
        </p:nvSpPr>
        <p:spPr/>
        <p:txBody>
          <a:bodyPr/>
          <a:lstStyle/>
          <a:p>
            <a:r>
              <a:rPr sz="2000" b="1">
                <a:latin typeface="Microsoft YaHei UI" panose="020B0503020204020204" charset="-122"/>
              </a:rPr>
              <a:t>附录B：为什么需要多模态轨迹生成？</a:t>
            </a:r>
            <a:endParaRPr sz="2000" b="1">
              <a:latin typeface="Microsoft YaHei UI" panose="020B0503020204020204" charset="-122"/>
            </a:endParaRPr>
          </a:p>
        </p:txBody>
      </p:sp>
      <p:sp>
        <p:nvSpPr>
          <p:cNvPr id="4" name="TextBox 3"/>
          <p:cNvSpPr txBox="1"/>
          <p:nvPr/>
        </p:nvSpPr>
        <p:spPr>
          <a:xfrm>
            <a:off x="512286" y="1037110"/>
            <a:ext cx="9872662" cy="4300000"/>
          </a:xfrm>
          <a:prstGeom prst="rect">
            <a:avLst/>
          </a:prstGeom>
          <a:noFill/>
        </p:spPr>
        <p:txBody>
          <a:bodyPr wrap="square">
            <a:spAutoFit/>
          </a:bodyPr>
          <a:lstStyle/>
          <a:p>
            <a:pPr>
              <a:spcBef>
                <a:spcPts val="200"/>
              </a:spcBef>
              <a:spcAft>
                <a:spcPts val="200"/>
              </a:spcAft>
            </a:pPr>
            <a:r>
              <a:rPr sz="1200" b="1">
                <a:latin typeface="Microsoft YaHei UI" panose="020B0503020204020204" charset="-122"/>
              </a:rPr>
              <a:t>场景：前方静止车辆，可以左绕或右绕</a:t>
            </a:r>
            <a:endParaRPr sz="1200" b="1">
              <a:solidFill>
                <a:srgbClr val="003399"/>
              </a:solidFill>
              <a:latin typeface="Microsoft YaHei UI" panose="020B0503020204020204" charset="-122"/>
            </a:endParaRPr>
          </a:p>
          <a:p>
            <a:pPr>
              <a:spcBef>
                <a:spcPts val="200"/>
              </a:spcBef>
              <a:spcAft>
                <a:spcPts val="200"/>
              </a:spcAft>
            </a:pPr>
          </a:p>
          <a:p>
            <a:pPr>
              <a:spcBef>
                <a:spcPts val="200"/>
              </a:spcBef>
              <a:spcAft>
                <a:spcPts val="200"/>
              </a:spcAft>
            </a:pPr>
            <a:r>
              <a:rPr sz="1100" b="1">
                <a:latin typeface="Microsoft YaHei UI" panose="020B0503020204020204" charset="-122"/>
              </a:rPr>
              <a:t>❌ 回归模型（Regression）的致命问题 —— Mode Averaging</a:t>
            </a:r>
            <a:endParaRPr sz="1100" b="1">
              <a:solidFill>
                <a:srgbClr val="C83232"/>
              </a:solidFill>
              <a:latin typeface="Microsoft YaHei UI" panose="020B0503020204020204" charset="-122"/>
            </a:endParaRPr>
          </a:p>
          <a:p>
            <a:pPr>
              <a:spcBef>
                <a:spcPts val="200"/>
              </a:spcBef>
              <a:spcAft>
                <a:spcPts val="200"/>
              </a:spcAft>
            </a:pPr>
            <a:r>
              <a:rPr sz="1000" b="0">
                <a:latin typeface="Microsoft YaHei UI" panose="020B0503020204020204" charset="-122"/>
              </a:rPr>
              <a:t>• 训练集中同一类场景有不同的人类决策：</a:t>
            </a:r>
            <a:endParaRPr sz="1000" b="0">
              <a:latin typeface="Microsoft YaHei UI" panose="020B0503020204020204" charset="-122"/>
            </a:endParaRPr>
          </a:p>
          <a:p>
            <a:pPr>
              <a:spcBef>
                <a:spcPts val="200"/>
              </a:spcBef>
              <a:spcAft>
                <a:spcPts val="200"/>
              </a:spcAft>
            </a:pPr>
            <a:r>
              <a:rPr sz="1000" b="0">
                <a:latin typeface="Microsoft YaHei UI" panose="020B0503020204020204" charset="-122"/>
              </a:rPr>
              <a:t>  司机A → 左绕 (-3, 10)    |    司机B → 右绕 (+3, 10)</a:t>
            </a:r>
            <a:endParaRPr sz="1000" b="0">
              <a:latin typeface="Microsoft YaHei UI" panose="020B0503020204020204" charset="-122"/>
            </a:endParaRPr>
          </a:p>
          <a:p>
            <a:pPr>
              <a:spcBef>
                <a:spcPts val="200"/>
              </a:spcBef>
              <a:spcAft>
                <a:spcPts val="200"/>
              </a:spcAft>
            </a:pPr>
            <a:r>
              <a:rPr sz="1000" b="0">
                <a:latin typeface="Microsoft YaHei UI" panose="020B0503020204020204" charset="-122"/>
              </a:rPr>
              <a:t>• L2 Loss 的最优解 = 两种 GT 的均值 = (0, 10) → 直行撞车！💥</a:t>
            </a:r>
            <a:endParaRPr sz="1000" b="0">
              <a:latin typeface="Microsoft YaHei UI" panose="020B0503020204020204" charset="-122"/>
            </a:endParaRPr>
          </a:p>
          <a:p>
            <a:pPr>
              <a:spcBef>
                <a:spcPts val="200"/>
              </a:spcBef>
              <a:spcAft>
                <a:spcPts val="200"/>
              </a:spcAft>
            </a:pPr>
            <a:r>
              <a:rPr sz="1000" b="0">
                <a:latin typeface="Microsoft YaHei UI" panose="020B0503020204020204" charset="-122"/>
              </a:rPr>
              <a:t>• 根因：L2 Loss 的数学性质迫使模型输出条件均值，</a:t>
            </a:r>
            <a:endParaRPr sz="1000" b="0">
              <a:latin typeface="Microsoft YaHei UI" panose="020B0503020204020204" charset="-122"/>
            </a:endParaRPr>
          </a:p>
          <a:p>
            <a:pPr>
              <a:spcBef>
                <a:spcPts val="200"/>
              </a:spcBef>
              <a:spcAft>
                <a:spcPts val="200"/>
              </a:spcAft>
            </a:pPr>
            <a:r>
              <a:rPr sz="1000" b="0">
                <a:latin typeface="Microsoft YaHei UI" panose="020B0503020204020204" charset="-122"/>
              </a:rPr>
              <a:t>  而两个合理模式的均值本身不是一个合理的模式</a:t>
            </a:r>
            <a:endParaRPr sz="1000" b="0">
              <a:latin typeface="Microsoft YaHei UI" panose="020B0503020204020204" charset="-122"/>
            </a:endParaRPr>
          </a:p>
          <a:p>
            <a:pPr>
              <a:spcBef>
                <a:spcPts val="200"/>
              </a:spcBef>
              <a:spcAft>
                <a:spcPts val="200"/>
              </a:spcAft>
            </a:pPr>
          </a:p>
          <a:p>
            <a:pPr>
              <a:spcBef>
                <a:spcPts val="200"/>
              </a:spcBef>
              <a:spcAft>
                <a:spcPts val="200"/>
              </a:spcAft>
            </a:pPr>
            <a:r>
              <a:rPr sz="1100" b="1">
                <a:latin typeface="Microsoft YaHei UI" panose="020B0503020204020204" charset="-122"/>
              </a:rPr>
              <a:t>✅ 生成模型（Flow Matching）的解法 —— 学习完整概率分布</a:t>
            </a:r>
            <a:endParaRPr sz="1100" b="1">
              <a:solidFill>
                <a:srgbClr val="329632"/>
              </a:solidFill>
              <a:latin typeface="Microsoft YaHei UI" panose="020B0503020204020204" charset="-122"/>
            </a:endParaRPr>
          </a:p>
          <a:p>
            <a:pPr>
              <a:spcBef>
                <a:spcPts val="200"/>
              </a:spcBef>
              <a:spcAft>
                <a:spcPts val="200"/>
              </a:spcAft>
            </a:pPr>
            <a:r>
              <a:rPr sz="1000" b="0">
                <a:latin typeface="Microsoft YaHei UI" panose="020B0503020204020204" charset="-122"/>
              </a:rPr>
              <a:t>• 模型学到的不是一个点，而是一个双峰分布：</a:t>
            </a:r>
            <a:endParaRPr sz="1000" b="0">
              <a:latin typeface="Microsoft YaHei UI" panose="020B0503020204020204" charset="-122"/>
            </a:endParaRPr>
          </a:p>
          <a:p>
            <a:pPr>
              <a:spcBef>
                <a:spcPts val="200"/>
              </a:spcBef>
              <a:spcAft>
                <a:spcPts val="200"/>
              </a:spcAft>
            </a:pPr>
            <a:r>
              <a:rPr sz="1000" b="0">
                <a:latin typeface="Microsoft YaHei UI" panose="020B0503020204020204" charset="-122"/>
              </a:rPr>
              <a:t>  左绕峰(x=-3)  ████         右绕峰(x=+3)  ████</a:t>
            </a:r>
            <a:endParaRPr sz="1000" b="0">
              <a:latin typeface="Microsoft YaHei UI" panose="020B0503020204020204" charset="-122"/>
            </a:endParaRPr>
          </a:p>
          <a:p>
            <a:pPr>
              <a:spcBef>
                <a:spcPts val="200"/>
              </a:spcBef>
              <a:spcAft>
                <a:spcPts val="200"/>
              </a:spcAft>
            </a:pPr>
            <a:r>
              <a:rPr sz="1000" b="0">
                <a:latin typeface="Microsoft YaHei UI" panose="020B0503020204020204" charset="-122"/>
              </a:rPr>
              <a:t>  中间区域 (x=0) 概率密度 ≈ 0 → 永远不会采样到"直行撞车"的轨迹</a:t>
            </a:r>
            <a:endParaRPr sz="1000" b="0">
              <a:latin typeface="Microsoft YaHei UI" panose="020B0503020204020204" charset="-122"/>
            </a:endParaRPr>
          </a:p>
          <a:p>
            <a:pPr>
              <a:spcBef>
                <a:spcPts val="200"/>
              </a:spcBef>
              <a:spcAft>
                <a:spcPts val="200"/>
              </a:spcAft>
            </a:pPr>
            <a:r>
              <a:rPr sz="1000" b="0">
                <a:latin typeface="Microsoft YaHei UI" panose="020B0503020204020204" charset="-122"/>
              </a:rPr>
              <a:t>• 每次采样都落在某个合理模式上 → 要么左绕，要么右绕，都安全 ✅</a:t>
            </a:r>
            <a:endParaRPr sz="1000" b="0">
              <a:latin typeface="Microsoft YaHei UI" panose="020B0503020204020204" charset="-122"/>
            </a:endParaRPr>
          </a:p>
          <a:p>
            <a:pPr>
              <a:spcBef>
                <a:spcPts val="200"/>
              </a:spcBef>
              <a:spcAft>
                <a:spcPts val="200"/>
              </a:spcAft>
            </a:pPr>
          </a:p>
          <a:p>
            <a:pPr>
              <a:spcBef>
                <a:spcPts val="200"/>
              </a:spcBef>
              <a:spcAft>
                <a:spcPts val="200"/>
              </a:spcAft>
            </a:pPr>
            <a:r>
              <a:rPr sz="1100" b="1">
                <a:latin typeface="Microsoft YaHei UI" panose="020B0503020204020204" charset="-122"/>
              </a:rPr>
              <a:t>方法对比：</a:t>
            </a:r>
            <a:endParaRPr sz="1100" b="1">
              <a:latin typeface="Microsoft YaHei UI" panose="020B0503020204020204" charset="-122"/>
            </a:endParaRPr>
          </a:p>
          <a:p>
            <a:pPr>
              <a:spcBef>
                <a:spcPts val="200"/>
              </a:spcBef>
              <a:spcAft>
                <a:spcPts val="200"/>
              </a:spcAft>
            </a:pPr>
            <a:r>
              <a:rPr sz="1000" b="0">
                <a:latin typeface="Microsoft YaHei UI" panose="020B0503020204020204" charset="-122"/>
              </a:rPr>
              <a:t>  回归模型:    学点估计（条件均值）  →  一条确定路径  →  Mode Averaging 💥（撞车）</a:t>
            </a:r>
            <a:endParaRPr sz="1000" b="0">
              <a:latin typeface="Microsoft YaHei UI" panose="020B0503020204020204" charset="-122"/>
            </a:endParaRPr>
          </a:p>
          <a:p>
            <a:pPr>
              <a:spcBef>
                <a:spcPts val="200"/>
              </a:spcBef>
              <a:spcAft>
                <a:spcPts val="200"/>
              </a:spcAft>
            </a:pPr>
            <a:r>
              <a:rPr sz="1000" b="0">
                <a:latin typeface="Microsoft YaHei UI" panose="020B0503020204020204" charset="-122"/>
              </a:rPr>
              <a:t>  生成模型:    学完整概率分布          →  采样多条路径  →  每条都是合理模式 ✅（安全）</a:t>
            </a:r>
            <a:endParaRPr sz="1000" b="0">
              <a:latin typeface="Microsoft YaHei UI" panose="020B0503020204020204" charset="-122"/>
            </a:endParaRPr>
          </a:p>
          <a:p>
            <a:pPr>
              <a:spcBef>
                <a:spcPts val="200"/>
              </a:spcBef>
              <a:spcAft>
                <a:spcPts val="200"/>
              </a:spcAft>
            </a:pPr>
          </a:p>
          <a:p>
            <a:pPr>
              <a:spcBef>
                <a:spcPts val="200"/>
              </a:spcBef>
              <a:spcAft>
                <a:spcPts val="200"/>
              </a:spcAft>
            </a:pPr>
            <a:r>
              <a:rPr sz="1000" b="1">
                <a:latin typeface="Microsoft YaHei UI" panose="020B0503020204020204" charset="-122"/>
              </a:rPr>
              <a:t>核心价值：不是 GT 不对，而是回归模型无法正确利用 GT 中的多样性信息</a:t>
            </a:r>
            <a:endParaRPr sz="1000" b="1">
              <a:solidFill>
                <a:srgbClr val="003399"/>
              </a:solidFill>
              <a:latin typeface="Microsoft YaHei UI" panose="020B0503020204020204"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80000" y="108000"/>
            <a:ext cx="4320000" cy="288000"/>
          </a:xfrm>
          <a:prstGeom prst="rect">
            <a:avLst/>
          </a:prstGeom>
          <a:noFill/>
        </p:spPr>
        <p:txBody>
          <a:bodyPr wrap="square">
            <a:spAutoFit/>
          </a:bodyPr>
          <a:lstStyle/>
          <a:p>
            <a:r>
              <a:rPr sz="1200" b="1">
                <a:latin typeface="Microsoft YaHei UI" panose="020B0503020204020204" charset="-122"/>
              </a:rPr>
              <a:t>附录C：Diffusion Model 训练与推理全流程</a:t>
            </a:r>
            <a:endParaRPr sz="1200" b="1">
              <a:latin typeface="微软雅黑" panose="020B0503020204020204" charset="-122"/>
            </a:endParaRPr>
          </a:p>
        </p:txBody>
      </p:sp>
      <p:sp>
        <p:nvSpPr>
          <p:cNvPr id="3" name="TextBox 2"/>
          <p:cNvSpPr txBox="1"/>
          <p:nvPr/>
        </p:nvSpPr>
        <p:spPr>
          <a:xfrm>
            <a:off x="180000" y="360000"/>
            <a:ext cx="8640000" cy="432000"/>
          </a:xfrm>
          <a:prstGeom prst="rect">
            <a:avLst/>
          </a:prstGeom>
          <a:noFill/>
        </p:spPr>
        <p:txBody>
          <a:bodyPr wrap="square">
            <a:spAutoFit/>
          </a:bodyPr>
          <a:lstStyle/>
          <a:p>
            <a:r>
              <a:rPr sz="2000" b="1">
                <a:latin typeface="微软雅黑" panose="020B0503020204020204" charset="-122"/>
              </a:rPr>
              <a:t>Diffusion Model 训练与推理：加噪与去噪</a:t>
            </a:r>
            <a:endParaRPr sz="2000" b="1">
              <a:latin typeface="微软雅黑" panose="020B0503020204020204" charset="-122"/>
            </a:endParaRPr>
          </a:p>
        </p:txBody>
      </p:sp>
      <p:sp>
        <p:nvSpPr>
          <p:cNvPr id="4" name="TextBox 3"/>
          <p:cNvSpPr txBox="1"/>
          <p:nvPr/>
        </p:nvSpPr>
        <p:spPr>
          <a:xfrm>
            <a:off x="288000" y="792050"/>
            <a:ext cx="8640000" cy="5018405"/>
          </a:xfrm>
          <a:prstGeom prst="rect">
            <a:avLst/>
          </a:prstGeom>
          <a:noFill/>
        </p:spPr>
        <p:txBody>
          <a:bodyPr wrap="square">
            <a:spAutoFit/>
          </a:bodyPr>
          <a:lstStyle/>
          <a:p>
            <a:pPr>
              <a:spcBef>
                <a:spcPts val="100"/>
              </a:spcBef>
              <a:spcAft>
                <a:spcPts val="100"/>
              </a:spcAft>
            </a:pPr>
            <a:r>
              <a:rPr sz="1200" b="1">
                <a:latin typeface="微软雅黑" panose="020B0503020204020204" charset="-122"/>
              </a:rPr>
              <a:t>一句话理解：给轨迹逐步加噪声直到变成纯噪声，再训练网络一步步把噪声去掉</a:t>
            </a:r>
            <a:endParaRPr sz="1200" b="1">
              <a:latin typeface="微软雅黑" panose="020B0503020204020204" charset="-122"/>
            </a:endParaRPr>
          </a:p>
          <a:p>
            <a:endParaRPr sz="1200"/>
          </a:p>
          <a:p>
            <a:pPr>
              <a:spcBef>
                <a:spcPts val="100"/>
              </a:spcBef>
              <a:spcAft>
                <a:spcPts val="100"/>
              </a:spcAft>
            </a:pPr>
            <a:r>
              <a:rPr sz="1150" b="1">
                <a:latin typeface="微软雅黑" panose="020B0503020204020204" charset="-122"/>
              </a:rPr>
              <a:t>📚 训练过程 — 前向加噪 + 反向去噪</a:t>
            </a:r>
            <a:endParaRPr sz="1150" b="1">
              <a:latin typeface="微软雅黑" panose="020B0503020204020204" charset="-122"/>
            </a:endParaRPr>
          </a:p>
          <a:p>
            <a:endParaRPr sz="1150"/>
          </a:p>
          <a:p>
            <a:pPr>
              <a:spcBef>
                <a:spcPts val="100"/>
              </a:spcBef>
              <a:spcAft>
                <a:spcPts val="100"/>
              </a:spcAft>
            </a:pPr>
            <a:r>
              <a:rPr sz="1000" b="1">
                <a:latin typeface="微软雅黑" panose="020B0503020204020204" charset="-122"/>
              </a:rPr>
              <a:t>  前向过程（加噪 — 不需要学习，纯数学）：</a:t>
            </a:r>
            <a:endParaRPr sz="1000" b="1">
              <a:latin typeface="微软雅黑" panose="020B0503020204020204" charset="-122"/>
            </a:endParaRPr>
          </a:p>
          <a:p>
            <a:pPr>
              <a:spcBef>
                <a:spcPts val="100"/>
              </a:spcBef>
              <a:spcAft>
                <a:spcPts val="100"/>
              </a:spcAft>
            </a:pPr>
            <a:r>
              <a:rPr sz="950" b="0">
                <a:latin typeface="微软雅黑" panose="020B0503020204020204" charset="-122"/>
              </a:rPr>
              <a:t>  ① 有一条 GT 轨迹 x₀（干净的真实轨迹）</a:t>
            </a:r>
            <a:endParaRPr sz="950" b="0">
              <a:latin typeface="微软雅黑" panose="020B0503020204020204" charset="-122"/>
            </a:endParaRPr>
          </a:p>
          <a:p>
            <a:pPr>
              <a:spcBef>
                <a:spcPts val="100"/>
              </a:spcBef>
              <a:spcAft>
                <a:spcPts val="100"/>
              </a:spcAft>
            </a:pPr>
            <a:r>
              <a:rPr sz="950" b="0">
                <a:latin typeface="微软雅黑" panose="020B0503020204020204" charset="-122"/>
              </a:rPr>
              <a:t>  ② 定义噪声调度表 β₁, β₂, ..., β_T（控制每步加多少噪声）</a:t>
            </a:r>
            <a:endParaRPr sz="950" b="0">
              <a:latin typeface="微软雅黑" panose="020B0503020204020204" charset="-122"/>
            </a:endParaRPr>
          </a:p>
          <a:p>
            <a:pPr>
              <a:spcBef>
                <a:spcPts val="100"/>
              </a:spcBef>
              <a:spcAft>
                <a:spcPts val="100"/>
              </a:spcAft>
            </a:pPr>
            <a:r>
              <a:rPr sz="950" b="0">
                <a:latin typeface="微软雅黑" panose="020B0503020204020204" charset="-122"/>
              </a:rPr>
              <a:t>  ③ 逐步加噪：x_t = √ᾱ_t · x₀ + √(1-ᾱ_t) · ε              ← ε ~ N(0, I) 随机噪声</a:t>
            </a:r>
            <a:endParaRPr sz="950" b="0">
              <a:latin typeface="微软雅黑" panose="020B0503020204020204" charset="-122"/>
            </a:endParaRPr>
          </a:p>
          <a:p>
            <a:pPr>
              <a:spcBef>
                <a:spcPts val="100"/>
              </a:spcBef>
              <a:spcAft>
                <a:spcPts val="100"/>
              </a:spcAft>
            </a:pPr>
            <a:r>
              <a:rPr sz="950" b="0">
                <a:latin typeface="微软雅黑" panose="020B0503020204020204" charset="-122"/>
              </a:rPr>
              <a:t>  ④ t 越大，噪声越多 → t=T 时 x_T ≈ 纯高斯噪声              ← 轨迹信息完全被淹没</a:t>
            </a:r>
            <a:endParaRPr sz="950" b="0">
              <a:latin typeface="微软雅黑" panose="020B0503020204020204" charset="-122"/>
            </a:endParaRPr>
          </a:p>
          <a:p>
            <a:endParaRPr sz="950"/>
          </a:p>
          <a:p>
            <a:pPr>
              <a:spcBef>
                <a:spcPts val="100"/>
              </a:spcBef>
              <a:spcAft>
                <a:spcPts val="100"/>
              </a:spcAft>
            </a:pPr>
            <a:r>
              <a:rPr sz="1000" b="1">
                <a:latin typeface="微软雅黑" panose="020B0503020204020204" charset="-122"/>
              </a:rPr>
              <a:t>  反向过程（去噪 — 这才是要训练的）：</a:t>
            </a:r>
            <a:endParaRPr sz="1000" b="1">
              <a:latin typeface="微软雅黑" panose="020B0503020204020204" charset="-122"/>
            </a:endParaRPr>
          </a:p>
          <a:p>
            <a:pPr>
              <a:spcBef>
                <a:spcPts val="100"/>
              </a:spcBef>
              <a:spcAft>
                <a:spcPts val="100"/>
              </a:spcAft>
            </a:pPr>
            <a:r>
              <a:rPr sz="950" b="0">
                <a:latin typeface="微软雅黑" panose="020B0503020204020204" charset="-122"/>
              </a:rPr>
              <a:t>  ① 随机选一个时间步 t，构造加噪后的 x_t</a:t>
            </a:r>
            <a:endParaRPr sz="950" b="0">
              <a:latin typeface="微软雅黑" panose="020B0503020204020204" charset="-122"/>
            </a:endParaRPr>
          </a:p>
          <a:p>
            <a:pPr>
              <a:spcBef>
                <a:spcPts val="100"/>
              </a:spcBef>
              <a:spcAft>
                <a:spcPts val="100"/>
              </a:spcAft>
            </a:pPr>
            <a:r>
              <a:rPr sz="950" b="0">
                <a:latin typeface="微软雅黑" panose="020B0503020204020204" charset="-122"/>
              </a:rPr>
              <a:t>  ② 喂给模型：ε_θ(x_t, t) → 输出 ε̂                         ← 模型猜「加了什么噪声」</a:t>
            </a:r>
            <a:endParaRPr sz="950" b="0">
              <a:latin typeface="微软雅黑" panose="020B0503020204020204" charset="-122"/>
            </a:endParaRPr>
          </a:p>
          <a:p>
            <a:pPr>
              <a:spcBef>
                <a:spcPts val="100"/>
              </a:spcBef>
              <a:spcAft>
                <a:spcPts val="100"/>
              </a:spcAft>
            </a:pPr>
            <a:r>
              <a:rPr sz="950" b="1">
                <a:latin typeface="微软雅黑" panose="020B0503020204020204" charset="-122"/>
              </a:rPr>
              <a:t>  ③ 算 Loss = MSE( ε̂ , ε )                                   ← 猜的噪声 vs 真实噪声</a:t>
            </a:r>
            <a:endParaRPr sz="950" b="1">
              <a:latin typeface="微软雅黑" panose="020B0503020204020204" charset="-122"/>
            </a:endParaRPr>
          </a:p>
          <a:p>
            <a:endParaRPr sz="950"/>
          </a:p>
          <a:p>
            <a:pPr>
              <a:spcBef>
                <a:spcPts val="100"/>
              </a:spcBef>
              <a:spcAft>
                <a:spcPts val="100"/>
              </a:spcAft>
            </a:pPr>
            <a:r>
              <a:rPr sz="850" b="0">
                <a:latin typeface="微软雅黑" panose="020B0503020204020204" charset="-122"/>
              </a:rPr>
              <a:t>  ⚠ 和 Flow Matching 的关键区别：Diffusion 预测「噪声」，Flow Matching 预测「干净轨迹」</a:t>
            </a:r>
            <a:endParaRPr sz="850" b="0">
              <a:latin typeface="微软雅黑" panose="020B0503020204020204" charset="-122"/>
            </a:endParaRPr>
          </a:p>
          <a:p>
            <a:endParaRPr sz="850"/>
          </a:p>
          <a:p>
            <a:pPr>
              <a:spcBef>
                <a:spcPts val="100"/>
              </a:spcBef>
              <a:spcAft>
                <a:spcPts val="100"/>
              </a:spcAft>
            </a:pPr>
            <a:r>
              <a:rPr sz="1150" b="1">
                <a:latin typeface="微软雅黑" panose="020B0503020204020204" charset="-122"/>
              </a:rPr>
              <a:t>🚀 推理过程（20步去噪 — 从纯噪声一步步「擦除」出轨迹）</a:t>
            </a:r>
            <a:endParaRPr sz="1150" b="1">
              <a:latin typeface="微软雅黑" panose="020B0503020204020204" charset="-122"/>
            </a:endParaRPr>
          </a:p>
          <a:p>
            <a:endParaRPr sz="1150"/>
          </a:p>
          <a:p>
            <a:pPr>
              <a:spcBef>
                <a:spcPts val="100"/>
              </a:spcBef>
              <a:spcAft>
                <a:spcPts val="100"/>
              </a:spcAft>
            </a:pPr>
            <a:r>
              <a:rPr sz="950" b="0">
                <a:latin typeface="微软雅黑" panose="020B0503020204020204" charset="-122"/>
              </a:rPr>
              <a:t>  t=T     x_T = 纯噪声 ──→ 预测噪声 ε̂ ──→ 去掉一点 ──→ x_{T-1}    （还是一团模糊）</a:t>
            </a:r>
            <a:endParaRPr sz="950" b="0">
              <a:latin typeface="微软雅黑" panose="020B0503020204020204" charset="-122"/>
            </a:endParaRPr>
          </a:p>
          <a:p>
            <a:pPr>
              <a:spcBef>
                <a:spcPts val="100"/>
              </a:spcBef>
              <a:spcAft>
                <a:spcPts val="100"/>
              </a:spcAft>
            </a:pPr>
            <a:r>
              <a:rPr sz="950" b="0">
                <a:latin typeface="微软雅黑" panose="020B0503020204020204" charset="-122"/>
              </a:rPr>
              <a:t>  t=T-1   x_{T-1}        ──→ 预测噪声 ε̂ ──→ 去掉一点 ──→ x_{T-2}    （稍有形状）</a:t>
            </a:r>
            <a:endParaRPr sz="950" b="0">
              <a:latin typeface="微软雅黑" panose="020B0503020204020204" charset="-122"/>
            </a:endParaRPr>
          </a:p>
          <a:p>
            <a:pPr>
              <a:spcBef>
                <a:spcPts val="100"/>
              </a:spcBef>
              <a:spcAft>
                <a:spcPts val="100"/>
              </a:spcAft>
            </a:pPr>
            <a:r>
              <a:rPr sz="950" b="0">
                <a:latin typeface="微软雅黑" panose="020B0503020204020204" charset="-122"/>
              </a:rPr>
              <a:t>  ...     反复迭代 20~100 步 ...                                          （逐渐清晰）</a:t>
            </a:r>
            <a:endParaRPr sz="950" b="0">
              <a:latin typeface="微软雅黑" panose="020B0503020204020204" charset="-122"/>
            </a:endParaRPr>
          </a:p>
          <a:p>
            <a:pPr>
              <a:spcBef>
                <a:spcPts val="100"/>
              </a:spcBef>
              <a:spcAft>
                <a:spcPts val="100"/>
              </a:spcAft>
            </a:pPr>
            <a:r>
              <a:rPr sz="950" b="1">
                <a:latin typeface="微软雅黑" panose="020B0503020204020204" charset="-122"/>
              </a:rPr>
              <a:t>  t=1     x₁               ──→ 预测噪声 ε̂ ──→ 去掉最后噪声 ──→ x₀ = 最终轨迹 ✓</a:t>
            </a:r>
            <a:endParaRPr sz="950" b="1">
              <a:latin typeface="微软雅黑" panose="020B0503020204020204" charset="-122"/>
            </a:endParaRPr>
          </a:p>
          <a:p>
            <a:endParaRPr sz="950"/>
          </a:p>
          <a:p>
            <a:pPr>
              <a:spcBef>
                <a:spcPts val="100"/>
              </a:spcBef>
              <a:spcAft>
                <a:spcPts val="100"/>
              </a:spcAft>
            </a:pPr>
            <a:r>
              <a:rPr sz="950" b="0">
                <a:latin typeface="微软雅黑" panose="020B0503020204020204" charset="-122"/>
              </a:rPr>
              <a:t>  每步去一点噪声，需要 20~100 步 → 推理延迟 ~100ms → 对实时驾驶来说太慢 ✗</a:t>
            </a:r>
            <a:endParaRPr sz="950" b="0">
              <a:latin typeface="微软雅黑" panose="020B0503020204020204" charset="-122"/>
            </a:endParaRPr>
          </a:p>
          <a:p>
            <a:endParaRPr sz="950"/>
          </a:p>
          <a:p>
            <a:pPr>
              <a:spcBef>
                <a:spcPts val="100"/>
              </a:spcBef>
              <a:spcAft>
                <a:spcPts val="100"/>
              </a:spcAft>
            </a:pPr>
            <a:r>
              <a:rPr sz="950" b="0">
                <a:latin typeface="微软雅黑" panose="020B0503020204020204" charset="-122"/>
              </a:rPr>
              <a:t>  思路：「少加噪、少去噪」— 牺牲少量生成多样性，换取大幅推理加速</a:t>
            </a:r>
            <a:endParaRPr sz="950" b="0">
              <a:latin typeface="微软雅黑" panose="020B0503020204020204" charset="-122"/>
            </a:endParaRPr>
          </a:p>
          <a:p>
            <a:endParaRPr sz="950"/>
          </a:p>
          <a:p>
            <a:pPr>
              <a:spcBef>
                <a:spcPts val="100"/>
              </a:spcBef>
              <a:spcAft>
                <a:spcPts val="100"/>
              </a:spcAft>
            </a:pPr>
            <a:r>
              <a:rPr sz="1050" b="1">
                <a:latin typeface="微软雅黑" panose="020B0503020204020204" charset="-122"/>
              </a:rPr>
              <a:t>加噪 = 逐步毁掉轨迹  |  去噪 = 逐步修复轨迹  |  路径弯曲 → 步数多 → 推理慢（核心瓶颈</a:t>
            </a:r>
            <a:r>
              <a:rPr sz="1050" b="1">
                <a:latin typeface="微软雅黑" panose="020B0503020204020204" charset="-122"/>
              </a:rPr>
              <a:t>）</a:t>
            </a:r>
            <a:endParaRPr sz="1050" b="1">
              <a:latin typeface="微软雅黑" panose="020B0503020204020204" charset="-122"/>
            </a:endParaRPr>
          </a:p>
        </p:txBody>
      </p:sp>
      <p:sp>
        <p:nvSpPr>
          <p:cNvPr id="5" name="文本框 4"/>
          <p:cNvSpPr txBox="1"/>
          <p:nvPr/>
        </p:nvSpPr>
        <p:spPr>
          <a:xfrm>
            <a:off x="5305425" y="1778635"/>
            <a:ext cx="3238500" cy="1798320"/>
          </a:xfrm>
          <a:prstGeom prst="rect">
            <a:avLst/>
          </a:prstGeom>
          <a:noFill/>
        </p:spPr>
        <p:txBody>
          <a:bodyPr wrap="square" lIns="0" tIns="0" rIns="0" bIns="0" rtlCol="0">
            <a:noAutofit/>
          </a:bodyPr>
          <a:p>
            <a:pPr marR="0" algn="l" defTabSz="914400" eaLnBrk="1" fontAlgn="auto" latinLnBrk="0" hangingPunct="1">
              <a:spcBef>
                <a:spcPts val="500"/>
              </a:spcBef>
              <a:spcAft>
                <a:spcPts val="0"/>
              </a:spcAft>
              <a:buClrTx/>
              <a:buSzTx/>
              <a:buFontTx/>
              <a:buNone/>
            </a:pPr>
            <a:endParaRPr kumimoji="0" lang="zh-CN" altLang="en-US" sz="1800" b="0" i="0" u="none" strike="noStrike" kern="0" cap="none" spc="0" normalizeH="0" baseline="0" noProof="0" smtClean="0">
              <a:ln>
                <a:noFill/>
              </a:ln>
              <a:solidFill>
                <a:srgbClr val="000000"/>
              </a:solidFill>
              <a:effectLst/>
              <a:uLnTx/>
              <a:uFillTx/>
            </a:endParaRPr>
          </a:p>
        </p:txBody>
      </p:sp>
      <p:sp>
        <p:nvSpPr>
          <p:cNvPr id="6" name="文本框 5"/>
          <p:cNvSpPr txBox="1"/>
          <p:nvPr/>
        </p:nvSpPr>
        <p:spPr>
          <a:xfrm>
            <a:off x="4371975" y="1155065"/>
            <a:ext cx="5486400" cy="918210"/>
          </a:xfrm>
          <a:prstGeom prst="rect">
            <a:avLst/>
          </a:prstGeom>
          <a:noFill/>
        </p:spPr>
        <p:txBody>
          <a:bodyPr wrap="square" lIns="0" tIns="0" rIns="0" bIns="0" rtlCol="0" anchor="t">
            <a:spAutoFit/>
          </a:bodyPr>
          <a:p>
            <a:pPr>
              <a:spcBef>
                <a:spcPts val="100"/>
              </a:spcBef>
              <a:spcAft>
                <a:spcPts val="100"/>
              </a:spcAft>
            </a:pPr>
            <a:r>
              <a:rPr sz="1150" b="1">
                <a:latin typeface="微软雅黑" panose="020B0503020204020204" charset="-122"/>
                <a:sym typeface="+mn-ea"/>
              </a:rPr>
              <a:t>⚡ 变体 — Truncated Diffusion（地平线 HSD 技术）</a:t>
            </a:r>
            <a:endParaRPr sz="1150" b="1">
              <a:solidFill>
                <a:srgbClr val="2980B9"/>
              </a:solidFill>
              <a:latin typeface="微软雅黑" panose="020B0503020204020204" charset="-122"/>
            </a:endParaRPr>
          </a:p>
          <a:p>
            <a:pPr marR="0" algn="l" defTabSz="914400" eaLnBrk="1" fontAlgn="auto" latinLnBrk="0" hangingPunct="1">
              <a:spcBef>
                <a:spcPts val="500"/>
              </a:spcBef>
              <a:spcAft>
                <a:spcPts val="0"/>
              </a:spcAft>
              <a:buClrTx/>
              <a:buSzTx/>
              <a:buFontTx/>
              <a:buNone/>
            </a:pPr>
            <a:endParaRPr sz="1150"/>
          </a:p>
          <a:p>
            <a:pPr>
              <a:spcBef>
                <a:spcPts val="100"/>
              </a:spcBef>
              <a:spcAft>
                <a:spcPts val="100"/>
              </a:spcAft>
            </a:pPr>
            <a:r>
              <a:rPr sz="950">
                <a:latin typeface="微软雅黑" panose="020B0503020204020204" charset="-122"/>
                <a:sym typeface="+mn-ea"/>
              </a:rPr>
              <a:t>  核心改进：不从纯噪声出发，而是从「专家轨迹 + 少量噪声」的中间状态开始去噪</a:t>
            </a:r>
            <a:endParaRPr sz="950" b="0">
              <a:latin typeface="微软雅黑" panose="020B0503020204020204" charset="-122"/>
            </a:endParaRPr>
          </a:p>
          <a:p>
            <a:pPr>
              <a:spcBef>
                <a:spcPts val="100"/>
              </a:spcBef>
              <a:spcAft>
                <a:spcPts val="100"/>
              </a:spcAft>
            </a:pPr>
            <a:r>
              <a:rPr sz="900">
                <a:latin typeface="微软雅黑" panose="020B0503020204020204" charset="-122"/>
                <a:sym typeface="+mn-ea"/>
              </a:rPr>
              <a:t>  标准 Diffusion:     纯噪声 ━━━━━━━━━━━━━━━━━━━ 20步去噪 ━━━━━━━&gt; 轨迹</a:t>
            </a:r>
            <a:endParaRPr sz="900" b="0">
              <a:solidFill>
                <a:srgbClr val="888888"/>
              </a:solidFill>
              <a:latin typeface="微软雅黑" panose="020B0503020204020204" charset="-122"/>
            </a:endParaRPr>
          </a:p>
          <a:p>
            <a:pPr>
              <a:spcBef>
                <a:spcPts val="100"/>
              </a:spcBef>
              <a:spcAft>
                <a:spcPts val="100"/>
              </a:spcAft>
            </a:pPr>
            <a:r>
              <a:rPr sz="900" b="1">
                <a:latin typeface="微软雅黑" panose="020B0503020204020204" charset="-122"/>
                <a:sym typeface="+mn-ea"/>
              </a:rPr>
              <a:t>  Truncated:          专家轨迹+少量噪声 ━━━━ 3~5步去噪 ━━━━&gt; 轨迹              ← 快 4~6 倍</a:t>
            </a:r>
            <a:endParaRPr kumimoji="0" lang="zh-CN" altLang="en-US" sz="900" b="1" i="0" u="none" strike="noStrike" kern="0" cap="none" spc="0" normalizeH="0" baseline="0" noProof="0" smtClean="0">
              <a:ln>
                <a:noFill/>
              </a:ln>
              <a:solidFill>
                <a:srgbClr val="2980B9"/>
              </a:solidFill>
              <a:effectLst/>
              <a:uLnTx/>
              <a:uFillTx/>
              <a:latin typeface="微软雅黑" panose="020B0503020204020204" charset="-122"/>
              <a:sym typeface="+mn-e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80000" y="108000"/>
            <a:ext cx="4320000" cy="288000"/>
          </a:xfrm>
          <a:prstGeom prst="rect">
            <a:avLst/>
          </a:prstGeom>
          <a:noFill/>
        </p:spPr>
        <p:txBody>
          <a:bodyPr wrap="square">
            <a:spAutoFit/>
          </a:bodyPr>
          <a:lstStyle/>
          <a:p>
            <a:r>
              <a:rPr sz="1200" b="1">
                <a:latin typeface="Microsoft YaHei UI" panose="020B0503020204020204" charset="-122"/>
              </a:rPr>
              <a:t>附录D：Flow Matching 训练与推理全流程</a:t>
            </a:r>
            <a:endParaRPr sz="1200" b="1">
              <a:latin typeface="微软雅黑" panose="020B0503020204020204" charset="-122"/>
            </a:endParaRPr>
          </a:p>
        </p:txBody>
      </p:sp>
      <p:sp>
        <p:nvSpPr>
          <p:cNvPr id="3" name="TextBox 2"/>
          <p:cNvSpPr txBox="1"/>
          <p:nvPr/>
        </p:nvSpPr>
        <p:spPr>
          <a:xfrm>
            <a:off x="180000" y="360000"/>
            <a:ext cx="8640000" cy="432000"/>
          </a:xfrm>
          <a:prstGeom prst="rect">
            <a:avLst/>
          </a:prstGeom>
          <a:noFill/>
        </p:spPr>
        <p:txBody>
          <a:bodyPr wrap="square">
            <a:spAutoFit/>
          </a:bodyPr>
          <a:lstStyle/>
          <a:p>
            <a:r>
              <a:rPr sz="2000" b="1">
                <a:latin typeface="微软雅黑" panose="020B0503020204020204" charset="-122"/>
              </a:rPr>
              <a:t>Flow Matching 训练与推理：z 和 t 的作用</a:t>
            </a:r>
            <a:endParaRPr sz="2000" b="1">
              <a:latin typeface="微软雅黑" panose="020B0503020204020204" charset="-122"/>
            </a:endParaRPr>
          </a:p>
        </p:txBody>
      </p:sp>
      <p:sp>
        <p:nvSpPr>
          <p:cNvPr id="4" name="TextBox 3"/>
          <p:cNvSpPr txBox="1"/>
          <p:nvPr/>
        </p:nvSpPr>
        <p:spPr>
          <a:xfrm>
            <a:off x="288000" y="900000"/>
            <a:ext cx="8640000" cy="4194810"/>
          </a:xfrm>
          <a:prstGeom prst="rect">
            <a:avLst/>
          </a:prstGeom>
          <a:noFill/>
        </p:spPr>
        <p:txBody>
          <a:bodyPr wrap="square">
            <a:spAutoFit/>
          </a:bodyPr>
          <a:lstStyle/>
          <a:p>
            <a:pPr>
              <a:spcBef>
                <a:spcPts val="100"/>
              </a:spcBef>
              <a:spcAft>
                <a:spcPts val="100"/>
              </a:spcAft>
            </a:pPr>
            <a:r>
              <a:rPr sz="1200" b="1">
                <a:latin typeface="微软雅黑" panose="020B0503020204020204" charset="-122"/>
              </a:rPr>
              <a:t>一句话理解：给模型看一条被噪声糊住的轨迹，让它猜原本是什么样</a:t>
            </a:r>
            <a:endParaRPr sz="1200" b="1">
              <a:latin typeface="微软雅黑" panose="020B0503020204020204" charset="-122"/>
            </a:endParaRPr>
          </a:p>
          <a:p>
            <a:endParaRPr sz="1200"/>
          </a:p>
          <a:p>
            <a:pPr>
              <a:spcBef>
                <a:spcPts val="100"/>
              </a:spcBef>
              <a:spcAft>
                <a:spcPts val="100"/>
              </a:spcAft>
            </a:pPr>
            <a:r>
              <a:rPr sz="1150" b="1">
                <a:latin typeface="微软雅黑" panose="020B0503020204020204" charset="-122"/>
              </a:rPr>
              <a:t>📚 训练过程（一次 training step）</a:t>
            </a:r>
            <a:endParaRPr sz="1150" b="1">
              <a:latin typeface="微软雅黑" panose="020B0503020204020204" charset="-122"/>
            </a:endParaRPr>
          </a:p>
          <a:p>
            <a:endParaRPr sz="1150"/>
          </a:p>
          <a:p>
            <a:pPr>
              <a:spcBef>
                <a:spcPts val="100"/>
              </a:spcBef>
              <a:spcAft>
                <a:spcPts val="100"/>
              </a:spcAft>
            </a:pPr>
            <a:r>
              <a:rPr sz="950" b="0">
                <a:latin typeface="微软雅黑" panose="020B0503020204020204" charset="-122"/>
              </a:rPr>
              <a:t>  ① 准备真实轨迹 x₁ = GT轨迹（80帧 × 4维: x, y, heading, speed）</a:t>
            </a:r>
            <a:endParaRPr sz="950" b="0">
              <a:latin typeface="微软雅黑" panose="020B0503020204020204" charset="-122"/>
            </a:endParaRPr>
          </a:p>
          <a:p>
            <a:pPr>
              <a:spcBef>
                <a:spcPts val="100"/>
              </a:spcBef>
              <a:spcAft>
                <a:spcPts val="100"/>
              </a:spcAft>
            </a:pPr>
            <a:r>
              <a:rPr sz="950" b="0">
                <a:latin typeface="微软雅黑" panose="020B0503020204020204" charset="-122"/>
              </a:rPr>
              <a:t>  ② 随机采噪声 x₀ ~ N(0, I)                                         </a:t>
            </a:r>
            <a:r>
              <a:rPr lang="en-US" sz="950" b="0">
                <a:latin typeface="微软雅黑" panose="020B0503020204020204" charset="-122"/>
              </a:rPr>
              <a:t>      </a:t>
            </a:r>
            <a:r>
              <a:rPr sz="950" b="0">
                <a:latin typeface="微软雅黑" panose="020B0503020204020204" charset="-122"/>
              </a:rPr>
              <a:t> ← 和 x₁ 同形状的随机向量</a:t>
            </a:r>
            <a:endParaRPr sz="950" b="0">
              <a:latin typeface="微软雅黑" panose="020B0503020204020204" charset="-122"/>
            </a:endParaRPr>
          </a:p>
          <a:p>
            <a:pPr>
              <a:spcBef>
                <a:spcPts val="100"/>
              </a:spcBef>
              <a:spcAft>
                <a:spcPts val="100"/>
              </a:spcAft>
            </a:pPr>
            <a:r>
              <a:rPr sz="950" b="0">
                <a:latin typeface="微软雅黑" panose="020B0503020204020204" charset="-122"/>
              </a:rPr>
              <a:t>  ③ 随机选进度 t ~ U(0, 1)                                            </a:t>
            </a:r>
            <a:r>
              <a:rPr lang="en-US" sz="950" b="0">
                <a:latin typeface="微软雅黑" panose="020B0503020204020204" charset="-122"/>
              </a:rPr>
              <a:t>       </a:t>
            </a:r>
            <a:r>
              <a:rPr sz="950" b="0">
                <a:latin typeface="微软雅黑" panose="020B0503020204020204" charset="-122"/>
              </a:rPr>
              <a:t>← 比如 t = 0.3</a:t>
            </a:r>
            <a:endParaRPr sz="950" b="0">
              <a:latin typeface="微软雅黑" panose="020B0503020204020204" charset="-122"/>
            </a:endParaRPr>
          </a:p>
          <a:p>
            <a:pPr>
              <a:spcBef>
                <a:spcPts val="100"/>
              </a:spcBef>
              <a:spcAft>
                <a:spcPts val="100"/>
              </a:spcAft>
            </a:pPr>
            <a:r>
              <a:rPr sz="950" b="0">
                <a:latin typeface="微软雅黑" panose="020B0503020204020204" charset="-122"/>
              </a:rPr>
              <a:t>  ④ 做线性插值，构造「模糊的半成品」：</a:t>
            </a:r>
            <a:endParaRPr sz="950" b="0">
              <a:latin typeface="微软雅黑" panose="020B0503020204020204" charset="-122"/>
            </a:endParaRPr>
          </a:p>
          <a:p>
            <a:pPr>
              <a:spcBef>
                <a:spcPts val="100"/>
              </a:spcBef>
              <a:spcAft>
                <a:spcPts val="100"/>
              </a:spcAft>
            </a:pPr>
            <a:r>
              <a:rPr sz="950" b="0">
                <a:latin typeface="微软雅黑" panose="020B0503020204020204" charset="-122"/>
              </a:rPr>
              <a:t>        x_t = (1-t) · x₀ + t · x₁ = 0.7 × 噪声 + 0.3 × GT        ← 30%真实 + 70%噪声</a:t>
            </a:r>
            <a:endParaRPr sz="950" b="0">
              <a:latin typeface="微软雅黑" panose="020B0503020204020204" charset="-122"/>
            </a:endParaRPr>
          </a:p>
          <a:p>
            <a:pPr>
              <a:spcBef>
                <a:spcPts val="100"/>
              </a:spcBef>
              <a:spcAft>
                <a:spcPts val="100"/>
              </a:spcAft>
            </a:pPr>
            <a:r>
              <a:rPr sz="950" b="0">
                <a:latin typeface="微软雅黑" panose="020B0503020204020204" charset="-122"/>
              </a:rPr>
              <a:t>  ⑤ 喂给模型：model(x_t, t, 场景编码) → 输出 x̂₁              ← 模型猜「干净轨迹长什么样」</a:t>
            </a:r>
            <a:endParaRPr sz="950" b="0">
              <a:latin typeface="微软雅黑" panose="020B0503020204020204" charset="-122"/>
            </a:endParaRPr>
          </a:p>
          <a:p>
            <a:pPr>
              <a:spcBef>
                <a:spcPts val="100"/>
              </a:spcBef>
              <a:spcAft>
                <a:spcPts val="100"/>
              </a:spcAft>
            </a:pPr>
            <a:r>
              <a:rPr sz="950">
                <a:latin typeface="微软雅黑" panose="020B0503020204020204" charset="-122"/>
              </a:rPr>
              <a:t>  ⑥ 算 Loss = MSE( x̂₁ , x₁ )                                          ← 猜的结果 vs 真实 GT</a:t>
            </a:r>
            <a:endParaRPr sz="950">
              <a:latin typeface="微软雅黑" panose="020B0503020204020204" charset="-122"/>
            </a:endParaRPr>
          </a:p>
          <a:p>
            <a:endParaRPr sz="950"/>
          </a:p>
          <a:p>
            <a:pPr>
              <a:spcBef>
                <a:spcPts val="100"/>
              </a:spcBef>
              <a:spcAft>
                <a:spcPts val="100"/>
              </a:spcAft>
            </a:pPr>
            <a:r>
              <a:rPr sz="850" b="0">
                <a:latin typeface="微软雅黑" panose="020B0503020204020204" charset="-122"/>
              </a:rPr>
              <a:t>  ⚠ Flow Planner 用 x_start 模式 — 直接预测干净轨迹，不是预测速度/噪声</a:t>
            </a:r>
            <a:endParaRPr sz="850" b="0">
              <a:latin typeface="微软雅黑" panose="020B0503020204020204" charset="-122"/>
            </a:endParaRPr>
          </a:p>
          <a:p>
            <a:endParaRPr sz="850"/>
          </a:p>
          <a:p>
            <a:pPr>
              <a:spcBef>
                <a:spcPts val="100"/>
              </a:spcBef>
              <a:spcAft>
                <a:spcPts val="100"/>
              </a:spcAft>
            </a:pPr>
            <a:r>
              <a:rPr sz="1150" b="1">
                <a:latin typeface="微软雅黑" panose="020B0503020204020204" charset="-122"/>
              </a:rPr>
              <a:t>🚀 推理过程（4步 ODE — 没有 GT，模型自己从噪声「走」出轨迹）</a:t>
            </a:r>
            <a:endParaRPr sz="1150" b="1">
              <a:latin typeface="微软雅黑" panose="020B0503020204020204" charset="-122"/>
            </a:endParaRPr>
          </a:p>
          <a:p>
            <a:endParaRPr sz="1150"/>
          </a:p>
          <a:p>
            <a:pPr>
              <a:spcBef>
                <a:spcPts val="100"/>
              </a:spcBef>
              <a:spcAft>
                <a:spcPts val="100"/>
              </a:spcAft>
            </a:pPr>
            <a:r>
              <a:rPr sz="950" b="0">
                <a:latin typeface="微软雅黑" panose="020B0503020204020204" charset="-122"/>
              </a:rPr>
              <a:t>  t=0.00   x₀ = 纯噪声  ──→  模型预测速度 v₀  ──→  x₀.₂₅ = x₀ + 0.25 × v₀</a:t>
            </a:r>
            <a:endParaRPr sz="950" b="0">
              <a:latin typeface="微软雅黑" panose="020B0503020204020204" charset="-122"/>
            </a:endParaRPr>
          </a:p>
          <a:p>
            <a:pPr>
              <a:spcBef>
                <a:spcPts val="100"/>
              </a:spcBef>
              <a:spcAft>
                <a:spcPts val="100"/>
              </a:spcAft>
            </a:pPr>
            <a:r>
              <a:rPr sz="950" b="0">
                <a:latin typeface="微软雅黑" panose="020B0503020204020204" charset="-122"/>
              </a:rPr>
              <a:t>  t=0.25   x₀.₂₅          ──→  模型预测速度 v₁  ──→  x₀.₅₀ = x₀.₂₅ + 0.25 × v₁</a:t>
            </a:r>
            <a:endParaRPr sz="950" b="0">
              <a:latin typeface="微软雅黑" panose="020B0503020204020204" charset="-122"/>
            </a:endParaRPr>
          </a:p>
          <a:p>
            <a:pPr>
              <a:spcBef>
                <a:spcPts val="100"/>
              </a:spcBef>
              <a:spcAft>
                <a:spcPts val="100"/>
              </a:spcAft>
            </a:pPr>
            <a:r>
              <a:rPr sz="950" b="0">
                <a:latin typeface="微软雅黑" panose="020B0503020204020204" charset="-122"/>
              </a:rPr>
              <a:t>  t=0.50   x₀.₅₀          ──→  模型预测速度 v₂  ──→  x₀.₇₅ = x₀.₅₀ + 0.25 × v₂</a:t>
            </a:r>
            <a:endParaRPr sz="950" b="0">
              <a:latin typeface="微软雅黑" panose="020B0503020204020204" charset="-122"/>
            </a:endParaRPr>
          </a:p>
          <a:p>
            <a:pPr>
              <a:spcBef>
                <a:spcPts val="100"/>
              </a:spcBef>
              <a:spcAft>
                <a:spcPts val="100"/>
              </a:spcAft>
            </a:pPr>
            <a:r>
              <a:rPr sz="950" b="1">
                <a:latin typeface="微软雅黑" panose="020B0503020204020204" charset="-122"/>
              </a:rPr>
              <a:t>  t=0.75   x₀.₇₅          ──→  模型预测速度 v₃  ──→  x₁.₀₀ = 最终轨迹 ✓</a:t>
            </a:r>
            <a:endParaRPr sz="950" b="1">
              <a:latin typeface="微软雅黑" panose="020B0503020204020204" charset="-122"/>
            </a:endParaRPr>
          </a:p>
          <a:p>
            <a:endParaRPr sz="950"/>
          </a:p>
          <a:p>
            <a:pPr>
              <a:spcBef>
                <a:spcPts val="100"/>
              </a:spcBef>
              <a:spcAft>
                <a:spcPts val="100"/>
              </a:spcAft>
            </a:pPr>
            <a:r>
              <a:rPr sz="950" b="0">
                <a:latin typeface="微软雅黑" panose="020B0503020204020204" charset="-122"/>
              </a:rPr>
              <a:t>  每步调用一次模型，共 4 次前向传播 → 推理延迟 ~20ms → 满足实时驾驶要求</a:t>
            </a:r>
            <a:endParaRPr sz="950" b="0">
              <a:latin typeface="微软雅黑" panose="020B0503020204020204" charset="-122"/>
            </a:endParaRPr>
          </a:p>
          <a:p>
            <a:endParaRPr sz="950"/>
          </a:p>
          <a:p>
            <a:pPr>
              <a:spcBef>
                <a:spcPts val="100"/>
              </a:spcBef>
              <a:spcAft>
                <a:spcPts val="100"/>
              </a:spcAft>
            </a:pPr>
            <a:r>
              <a:rPr lang="en-US" sz="1050" b="1">
                <a:latin typeface="微软雅黑" panose="020B0503020204020204" charset="-122"/>
              </a:rPr>
              <a:t> </a:t>
            </a:r>
            <a:endParaRPr lang="en-US" sz="1050" b="1">
              <a:latin typeface="微软雅黑" panose="020B0503020204020204" charset="-122"/>
            </a:endParaRPr>
          </a:p>
        </p:txBody>
      </p:sp>
      <p:sp>
        <p:nvSpPr>
          <p:cNvPr id="5" name="文本框 4"/>
          <p:cNvSpPr txBox="1"/>
          <p:nvPr/>
        </p:nvSpPr>
        <p:spPr>
          <a:xfrm>
            <a:off x="5586730" y="1639570"/>
            <a:ext cx="5573395" cy="2302510"/>
          </a:xfrm>
          <a:prstGeom prst="rect">
            <a:avLst/>
          </a:prstGeom>
          <a:noFill/>
        </p:spPr>
        <p:txBody>
          <a:bodyPr wrap="square" lIns="0" tIns="0" rIns="0" bIns="0" rtlCol="0">
            <a:noAutofit/>
          </a:bodyPr>
          <a:p>
            <a:pPr>
              <a:spcBef>
                <a:spcPts val="100"/>
              </a:spcBef>
              <a:spcAft>
                <a:spcPts val="100"/>
              </a:spcAft>
            </a:pPr>
            <a:r>
              <a:rPr sz="1800" b="1">
                <a:latin typeface="微软雅黑" panose="020B0503020204020204" charset="-122"/>
                <a:sym typeface="+mn-ea"/>
              </a:rPr>
              <a:t>📊 训练 vs 推理 对比</a:t>
            </a:r>
            <a:endParaRPr sz="1800" b="1">
              <a:latin typeface="微软雅黑" panose="020B0503020204020204" charset="-122"/>
            </a:endParaRPr>
          </a:p>
          <a:p>
            <a:pPr marR="0" algn="l" defTabSz="914400" eaLnBrk="1" fontAlgn="auto" latinLnBrk="0" hangingPunct="1">
              <a:spcBef>
                <a:spcPts val="500"/>
              </a:spcBef>
              <a:spcAft>
                <a:spcPts val="0"/>
              </a:spcAft>
              <a:buClrTx/>
              <a:buSzTx/>
              <a:buFontTx/>
              <a:buNone/>
            </a:pPr>
            <a:endParaRPr sz="1800"/>
          </a:p>
          <a:p>
            <a:pPr>
              <a:spcBef>
                <a:spcPts val="100"/>
              </a:spcBef>
              <a:spcAft>
                <a:spcPts val="100"/>
              </a:spcAft>
            </a:pPr>
            <a:r>
              <a:rPr sz="950">
                <a:latin typeface="微软雅黑" panose="020B0503020204020204" charset="-122"/>
                <a:sym typeface="+mn-ea"/>
              </a:rPr>
              <a:t>  概念            </a:t>
            </a:r>
            <a:r>
              <a:rPr lang="en-US" sz="950">
                <a:latin typeface="微软雅黑" panose="020B0503020204020204" charset="-122"/>
                <a:sym typeface="+mn-ea"/>
              </a:rPr>
              <a:t>	</a:t>
            </a:r>
            <a:r>
              <a:rPr sz="950">
                <a:latin typeface="微软雅黑" panose="020B0503020204020204" charset="-122"/>
                <a:sym typeface="+mn-ea"/>
              </a:rPr>
              <a:t>训练时                                     </a:t>
            </a:r>
            <a:r>
              <a:rPr lang="en-US" sz="950">
                <a:latin typeface="微软雅黑" panose="020B0503020204020204" charset="-122"/>
                <a:sym typeface="+mn-ea"/>
              </a:rPr>
              <a:t>               	</a:t>
            </a:r>
            <a:r>
              <a:rPr sz="950">
                <a:latin typeface="微软雅黑" panose="020B0503020204020204" charset="-122"/>
                <a:sym typeface="+mn-ea"/>
              </a:rPr>
              <a:t>推理时</a:t>
            </a:r>
            <a:endParaRPr sz="950">
              <a:latin typeface="微软雅黑" panose="020B0503020204020204" charset="-122"/>
            </a:endParaRPr>
          </a:p>
          <a:p>
            <a:pPr>
              <a:spcBef>
                <a:spcPts val="100"/>
              </a:spcBef>
              <a:spcAft>
                <a:spcPts val="100"/>
              </a:spcAft>
            </a:pPr>
            <a:r>
              <a:rPr sz="950">
                <a:latin typeface="微软雅黑" panose="020B0503020204020204" charset="-122"/>
                <a:sym typeface="+mn-ea"/>
              </a:rPr>
              <a:t>  ────────────────────────────────────────────────</a:t>
            </a:r>
            <a:r>
              <a:rPr sz="950">
                <a:latin typeface="微软雅黑" panose="020B0503020204020204" charset="-122"/>
                <a:sym typeface="+mn-ea"/>
              </a:rPr>
              <a:t>──────</a:t>
            </a:r>
            <a:r>
              <a:rPr lang="en-US" sz="950">
                <a:latin typeface="微软雅黑" panose="020B0503020204020204" charset="-122"/>
                <a:sym typeface="+mn-ea"/>
              </a:rPr>
              <a:t> </a:t>
            </a:r>
            <a:r>
              <a:rPr sz="950">
                <a:latin typeface="微软雅黑" panose="020B0503020204020204" charset="-122"/>
                <a:sym typeface="+mn-ea"/>
              </a:rPr>
              <a:t>──────</a:t>
            </a:r>
            <a:r>
              <a:rPr lang="en-US" sz="950">
                <a:latin typeface="微软雅黑" panose="020B0503020204020204" charset="-122"/>
                <a:sym typeface="+mn-ea"/>
              </a:rPr>
              <a:t> </a:t>
            </a:r>
            <a:r>
              <a:rPr lang="en-US" sz="950">
                <a:latin typeface="微软雅黑" panose="020B0503020204020204" charset="-122"/>
                <a:sym typeface="+mn-ea"/>
              </a:rPr>
              <a:t> </a:t>
            </a:r>
            <a:endParaRPr sz="950" b="0">
              <a:latin typeface="微软雅黑" panose="020B0503020204020204" charset="-122"/>
            </a:endParaRPr>
          </a:p>
          <a:p>
            <a:pPr>
              <a:spcBef>
                <a:spcPts val="100"/>
              </a:spcBef>
              <a:spcAft>
                <a:spcPts val="100"/>
              </a:spcAft>
            </a:pPr>
            <a:r>
              <a:rPr sz="950">
                <a:latin typeface="微软雅黑" panose="020B0503020204020204" charset="-122"/>
                <a:sym typeface="+mn-ea"/>
              </a:rPr>
              <a:t>  t（进度）       </a:t>
            </a:r>
            <a:r>
              <a:rPr lang="en-US" sz="950">
                <a:latin typeface="微软雅黑" panose="020B0503020204020204" charset="-122"/>
                <a:sym typeface="+mn-ea"/>
              </a:rPr>
              <a:t> </a:t>
            </a:r>
            <a:r>
              <a:rPr sz="950">
                <a:latin typeface="微软雅黑" panose="020B0503020204020204" charset="-122"/>
                <a:sym typeface="+mn-ea"/>
              </a:rPr>
              <a:t>随机采样 ∈ [0,1]                          </a:t>
            </a:r>
            <a:r>
              <a:rPr lang="en-US" sz="950">
                <a:latin typeface="微软雅黑" panose="020B0503020204020204" charset="-122"/>
                <a:sym typeface="+mn-ea"/>
              </a:rPr>
              <a:t>		</a:t>
            </a:r>
            <a:r>
              <a:rPr sz="950">
                <a:latin typeface="微软雅黑" panose="020B0503020204020204" charset="-122"/>
                <a:sym typeface="+mn-ea"/>
              </a:rPr>
              <a:t>固定 4 步: 0, 0.25, 0.5, 0.75</a:t>
            </a:r>
            <a:endParaRPr sz="950" b="0">
              <a:latin typeface="微软雅黑" panose="020B0503020204020204" charset="-122"/>
            </a:endParaRPr>
          </a:p>
          <a:p>
            <a:pPr>
              <a:spcBef>
                <a:spcPts val="100"/>
              </a:spcBef>
              <a:spcAft>
                <a:spcPts val="100"/>
              </a:spcAft>
            </a:pPr>
            <a:r>
              <a:rPr sz="950">
                <a:latin typeface="微软雅黑" panose="020B0503020204020204" charset="-122"/>
                <a:sym typeface="+mn-ea"/>
              </a:rPr>
              <a:t>  输入            </a:t>
            </a:r>
            <a:r>
              <a:rPr lang="en-US" sz="950">
                <a:latin typeface="微软雅黑" panose="020B0503020204020204" charset="-122"/>
                <a:sym typeface="+mn-ea"/>
              </a:rPr>
              <a:t>   </a:t>
            </a:r>
            <a:r>
              <a:rPr sz="950">
                <a:latin typeface="微软雅黑" panose="020B0503020204020204" charset="-122"/>
                <a:sym typeface="+mn-ea"/>
              </a:rPr>
              <a:t> x_t = (1-t)·噪声 + t·GT（半成品）       </a:t>
            </a:r>
            <a:r>
              <a:rPr lang="en-US" sz="950">
                <a:latin typeface="微软雅黑" panose="020B0503020204020204" charset="-122"/>
                <a:sym typeface="+mn-ea"/>
              </a:rPr>
              <a:t>	</a:t>
            </a:r>
            <a:r>
              <a:rPr sz="950">
                <a:latin typeface="微软雅黑" panose="020B0503020204020204" charset="-122"/>
                <a:sym typeface="+mn-ea"/>
              </a:rPr>
              <a:t> 上一步 ODE 的输出</a:t>
            </a:r>
            <a:endParaRPr sz="950" b="0">
              <a:latin typeface="微软雅黑" panose="020B0503020204020204" charset="-122"/>
            </a:endParaRPr>
          </a:p>
          <a:p>
            <a:pPr>
              <a:spcBef>
                <a:spcPts val="100"/>
              </a:spcBef>
              <a:spcAft>
                <a:spcPts val="100"/>
              </a:spcAft>
            </a:pPr>
            <a:r>
              <a:rPr sz="950">
                <a:latin typeface="微软雅黑" panose="020B0503020204020204" charset="-122"/>
                <a:sym typeface="+mn-ea"/>
              </a:rPr>
              <a:t>  模型输出      </a:t>
            </a:r>
            <a:r>
              <a:rPr lang="en-US" sz="950">
                <a:latin typeface="微软雅黑" panose="020B0503020204020204" charset="-122"/>
                <a:sym typeface="+mn-ea"/>
              </a:rPr>
              <a:t>  </a:t>
            </a:r>
            <a:r>
              <a:rPr sz="950">
                <a:latin typeface="微软雅黑" panose="020B0503020204020204" charset="-122"/>
                <a:sym typeface="+mn-ea"/>
              </a:rPr>
              <a:t> x̂₁（猜干净轨迹）→ 和 GT 算 Loss         </a:t>
            </a:r>
            <a:r>
              <a:rPr lang="en-US" sz="950">
                <a:latin typeface="微软雅黑" panose="020B0503020204020204" charset="-122"/>
                <a:sym typeface="+mn-ea"/>
              </a:rPr>
              <a:t>	</a:t>
            </a:r>
            <a:r>
              <a:rPr sz="950">
                <a:latin typeface="微软雅黑" panose="020B0503020204020204" charset="-122"/>
                <a:sym typeface="+mn-ea"/>
              </a:rPr>
              <a:t> v（速度方向）→ 走一小步</a:t>
            </a:r>
            <a:endParaRPr sz="950" b="0">
              <a:latin typeface="微软雅黑" panose="020B0503020204020204" charset="-122"/>
            </a:endParaRPr>
          </a:p>
          <a:p>
            <a:pPr>
              <a:spcBef>
                <a:spcPts val="100"/>
              </a:spcBef>
              <a:spcAft>
                <a:spcPts val="100"/>
              </a:spcAft>
            </a:pPr>
            <a:r>
              <a:rPr sz="950">
                <a:latin typeface="微软雅黑" panose="020B0503020204020204" charset="-122"/>
                <a:sym typeface="+mn-ea"/>
              </a:rPr>
              <a:t>  需要 GT？      ✅ 需要                                    </a:t>
            </a:r>
            <a:r>
              <a:rPr lang="en-US" sz="950">
                <a:latin typeface="微软雅黑" panose="020B0503020204020204" charset="-122"/>
                <a:sym typeface="+mn-ea"/>
              </a:rPr>
              <a:t>		</a:t>
            </a:r>
            <a:r>
              <a:rPr sz="950">
                <a:latin typeface="微软雅黑" panose="020B0503020204020204" charset="-122"/>
                <a:sym typeface="+mn-ea"/>
              </a:rPr>
              <a:t>❌ 不需要</a:t>
            </a:r>
            <a:endParaRPr sz="950" b="0">
              <a:latin typeface="微软雅黑" panose="020B0503020204020204" charset="-122"/>
            </a:endParaRPr>
          </a:p>
          <a:p>
            <a:pPr marR="0" algn="l" defTabSz="914400" eaLnBrk="1" fontAlgn="auto" latinLnBrk="0" hangingPunct="1">
              <a:spcBef>
                <a:spcPts val="500"/>
              </a:spcBef>
              <a:spcAft>
                <a:spcPts val="0"/>
              </a:spcAft>
              <a:buClrTx/>
              <a:buSzTx/>
              <a:buFontTx/>
              <a:buNone/>
            </a:pPr>
            <a:endParaRPr sz="950">
              <a:latin typeface="微软雅黑" panose="020B0503020204020204" charset="-122"/>
            </a:endParaRPr>
          </a:p>
          <a:p>
            <a:pPr>
              <a:spcBef>
                <a:spcPts val="100"/>
              </a:spcBef>
              <a:spcAft>
                <a:spcPts val="100"/>
              </a:spcAft>
            </a:pPr>
            <a:r>
              <a:rPr sz="950">
                <a:latin typeface="微软雅黑" panose="020B0503020204020204" charset="-122"/>
                <a:sym typeface="+mn-ea"/>
              </a:rPr>
              <a:t>t = 进度条（糊了多少）  |  x_t = 被糊住的半成品  |  模型 = 不管糊成什么样都能还原的</a:t>
            </a:r>
            <a:r>
              <a:rPr lang="zh-CN" altLang="en-US" sz="950">
                <a:latin typeface="微软雅黑" panose="020B0503020204020204" charset="-122"/>
                <a:sym typeface="+mn-ea"/>
              </a:rPr>
              <a:t>修</a:t>
            </a:r>
            <a:r>
              <a:rPr sz="950">
                <a:latin typeface="微软雅黑" panose="020B0503020204020204" charset="-122"/>
                <a:sym typeface="+mn-ea"/>
              </a:rPr>
              <a:t>复师</a:t>
            </a:r>
            <a:endParaRPr kumimoji="0" lang="zh-CN" sz="950" b="0" i="0" u="none" strike="noStrike" cap="none" spc="0" normalizeH="0" baseline="0">
              <a:latin typeface="微软雅黑" panose="020B0503020204020204" charset="-122"/>
              <a:ea typeface="宋体" panose="02010600030101010101" pitchFamily="2" charset="-122"/>
              <a:sym typeface="+mn-e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Placeholder 1"/>
          <p:cNvSpPr>
            <a:spLocks noGrp="1"/>
          </p:cNvSpPr>
          <p:nvPr>
            <p:ph type="body" sz="quarter" idx="15"/>
          </p:nvPr>
        </p:nvSpPr>
        <p:spPr/>
        <p:txBody>
          <a:bodyPr/>
          <a:lstStyle/>
          <a:p>
            <a:pPr marL="0" indent="0" fontAlgn="auto">
              <a:spcAft>
                <a:spcPts val="0"/>
              </a:spcAft>
              <a:buNone/>
            </a:pPr>
            <a:r>
              <a:rPr sz="1200" b="1">
                <a:latin typeface="Microsoft YaHei UI" panose="020B0503020204020204" charset="-122"/>
              </a:rPr>
              <a:t>附录</a:t>
            </a:r>
            <a:endParaRPr lang="de-DE" sz="2800" kern="0"/>
          </a:p>
        </p:txBody>
      </p:sp>
      <p:sp>
        <p:nvSpPr>
          <p:cNvPr id="3" name="Title 2"/>
          <p:cNvSpPr>
            <a:spLocks noGrp="1"/>
          </p:cNvSpPr>
          <p:nvPr>
            <p:ph type="title"/>
          </p:nvPr>
        </p:nvSpPr>
        <p:spPr/>
        <p:txBody>
          <a:bodyPr/>
          <a:lstStyle/>
          <a:p>
            <a:r>
              <a:rPr sz="2000" b="1">
                <a:latin typeface="Microsoft YaHei UI" panose="020B0503020204020204" charset="-122"/>
              </a:rPr>
              <a:t>附录E：为什么选择 Flow Matching？</a:t>
            </a:r>
            <a:endParaRPr lang="en-US"/>
          </a:p>
        </p:txBody>
      </p:sp>
      <p:sp>
        <p:nvSpPr>
          <p:cNvPr id="4" name="Slide Number Placeholder 3"/>
          <p:cNvSpPr>
            <a:spLocks noGrp="1"/>
          </p:cNvSpPr>
          <p:nvPr>
            <p:ph type="sldNum" sz="quarter" idx="12"/>
          </p:nvPr>
        </p:nvSpPr>
        <p:spPr/>
        <p:txBody>
          <a:bodyPr/>
          <a:lstStyle/>
          <a:p>
            <a:r>
              <a:rPr sz="1000">
                <a:latin typeface="Microsoft YaHei UI" panose="020B0503020204020204" charset="-122"/>
              </a:rPr>
              <a:t>6</a:t>
            </a:r>
            <a:endParaRPr lang="en-US" noProof="1"/>
          </a:p>
        </p:txBody>
      </p:sp>
      <p:sp>
        <p:nvSpPr>
          <p:cNvPr id="5" name="TextBox 4"/>
          <p:cNvSpPr txBox="1"/>
          <p:nvPr/>
        </p:nvSpPr>
        <p:spPr>
          <a:xfrm>
            <a:off x="548481" y="1542653"/>
            <a:ext cx="9872662" cy="4010898"/>
          </a:xfrm>
          <a:prstGeom prst="rect">
            <a:avLst/>
          </a:prstGeom>
          <a:noFill/>
        </p:spPr>
        <p:txBody>
          <a:bodyPr wrap="square">
            <a:spAutoFit/>
          </a:bodyPr>
          <a:lstStyle/>
          <a:p>
            <a:pPr>
              <a:lnSpc>
                <a:spcPts val="1600"/>
              </a:lnSpc>
              <a:spcBef>
                <a:spcPts val="200"/>
              </a:spcBef>
              <a:spcAft>
                <a:spcPts val="200"/>
              </a:spcAft>
            </a:pPr>
            <a:r>
              <a:rPr sz="1000" b="0">
                <a:latin typeface="Microsoft YaHei UI" panose="020B0503020204020204" charset="-122"/>
              </a:rPr>
              <a:t>从 Diffusion 到 Flow Matching 的进化</a:t>
            </a:r>
            <a:endParaRPr sz="1000" b="0">
              <a:latin typeface="Microsoft YaHei UI" panose="020B0503020204020204" charset="-122"/>
            </a:endParaRPr>
          </a:p>
          <a:p>
            <a:endParaRPr sz="1000"/>
          </a:p>
          <a:p>
            <a:r>
              <a:rPr sz="1000" b="0">
                <a:latin typeface="Microsoft YaHei UI" panose="020B0503020204020204" charset="-122"/>
              </a:rPr>
              <a:t>Diffusion（扩散模型）的局限：</a:t>
            </a:r>
            <a:endParaRPr sz="1000" b="0">
              <a:latin typeface="Microsoft YaHei UI" panose="020B0503020204020204" charset="-122"/>
            </a:endParaRPr>
          </a:p>
          <a:p>
            <a:r>
              <a:rPr sz="1000" b="0">
                <a:latin typeface="Microsoft YaHei UI" panose="020B0503020204020204" charset="-122"/>
              </a:rPr>
              <a:t>• 需要 20+ 步迭代去噪 → 推理延迟约 100ms</a:t>
            </a:r>
            <a:endParaRPr sz="1000" b="0">
              <a:latin typeface="Microsoft YaHei UI" panose="020B0503020204020204" charset="-122"/>
            </a:endParaRPr>
          </a:p>
          <a:p>
            <a:r>
              <a:rPr sz="1000" b="0">
                <a:latin typeface="Microsoft YaHei UI" panose="020B0503020204020204" charset="-122"/>
              </a:rPr>
              <a:t>• 对实时性要求高的驾驶场景（需 &lt;50ms）不友好</a:t>
            </a:r>
            <a:endParaRPr sz="1000" b="0">
              <a:latin typeface="Microsoft YaHei UI" panose="020B0503020204020204" charset="-122"/>
            </a:endParaRPr>
          </a:p>
          <a:p>
            <a:r>
              <a:rPr sz="1000" b="0">
                <a:latin typeface="Microsoft YaHei UI" panose="020B0503020204020204" charset="-122"/>
              </a:rPr>
              <a:t>• 训练过程复杂，需精心设计噪声调度策略(noise schedule)</a:t>
            </a:r>
            <a:endParaRPr sz="1000" b="0">
              <a:latin typeface="Microsoft YaHei UI" panose="020B0503020204020204" charset="-122"/>
            </a:endParaRPr>
          </a:p>
          <a:p>
            <a:endParaRPr sz="1000"/>
          </a:p>
          <a:p>
            <a:r>
              <a:rPr sz="1000" b="0">
                <a:latin typeface="Microsoft YaHei UI" panose="020B0503020204020204" charset="-122"/>
              </a:rPr>
              <a:t>Flow Matching（流匹配）的优势：</a:t>
            </a:r>
            <a:endParaRPr sz="1000" b="0">
              <a:latin typeface="Microsoft YaHei UI" panose="020B0503020204020204" charset="-122"/>
            </a:endParaRPr>
          </a:p>
          <a:p>
            <a:r>
              <a:rPr sz="1000" b="0">
                <a:latin typeface="Microsoft YaHei UI" panose="020B0503020204020204" charset="-122"/>
              </a:rPr>
              <a:t>• 仅需 4 步 → 推理延迟约 20ms → 满足实时要求</a:t>
            </a:r>
            <a:endParaRPr sz="1000" b="0">
              <a:latin typeface="Microsoft YaHei UI" panose="020B0503020204020204" charset="-122"/>
            </a:endParaRPr>
          </a:p>
          <a:p>
            <a:r>
              <a:rPr sz="1000" b="0">
                <a:latin typeface="Microsoft YaHei UI" panose="020B0503020204020204" charset="-122"/>
              </a:rPr>
              <a:t>• 理论更优雅：直接学习最优传输路径，无需设计噪声调度</a:t>
            </a:r>
            <a:endParaRPr sz="1000" b="0">
              <a:latin typeface="Microsoft YaHei UI" panose="020B0503020204020204" charset="-122"/>
            </a:endParaRPr>
          </a:p>
          <a:p>
            <a:r>
              <a:rPr sz="1000" b="0">
                <a:latin typeface="Microsoft YaHei UI" panose="020B0503020204020204" charset="-122"/>
              </a:rPr>
              <a:t>• 训练更稳定，收敛更快</a:t>
            </a:r>
            <a:endParaRPr sz="1000" b="0">
              <a:latin typeface="Microsoft YaHei UI" panose="020B0503020204020204" charset="-122"/>
            </a:endParaRPr>
          </a:p>
          <a:p>
            <a:endParaRPr sz="1000"/>
          </a:p>
          <a:p>
            <a:r>
              <a:rPr sz="1000" b="0">
                <a:latin typeface="Microsoft YaHei UI" panose="020B0503020204020204" charset="-122"/>
              </a:rPr>
              <a:t>方法对比总结：</a:t>
            </a:r>
            <a:endParaRPr sz="1000" b="0">
              <a:latin typeface="Microsoft YaHei UI" panose="020B0503020204020204" charset="-122"/>
            </a:endParaRPr>
          </a:p>
          <a:p>
            <a:r>
              <a:rPr sz="1000" b="0">
                <a:latin typeface="Microsoft YaHei UI" panose="020B0503020204020204" charset="-122"/>
              </a:rPr>
              <a:t>  方法           推理步数     延迟      Val14 NR     特点</a:t>
            </a:r>
            <a:endParaRPr sz="1000" b="0">
              <a:latin typeface="Microsoft YaHei UI" panose="020B0503020204020204" charset="-122"/>
            </a:endParaRPr>
          </a:p>
          <a:p>
            <a:r>
              <a:rPr sz="1000" b="0">
                <a:latin typeface="Microsoft YaHei UI" panose="020B0503020204020204" charset="-122"/>
              </a:rPr>
              <a:t>  ─────────────────────────────────────────────────────</a:t>
            </a:r>
            <a:endParaRPr sz="1000" b="0">
              <a:latin typeface="Microsoft YaHei UI" panose="020B0503020204020204" charset="-122"/>
            </a:endParaRPr>
          </a:p>
          <a:p>
            <a:r>
              <a:rPr sz="1000" b="0">
                <a:latin typeface="Microsoft YaHei UI" panose="020B0503020204020204" charset="-122"/>
              </a:rPr>
              <a:t>  回归式           1步       ~5ms       84-89       简单但单模态</a:t>
            </a:r>
            <a:endParaRPr sz="1000" b="0">
              <a:latin typeface="Microsoft YaHei UI" panose="020B0503020204020204" charset="-122"/>
            </a:endParaRPr>
          </a:p>
          <a:p>
            <a:r>
              <a:rPr sz="1000" b="0">
                <a:latin typeface="Microsoft YaHei UI" panose="020B0503020204020204" charset="-122"/>
              </a:rPr>
              <a:t>  Diffusion       20步     ~100ms      89.87       多模态但慢</a:t>
            </a:r>
            <a:endParaRPr sz="1000" b="0">
              <a:latin typeface="Microsoft YaHei UI" panose="020B0503020204020204" charset="-122"/>
            </a:endParaRPr>
          </a:p>
          <a:p>
            <a:r>
              <a:rPr sz="1000" b="0">
                <a:latin typeface="Microsoft YaHei UI" panose="020B0503020204020204" charset="-122"/>
              </a:rPr>
              <a:t>  Flow Match      4步      ~20ms       90.43       又快又好 ★</a:t>
            </a:r>
            <a:endParaRPr sz="1000" b="0">
              <a:latin typeface="Microsoft YaHei UI" panose="020B0503020204020204" charset="-122"/>
            </a:endParaRPr>
          </a:p>
          <a:p>
            <a:endParaRPr sz="1000"/>
          </a:p>
          <a:p>
            <a:r>
              <a:rPr sz="1000" b="0">
                <a:latin typeface="Microsoft YaHei UI" panose="020B0503020204020204" charset="-122"/>
              </a:rPr>
              <a:t>选择 Flow Matching = 性能最优 + 速度最快 + 部署友好</a:t>
            </a:r>
            <a:endParaRPr sz="1000" b="0">
              <a:latin typeface="Microsoft YaHei UI" panose="020B0503020204020204"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57200" y="274320"/>
            <a:ext cx="8229600" cy="457200"/>
          </a:xfrm>
          <a:prstGeom prst="rect">
            <a:avLst/>
          </a:prstGeom>
          <a:noFill/>
        </p:spPr>
        <p:txBody>
          <a:bodyPr wrap="square">
            <a:spAutoFit/>
          </a:bodyPr>
          <a:lstStyle/>
          <a:p>
            <a:r>
              <a:rPr sz="2200" b="1">
                <a:latin typeface="Microsoft YaHei UI" panose="020B0503020204020204" charset="-122"/>
              </a:rPr>
              <a:t>附录F：核心机制 DiT 与 CFG 详解</a:t>
            </a:r>
            <a:endParaRPr sz="2200" b="1">
              <a:latin typeface="Microsoft YaHei UI" panose="020B0503020204020204" charset="-122"/>
            </a:endParaRPr>
          </a:p>
        </p:txBody>
      </p:sp>
      <p:sp>
        <p:nvSpPr>
          <p:cNvPr id="3" name="TextBox 2"/>
          <p:cNvSpPr txBox="1"/>
          <p:nvPr/>
        </p:nvSpPr>
        <p:spPr>
          <a:xfrm>
            <a:off x="457200" y="731520"/>
            <a:ext cx="3657600" cy="320040"/>
          </a:xfrm>
          <a:prstGeom prst="rect">
            <a:avLst/>
          </a:prstGeom>
          <a:noFill/>
        </p:spPr>
        <p:txBody>
          <a:bodyPr wrap="none">
            <a:spAutoFit/>
          </a:bodyPr>
          <a:lstStyle/>
          <a:p>
            <a:r>
              <a:rPr sz="1100" b="1">
                <a:latin typeface="Microsoft YaHei UI" panose="020B0503020204020204" charset="-122"/>
              </a:rPr>
              <a:t>技术方案</a:t>
            </a:r>
            <a:endParaRPr sz="1100" b="1">
              <a:latin typeface="Microsoft YaHei UI" panose="020B0503020204020204" charset="-122"/>
            </a:endParaRPr>
          </a:p>
        </p:txBody>
      </p:sp>
      <p:sp>
        <p:nvSpPr>
          <p:cNvPr id="4" name="TextBox 3"/>
          <p:cNvSpPr txBox="1"/>
          <p:nvPr/>
        </p:nvSpPr>
        <p:spPr>
          <a:xfrm>
            <a:off x="320040" y="1097280"/>
            <a:ext cx="8503920" cy="4100195"/>
          </a:xfrm>
          <a:prstGeom prst="rect">
            <a:avLst/>
          </a:prstGeom>
          <a:noFill/>
        </p:spPr>
        <p:txBody>
          <a:bodyPr wrap="square">
            <a:spAutoFit/>
          </a:bodyPr>
          <a:lstStyle/>
          <a:p>
            <a:r>
              <a:rPr sz="1200" b="1">
                <a:latin typeface="Microsoft YaHei UI" panose="020B0503020204020204" charset="-122"/>
              </a:rPr>
              <a:t>🔧 DiT（Diffusion Transformer）— 让模型「看情况做事」</a:t>
            </a:r>
            <a:endParaRPr sz="1200" b="1">
              <a:latin typeface="Microsoft YaHei UI" panose="020B0503020204020204" charset="-122"/>
            </a:endParaRPr>
          </a:p>
          <a:p>
            <a:r>
              <a:rPr sz="900">
                <a:latin typeface="Microsoft YaHei UI" panose="020B0503020204020204" charset="-122"/>
              </a:rPr>
              <a:t>普通 Transformer 对所有场景都一视同仁；DiT 的两个改进让它能根据当前情况动态调整：</a:t>
            </a:r>
            <a:endParaRPr sz="900">
              <a:latin typeface="Microsoft YaHei UI" panose="020B0503020204020204" charset="-122"/>
            </a:endParaRPr>
          </a:p>
          <a:p>
            <a:endParaRPr sz="900"/>
          </a:p>
          <a:p>
            <a:r>
              <a:rPr sz="1000" b="1">
                <a:latin typeface="Microsoft YaHei UI" panose="020B0503020204020204" charset="-122"/>
              </a:rPr>
              <a:t>① AdaLN — 根据条件动态调整处理方式</a:t>
            </a:r>
            <a:endParaRPr sz="1000" b="1">
              <a:latin typeface="Microsoft YaHei UI" panose="020B0503020204020204" charset="-122"/>
            </a:endParaRPr>
          </a:p>
          <a:p>
            <a:pPr marR="0" algn="l" defTabSz="914400" eaLnBrk="1" fontAlgn="auto" latinLnBrk="0" hangingPunct="1">
              <a:spcBef>
                <a:spcPts val="500"/>
              </a:spcBef>
              <a:spcAft>
                <a:spcPts val="0"/>
              </a:spcAft>
              <a:buClrTx/>
              <a:buSzTx/>
              <a:buFontTx/>
              <a:buNone/>
            </a:pPr>
            <a:r>
              <a:rPr sz="1000">
                <a:latin typeface="Microsoft YaHei UI" panose="020B0503020204020204" charset="-122"/>
                <a:sym typeface="+mn-ea"/>
              </a:rPr>
              <a:t> </a:t>
            </a:r>
            <a:r>
              <a:rPr sz="1000">
                <a:latin typeface="Microsoft YaHei UI" panose="020B0503020204020204" charset="-122"/>
                <a:sym typeface="+mn-ea"/>
              </a:rPr>
              <a:t>  类比：同一个厨师，做川菜自动调重口，做粤菜自动调清淡</a:t>
            </a:r>
            <a:endParaRPr sz="1000">
              <a:latin typeface="Microsoft YaHei UI" panose="020B0503020204020204" charset="-122"/>
            </a:endParaRPr>
          </a:p>
          <a:p>
            <a:pPr marR="0" algn="l" defTabSz="914400" eaLnBrk="1" fontAlgn="auto" latinLnBrk="0" hangingPunct="1">
              <a:spcBef>
                <a:spcPts val="500"/>
              </a:spcBef>
              <a:spcAft>
                <a:spcPts val="0"/>
              </a:spcAft>
              <a:buClrTx/>
              <a:buSzTx/>
              <a:buFontTx/>
              <a:buNone/>
            </a:pPr>
            <a:r>
              <a:rPr sz="1000">
                <a:latin typeface="Microsoft YaHei UI" panose="020B0503020204020204" charset="-122"/>
                <a:sym typeface="+mn-ea"/>
              </a:rPr>
              <a:t>  技术：归一化参数 γ, β由「时间步 t + 场景信息」动态生成 → 不同场景产生不同处理风格</a:t>
            </a:r>
            <a:endParaRPr sz="1000">
              <a:latin typeface="Microsoft YaHei UI" panose="020B0503020204020204" charset="-122"/>
              <a:sym typeface="+mn-ea"/>
            </a:endParaRPr>
          </a:p>
          <a:p>
            <a:pPr marR="0" algn="l" defTabSz="914400" eaLnBrk="1" fontAlgn="auto" latinLnBrk="0" hangingPunct="1">
              <a:spcBef>
                <a:spcPts val="500"/>
              </a:spcBef>
              <a:spcAft>
                <a:spcPts val="0"/>
              </a:spcAft>
              <a:buClrTx/>
              <a:buSzTx/>
              <a:buFontTx/>
              <a:buNone/>
            </a:pPr>
            <a:r>
              <a:rPr lang="en-US" sz="1000">
                <a:latin typeface="Microsoft YaHei UI" panose="020B0503020204020204" charset="-122"/>
                <a:sym typeface="+mn-ea"/>
              </a:rPr>
              <a:t>[</a:t>
            </a:r>
            <a:r>
              <a:rPr sz="1000">
                <a:latin typeface="Microsoft YaHei UI" panose="020B0503020204020204" charset="-122"/>
                <a:sym typeface="+mn-ea"/>
              </a:rPr>
              <a:t>不同的归一化行为 → 模型对条件更敏感</a:t>
            </a:r>
            <a:r>
              <a:rPr lang="en-US" sz="1000">
                <a:latin typeface="Microsoft YaHei UI" panose="020B0503020204020204" charset="-122"/>
                <a:sym typeface="+mn-ea"/>
              </a:rPr>
              <a:t>]</a:t>
            </a:r>
            <a:endParaRPr kumimoji="0" lang="en-US" sz="1000" b="0" i="0" u="none" strike="noStrike" kern="0" cap="none" spc="0" normalizeH="0" baseline="0" noProof="0" smtClean="0">
              <a:ln>
                <a:noFill/>
              </a:ln>
              <a:effectLst/>
              <a:uLnTx/>
              <a:uFillTx/>
              <a:latin typeface="Microsoft YaHei UI" panose="020B0503020204020204" charset="-122"/>
              <a:ea typeface="宋体" panose="02010600030101010101" pitchFamily="2" charset="-122"/>
              <a:sym typeface="+mn-ea"/>
            </a:endParaRPr>
          </a:p>
          <a:p>
            <a:pPr algn="l">
              <a:buClrTx/>
              <a:buSzTx/>
              <a:buNone/>
            </a:pPr>
            <a:endParaRPr sz="900"/>
          </a:p>
          <a:p>
            <a:r>
              <a:rPr sz="1000" b="1">
                <a:latin typeface="Microsoft YaHei UI" panose="020B0503020204020204" charset="-122"/>
              </a:rPr>
              <a:t>② Gate 门控 — 条件决定每一层「发言的音量」</a:t>
            </a:r>
            <a:endParaRPr sz="1000" b="1">
              <a:latin typeface="Microsoft YaHei UI" panose="020B0503020204020204" charset="-122"/>
            </a:endParaRPr>
          </a:p>
          <a:p>
            <a:r>
              <a:rPr sz="900">
                <a:latin typeface="Microsoft YaHei UI" panose="020B0503020204020204" charset="-122"/>
              </a:rPr>
              <a:t>  类比：紧急会议大家大声发言，日常例会小声讨论</a:t>
            </a:r>
            <a:endParaRPr sz="900">
              <a:latin typeface="Microsoft YaHei UI" panose="020B0503020204020204" charset="-122"/>
            </a:endParaRPr>
          </a:p>
          <a:p>
            <a:pPr algn="l">
              <a:buClrTx/>
              <a:buSzTx/>
              <a:buNone/>
            </a:pPr>
            <a:r>
              <a:rPr sz="900">
                <a:latin typeface="Microsoft YaHei UI" panose="020B0503020204020204" charset="-122"/>
              </a:rPr>
              <a:t>  技术：每层输出 × 条件控制的系数 → 训练更稳定，对条件变化更敏感</a:t>
            </a:r>
            <a:endParaRPr sz="1000">
              <a:latin typeface="Microsoft YaHei UI" panose="020B0503020204020204" charset="-122"/>
            </a:endParaRPr>
          </a:p>
          <a:p>
            <a:endParaRPr sz="900"/>
          </a:p>
          <a:p>
            <a:r>
              <a:rPr sz="1200" b="1">
                <a:latin typeface="Microsoft YaHei UI" panose="020B0503020204020204" charset="-122"/>
              </a:rPr>
              <a:t>🎯 CFG（Classifier-Free Guidance）— 增强对周围车辆的反应</a:t>
            </a:r>
            <a:endParaRPr sz="1200" b="1">
              <a:latin typeface="Microsoft YaHei UI" panose="020B0503020204020204" charset="-122"/>
            </a:endParaRPr>
          </a:p>
          <a:p>
            <a:r>
              <a:rPr sz="900">
                <a:latin typeface="Microsoft YaHei UI" panose="020B0503020204020204" charset="-122"/>
              </a:rPr>
              <a:t>核心思想：让模型同时学会「看到邻居」和「假装没看到邻居」两种模式</a:t>
            </a:r>
            <a:endParaRPr sz="900">
              <a:latin typeface="Microsoft YaHei UI" panose="020B0503020204020204" charset="-122"/>
            </a:endParaRPr>
          </a:p>
          <a:p>
            <a:endParaRPr sz="900"/>
          </a:p>
          <a:p>
            <a:r>
              <a:rPr sz="1000" b="1">
                <a:latin typeface="Microsoft YaHei UI" panose="020B0503020204020204" charset="-122"/>
              </a:rPr>
              <a:t>训练时：</a:t>
            </a:r>
            <a:endParaRPr sz="1000" b="1">
              <a:latin typeface="Microsoft YaHei UI" panose="020B0503020204020204" charset="-122"/>
            </a:endParaRPr>
          </a:p>
          <a:p>
            <a:r>
              <a:rPr sz="900">
                <a:latin typeface="Microsoft YaHei UI" panose="020B0503020204020204" charset="-122"/>
              </a:rPr>
              <a:t>  30% 概率屏蔽邻居信息（假装周围没车）| 70% 保留完整信息（正常模式）</a:t>
            </a:r>
            <a:endParaRPr sz="900">
              <a:latin typeface="Microsoft YaHei UI" panose="020B0503020204020204" charset="-122"/>
            </a:endParaRPr>
          </a:p>
          <a:p>
            <a:r>
              <a:rPr sz="900">
                <a:latin typeface="Microsoft YaHei UI" panose="020B0503020204020204" charset="-122"/>
              </a:rPr>
              <a:t>  → 一个模型同时掌握两种能力</a:t>
            </a:r>
            <a:endParaRPr sz="900">
              <a:latin typeface="Microsoft YaHei UI" panose="020B0503020204020204" charset="-122"/>
            </a:endParaRPr>
          </a:p>
          <a:p>
            <a:endParaRPr sz="900"/>
          </a:p>
          <a:p>
            <a:r>
              <a:rPr sz="1000" b="1">
                <a:latin typeface="Microsoft YaHei UI" panose="020B0503020204020204" charset="-122"/>
              </a:rPr>
              <a:t>推理时：</a:t>
            </a:r>
            <a:endParaRPr sz="1000" b="1">
              <a:latin typeface="Microsoft YaHei UI" panose="020B0503020204020204" charset="-122"/>
            </a:endParaRPr>
          </a:p>
          <a:p>
            <a:r>
              <a:rPr sz="900">
                <a:latin typeface="Microsoft YaHei UI" panose="020B0503020204020204" charset="-122"/>
              </a:rPr>
              <a:t>  同一个场景跑两遍 → 有邻居 vs 没邻居 → 对比差异并放大</a:t>
            </a:r>
            <a:endParaRPr sz="900">
              <a:latin typeface="Microsoft YaHei UI" panose="020B0503020204020204" charset="-122"/>
            </a:endParaRPr>
          </a:p>
          <a:p>
            <a:r>
              <a:rPr sz="900">
                <a:latin typeface="Microsoft YaHei UI" panose="020B0503020204020204" charset="-122"/>
              </a:rPr>
              <a:t>  v_guided = v_无条件 + w × (v_有条件 − v_无条件)</a:t>
            </a:r>
            <a:endParaRPr sz="900">
              <a:latin typeface="Microsoft YaHei UI" panose="020B0503020204020204" charset="-122"/>
            </a:endParaRPr>
          </a:p>
          <a:p>
            <a:endParaRPr sz="900"/>
          </a:p>
          <a:p>
            <a:r>
              <a:rPr sz="1000" b="1">
                <a:latin typeface="Microsoft YaHei UI" panose="020B0503020204020204" charset="-122"/>
              </a:rPr>
              <a:t>类比：</a:t>
            </a:r>
            <a:endParaRPr sz="1000" b="1">
              <a:latin typeface="Microsoft YaHei UI" panose="020B0503020204020204" charset="-122"/>
            </a:endParaRPr>
          </a:p>
          <a:p>
            <a:r>
              <a:rPr sz="900">
                <a:latin typeface="Microsoft YaHei UI" panose="020B0503020204020204" charset="-122"/>
              </a:rPr>
              <a:t>  闭着眼开车 vs 睁着眼开车 → 差异 = 你对周围环境的反应</a:t>
            </a:r>
            <a:endParaRPr sz="900">
              <a:latin typeface="Microsoft YaHei UI" panose="020B0503020204020204" charset="-122"/>
            </a:endParaRPr>
          </a:p>
          <a:p>
            <a:r>
              <a:rPr sz="900">
                <a:latin typeface="Microsoft YaHei UI" panose="020B0503020204020204" charset="-122"/>
              </a:rPr>
              <a:t>  w 越大 = 反应越强烈（更积极避让/跟车）  |  当前 w=1.8，但不同场景需要不同的 w → 创新点1</a:t>
            </a:r>
            <a:endParaRPr sz="900">
              <a:latin typeface="Microsoft YaHei UI" panose="020B0503020204020204"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lstStyle/>
          <a:p>
            <a:r>
              <a:rPr sz="2000" b="1">
                <a:latin typeface="Microsoft YaHei UI" panose="020B0503020204020204" charset="-122"/>
              </a:rPr>
              <a:t>附录G：Flow Planner 的三大设计创新</a:t>
            </a:r>
            <a:endParaRPr lang="en-US"/>
          </a:p>
        </p:txBody>
      </p:sp>
      <p:sp>
        <p:nvSpPr>
          <p:cNvPr id="3" name="文本占位符 2"/>
          <p:cNvSpPr>
            <a:spLocks noGrp="1"/>
          </p:cNvSpPr>
          <p:nvPr>
            <p:ph type="body" sz="quarter" idx="15"/>
          </p:nvPr>
        </p:nvSpPr>
        <p:spPr/>
        <p:txBody>
          <a:bodyPr/>
          <a:lstStyle/>
          <a:p>
            <a:r>
              <a:rPr sz="1200" b="1">
                <a:latin typeface="Microsoft YaHei UI" panose="020B0503020204020204" charset="-122"/>
              </a:rPr>
              <a:t>技术方案</a:t>
            </a:r>
            <a:endParaRPr lang="en-US"/>
          </a:p>
        </p:txBody>
      </p:sp>
      <p:sp>
        <p:nvSpPr>
          <p:cNvPr id="5" name="灯片编号占位符 4"/>
          <p:cNvSpPr>
            <a:spLocks noGrp="1"/>
          </p:cNvSpPr>
          <p:nvPr>
            <p:ph type="sldNum" sz="quarter" idx="12"/>
          </p:nvPr>
        </p:nvSpPr>
        <p:spPr/>
        <p:txBody>
          <a:bodyPr/>
          <a:lstStyle/>
          <a:p>
            <a:r>
              <a:rPr sz="1000">
                <a:latin typeface="Microsoft YaHei UI" panose="020B0503020204020204" charset="-122"/>
              </a:rPr>
              <a:t>13</a:t>
            </a:r>
            <a:endParaRPr lang="en-US" noProof="1"/>
          </a:p>
        </p:txBody>
      </p:sp>
      <p:sp>
        <p:nvSpPr>
          <p:cNvPr id="33" name="TextBox 32"/>
          <p:cNvSpPr txBox="1"/>
          <p:nvPr/>
        </p:nvSpPr>
        <p:spPr>
          <a:xfrm>
            <a:off x="427831" y="1129569"/>
            <a:ext cx="9872662" cy="4442841"/>
          </a:xfrm>
          <a:prstGeom prst="rect">
            <a:avLst/>
          </a:prstGeom>
          <a:noFill/>
        </p:spPr>
        <p:txBody>
          <a:bodyPr wrap="square">
            <a:spAutoFit/>
          </a:bodyPr>
          <a:lstStyle/>
          <a:p>
            <a:pPr>
              <a:lnSpc>
                <a:spcPts val="1600"/>
              </a:lnSpc>
              <a:spcBef>
                <a:spcPts val="200"/>
              </a:spcBef>
              <a:spcAft>
                <a:spcPts val="200"/>
              </a:spcAft>
            </a:pPr>
            <a:r>
              <a:rPr sz="1000" b="0">
                <a:latin typeface="Microsoft YaHei UI" panose="020B0503020204020204" charset="-122"/>
              </a:rPr>
              <a:t>整体流程：场景数据 → Encoder → 场景Tokens + 条件 → Decoder(DiT×4层) → ODE(4步) → 8秒轨迹</a:t>
            </a:r>
            <a:endParaRPr sz="1000" b="0">
              <a:latin typeface="Microsoft YaHei UI" panose="020B0503020204020204" charset="-122"/>
            </a:endParaRPr>
          </a:p>
          <a:p>
            <a:endParaRPr sz="1000"/>
          </a:p>
          <a:p>
            <a:r>
              <a:rPr sz="1000" b="0">
                <a:latin typeface="Microsoft YaHei UI" panose="020B0503020204020204" charset="-122"/>
              </a:rPr>
              <a:t>创新1: 细粒度轨迹Token化</a:t>
            </a:r>
            <a:endParaRPr sz="1000" b="0">
              <a:latin typeface="Microsoft YaHei UI" panose="020B0503020204020204" charset="-122"/>
            </a:endParaRPr>
          </a:p>
          <a:p>
            <a:r>
              <a:rPr sz="1000" b="0">
                <a:latin typeface="Microsoft YaHei UI" panose="020B0503020204020204" charset="-122"/>
              </a:rPr>
              <a:t>• 80帧(8s)切分为7个Token，每个Token覆盖20帧(2s)</a:t>
            </a:r>
            <a:endParaRPr sz="1000" b="0">
              <a:latin typeface="Microsoft YaHei UI" panose="020B0503020204020204" charset="-122"/>
            </a:endParaRPr>
          </a:p>
          <a:p>
            <a:r>
              <a:rPr sz="1000" b="0">
                <a:latin typeface="Microsoft YaHei UI" panose="020B0503020204020204" charset="-122"/>
              </a:rPr>
              <a:t>• 相邻Token重叠10帧 → 推理时对重叠区取平均，保证轨迹连贯性</a:t>
            </a:r>
            <a:endParaRPr sz="1000" b="0">
              <a:latin typeface="Microsoft YaHei UI" panose="020B0503020204020204" charset="-122"/>
            </a:endParaRPr>
          </a:p>
          <a:p>
            <a:r>
              <a:rPr sz="1000" b="0">
                <a:latin typeface="Microsoft YaHei UI" panose="020B0503020204020204" charset="-122"/>
              </a:rPr>
              <a:t>• 意义：比直接预测80个坐标点更精细，模型可学习局部时序模式</a:t>
            </a:r>
            <a:endParaRPr sz="1000" b="0">
              <a:latin typeface="Microsoft YaHei UI" panose="020B0503020204020204" charset="-122"/>
            </a:endParaRPr>
          </a:p>
          <a:p>
            <a:endParaRPr sz="1000"/>
          </a:p>
          <a:p>
            <a:r>
              <a:rPr sz="1000" b="0">
                <a:latin typeface="Microsoft YaHei UI" panose="020B0503020204020204" charset="-122"/>
              </a:rPr>
              <a:t>创新2: 多模态Joint Attention</a:t>
            </a:r>
            <a:endParaRPr sz="1000" b="0">
              <a:latin typeface="Microsoft YaHei UI" panose="020B0503020204020204" charset="-122"/>
            </a:endParaRPr>
          </a:p>
          <a:p>
            <a:r>
              <a:rPr sz="1000" b="0">
                <a:latin typeface="Microsoft YaHei UI" panose="020B0503020204020204" charset="-122"/>
              </a:rPr>
              <a:t>• 三种模态联合做注意力：邻居Agent(37个) + 车道线(70条) + 轨迹Token(7个)</a:t>
            </a:r>
            <a:endParaRPr sz="1000" b="0">
              <a:latin typeface="Microsoft YaHei UI" panose="020B0503020204020204" charset="-122"/>
            </a:endParaRPr>
          </a:p>
          <a:p>
            <a:r>
              <a:rPr sz="1000" b="0">
                <a:latin typeface="Microsoft YaHei UI" panose="020B0503020204020204" charset="-122"/>
              </a:rPr>
              <a:t>• 将不同模态投影到统一维度，使用距离感知的attention bias</a:t>
            </a:r>
            <a:endParaRPr sz="1000" b="0">
              <a:latin typeface="Microsoft YaHei UI" panose="020B0503020204020204" charset="-122"/>
            </a:endParaRPr>
          </a:p>
          <a:p>
            <a:r>
              <a:rPr sz="1000" b="0">
                <a:latin typeface="Microsoft YaHei UI" panose="020B0503020204020204" charset="-122"/>
              </a:rPr>
              <a:t>• 意义：让轨迹生成能同时感知周围车辆、道路结构，提升交互建模能力</a:t>
            </a:r>
            <a:endParaRPr sz="1000" b="0">
              <a:latin typeface="Microsoft YaHei UI" panose="020B0503020204020204" charset="-122"/>
            </a:endParaRPr>
          </a:p>
          <a:p>
            <a:endParaRPr sz="1000"/>
          </a:p>
          <a:p>
            <a:r>
              <a:rPr sz="1000" b="0">
                <a:latin typeface="Microsoft YaHei UI" panose="020B0503020204020204" charset="-122"/>
              </a:rPr>
              <a:t>创新3: Flow Matching + CFG 联合使用</a:t>
            </a:r>
            <a:endParaRPr sz="1000" b="0">
              <a:latin typeface="Microsoft YaHei UI" panose="020B0503020204020204" charset="-122"/>
            </a:endParaRPr>
          </a:p>
          <a:p>
            <a:r>
              <a:rPr sz="1000" b="0">
                <a:latin typeface="Microsoft YaHei UI" panose="020B0503020204020204" charset="-122"/>
              </a:rPr>
              <a:t>• Flow Matching 提供高效的轨迹生成框架（4步推理）</a:t>
            </a:r>
            <a:endParaRPr sz="1000" b="0">
              <a:latin typeface="Microsoft YaHei UI" panose="020B0503020204020204" charset="-122"/>
            </a:endParaRPr>
          </a:p>
          <a:p>
            <a:r>
              <a:rPr sz="1000" b="0">
                <a:latin typeface="Microsoft YaHei UI" panose="020B0503020204020204" charset="-122"/>
              </a:rPr>
              <a:t>• CFG 在推理时增强对周围环境的响应（无需额外训练）</a:t>
            </a:r>
            <a:endParaRPr sz="1000" b="0">
              <a:latin typeface="Microsoft YaHei UI" panose="020B0503020204020204" charset="-122"/>
            </a:endParaRPr>
          </a:p>
          <a:p>
            <a:r>
              <a:rPr sz="1000" b="0">
                <a:latin typeface="Microsoft YaHei UI" panose="020B0503020204020204" charset="-122"/>
              </a:rPr>
              <a:t>• 仅掩码最近10个邻居进行CFG训练，聚焦最关键的交互</a:t>
            </a:r>
            <a:endParaRPr sz="1000" b="0">
              <a:latin typeface="Microsoft YaHei UI" panose="020B0503020204020204" charset="-122"/>
            </a:endParaRPr>
          </a:p>
          <a:p>
            <a:r>
              <a:rPr sz="1000" b="0">
                <a:latin typeface="Microsoft YaHei UI" panose="020B0503020204020204" charset="-122"/>
              </a:rPr>
              <a:t>• Midpoint ODE求解器：比Euler方法更精确，步数更少</a:t>
            </a:r>
            <a:endParaRPr sz="1000" b="0">
              <a:latin typeface="Microsoft YaHei UI" panose="020B0503020204020204"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57200" y="274320"/>
            <a:ext cx="8229600" cy="457200"/>
          </a:xfrm>
          <a:prstGeom prst="rect">
            <a:avLst/>
          </a:prstGeom>
          <a:noFill/>
        </p:spPr>
        <p:txBody>
          <a:bodyPr wrap="none">
            <a:spAutoFit/>
          </a:bodyPr>
          <a:lstStyle/>
          <a:p>
            <a:r>
              <a:rPr sz="2200" b="1">
                <a:latin typeface="Microsoft YaHei UI" panose="020B0503020204020204" charset="-122"/>
              </a:rPr>
              <a:t>附录H：Flow Planner 的博弈建模能力</a:t>
            </a:r>
            <a:endParaRPr sz="2200" b="1">
              <a:latin typeface="Microsoft YaHei UI" panose="020B0503020204020204" charset="-122"/>
            </a:endParaRPr>
          </a:p>
        </p:txBody>
      </p:sp>
      <p:sp>
        <p:nvSpPr>
          <p:cNvPr id="3" name="TextBox 2"/>
          <p:cNvSpPr txBox="1"/>
          <p:nvPr/>
        </p:nvSpPr>
        <p:spPr>
          <a:xfrm>
            <a:off x="457200" y="731520"/>
            <a:ext cx="3657600" cy="320040"/>
          </a:xfrm>
          <a:prstGeom prst="rect">
            <a:avLst/>
          </a:prstGeom>
          <a:noFill/>
        </p:spPr>
        <p:txBody>
          <a:bodyPr wrap="none">
            <a:spAutoFit/>
          </a:bodyPr>
          <a:lstStyle/>
          <a:p>
            <a:r>
              <a:rPr sz="1100" b="1">
                <a:latin typeface="Microsoft YaHei UI" panose="020B0503020204020204" charset="-122"/>
              </a:rPr>
              <a:t>技术方案</a:t>
            </a:r>
            <a:endParaRPr sz="1100" b="1">
              <a:latin typeface="Microsoft YaHei UI" panose="020B0503020204020204" charset="-122"/>
            </a:endParaRPr>
          </a:p>
        </p:txBody>
      </p:sp>
      <p:sp>
        <p:nvSpPr>
          <p:cNvPr id="4" name="TextBox 3"/>
          <p:cNvSpPr txBox="1"/>
          <p:nvPr/>
        </p:nvSpPr>
        <p:spPr>
          <a:xfrm>
            <a:off x="274320" y="1051560"/>
            <a:ext cx="8595360" cy="5394960"/>
          </a:xfrm>
          <a:prstGeom prst="rect">
            <a:avLst/>
          </a:prstGeom>
          <a:noFill/>
        </p:spPr>
        <p:txBody>
          <a:bodyPr wrap="square">
            <a:spAutoFit/>
          </a:bodyPr>
          <a:lstStyle/>
          <a:p>
            <a:r>
              <a:rPr sz="1100" b="1">
                <a:latin typeface="Microsoft YaHei UI" panose="020B0503020204020204" charset="-122"/>
              </a:rPr>
              <a:t>🎲 博弈 = 你看我、我看你，互相影响决策</a:t>
            </a:r>
            <a:endParaRPr sz="1100" b="1">
              <a:latin typeface="Microsoft YaHei UI" panose="020B0503020204020204" charset="-122"/>
            </a:endParaRPr>
          </a:p>
          <a:p>
            <a:r>
              <a:rPr sz="850">
                <a:latin typeface="Microsoft YaHei UI" panose="020B0503020204020204" charset="-122"/>
              </a:rPr>
              <a:t>• 超车：我加速要超你，你让不让？你不让我就得减速 → 双方互相博弈</a:t>
            </a:r>
            <a:endParaRPr sz="850">
              <a:latin typeface="Microsoft YaHei UI" panose="020B0503020204020204" charset="-122"/>
            </a:endParaRPr>
          </a:p>
          <a:p>
            <a:r>
              <a:rPr sz="850">
                <a:latin typeface="Microsoft YaHei UI" panose="020B0503020204020204" charset="-122"/>
              </a:rPr>
              <a:t>• 行人：我停不停？他走不走？→ 需要推理对方意图并做出反应</a:t>
            </a:r>
            <a:endParaRPr sz="850">
              <a:latin typeface="Microsoft YaHei UI" panose="020B0503020204020204" charset="-122"/>
            </a:endParaRPr>
          </a:p>
          <a:p>
            <a:endParaRPr sz="850"/>
          </a:p>
          <a:p>
            <a:r>
              <a:rPr sz="1100" b="1">
                <a:latin typeface="Microsoft YaHei UI" panose="020B0503020204020204" charset="-122"/>
              </a:rPr>
              <a:t>🔍 现有博弈方法对比 — 为什么 Flow Planner 更优？</a:t>
            </a:r>
            <a:endParaRPr sz="1100" b="1">
              <a:latin typeface="Microsoft YaHei UI" panose="020B0503020204020204" charset="-122"/>
            </a:endParaRPr>
          </a:p>
          <a:p>
            <a:endParaRPr sz="1100"/>
          </a:p>
          <a:p>
            <a:r>
              <a:rPr sz="950" b="1">
                <a:latin typeface="Microsoft YaHei UI" panose="020B0503020204020204" charset="-122"/>
              </a:rPr>
              <a:t>GameFormer（ICCV 2023）— 显式博弈推演，但太依赖规则</a:t>
            </a:r>
            <a:endParaRPr sz="950" b="1">
              <a:latin typeface="Microsoft YaHei UI" panose="020B0503020204020204" charset="-122"/>
            </a:endParaRPr>
          </a:p>
          <a:p>
            <a:r>
              <a:rPr sz="850">
                <a:latin typeface="Microsoft YaHei UI" panose="020B0503020204020204" charset="-122"/>
              </a:rPr>
              <a:t>  思路：用 Level-K 博弈论 — 「我猜你会怎么开 → 我据此调整 → 你再据此调整…」反复迭代</a:t>
            </a:r>
            <a:endParaRPr sz="850">
              <a:latin typeface="Microsoft YaHei UI" panose="020B0503020204020204" charset="-122"/>
            </a:endParaRPr>
          </a:p>
          <a:p>
            <a:r>
              <a:rPr sz="850">
                <a:latin typeface="Microsoft YaHei UI" panose="020B0503020204020204" charset="-122"/>
              </a:rPr>
              <a:t>  类比：下棋时一步步推演对手可能的走法，层层推理</a:t>
            </a:r>
            <a:endParaRPr sz="850">
              <a:latin typeface="Microsoft YaHei UI" panose="020B0503020204020204" charset="-122"/>
            </a:endParaRPr>
          </a:p>
          <a:p>
            <a:r>
              <a:rPr sz="850">
                <a:latin typeface="Microsoft YaHei UI" panose="020B0503020204020204" charset="-122"/>
              </a:rPr>
              <a:t>  ✗ 问题：纯学习版 Val14 NR 仅 13.32（几乎不可用），必须加 IDM 规则兜底才到 79.94</a:t>
            </a:r>
            <a:endParaRPr sz="850">
              <a:latin typeface="Microsoft YaHei UI" panose="020B0503020204020204" charset="-122"/>
            </a:endParaRPr>
          </a:p>
          <a:p>
            <a:r>
              <a:rPr sz="850">
                <a:latin typeface="Microsoft YaHei UI" panose="020B0503020204020204" charset="-122"/>
              </a:rPr>
              <a:t>  ✗ 根因：博弈推演层数越多计算量越大，且对训练数据中的交互模式覆盖有限</a:t>
            </a:r>
            <a:endParaRPr sz="850">
              <a:latin typeface="Microsoft YaHei UI" panose="020B0503020204020204" charset="-122"/>
            </a:endParaRPr>
          </a:p>
          <a:p>
            <a:endParaRPr sz="850"/>
          </a:p>
          <a:p>
            <a:r>
              <a:rPr sz="950" b="1">
                <a:latin typeface="Microsoft YaHei UI" panose="020B0503020204020204" charset="-122"/>
              </a:rPr>
              <a:t>BeTopNet / BeTOP（NeurIPS 2024）— 拓扑建模，思路新颖但复杂</a:t>
            </a:r>
            <a:endParaRPr sz="950" b="1">
              <a:latin typeface="Microsoft YaHei UI" panose="020B0503020204020204" charset="-122"/>
            </a:endParaRPr>
          </a:p>
          <a:p>
            <a:r>
              <a:rPr sz="850">
                <a:latin typeface="Microsoft YaHei UI" panose="020B0503020204020204" charset="-122"/>
              </a:rPr>
              <a:t>  思路：用「辫子拓扑」建模谁先谁后 — 把多车轨迹看成编织的绳子，用拓扑关系描述交互</a:t>
            </a:r>
            <a:endParaRPr sz="850">
              <a:latin typeface="Microsoft YaHei UI" panose="020B0503020204020204" charset="-122"/>
            </a:endParaRPr>
          </a:p>
          <a:p>
            <a:r>
              <a:rPr sz="850">
                <a:latin typeface="Microsoft YaHei UI" panose="020B0503020204020204" charset="-122"/>
              </a:rPr>
              <a:t>  类比：不关心车的精确位置，只关心「A先过还是B先过」这种拓扑顺序</a:t>
            </a:r>
            <a:endParaRPr sz="850">
              <a:latin typeface="Microsoft YaHei UI" panose="020B0503020204020204" charset="-122"/>
            </a:endParaRPr>
          </a:p>
          <a:p>
            <a:r>
              <a:rPr sz="850">
                <a:latin typeface="Microsoft YaHei UI" panose="020B0503020204020204" charset="-122"/>
              </a:rPr>
              <a:t>  ✗ 问题：需要额外的拓扑标注和推理模块，工程复杂度高，难以端到端优化</a:t>
            </a:r>
            <a:endParaRPr sz="850">
              <a:latin typeface="Microsoft YaHei UI" panose="020B0503020204020204" charset="-122"/>
            </a:endParaRPr>
          </a:p>
          <a:p>
            <a:endParaRPr sz="850"/>
          </a:p>
          <a:p>
            <a:r>
              <a:rPr sz="950" b="1">
                <a:latin typeface="Microsoft YaHei UI" panose="020B0503020204020204" charset="-122"/>
              </a:rPr>
              <a:t>Flow Planner — 隐式博弈，简单高效 ⭐</a:t>
            </a:r>
            <a:endParaRPr sz="950" b="1">
              <a:latin typeface="Microsoft YaHei UI" panose="020B0503020204020204" charset="-122"/>
            </a:endParaRPr>
          </a:p>
          <a:p>
            <a:r>
              <a:rPr sz="850">
                <a:latin typeface="Microsoft YaHei UI" panose="020B0503020204020204" charset="-122"/>
              </a:rPr>
              <a:t>  不需要显式博弈推演，三个机制自然实现交互能力：</a:t>
            </a:r>
            <a:endParaRPr sz="850">
              <a:latin typeface="Microsoft YaHei UI" panose="020B0503020204020204" charset="-122"/>
            </a:endParaRPr>
          </a:p>
          <a:p>
            <a:r>
              <a:rPr sz="850">
                <a:latin typeface="Microsoft YaHei UI" panose="020B0503020204020204" charset="-122"/>
              </a:rPr>
              <a:t>  ① 多模态生成 → 采样不同策略（让/不让/快/慢），覆盖多种博弈结果</a:t>
            </a:r>
            <a:endParaRPr sz="850">
              <a:latin typeface="Microsoft YaHei UI" panose="020B0503020204020204" charset="-122"/>
            </a:endParaRPr>
          </a:p>
          <a:p>
            <a:r>
              <a:rPr sz="850">
                <a:latin typeface="Microsoft YaHei UI" panose="020B0503020204020204" charset="-122"/>
              </a:rPr>
              <a:t>  ② CFG → 放大对邻居的反应（「看到你加速 → 我减速」自然涌现）</a:t>
            </a:r>
            <a:endParaRPr sz="850">
              <a:latin typeface="Microsoft YaHei UI" panose="020B0503020204020204" charset="-122"/>
            </a:endParaRPr>
          </a:p>
          <a:p>
            <a:r>
              <a:rPr sz="850">
                <a:latin typeface="Microsoft YaHei UI" panose="020B0503020204020204" charset="-122"/>
              </a:rPr>
              <a:t>  ③ Joint Attention → ego、邻居、车道线在同一空间交互 → 隐式推理对方意图</a:t>
            </a:r>
            <a:endParaRPr sz="850">
              <a:latin typeface="Microsoft YaHei UI" panose="020B0503020204020204" charset="-122"/>
            </a:endParaRPr>
          </a:p>
          <a:p>
            <a:endParaRPr sz="850"/>
          </a:p>
          <a:p>
            <a:r>
              <a:rPr sz="1100" b="1">
                <a:latin typeface="Microsoft YaHei UI" panose="020B0503020204020204" charset="-122"/>
              </a:rPr>
              <a:t>📊 InterPlan 博弈基准实测</a:t>
            </a:r>
            <a:endParaRPr sz="1100" b="1">
              <a:latin typeface="Microsoft YaHei UI" panose="020B0503020204020204" charset="-122"/>
            </a:endParaRPr>
          </a:p>
          <a:p>
            <a:r>
              <a:rPr sz="850">
                <a:latin typeface="Microsoft YaHei UI" panose="020B0503020204020204" charset="-122"/>
              </a:rPr>
              <a:t>             GameFormer  Diff.Planner  Flow Planner   vs Diff. Planner</a:t>
            </a:r>
            <a:endParaRPr sz="850">
              <a:latin typeface="Microsoft YaHei UI" panose="020B0503020204020204" charset="-122"/>
            </a:endParaRPr>
          </a:p>
          <a:p>
            <a:r>
              <a:rPr sz="850">
                <a:latin typeface="Microsoft YaHei UI" panose="020B0503020204020204" charset="-122"/>
              </a:rPr>
              <a:t>  ─────────────────────────────────────────────────────────────────</a:t>
            </a:r>
            <a:endParaRPr sz="850">
              <a:latin typeface="Microsoft YaHei UI" panose="020B0503020204020204" charset="-122"/>
            </a:endParaRPr>
          </a:p>
          <a:p>
            <a:r>
              <a:rPr sz="850">
                <a:latin typeface="Microsoft YaHei UI" panose="020B0503020204020204" charset="-122"/>
              </a:rPr>
              <a:t>  Nudge       ——          60.48          72.96          +20.6%</a:t>
            </a:r>
            <a:endParaRPr sz="850">
              <a:latin typeface="Microsoft YaHei UI" panose="020B0503020204020204" charset="-122"/>
            </a:endParaRPr>
          </a:p>
          <a:p>
            <a:r>
              <a:rPr sz="850">
                <a:latin typeface="Microsoft YaHei UI" panose="020B0503020204020204" charset="-122"/>
              </a:rPr>
              <a:t>  Jaywalk     ——          26.20          43.57          +66.3% 🔥</a:t>
            </a:r>
            <a:endParaRPr sz="850">
              <a:latin typeface="Microsoft YaHei UI" panose="020B0503020204020204" charset="-122"/>
            </a:endParaRPr>
          </a:p>
          <a:p>
            <a:r>
              <a:rPr sz="850">
                <a:latin typeface="Microsoft YaHei UI" panose="020B0503020204020204" charset="-122"/>
              </a:rPr>
              <a:t>  Overall     ——          52.90          61.82          +16.9%</a:t>
            </a:r>
            <a:endParaRPr sz="850">
              <a:latin typeface="Microsoft YaHei UI" panose="020B0503020204020204" charset="-122"/>
            </a:endParaRPr>
          </a:p>
        </p:txBody>
      </p:sp>
    </p:spTree>
  </p:cSld>
  <p:clrMapOvr>
    <a:masterClrMapping/>
  </p:clrMapOvr>
</p:sld>
</file>

<file path=ppt/tags/tag6.xml><?xml version="1.0" encoding="utf-8"?>
<p:tagLst xmlns:p="http://schemas.openxmlformats.org/presentationml/2006/main">
  <p:tag name="SAXMLTEMPLATE" val="presentation_169"/>
  <p:tag name="SAXMLCOMPANYNAME" val="bosch"/>
  <p:tag name="MLTEMPLATEVERSION" val="2.0"/>
  <p:tag name="MLLANGUAGE" val="eng"/>
  <p:tag name="SAXCONVERSION" val="2"/>
</p:tagLst>
</file>

<file path=ppt/theme/theme1.xml><?xml version="1.0" encoding="utf-8"?>
<a:theme xmlns:a="http://schemas.openxmlformats.org/drawingml/2006/main" name="Bosch 2022">
  <a:themeElements>
    <a:clrScheme name="Bosch Blau">
      <a:dk1>
        <a:sysClr val="windowText" lastClr="000000"/>
      </a:dk1>
      <a:lt1>
        <a:sysClr val="window" lastClr="FFFFFF"/>
      </a:lt1>
      <a:dk2>
        <a:srgbClr val="424C58"/>
      </a:dk2>
      <a:lt2>
        <a:srgbClr val="B2B3B5"/>
      </a:lt2>
      <a:accent1>
        <a:srgbClr val="007BC0"/>
      </a:accent1>
      <a:accent2>
        <a:srgbClr val="004975"/>
      </a:accent2>
      <a:accent3>
        <a:srgbClr val="007BC0"/>
      </a:accent3>
      <a:accent4>
        <a:srgbClr val="004975"/>
      </a:accent4>
      <a:accent5>
        <a:srgbClr val="007BC0"/>
      </a:accent5>
      <a:accent6>
        <a:srgbClr val="004975"/>
      </a:accent6>
      <a:hlink>
        <a:srgbClr val="738CB4"/>
      </a:hlink>
      <a:folHlink>
        <a:srgbClr val="B0BBD0"/>
      </a:folHlink>
    </a:clrScheme>
    <a:fontScheme name="Bosch">
      <a:majorFont>
        <a:latin typeface="Bosch Office Sans"/>
        <a:ea typeface=""/>
        <a:cs typeface=""/>
      </a:majorFont>
      <a:minorFont>
        <a:latin typeface="Bosch Office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9525" cap="flat" cmpd="sng" algn="ctr">
          <a:solidFill>
            <a:srgbClr val="3F136C"/>
          </a:solidFill>
          <a:prstDash val="solid"/>
        </a:ln>
      </a:spPr>
      <a:bodyPr rtlCol="0" anchor="ctr"/>
      <a:lstStyle>
        <a:defPPr marL="0" marR="0" indent="0" algn="ctr" defTabSz="914400" eaLnBrk="1" fontAlgn="auto" latinLnBrk="0" hangingPunct="1">
          <a:lnSpc>
            <a:spcPct val="100000"/>
          </a:lnSpc>
          <a:spcBef>
            <a:spcPts val="0"/>
          </a:spcBef>
          <a:spcAft>
            <a:spcPts val="0"/>
          </a:spcAft>
          <a:buClrTx/>
          <a:buSzTx/>
          <a:buFontTx/>
          <a:buNone/>
          <a:defRPr kumimoji="0" sz="1800" b="0" i="0" u="none" strike="noStrike" kern="0" cap="none" spc="0" normalizeH="0" baseline="0" noProof="0" dirty="0" smtClean="0">
            <a:ln>
              <a:noFill/>
            </a:ln>
            <a:solidFill>
              <a:srgbClr val="000000"/>
            </a:solidFill>
            <a:effectLst/>
            <a:uLnTx/>
            <a:uFillTx/>
            <a:latin typeface="Bosch Office Sans"/>
            <a:ea typeface="+mn-ea"/>
            <a:cs typeface="+mn-cs"/>
          </a:defRPr>
        </a:defPPr>
      </a:lstStyle>
    </a:spDef>
    <a:txDef>
      <a:spPr>
        <a:noFill/>
      </a:spPr>
      <a:bodyPr wrap="square" lIns="0" tIns="0" rIns="0" bIns="0" rtlCol="0">
        <a:noAutofit/>
      </a:bodyPr>
      <a:lstStyle>
        <a:defPPr marR="0" algn="l" defTabSz="914400" eaLnBrk="1" fontAlgn="auto" latinLnBrk="0" hangingPunct="1">
          <a:spcBef>
            <a:spcPts val="500"/>
          </a:spcBef>
          <a:spcAft>
            <a:spcPts val="0"/>
          </a:spcAft>
          <a:buClrTx/>
          <a:buSzTx/>
          <a:buFontTx/>
          <a:buNone/>
          <a:defRPr kumimoji="0" sz="1800" b="0" i="0" u="none" strike="noStrike" kern="0" cap="none" spc="0" normalizeH="0" baseline="0" noProof="0" smtClean="0">
            <a:ln>
              <a:noFill/>
            </a:ln>
            <a:solidFill>
              <a:srgbClr val="000000"/>
            </a:solidFill>
            <a:effectLst/>
            <a:uLnTx/>
            <a:uFillTx/>
          </a:defRPr>
        </a:defPPr>
      </a:lstStyle>
    </a:txDef>
  </a:objectDefaults>
  <a:custClrLst>
    <a:custClr name="Bosch Red 50">
      <a:srgbClr val="ED0007"/>
    </a:custClr>
    <a:custClr name="Bosch Purple 40">
      <a:srgbClr val="9E2896"/>
    </a:custClr>
    <a:custClr name="Bosch Purple 20">
      <a:srgbClr val="551151"/>
    </a:custClr>
    <a:custClr name="Bosch Blue 50">
      <a:srgbClr val="007BC0"/>
    </a:custClr>
    <a:custClr name="Bosch Blue 30">
      <a:srgbClr val="004975"/>
    </a:custClr>
    <a:custClr name="Bosch Turquoise 50">
      <a:srgbClr val="18837E"/>
    </a:custClr>
    <a:custClr name="Bosch Turquoise 30">
      <a:srgbClr val="0A4F4B"/>
    </a:custClr>
    <a:custClr name="Bosch Green 50">
      <a:srgbClr val="00884A"/>
    </a:custClr>
    <a:custClr name="Bosch Green 30">
      <a:srgbClr val="00512A"/>
    </a:custClr>
    <a:custClr name="Bosch Gray 50">
      <a:srgbClr val="71767C"/>
    </a:custClr>
  </a:custClr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5af31109-1c53-409a-84e3-92a138e7abac">
      <UserInfo>
        <DisplayName>HUANG Decen (XC-CP/EPM-CN)</DisplayName>
        <AccountId>30</AccountId>
        <AccountType/>
      </UserInfo>
      <UserInfo>
        <DisplayName>ZHANG Guozhen (BCSC/EPA4-Sgh, XC-CP/EPM-CN)</DisplayName>
        <AccountId>31</AccountId>
        <AccountType/>
      </UserInfo>
      <UserInfo>
        <DisplayName>LUO Yanlong (XC-CP/PRM-CN)</DisplayName>
        <AccountId>32</AccountId>
        <AccountType/>
      </UserInfo>
      <UserInfo>
        <DisplayName>LYU Abner (XC-CP/PRM-CN)</DisplayName>
        <AccountId>33</AccountId>
        <AccountType/>
      </UserInfo>
      <UserInfo>
        <DisplayName>Zheng Xinfen (XC-CP/RBU-CN, XC-CP/ENG-CN, XC/ENG-CN)</DisplayName>
        <AccountId>34</AccountId>
        <AccountType/>
      </UserInfo>
      <UserInfo>
        <DisplayName>LI Mengxue (XC-CP/RBU-CN)</DisplayName>
        <AccountId>35</AccountId>
        <AccountType/>
      </UserInfo>
      <UserInfo>
        <DisplayName>CHEN Marvel (XC-CP/ESR-CN XC-CP/PRM-CN)</DisplayName>
        <AccountId>16</AccountId>
        <AccountType/>
      </UserInfo>
      <UserInfo>
        <DisplayName>ZHANG Bin (XC-CP/EPM-CN)</DisplayName>
        <AccountId>23</AccountId>
        <AccountType/>
      </UserInfo>
      <UserInfo>
        <DisplayName>GONG Baohua (XC-CP/ESW-CN XC-CP/ESW4-CN)</DisplayName>
        <AccountId>24</AccountId>
        <AccountType/>
      </UserInfo>
      <UserInfo>
        <DisplayName>LI Easley (XC-CP/ESA2-CN)</DisplayName>
        <AccountId>25</AccountId>
        <AccountType/>
      </UserInfo>
      <UserInfo>
        <DisplayName>Stein Andreas (XC-CP/ESY)</DisplayName>
        <AccountId>36</AccountId>
        <AccountType/>
      </UserInfo>
      <UserInfo>
        <DisplayName>Diekmann Christian (XC-CP/ESY1)</DisplayName>
        <AccountId>40</AccountId>
        <AccountType/>
      </UserInfo>
      <UserInfo>
        <DisplayName>Nadzeika Arwed (XC-CP/EMB1)</DisplayName>
        <AccountId>41</AccountId>
        <AccountType/>
      </UserInfo>
      <UserInfo>
        <DisplayName>Kram Michael (XC-CP/NE)</DisplayName>
        <AccountId>44</AccountId>
        <AccountType/>
      </UserInfo>
      <UserInfo>
        <DisplayName>Goetzl Markus Benjamin (XC-CP/PRM)</DisplayName>
        <AccountId>45</AccountId>
        <AccountType/>
      </UserInfo>
      <UserInfo>
        <DisplayName>Schwarzer Henning (XC-CP/PRM1)</DisplayName>
        <AccountId>46</AccountId>
        <AccountType/>
      </UserInfo>
      <UserInfo>
        <DisplayName>Bannow Nils-Jochen (XC-CP/PRM1)</DisplayName>
        <AccountId>47</AccountId>
        <AccountType/>
      </UserInfo>
    </SharedWithUser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48A8CD93FE89745BEFE607995392A2F" ma:contentTypeVersion="6" ma:contentTypeDescription="Create a new document." ma:contentTypeScope="" ma:versionID="9560ae0c8eae06252f90b248c09fa616">
  <xsd:schema xmlns:xsd="http://www.w3.org/2001/XMLSchema" xmlns:xs="http://www.w3.org/2001/XMLSchema" xmlns:p="http://schemas.microsoft.com/office/2006/metadata/properties" xmlns:ns2="e4e84562-1a18-42c0-bfbd-f9b4b2b43f43" xmlns:ns3="5af31109-1c53-409a-84e3-92a138e7abac" targetNamespace="http://schemas.microsoft.com/office/2006/metadata/properties" ma:root="true" ma:fieldsID="4049bc1277235997aee3cf0fb2258a8c" ns2:_="" ns3:_="">
    <xsd:import namespace="e4e84562-1a18-42c0-bfbd-f9b4b2b43f43"/>
    <xsd:import namespace="5af31109-1c53-409a-84e3-92a138e7aba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4e84562-1a18-42c0-bfbd-f9b4b2b43f4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af31109-1c53-409a-84e3-92a138e7abac"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saxML>
  <saxMLTemplate>presentation_169</saxMLTemplate>
  <Variablen>
    <Variable>
      <Name>attachmentremark</Name>
      <OrgInhalt/>
      <Wert/>
      <Platzhalter>False</Platzhalter>
      <DocDatenDialog>True</DocDatenDialog>
      <Label>Attachment</Label>
      <FrageVar>False</FrageVar>
      <Prefix/>
      <Suffix/>
      <WegfallVar/>
      <MussFeld>False</MussFeld>
      <InDokument>True</InDokument>
      <Sektion>AttachmentRemark</Sektion>
      <Reihenfolge>0</Reihenfolge>
    </Variable>
    <Variable>
      <Name>departmentshort</Name>
      <OrgInhalt>XC/ESX</OrgInhalt>
      <Wert/>
      <Platzhalter>False</Platzhalter>
      <DocDatenDialog>True</DocDatenDialog>
      <Label>Authoring</Label>
      <FrageVar>False</FrageVar>
      <Prefix/>
      <Suffix/>
      <WegfallVar/>
      <MussFeld>False</MussFeld>
      <Trenner>
        <VariableVor>confidentiality</VariableVor>
        <VariableVor>businessunit</VariableVor>
        <Zwischen> | </Zwischen>
        <VariableNach>departmentshort</VariableNach>
      </Trenner>
      <InDokument>True</InDokument>
      <Sektion>Bosch_footer_1</Sektion>
      <Reihenfolge/>
    </Variable>
    <Variable>
      <Name>confidentiality</Name>
      <OrgInhalt>Internal</OrgInhalt>
      <Wert>Internal</Wert>
      <Platzhalter>False</Platzhalter>
      <DocDatenDialog>True</DocDatenDialog>
      <Label>Notation of confidentiality</Label>
      <FrageVar>False</FrageVar>
      <Prefix/>
      <Suffix/>
      <WegfallVar/>
      <ComboBox>
        <Option>Internal</Option>
        <Option>Confidential</Option>
        <Option>Strictly confidential</Option>
        <Option/>
      </ComboBox>
      <MussFeld>False</MussFeld>
      <InDokument>True</InDokument>
      <Sektion>Bosch_footer_1</Sektion>
      <Reihenfolge>0</Reihenfolge>
    </Variable>
    <Variable>
      <Name>copyright</Name>
      <OrgInhalt>© Robert Bosch GmbH 2023. All rights reserved, also regarding any disposal, exploitation, reproduction, editing, distribution, as well as in the event of applications for industrial property rights.</OrgInhalt>
      <Wert>© Robert Bosch GmbH 2023. All rights reserved, also regarding any disposal, exploitation, reproduction, editing, distribution, as well as in the event of applications for industrial property rights.</Wert>
      <Platzhalter>False</Platzhalter>
      <DocDatenDialog>False</DocDatenDialog>
      <Label>$tr_copyright$</Label>
      <FrageVar>False</FrageVar>
      <Prefix/>
      <Suffix/>
      <WegfallVar/>
      <MussFeld>False</MussFeld>
      <Trenner>
        <VariableVor>repositoryremark</VariableVor>
        <Zwischen>&lt;br&gt;</Zwischen>
        <VariableNach>copyright</VariableNach>
      </Trenner>
      <InDokument>True</InDokument>
      <Sektion>Bosch_footer_2</Sektion>
      <Reihenfolge/>
    </Variable>
    <Variable>
      <Name>dateformat</Name>
      <OrgInhalt>2023-04-19</OrgInhalt>
      <Wert/>
      <Platzhalter>False</Platzhalter>
      <DocDatenDialog>True</DocDatenDialog>
      <Label>Date</Label>
      <FrageVar>False</FrageVar>
      <Prefix/>
      <Suffix/>
      <WegfallVar/>
      <MussFeld>False</MussFeld>
      <Trenner>
        <VariableVor>departmentshort</VariableVor>
        <VariableVor>confidentiality</VariableVor>
        <VariableVor>businessunit</VariableVor>
        <Zwischen> | </Zwischen>
        <VariableNach>dateformat</VariableNach>
      </Trenner>
      <InDokument>True</InDokument>
      <Sektion>Bosch_footer_1</Sektion>
      <Reihenfolge>0</Reihenfolge>
    </Variable>
    <Variable>
      <Name>businessunit</Name>
      <OrgInhalt>Cross-Domain Computing Solutions</OrgInhalt>
      <Wert>Cross-Domain Computing Solutions</Wert>
      <Platzhalter>False</Platzhalter>
      <DocDatenDialog>False</DocDatenDialog>
      <Label>$tr_businessunit$</Label>
      <FrageVar>False</FrageVar>
      <Prefix/>
      <Suffix/>
      <WegfallVar/>
      <MussFeld>False</MussFeld>
      <Trenner>
        <VariableVor>confidentiality</VariableVor>
        <Zwischen> | </Zwischen>
        <VariableNach>businessunit</VariableNach>
      </Trenner>
      <InDokument>True</InDokument>
      <Sektion>Bosch_footer_1</Sektion>
      <Reihenfolge>0</Reihenfolge>
    </Variable>
    <Variable>
      <Name>repositoryremark</Name>
      <OrgInhalt/>
      <Wert/>
      <Platzhalter>False</Platzhalter>
      <DocDatenDialog>True</DocDatenDialog>
      <Label>Filing note</Label>
      <FrageVar>False</FrageVar>
      <Prefix/>
      <Suffix/>
      <WegfallVar/>
      <MussFeld>False</MussFeld>
      <InDokument>True</InDokument>
      <Sektion>Bosch_footer_2</Sektion>
      <Reihenfolge>0</Reihenfolge>
    </Variable>
  </Variablen>
</saxML>
</file>

<file path=customXml/item5.xml><?xml version="1.0" encoding="utf-8"?>
<sax_Colors>
  <Line size="7">
    <Color val="9e2896" tooltip="Bosch Purple 40"/>
    <Color val="551151" tooltip="Bosch Purple 20"/>
  </Line>
  <Line size="7">
    <Color val="007bc0" tooltip="Bosch Blue 50"/>
    <Color val="004975" tooltip="Bosch Blue 30"/>
  </Line>
  <Line size="7">
    <Color val="18837e" tooltip="Bosch Turquoise 50"/>
    <Color val="0a4f4b" tooltip="Bosch Turquoise 30"/>
  </Line>
  <Line size="7">
    <Color val="00884a" tooltip="Bosch Green 50"/>
    <Color val="00512a" tooltip="Bosch Green 30"/>
  </Line>
</sax_Colors>
</file>

<file path=customXml/itemProps1.xml><?xml version="1.0" encoding="utf-8"?>
<ds:datastoreItem xmlns:ds="http://schemas.openxmlformats.org/officeDocument/2006/customXml" ds:itemID="{8C32E9E7-B86E-4C61-B4BE-B97B5DB6E8B7}">
  <ds:schemaRefs/>
</ds:datastoreItem>
</file>

<file path=customXml/itemProps2.xml><?xml version="1.0" encoding="utf-8"?>
<ds:datastoreItem xmlns:ds="http://schemas.openxmlformats.org/officeDocument/2006/customXml" ds:itemID="{81FFB0BC-22C2-4F86-9C80-0F3094B3BE5E}">
  <ds:schemaRefs/>
</ds:datastoreItem>
</file>

<file path=customXml/itemProps3.xml><?xml version="1.0" encoding="utf-8"?>
<ds:datastoreItem xmlns:ds="http://schemas.openxmlformats.org/officeDocument/2006/customXml" ds:itemID="{E466FEE4-C72E-487D-81E9-B648C30F14DC}">
  <ds:schemaRefs/>
</ds:datastoreItem>
</file>

<file path=customXml/itemProps4.xml><?xml version="1.0" encoding="utf-8"?>
<ds:datastoreItem xmlns:ds="http://schemas.openxmlformats.org/officeDocument/2006/customXml" ds:itemID="{D1063AF6-BE13-4A24-AD71-6B30BFDE1904}">
  <ds:schemaRefs/>
</ds:datastoreItem>
</file>

<file path=customXml/itemProps5.xml><?xml version="1.0" encoding="utf-8"?>
<ds:datastoreItem xmlns:ds="http://schemas.openxmlformats.org/officeDocument/2006/customXml" ds:itemID="{D0252559-44F8-474C-B66D-E357B88E32C2}">
  <ds:schemaRefs/>
</ds:datastoreItem>
</file>

<file path=docProps/app.xml><?xml version="1.0" encoding="utf-8"?>
<Properties xmlns="http://schemas.openxmlformats.org/officeDocument/2006/extended-properties" xmlns:vt="http://schemas.openxmlformats.org/officeDocument/2006/docPropsVTypes">
  <Template>presentation_169_1</Template>
  <TotalTime>0</TotalTime>
  <Words>19431</Words>
  <Application>WPS 演示</Application>
  <PresentationFormat>自定义</PresentationFormat>
  <Paragraphs>894</Paragraphs>
  <Slides>31</Slides>
  <Notes>14</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31</vt:i4>
      </vt:variant>
    </vt:vector>
  </HeadingPairs>
  <TitlesOfParts>
    <vt:vector size="44" baseType="lpstr">
      <vt:lpstr>Arial</vt:lpstr>
      <vt:lpstr>宋体</vt:lpstr>
      <vt:lpstr>Wingdings</vt:lpstr>
      <vt:lpstr>Bosch Office Sans</vt:lpstr>
      <vt:lpstr>Segoe Print</vt:lpstr>
      <vt:lpstr>Bosch Office Sans</vt:lpstr>
      <vt:lpstr>Symbol</vt:lpstr>
      <vt:lpstr>Microsoft YaHei UI</vt:lpstr>
      <vt:lpstr>微软雅黑</vt:lpstr>
      <vt:lpstr>Arial Unicode MS</vt:lpstr>
      <vt:lpstr>Calibri</vt:lpstr>
      <vt:lpstr>等线</vt:lpstr>
      <vt:lpstr>Bosch 2022</vt:lpstr>
      <vt:lpstr>Flow Planner: Safety-Guided Adaptive Flow Matching for Autonomous Driving PlanningDefect Analysis Based on Ground Truth and Adaptive Logic  基于真值和自适应逻辑的多模态大模型在辅助驾驶问题分析领域的应用</vt:lpstr>
      <vt:lpstr>PowerPoint 演示文稿</vt:lpstr>
      <vt:lpstr>行业趋势：从规则驱动到数据驱动</vt:lpstr>
      <vt:lpstr>自动驾驶规划方法的技术演进</vt:lpstr>
      <vt:lpstr>基线架构：Flow Planner (NeurIPS 2025)</vt:lpstr>
      <vt:lpstr>固定CFG权重无法适应多变驾驶场景</vt:lpstr>
      <vt:lpstr>纯模仿学习缺乏安全保证，实车部署风险高</vt:lpstr>
      <vt:lpstr>学术数据集与公司实际场景存在显著Domain Gap</vt:lpstr>
      <vt:lpstr>技术方案总览</vt:lpstr>
      <vt:lpstr>PowerPoint 演示文稿</vt:lpstr>
      <vt:lpstr>PowerPoint 演示文稿</vt:lpstr>
      <vt:lpstr>创新点3：Risk-Adaptive ODE 推理步数  🔒 可申请专利</vt:lpstr>
      <vt:lpstr>创新点4：Safety-Guided Flow Matching  🔒 可申请专利</vt:lpstr>
      <vt:lpstr>创新点5：跨域迁移学习（nuPlan → 公司数据）  📋 工程落地</vt:lpstr>
      <vt:lpstr>项目时间规划 (10个月)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附录A：Diffusion vs Flow Matching 对比</vt:lpstr>
      <vt:lpstr>附录B：为什么需要多模态轨迹生成？</vt:lpstr>
      <vt:lpstr>PowerPoint 演示文稿</vt:lpstr>
      <vt:lpstr>PowerPoint 演示文稿</vt:lpstr>
      <vt:lpstr>附录E：为什么选择 Flow Matching？</vt:lpstr>
      <vt:lpstr>PowerPoint 演示文稿</vt:lpstr>
      <vt:lpstr>附录G：Flow Planner 的三大设计创新</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Vision Software Architecture 2028</dc:title>
  <dc:creator>Christian Wehebrink</dc:creator>
  <cp:lastModifiedBy>高超</cp:lastModifiedBy>
  <cp:revision>13</cp:revision>
  <dcterms:created xsi:type="dcterms:W3CDTF">2023-04-19T19:27:00Z</dcterms:created>
  <dcterms:modified xsi:type="dcterms:W3CDTF">2026-03-30T13:11:21Z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ttachmentremark">
    <vt:lpwstr>$attachmentremark$</vt:lpwstr>
  </property>
  <property fmtid="{D5CDD505-2E9C-101B-9397-08002B2CF9AE}" pid="3" name="confidentiality">
    <vt:lpwstr>$confidentiality_internal$</vt:lpwstr>
  </property>
  <property fmtid="{D5CDD505-2E9C-101B-9397-08002B2CF9AE}" pid="4" name="copyright">
    <vt:lpwstr>$copyright$</vt:lpwstr>
  </property>
  <property fmtid="{D5CDD505-2E9C-101B-9397-08002B2CF9AE}" pid="5" name="dateformat">
    <vt:lpwstr>$dateformat$</vt:lpwstr>
  </property>
  <property fmtid="{D5CDD505-2E9C-101B-9397-08002B2CF9AE}" pid="6" name="businessunit">
    <vt:lpwstr>$businessunit$</vt:lpwstr>
  </property>
  <property fmtid="{D5CDD505-2E9C-101B-9397-08002B2CF9AE}" pid="7" name="repositoryremark">
    <vt:lpwstr>$repositoryremark$</vt:lpwstr>
  </property>
  <property fmtid="{D5CDD505-2E9C-101B-9397-08002B2CF9AE}" pid="8" name="ContentTypeId">
    <vt:lpwstr>0x010100148A8CD93FE89745BEFE607995392A2F</vt:lpwstr>
  </property>
  <property fmtid="{D5CDD505-2E9C-101B-9397-08002B2CF9AE}" pid="9" name="_IPGFID">
    <vt:lpwstr>[DocID]=64B5A9DE-A742-4873-9B88-09592DC0B804</vt:lpwstr>
  </property>
  <property fmtid="{D5CDD505-2E9C-101B-9397-08002B2CF9AE}" pid="10" name="_IPGFLOW_P-F403_E-1_FP-1_SP-1_CV-CBC389DF_CN-5642E118">
    <vt:lpwstr>sCW24w1bcCV+0qYGP/Ws1ia82GdqmGQhes+tXVwRoRzT8ejquP/q9T4QSNyVH+vNmcGTM5ZWL47HiQjim7ib29jrU4qVIDRA4cXcVOF/Pt0hxAkcFRjiqRUtoiwCWWG9kOv+iZkyDYyxRgsKQGN15DGk0Z1H4wRsO5RGkcAJimBPYNWOXCSKNRlbq3kR7kP2R+/aYmZ7ngo4ONq7lMLy9Il1vPgfNn8mYsRI40Ot4YUUm2EEhAe8gUDuKOh0KJp</vt:lpwstr>
  </property>
  <property fmtid="{D5CDD505-2E9C-101B-9397-08002B2CF9AE}" pid="11" name="_IPGFLOW_P-F403_E-1_FP-1_SP-2_CV-3B02FD20_CN-E0C46C4C">
    <vt:lpwstr>tljNnHZaAnUrlXmJHGJMJEZlkPuhJ1VmeJg8+0vXotdXQc0ebbYbfVU2fiyFylM8v9fLM0K4XZptOpsUoK0UeZLFK3BZ8d2dlH20doxWWqp8=</vt:lpwstr>
  </property>
  <property fmtid="{D5CDD505-2E9C-101B-9397-08002B2CF9AE}" pid="12" name="_IPGFLOW_P-F403_E-0_FP-1_CV-2D4294F3_CN-DA978F19">
    <vt:lpwstr>DPSPMK|3|364|2|0</vt:lpwstr>
  </property>
  <property fmtid="{D5CDD505-2E9C-101B-9397-08002B2CF9AE}" pid="13" name="_IPGFLOW_P-F403_E-1_FP-2_SP-1_CV-DA82E4EB_CN-5497E506">
    <vt:lpwstr>X9R+igj7Z76en93rzAcIwMXvjJnfunW6j+1YolRx95GDMNEd/fKoxfupznPB1rKDAvxoHrWRmQ59eUIdU8IEtJ493DDOM8mKFX59An0pT4BQ00C9gYmyRdKRs2xuRESZMRdF4rUwp9kavl6Wk/9wE8wWf05Y170zgH85vo/A1Xj7Tjrlyi92TanVaPjquKdzBRDiepQVVr8Za2gDACjNfrFC6KfnU0ikxa9aAcJWhlCjlZkXCjKSHKDMyR9c1VP</vt:lpwstr>
  </property>
  <property fmtid="{D5CDD505-2E9C-101B-9397-08002B2CF9AE}" pid="14" name="_IPGFLOW_P-F403_E-1_FP-2_SP-2_CV-1C1963EE_CN-280CEB98">
    <vt:lpwstr>42Ebxx0n7Q3MYq6AivMlIQeK5SKnRm67AnsquJm+a7C/qzy9Bu3m5bdS1qPGHnUaCqCaLKg/ynocoD/F98A+Zh2ZG5m+3UfCWj58+6wWbqI0=</vt:lpwstr>
  </property>
  <property fmtid="{D5CDD505-2E9C-101B-9397-08002B2CF9AE}" pid="15" name="_IPGFLOW_P-F403_E-0_FP-2_CV-2D4294F3_CN-675DE3D7">
    <vt:lpwstr>DPSPMK|3|364|2|0</vt:lpwstr>
  </property>
  <property fmtid="{D5CDD505-2E9C-101B-9397-08002B2CF9AE}" pid="16" name="_IPGFLOW_P-F403_E-0_CV-8BD6D882_CN-461053AA">
    <vt:lpwstr>DPFPMK|3|50|3|0</vt:lpwstr>
  </property>
  <property fmtid="{D5CDD505-2E9C-101B-9397-08002B2CF9AE}" pid="17" name="_IPGFLOW_P-F403_E-1_FP-3_SP-1_CV-B11B7489_CN-D36FFC54">
    <vt:lpwstr>X9R+igj7Z76en93rzAcIwEwWS491ympX2lJpKjVhQ80WPLZe8PqR8R32QatmtnADv+UmDeBJHAzQ3e8IuJU020qPCUOKwGFI6SRubnKpUNWzH0saudHYFIUswe3AeF1exO1qJlKmTKck/hHk7zkSJP9Z6PD/6giknJHTgBcUpxcb26JmondfDYRye0xDvEoKGKMCJRMELxFDDVOf4YsOsminGQgYSfiaFxynIuHE92A4Qb6ZWIU/2Yp/u0y6QCO</vt:lpwstr>
  </property>
  <property fmtid="{D5CDD505-2E9C-101B-9397-08002B2CF9AE}" pid="18" name="_IPGFLOW_P-F403_E-1_FP-3_SP-2_CV-F2A6F26_CN-4A7904D7">
    <vt:lpwstr>eZGEChePK8Yn43+jKsFVgF5i3IOEcXy7mL4cy5EdwdOy9x06GiFh/gzAGx3ACOdCzElthJbvbA67GxWvcz6oPFhwT+0wVsB9mr4ONHCuc9w2PO5Gd2VU1/8BtHq/lzKFLZm+4rb40l78yo+Ms6h+29PbdrafGjsvHvDmg2f6tPTg=</vt:lpwstr>
  </property>
  <property fmtid="{D5CDD505-2E9C-101B-9397-08002B2CF9AE}" pid="19" name="_IPGFLOW_P-F403_E-0_FP-3_CV-B684056A_CN-78101340">
    <vt:lpwstr>DPSPMK|3|428|2|0</vt:lpwstr>
  </property>
  <property fmtid="{D5CDD505-2E9C-101B-9397-08002B2CF9AE}" pid="20" name="_IPGLAB_P-F403_E-1_CV-F66D8B9A_CN-93075FFA">
    <vt:lpwstr>6pjvvBNY7rWyDVaj2jNocpFT7g5q25Fnw9qKrDjd13E6YnxcHs00x/McuK9N76O9aiYRdhYHhNw6gMy8ThgRr3SZ0yTZNWvPmP2AUtCyB3Q=</vt:lpwstr>
  </property>
  <property fmtid="{D5CDD505-2E9C-101B-9397-08002B2CF9AE}" pid="21" name="KSOProductBuildVer">
    <vt:lpwstr>2052-12.1.0.25225</vt:lpwstr>
  </property>
  <property fmtid="{D5CDD505-2E9C-101B-9397-08002B2CF9AE}" pid="22" name="ICV">
    <vt:lpwstr>BF78626F74DF41C08E74C313C82C9E53_12</vt:lpwstr>
  </property>
</Properties>
</file>