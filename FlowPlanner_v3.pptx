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6"/>
  </p:sldMasterIdLst>
  <p:notesMasterIdLst>
    <p:notesMasterId r:id="rId33"/>
  </p:notesMasterIdLst>
  <p:sldIdLst>
    <p:sldId id="16776654" r:id="rId7"/>
    <p:sldId id="400" r:id="rId8"/>
    <p:sldId id="16774727" r:id="rId9"/>
    <p:sldId id="16776740" r:id="rId10"/>
    <p:sldId id="16776714" r:id="rId11"/>
    <p:sldId id="16776723" r:id="rId12"/>
    <p:sldId id="16776761" r:id="rId13"/>
    <p:sldId id="16776762" r:id="rId14"/>
    <p:sldId id="16776766" r:id="rId15"/>
    <p:sldId id="16776725" r:id="rId16"/>
    <p:sldId id="16776768" r:id="rId17"/>
    <p:sldId id="16776769" r:id="rId18"/>
    <p:sldId id="16776770" r:id="rId19"/>
    <p:sldId id="16776765" r:id="rId20"/>
    <p:sldId id="16776732" r:id="rId21"/>
    <p:sldId id="16776691" r:id="rId22"/>
    <p:sldId id="16776760" r:id="rId23"/>
    <p:sldId id="16776726" r:id="rId24"/>
    <p:sldId id="16776756" r:id="rId25"/>
    <p:sldId id="16776735" r:id="rId26"/>
    <p:sldId id="16776727" r:id="rId27"/>
    <p:sldId id="16776752" r:id="rId28"/>
    <p:sldId id="16776755" r:id="rId29"/>
    <p:sldId id="16776753" r:id="rId30"/>
    <p:sldId id="16776746" r:id="rId31"/>
    <p:sldId id="16776744" r:id="rId32"/>
  </p:sldIdLst>
  <p:sldSz cx="10969625" cy="6170613"/>
  <p:notesSz cx="6858000" cy="9144000"/>
  <p:custDataLst>
    <p:tags r:id="rId34"/>
  </p:custDataLst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1pPr>
    <a:lvl2pPr marL="41084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2pPr>
    <a:lvl3pPr marL="82232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3pPr>
    <a:lvl4pPr marL="123317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4pPr>
    <a:lvl5pPr marL="164465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5pPr>
    <a:lvl6pPr marL="2055495" algn="l" defTabSz="822325" rtl="0" eaLnBrk="1" latinLnBrk="0" hangingPunct="1"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6pPr>
    <a:lvl7pPr marL="2466975" algn="l" defTabSz="822325" rtl="0" eaLnBrk="1" latinLnBrk="0" hangingPunct="1"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7pPr>
    <a:lvl8pPr marL="2877820" algn="l" defTabSz="822325" rtl="0" eaLnBrk="1" latinLnBrk="0" hangingPunct="1"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8pPr>
    <a:lvl9pPr marL="3289300" algn="l" defTabSz="822325" rtl="0" eaLnBrk="1" latinLnBrk="0" hangingPunct="1"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0F0"/>
    <a:srgbClr val="00FF00"/>
    <a:srgbClr val="004975"/>
    <a:srgbClr val="BFE8FF"/>
    <a:srgbClr val="B0E1FF"/>
    <a:srgbClr val="EDEDED"/>
    <a:srgbClr val="D6DB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3" d="100"/>
          <a:sy n="63" d="100"/>
        </p:scale>
        <p:origin x="662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slide" Target="slides/slide20.xml"/><Relationship Id="rId21" Type="http://schemas.openxmlformats.org/officeDocument/2006/relationships/slide" Target="slides/slide15.xml"/><Relationship Id="rId34" Type="http://schemas.openxmlformats.org/officeDocument/2006/relationships/tags" Target="tags/tag1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29" Type="http://schemas.openxmlformats.org/officeDocument/2006/relationships/slide" Target="slides/slide23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1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slide" Target="slides/slide26.xml"/><Relationship Id="rId37" Type="http://schemas.openxmlformats.org/officeDocument/2006/relationships/theme" Target="theme/theme1.xml"/><Relationship Id="rId5" Type="http://schemas.openxmlformats.org/officeDocument/2006/relationships/customXml" Target="../customXml/item5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viewProps" Target="viewProps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31" Type="http://schemas.openxmlformats.org/officeDocument/2006/relationships/slide" Target="slides/slide25.xml"/><Relationship Id="rId4" Type="http://schemas.openxmlformats.org/officeDocument/2006/relationships/customXml" Target="../customXml/item4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presProps" Target="presProps.xml"/><Relationship Id="rId8" Type="http://schemas.openxmlformats.org/officeDocument/2006/relationships/slide" Target="slides/slide2.xml"/><Relationship Id="rId3" Type="http://schemas.openxmlformats.org/officeDocument/2006/relationships/customXml" Target="../customXml/item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07911F-CEAF-4F0B-98BD-EFB38C6572AA}" type="datetimeFigureOut">
              <a:rPr lang="de-DE" smtClean="0"/>
              <a:t>11.04.2026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2D48B2-9EB0-4B37-9B35-FC11E2EA535A}" type="slidenum">
              <a:rPr lang="de-DE" smtClean="0"/>
              <a:t>‹#›</a:t>
            </a:fld>
            <a:endParaRPr 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[~30秒] 各位领导、各位同事，大家好。我是来自BCSC/EPA的高超。</a:t>
            </a:r>
            <a:br/>
            <a:br/>
            <a:r>
              <a:t>今天给大家汇报的项目叫Flow Planner，全称是"基于安全引导的自适应流匹配自动驾驶规划方案"。</a:t>
            </a:r>
            <a:br/>
            <a:br/>
            <a:r>
              <a:t>听起来名字很长，但核心做的事情很直白：我们要用最新一代的生成式AI技术来做自动驾驶的轨迹规划——也就是让车自己决定接下来怎么走。而且不只是做到学术上paper好看，还要能真正部署到车上。</a:t>
            </a:r>
            <a:br/>
            <a:br/>
            <a:r>
              <a:t>今天的汇报大约20分钟，我会先讲技术背景，帮大家建立直觉；然后介绍我们的技术方案和三个创新点；最后展示价值和资源需求。</a:t>
            </a:r>
            <a:endParaRPr 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2D48B2-9EB0-4B37-9B35-FC11E2EA535A}" type="slidenum">
              <a:rPr lang="de-DE" smtClean="0"/>
              <a:t>1</a:t>
            </a:fld>
            <a:endParaRPr lang="de-DE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[~10秒] 这是今天的提纲，共四个部分。我们先从技术背景开始。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2D48B2-9EB0-4B37-9B35-FC11E2EA535A}" type="slidenum">
              <a:rPr lang="de-DE" smtClean="0"/>
              <a:t>2</a:t>
            </a:fld>
            <a:endParaRPr lang="de-DE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[~1分钟] 从行业大趋势来看，自动驾驶规划正在从"写规则"变成"学经验"。</a:t>
            </a:r>
            <a:br/>
            <a:br/>
            <a:r>
              <a:t>传统做法是工程师手写if-else规则——"前方有车减速，距离小于5米刹车"。简单场景还行，但到了复杂交互场景，比如有人突然横穿马路同时旁边有车在变道，规则根本写不完，写了也测不完。</a:t>
            </a:r>
            <a:br/>
            <a:br/>
            <a:r>
              <a:t>现在整个行业都在转向数据驱动。Tesla的FSD v12已经是端到端方案，Waymo的EMMA也走了端到端路线。学术顶会上生成式规划方法已经成为绝对主流。</a:t>
            </a:r>
            <a:br/>
            <a:br/>
            <a:r>
              <a:t>Flow Planner作为纯学习方法首次突破了nuPlan Val14的90分大关，这是一个标志性的成果。但—这里有一个大的"但是"——学术上跑分高不等于能上车。从benchmark到实车部署还有很大的gap。安全性怎么保证？不同场景怎么适应？公司数据怎么用？这些就是我们这个项目要解决的问题。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2D48B2-9EB0-4B37-9B35-FC11E2EA535A}" type="slidenum">
              <a:rPr lang="de-DE" smtClean="0"/>
              <a:t>3</a:t>
            </a:fld>
            <a:endParaRPr lang="de-DE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[~2分钟] 这一页是整个汇报的知识铺垫，我会讲得稍微细一些。</a:t>
            </a:r>
            <a:br/>
            <a:br/>
            <a:r>
              <a:t>自动驾驶的规划模块，说白了就是回答一个问题：接下来8秒内，车应该怎么走？</a:t>
            </a:r>
            <a:br/>
            <a:br/>
            <a:r>
              <a:t>第一代方法是回归式方法。原理很直接：你给模型输入周围的车辆位置、车道线、路口结构这些信息，它直接输出一串坐标点——"往前走5米、右转30度"这样的。技术上就是一个监督学习的回归问题，用L2损失去拟合专家司机的驾驶轨迹。这类方法的优点是快，5毫秒就出结果。但致命缺陷是只能输出一条轨迹。你到了一个十字路口，左转和直行可能都合理，但回归式方法只能给你一个答案，这就是所谓的"模式崩塌"问题。代表工作PlanTF和PLUTO，性能在84到89分之间。</a:t>
            </a:r>
            <a:br/>
            <a:br/>
            <a:r>
              <a:t>所以出现了第二代：生成式方法。核心思想不再是预测一条轨迹，而是学习整个轨迹分布，从中采样多条候选，再选最优的执行。</a:t>
            </a:r>
            <a:br/>
            <a:br/>
            <a:r>
              <a:t>生成式方法有三条技术路线，我依次介绍：</a:t>
            </a:r>
            <a:br/>
            <a:br/>
            <a:r>
              <a:t>第一条是扩散模型Diffusion Model，这个大家可能听说过，DALL-E和Stable Diffusion画图用的就是这个技术。在规划领域也是类似的原理：训练时先给轨迹逐步加高斯噪声，加到最后变成一团随机噪声；然后训练一个去噪网络，学会把噪声一步一步擦干净，恢复出合理轨迹。问题是这个"擦除"过程需要20到100步迭代，每步都要跑一次网络推理，所以延迟大概100毫秒，对实时性要求很高的驾驶场景来说太慢了。代表工作是ICLR 2025的Diffusion Planner，性能89.87。</a:t>
            </a:r>
            <a:br/>
            <a:br/>
            <a:r>
              <a:t>这里值得一提的是地平线的HSD技术，它用了一个很聪明的trick叫Truncated Diffusion——不从纯噪声开始去噪，而是从"专家轨迹加一点点噪声"的中间状态开始。这样反向去噪只需要3到5步就够了。核心思想就四个字："少加少去"。这个思路很巧妙，但本质上还是在Diffusion框架内做优化。</a:t>
            </a:r>
            <a:br/>
            <a:br/>
            <a:r>
              <a:t>第二条是自回归方法，就像ChatGPT写文章一样逐个token生成轨迹点。但连续轨迹和离散文本不一样，串行生成会累积误差，效果一般。</a:t>
            </a:r>
            <a:br/>
            <a:br/>
            <a:r>
              <a:t>第三条就是我们选择的Flow Matching。它不走Diffusion那条弯路，而是基于最优传输理论，直接学习一条从噪声到轨迹的最短直线路径。打个比方：Diffusion是迷宫里绕来绕去找出口，Flow Matching是GPS直接给你画一条直线。路径直意味着用很少的步数就能精确到达——只需要4步。NeurIPS 2025的Flow Planner用这个方法拿到了90.43分，是纯学习方法的SOTA。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[~1.5分钟] 我们的基线是Flow Planner，NeurIPS 2025发表，纯学习方法排名第一。</a:t>
            </a:r>
            <a:br/>
            <a:br/>
            <a:r>
              <a:t>模型非常轻量，只有1428万参数，相当于一个中等大小的ResNet。整体分两部分：</a:t>
            </a:r>
            <a:br/>
            <a:br/>
            <a:r>
              <a:t>编码器负责理解世界：把周围的车辆、车道线、路口结构等信息分别编码成特征向量。用的是MLP-Mixer结构，五个通道分别处理ego历史轨迹、周围37个最近的agent、70条车道线、路由信息和静态障碍物。</a:t>
            </a:r>
            <a:br/>
            <a:br/>
            <a:r>
              <a:t>解码器负责生成轨迹：4层DiT Block——这个DiT后面我会专门解释——接收编码器的输出，通过4步Flow Matching ODE求解，生成未来8秒的驾驶轨迹。</a:t>
            </a:r>
            <a:br/>
            <a:br/>
            <a:r>
              <a:t>一个关键设计是CFG——Classifier-Free Guidance。简单说就是推理时同时跑"看到周围车"和"看不到周围车"两个版本，然后加权融合。这样通过调节权重w就能控制模型对周围环境的敏感程度。Flow Planner默认w=1.8。</a:t>
            </a:r>
            <a:br/>
            <a:br/>
            <a:r>
              <a:t>对比Diffusion Planner：推理快5倍，性能更高，参数更少。这个基线本身就非常强。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2D48B2-9EB0-4B37-9B35-FC11E2EA535A}" type="slidenum">
              <a:rPr lang="de-DE" smtClean="0"/>
              <a:t>5</a:t>
            </a:fld>
            <a:endParaRPr lang="de-DE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[~30秒] 这是技术方案的全景图。三个创新点分别解决不同的问题：自适应CFG解决引导力度固定的问题，安全约束解决碰撞风险问题，跨域迁移解决数据域差异问题。三者互相独立又协同工作，可以逐步实现和验证。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[~1分钟] 创新点2：Safety-Guided Flow Matching。</a:t>
            </a:r>
            <a:br/>
            <a:br/>
            <a:r>
              <a:t>核心思想用一句话说：给规划器加装一个安全护栏。</a:t>
            </a:r>
            <a:br/>
            <a:br/>
            <a:r>
              <a:t>技术上怎么实现？在Flow Matching的每一步ODE求解之后，额外做一步操作：计算当前轨迹离周围障碍物有多远，计算一个安全梯度方向——也就是"往哪个方向挪会更安全"，然后把轨迹往安全方向微调一下。公式很简洁：安全速度等于原始流速度加上lambda乘以安全梯度。</a:t>
            </a:r>
            <a:br/>
            <a:br/>
            <a:r>
              <a:t>这个方案最大的优点是即插即用——完全不需要重新训练模型，不改变模型结构，零额外训练成本。而且安全约束参与了整个生成过程，轨迹是"一边生成一边避碰"的，比事后裁剪自然得多。</a:t>
            </a:r>
            <a:br/>
            <a:br/>
            <a:r>
              <a:t>类比一下就是：Flow Matching是GPS负责规划路线，安全引导是避障雷达负责避开危险，两者同时工作。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2D48B2-9EB0-4B37-9B35-FC11E2EA535A}" type="slidenum">
              <a:rPr lang="de-DE" smtClean="0"/>
              <a:t>10</a:t>
            </a:fld>
            <a:endParaRPr lang="de-DE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[~40秒] 数据说话。Val14闭环测试中Flow Planner的NR Score 90.43，是纯学习方法的第一名。InterPlan交互基准上领先Diffusion Planner 17%，在最难的行人横穿场景差距更大。</a:t>
            </a:r>
            <a:br/>
            <a:br/>
            <a:r>
              <a:t>注意这只是基线性能。加上我们的三个创新点后，预期Val14可以到91以上，InterPlan到65以上。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[~30秒] 评测分四个阶段：先在学术benchmark上验证基线，再做消融实验验证每个创新点的贡献，然后在公司仿真环境闭环测试，最后上车实测。层层推进，确保可靠性。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[~50秒] 创新点3：跨域迁移学习。</a:t>
            </a:r>
            <a:br/>
            <a:br/>
            <a:r>
              <a:t>核心策略是两阶段训练。第一阶段在nuPlan大规模数据上预训练——4个城市、100万以上场景，让模型学会通用驾驶能力：跟车、变道、转弯、避障这些基本功。</a:t>
            </a:r>
            <a:br/>
            <a:br/>
            <a:r>
              <a:t>第二阶段用公司数据微调。关键是不全部从头训练，而是冻结编码器的浅层保留通用特征提取能力，只微调深层和解码器。另外用Domain-Adaptive Normalization处理数据分布差异。</a:t>
            </a:r>
            <a:br/>
            <a:br/>
            <a:r>
              <a:t>好处很明显：不需要从零收集百万级数据，用开源数据学通用能力，少量公司数据就能适配本地场景。大幅降低数据成本和开发周期。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2D48B2-9EB0-4B37-9B35-FC11E2EA535A}" type="slidenum">
              <a:rPr lang="de-DE" smtClean="0"/>
              <a:t>18</a:t>
            </a:fld>
            <a:endParaRPr lang="de-DE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这一页讲工程价值。三个方面：学术创新价值可以发顶会论文；工程落地价值包括自适应CFG、安全约束和跨域迁移；安全性方面有真实案例对比。最后强调和公司业务的直接关联。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[~30秒] 效率方面，Flow Matching只需4步推理，加上自适应步数后简单场景还能更快。模型压缩后不到30MB，延迟50ms以内满足实时要求。数据成本方面利用免费开源数据预训练，只需少量公司数据微调。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[~30秒] 时间规划分四个阶段共10个月。前3个月完成基线复现，4到6月开发核心创新，7到8月做跨域迁移和部署优化，最后两个月实车验证和论文撰写。每个阶段都有明确的量化目标。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最后看一下资源需求。计算资源方面，训练需要 A100 或 A800 4到8卡，日常开发用 RTX 4090 就够了，再加上大容量 SSD 存数据。数据方面主要用开源的 nuPlan 数据集，1500小时驾驶数据覆盖4个城市，加上 InterPlan 用来测试博弈场景。人力方面需要1到2名研究生做核心算法，1名教师指导。预期成果：发表1到2篇顶会论文，Val14 NR 超过91，InterPlan 超过65，推理延迟控制在50毫秒以内。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是风险评估。我把风险分成技术风险和项目风险两类，每个风险都配了具体的应对策略。重点是让大家看到：我们不是没想过可能出问题，而是每个风险都有预案。特别强调最后一行：总体评估技术路线可行，风险可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以上就是我的整个汇报。总结一下 Flow Planner 的四大核心优势：第一，用 Flow Matching 替代 Diffusion，推理只需要4步，速度提升数十倍；第二，多模态 Joint Attention 增强了车辆、车道、轨迹之间的交互建模；第三，CFG 引导机制动态增强对周围环境的响应；第四，细粒度轨迹 Token 实现了更精细的时间窗口建模。谢谢大家，欢迎提问。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这一页解释一个核心问题：为什么自动驾驶规划必须用生成模型，而不是传统的回归模型。</a:t>
            </a:r>
          </a:p>
          <a:p>
            <a:r>
              <a:t>我们来看一个具体场景：前方有一辆静止的车挡住了路，你可以选择左绕，也可以选择右绕。训练数据里，大约一半司机选了左绕，另一半选了右绕——都是正确的决策。</a:t>
            </a:r>
          </a:p>
          <a:p>
            <a:r>
              <a:t>但如果我们用回归模型来学习呢？回归模型用的是 L2 Loss，它的数学最优解是所有 GT 的均值。左绕的坐标是负3，右绕是正3，均值是0——也就是说模型会输出"直行"。直接撞上去了。这就是所谓的 Mode Averaging 问题：两个合理模式的均值，本身不是一个合理的模式。</a:t>
            </a:r>
          </a:p>
          <a:p>
            <a:r>
              <a:t>生成模型就不会有这个问题。它学到的是完整的概率分布——一个双峰分布，左边一个峰、右边一个峰，中间概率密度接近零。每次采样都会落在某个峰附近，要么左绕要么右绕，永远不会采样到中间"直行撞车"的轨迹。</a:t>
            </a:r>
          </a:p>
          <a:p>
            <a:r>
              <a:t>总结就是：不是训练数据不好，而是回归模型的数学性质决定了它无法利用数据中的多样性。这就是我们选择生成模型的根本原因。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[~1分钟] Flow Planner论文自身有三个设计创新，我快速过一下。</a:t>
            </a:r>
            <a:br/>
            <a:br/>
            <a:r>
              <a:t>第一个是轨迹Token化：把8秒80帧的轨迹切成7个重叠的Token。每个Token覆盖2秒也就是20帧，相邻Token重叠1秒。推理后对重叠区域取平均来保证连贯性。这样做的好处是模型可以在Token级别学习局部时序模式，比直接预测80个坐标点更精细。</a:t>
            </a:r>
            <a:br/>
            <a:br/>
            <a:r>
              <a:t>第二个是多模态Joint Attention：邻居车辆、车道线、轨迹Token三种不同模态的信息统一投影到同一个维度，做联合注意力运算。还加了距离感知的bias，越近的东西注意力权重越大。</a:t>
            </a:r>
            <a:br/>
            <a:br/>
            <a:r>
              <a:t>第三个是Flow Matching和CFG的巧妙结合：FM负责高效生成，CFG负责增强交互，两者互补。</a:t>
            </a:r>
            <a:br/>
            <a:br/>
            <a:r>
              <a:t>理解了这些技术基础之后，接下来我讲我们发现的三个关键问题——也就是我们做这个项目的动机。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9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horizontal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Logo"/>
          <p:cNvPicPr>
            <a:picLocks noSelect="1"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9054" y="5676108"/>
            <a:ext cx="1015200" cy="276683"/>
          </a:xfrm>
          <a:prstGeom prst="rect">
            <a:avLst/>
          </a:prstGeom>
        </p:spPr>
      </p:pic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547200" y="2602898"/>
            <a:ext cx="9268637" cy="1507549"/>
          </a:xfrm>
          <a:ln w="0">
            <a:noFill/>
          </a:ln>
          <a:effectLst/>
        </p:spPr>
        <p:txBody>
          <a:bodyPr anchor="b" anchorCtr="0">
            <a:normAutofit/>
          </a:bodyPr>
          <a:lstStyle>
            <a:lvl1pPr algn="l">
              <a:lnSpc>
                <a:spcPct val="100000"/>
              </a:lnSpc>
              <a:defRPr sz="4000" b="1" kern="0" cap="none" baseline="0">
                <a:solidFill>
                  <a:schemeClr val="tx1"/>
                </a:solidFill>
              </a:defRPr>
            </a:lvl1pPr>
          </a:lstStyle>
          <a:p>
            <a:r>
              <a:rPr lang="en-US" noProof="1"/>
              <a:t>Presentation title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" hasCustomPrompt="1"/>
          </p:nvPr>
        </p:nvSpPr>
        <p:spPr>
          <a:xfrm>
            <a:off x="547200" y="4241130"/>
            <a:ext cx="9268637" cy="125436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24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noProof="1"/>
              <a:t>Name, Department, Date</a:t>
            </a:r>
          </a:p>
        </p:txBody>
      </p:sp>
      <p:pic>
        <p:nvPicPr>
          <p:cNvPr id="4" name="SuperGraphic"/>
          <p:cNvPicPr>
            <a:picLocks noSelect="1"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0969200" cy="2056725"/>
          </a:xfrm>
          <a:prstGeom prst="rect">
            <a:avLst/>
          </a:prstGeom>
        </p:spPr>
      </p:pic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vertical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Logo"/>
          <p:cNvPicPr>
            <a:picLocks noSelect="1"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9054" y="5676108"/>
            <a:ext cx="1015200" cy="276683"/>
          </a:xfrm>
          <a:prstGeom prst="rect">
            <a:avLst/>
          </a:prstGeom>
        </p:spPr>
      </p:pic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3289593" y="1152144"/>
            <a:ext cx="7132831" cy="2044365"/>
          </a:xfrm>
          <a:ln w="0">
            <a:noFill/>
          </a:ln>
          <a:effectLst/>
        </p:spPr>
        <p:txBody>
          <a:bodyPr anchor="b" anchorCtr="0">
            <a:normAutofit/>
          </a:bodyPr>
          <a:lstStyle>
            <a:lvl1pPr algn="l">
              <a:lnSpc>
                <a:spcPct val="100000"/>
              </a:lnSpc>
              <a:defRPr sz="4000" b="1" kern="0" cap="none" baseline="0">
                <a:solidFill>
                  <a:schemeClr val="tx1"/>
                </a:solidFill>
              </a:defRPr>
            </a:lvl1pPr>
          </a:lstStyle>
          <a:p>
            <a:r>
              <a:rPr lang="en-US" noProof="1"/>
              <a:t>Presentation title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sz="quarter" idx="1" hasCustomPrompt="1"/>
          </p:nvPr>
        </p:nvSpPr>
        <p:spPr>
          <a:xfrm>
            <a:off x="3289593" y="3327191"/>
            <a:ext cx="7132831" cy="125436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24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noProof="1"/>
              <a:t>Name, Department, Date</a:t>
            </a:r>
          </a:p>
        </p:txBody>
      </p:sp>
      <p:pic>
        <p:nvPicPr>
          <p:cNvPr id="3" name="SuperGraphic"/>
          <p:cNvPicPr>
            <a:picLocks noSelect="1"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742494" cy="6170613"/>
          </a:xfrm>
          <a:prstGeom prst="rect">
            <a:avLst/>
          </a:prstGeom>
        </p:spPr>
      </p:pic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horizontal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Logo"/>
          <p:cNvPicPr>
            <a:picLocks noSelect="1"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9054" y="5676108"/>
            <a:ext cx="1015200" cy="276683"/>
          </a:xfrm>
          <a:prstGeom prst="rect">
            <a:avLst/>
          </a:prstGeom>
        </p:spPr>
      </p:pic>
      <p:sp>
        <p:nvSpPr>
          <p:cNvPr id="6" name="Chapter_title"/>
          <p:cNvSpPr>
            <a:spLocks noGrp="1"/>
          </p:cNvSpPr>
          <p:nvPr>
            <p:ph type="body" sz="quarter" idx="15" hasCustomPrompt="1"/>
          </p:nvPr>
        </p:nvSpPr>
        <p:spPr>
          <a:xfrm>
            <a:off x="547200" y="2602896"/>
            <a:ext cx="9268637" cy="2892602"/>
          </a:xfrm>
          <a:ln w="0">
            <a:noFill/>
          </a:ln>
          <a:effectLst/>
        </p:spPr>
        <p:txBody>
          <a:bodyPr anchor="t" anchorCtr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Tx/>
              <a:buNone/>
              <a:defRPr sz="4000" b="1" kern="0" cap="none" baseline="0">
                <a:solidFill>
                  <a:schemeClr val="tx1"/>
                </a:solidFill>
              </a:defRPr>
            </a:lvl1pPr>
          </a:lstStyle>
          <a:p>
            <a:r>
              <a:rPr lang="en-US" noProof="1"/>
              <a:t>Chapter title</a:t>
            </a:r>
          </a:p>
        </p:txBody>
      </p:sp>
      <p:sp>
        <p:nvSpPr>
          <p:cNvPr id="3" name="RectangleCol"/>
          <p:cNvSpPr>
            <a:spLocks noSelect="1" noChangeAspect="1"/>
          </p:cNvSpPr>
          <p:nvPr userDrawn="1"/>
        </p:nvSpPr>
        <p:spPr>
          <a:xfrm>
            <a:off x="0" y="99"/>
            <a:ext cx="10969625" cy="2055600"/>
          </a:xfrm>
          <a:prstGeom prst="rect">
            <a:avLst/>
          </a:prstGeom>
          <a:solidFill>
            <a:schemeClr val="accent1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ctrTitle" hasCustomPrompt="1"/>
          </p:nvPr>
        </p:nvSpPr>
        <p:spPr>
          <a:xfrm>
            <a:off x="465781" y="98"/>
            <a:ext cx="2207942" cy="2055600"/>
          </a:xfrm>
        </p:spPr>
        <p:txBody>
          <a:bodyPr bIns="72000" anchor="ctr"/>
          <a:lstStyle>
            <a:lvl1pPr marL="0" indent="0">
              <a:lnSpc>
                <a:spcPct val="100000"/>
              </a:lnSpc>
              <a:spcBef>
                <a:spcPts val="500"/>
              </a:spcBef>
              <a:buFontTx/>
              <a:buNone/>
              <a:defRPr sz="15000" b="1" kern="0" baseline="0">
                <a:solidFill>
                  <a:schemeClr val="bg1"/>
                </a:solidFill>
              </a:defRPr>
            </a:lvl1pPr>
            <a:lvl2pPr marL="198120" indent="0">
              <a:buFontTx/>
              <a:buNone/>
              <a:defRPr/>
            </a:lvl2pPr>
            <a:lvl3pPr marL="414020" indent="0">
              <a:buFontTx/>
              <a:buNone/>
              <a:defRPr/>
            </a:lvl3pPr>
            <a:lvl4pPr marL="612140" indent="0">
              <a:buFontTx/>
              <a:buNone/>
              <a:defRPr/>
            </a:lvl4pPr>
            <a:lvl5pPr marL="612140" indent="0">
              <a:buFontTx/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pic>
        <p:nvPicPr>
          <p:cNvPr id="7" name="SuperGraphic"/>
          <p:cNvPicPr>
            <a:picLocks noSelect="1"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02000"/>
            <a:ext cx="10969200" cy="68556"/>
          </a:xfrm>
          <a:prstGeom prst="rect">
            <a:avLst/>
          </a:prstGeom>
        </p:spPr>
      </p:pic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vertical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ogo"/>
          <p:cNvPicPr>
            <a:picLocks noSelect="1"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9054" y="5676108"/>
            <a:ext cx="1015200" cy="276683"/>
          </a:xfrm>
          <a:prstGeom prst="rect">
            <a:avLst/>
          </a:prstGeom>
        </p:spPr>
      </p:pic>
      <p:sp>
        <p:nvSpPr>
          <p:cNvPr id="6" name="Chapter_title"/>
          <p:cNvSpPr>
            <a:spLocks noGrp="1"/>
          </p:cNvSpPr>
          <p:nvPr>
            <p:ph type="body" sz="quarter" idx="15" hasCustomPrompt="1"/>
          </p:nvPr>
        </p:nvSpPr>
        <p:spPr>
          <a:xfrm>
            <a:off x="3279831" y="1200075"/>
            <a:ext cx="7072741" cy="3142785"/>
          </a:xfrm>
          <a:ln w="0">
            <a:noFill/>
          </a:ln>
          <a:effectLst/>
        </p:spPr>
        <p:txBody>
          <a:bodyPr anchor="t" anchorCtr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Tx/>
              <a:buNone/>
              <a:defRPr sz="4000" b="1" kern="0" cap="none" baseline="0">
                <a:solidFill>
                  <a:schemeClr val="tx1"/>
                </a:solidFill>
              </a:defRPr>
            </a:lvl1pPr>
          </a:lstStyle>
          <a:p>
            <a:r>
              <a:rPr lang="en-US" noProof="1"/>
              <a:t>Chapter title</a:t>
            </a:r>
          </a:p>
        </p:txBody>
      </p:sp>
      <p:sp>
        <p:nvSpPr>
          <p:cNvPr id="3" name="RectangleCol"/>
          <p:cNvSpPr>
            <a:spLocks noSelect="1" noChangeAspect="1"/>
          </p:cNvSpPr>
          <p:nvPr userDrawn="1"/>
        </p:nvSpPr>
        <p:spPr>
          <a:xfrm>
            <a:off x="-1" y="99"/>
            <a:ext cx="2739600" cy="6170514"/>
          </a:xfrm>
          <a:prstGeom prst="rect">
            <a:avLst/>
          </a:prstGeom>
          <a:solidFill>
            <a:schemeClr val="accent1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ctrTitle" hasCustomPrompt="1"/>
          </p:nvPr>
        </p:nvSpPr>
        <p:spPr>
          <a:xfrm>
            <a:off x="464400" y="99"/>
            <a:ext cx="2207942" cy="2055600"/>
          </a:xfrm>
        </p:spPr>
        <p:txBody>
          <a:bodyPr bIns="72000" anchor="ctr"/>
          <a:lstStyle>
            <a:lvl1pPr marL="0" indent="0">
              <a:lnSpc>
                <a:spcPct val="100000"/>
              </a:lnSpc>
              <a:spcBef>
                <a:spcPts val="500"/>
              </a:spcBef>
              <a:buFontTx/>
              <a:buNone/>
              <a:defRPr sz="15000" b="1" kern="0" baseline="0">
                <a:solidFill>
                  <a:schemeClr val="bg1"/>
                </a:solidFill>
              </a:defRPr>
            </a:lvl1pPr>
            <a:lvl2pPr marL="198120" indent="0">
              <a:buFontTx/>
              <a:buNone/>
              <a:defRPr/>
            </a:lvl2pPr>
            <a:lvl3pPr marL="414020" indent="0">
              <a:buFontTx/>
              <a:buNone/>
              <a:defRPr/>
            </a:lvl3pPr>
            <a:lvl4pPr marL="612140" indent="0">
              <a:buFontTx/>
              <a:buNone/>
              <a:defRPr/>
            </a:lvl4pPr>
            <a:lvl5pPr marL="612140" indent="0">
              <a:buFontTx/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pic>
        <p:nvPicPr>
          <p:cNvPr id="5" name="SuperGraphic"/>
          <p:cNvPicPr>
            <a:picLocks noSelect="1"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0799" y="0"/>
            <a:ext cx="68562" cy="6170613"/>
          </a:xfrm>
          <a:prstGeom prst="rect">
            <a:avLst/>
          </a:prstGeom>
        </p:spPr>
      </p:pic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picture without text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Logo"/>
          <p:cNvPicPr>
            <a:picLocks noSelect="1"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9054" y="5676108"/>
            <a:ext cx="1015200" cy="276683"/>
          </a:xfrm>
          <a:prstGeom prst="rect">
            <a:avLst/>
          </a:prstGeom>
        </p:spPr>
      </p:pic>
      <p:pic>
        <p:nvPicPr>
          <p:cNvPr id="7" name="SuperGraphic"/>
          <p:cNvPicPr>
            <a:picLocks noSelect="1"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02000"/>
            <a:ext cx="10969200" cy="68556"/>
          </a:xfrm>
          <a:prstGeom prst="rect">
            <a:avLst/>
          </a:prstGeom>
        </p:spPr>
      </p:pic>
      <p:sp>
        <p:nvSpPr>
          <p:cNvPr id="5" name="Picture Placeholder 4"/>
          <p:cNvSpPr>
            <a:spLocks noGrp="1"/>
          </p:cNvSpPr>
          <p:nvPr>
            <p:ph type="pic" sz="quarter" idx="1" hasCustomPrompt="1"/>
          </p:nvPr>
        </p:nvSpPr>
        <p:spPr>
          <a:xfrm>
            <a:off x="0" y="0"/>
            <a:ext cx="10969625" cy="5536800"/>
          </a:xfrm>
          <a:blipFill dpi="0" rotWithShape="1">
            <a:blip r:embed="rId4">
              <a:alphaModFix amt="70000"/>
            </a:blip>
            <a:srcRect/>
            <a:stretch>
              <a:fillRect/>
            </a:stretch>
          </a:blipFill>
        </p:spPr>
        <p:txBody>
          <a:bodyPr anchor="ctr"/>
          <a:lstStyle>
            <a:lvl1pPr marL="0" indent="0" algn="ctr">
              <a:lnSpc>
                <a:spcPct val="600000"/>
              </a:lnSpc>
              <a:buFontTx/>
              <a:buNone/>
              <a:defRPr sz="900"/>
            </a:lvl1pPr>
          </a:lstStyle>
          <a:p>
            <a:r>
              <a:rPr lang="en-US" noProof="1"/>
              <a:t>Insert photo</a:t>
            </a:r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picture with text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Logo"/>
          <p:cNvPicPr>
            <a:picLocks noSelect="1"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9054" y="5676108"/>
            <a:ext cx="1015200" cy="276683"/>
          </a:xfrm>
          <a:prstGeom prst="rect">
            <a:avLst/>
          </a:prstGeom>
        </p:spPr>
      </p:pic>
      <p:pic>
        <p:nvPicPr>
          <p:cNvPr id="7" name="SuperGraphic"/>
          <p:cNvPicPr>
            <a:picLocks noSelect="1"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02000"/>
            <a:ext cx="10969200" cy="68556"/>
          </a:xfrm>
          <a:prstGeom prst="rect">
            <a:avLst/>
          </a:prstGeom>
        </p:spPr>
      </p:pic>
      <p:sp>
        <p:nvSpPr>
          <p:cNvPr id="9" name="Picture Placeholder 4"/>
          <p:cNvSpPr>
            <a:spLocks noGrp="1"/>
          </p:cNvSpPr>
          <p:nvPr>
            <p:ph type="pic" sz="quarter" idx="1" hasCustomPrompt="1"/>
          </p:nvPr>
        </p:nvSpPr>
        <p:spPr>
          <a:xfrm>
            <a:off x="0" y="0"/>
            <a:ext cx="10969625" cy="5536800"/>
          </a:xfrm>
          <a:blipFill dpi="0" rotWithShape="1">
            <a:blip r:embed="rId4">
              <a:alphaModFix amt="70000"/>
            </a:blip>
            <a:srcRect/>
            <a:stretch>
              <a:fillRect/>
            </a:stretch>
          </a:blipFill>
        </p:spPr>
        <p:txBody>
          <a:bodyPr anchor="ctr"/>
          <a:lstStyle>
            <a:lvl1pPr marL="0" indent="0" algn="ctr">
              <a:lnSpc>
                <a:spcPct val="600000"/>
              </a:lnSpc>
              <a:buFontTx/>
              <a:buNone/>
              <a:defRPr sz="900"/>
            </a:lvl1pPr>
          </a:lstStyle>
          <a:p>
            <a:r>
              <a:rPr lang="en-US" noProof="1"/>
              <a:t>Insert photo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2" hasCustomPrompt="1"/>
          </p:nvPr>
        </p:nvSpPr>
        <p:spPr>
          <a:xfrm>
            <a:off x="406800" y="1036800"/>
            <a:ext cx="3780000" cy="2484000"/>
          </a:xfrm>
          <a:solidFill>
            <a:schemeClr val="bg1"/>
          </a:solidFill>
        </p:spPr>
        <p:txBody>
          <a:bodyPr lIns="252000" tIns="216000" rIns="252000" bIns="216000">
            <a:normAutofit/>
          </a:bodyPr>
          <a:lstStyle>
            <a:lvl1pPr marL="0" indent="0">
              <a:buFontTx/>
              <a:buNone/>
              <a:defRPr/>
            </a:lvl1pPr>
            <a:lvl2pPr marL="198120" indent="0">
              <a:buFontTx/>
              <a:buNone/>
              <a:defRPr/>
            </a:lvl2pPr>
            <a:lvl3pPr marL="414020" indent="0">
              <a:buFontTx/>
              <a:buNone/>
              <a:defRPr/>
            </a:lvl3pPr>
            <a:lvl4pPr marL="612140" indent="0">
              <a:buFontTx/>
              <a:buNone/>
              <a:defRPr/>
            </a:lvl4pPr>
            <a:lvl5pPr marL="612140" indent="0">
              <a:buFontTx/>
              <a:buNone/>
              <a:defRPr/>
            </a:lvl5pPr>
          </a:lstStyle>
          <a:p>
            <a:pPr lvl="0"/>
            <a:r>
              <a:rPr lang="en-US" noProof="1"/>
              <a:t>Add Text</a:t>
            </a:r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plit horizontal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Logo"/>
          <p:cNvPicPr>
            <a:picLocks noSelect="1"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9054" y="5676108"/>
            <a:ext cx="1015200" cy="276683"/>
          </a:xfrm>
          <a:prstGeom prst="rect">
            <a:avLst/>
          </a:prstGeom>
        </p:spPr>
      </p:pic>
      <p:pic>
        <p:nvPicPr>
          <p:cNvPr id="7" name="SuperGraphic"/>
          <p:cNvPicPr>
            <a:picLocks noSelect="1"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02000"/>
            <a:ext cx="10969200" cy="68556"/>
          </a:xfrm>
          <a:prstGeom prst="rect">
            <a:avLst/>
          </a:prstGeom>
        </p:spPr>
      </p:pic>
      <p:sp>
        <p:nvSpPr>
          <p:cNvPr id="5" name="Picture Placeholder 4"/>
          <p:cNvSpPr>
            <a:spLocks noGrp="1"/>
          </p:cNvSpPr>
          <p:nvPr>
            <p:ph type="pic" sz="quarter" idx="1" hasCustomPrompt="1"/>
          </p:nvPr>
        </p:nvSpPr>
        <p:spPr>
          <a:xfrm>
            <a:off x="0" y="0"/>
            <a:ext cx="10969625" cy="3085200"/>
          </a:xfrm>
          <a:blipFill dpi="0" rotWithShape="1">
            <a:blip r:embed="rId4">
              <a:alphaModFix amt="70000"/>
            </a:blip>
            <a:srcRect/>
            <a:stretch>
              <a:fillRect/>
            </a:stretch>
          </a:blipFill>
        </p:spPr>
        <p:txBody>
          <a:bodyPr anchor="ctr"/>
          <a:lstStyle>
            <a:lvl1pPr marL="0" indent="0" algn="ctr">
              <a:lnSpc>
                <a:spcPct val="600000"/>
              </a:lnSpc>
              <a:buFontTx/>
              <a:buNone/>
              <a:defRPr sz="900"/>
            </a:lvl1pPr>
          </a:lstStyle>
          <a:p>
            <a:r>
              <a:rPr lang="en-US" noProof="1"/>
              <a:t>Insert photo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sz="quarter" idx="2" hasCustomPrompt="1"/>
          </p:nvPr>
        </p:nvSpPr>
        <p:spPr>
          <a:xfrm>
            <a:off x="205199" y="3495705"/>
            <a:ext cx="10558800" cy="2041094"/>
          </a:xfr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/>
            </a:lvl1pPr>
            <a:lvl2pPr marL="198120" indent="0">
              <a:buFontTx/>
              <a:buNone/>
              <a:defRPr/>
            </a:lvl2pPr>
            <a:lvl3pPr marL="414020" indent="0">
              <a:buFontTx/>
              <a:buNone/>
              <a:defRPr/>
            </a:lvl3pPr>
            <a:lvl4pPr marL="612140" indent="0">
              <a:buFontTx/>
              <a:buNone/>
              <a:defRPr/>
            </a:lvl4pPr>
            <a:lvl5pPr marL="612140" indent="0">
              <a:buFontTx/>
              <a:buNone/>
              <a:defRPr/>
            </a:lvl5pPr>
          </a:lstStyle>
          <a:p>
            <a:pPr lvl="0"/>
            <a:r>
              <a:rPr lang="en-US" noProof="1"/>
              <a:t>Add Text</a:t>
            </a:r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plit vertical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ogo"/>
          <p:cNvPicPr>
            <a:picLocks noSelect="1"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9054" y="5676108"/>
            <a:ext cx="1015200" cy="276683"/>
          </a:xfrm>
          <a:prstGeom prst="rect">
            <a:avLst/>
          </a:prstGeom>
        </p:spPr>
      </p:pic>
      <p:sp>
        <p:nvSpPr>
          <p:cNvPr id="5" name="Picture Placeholder 4"/>
          <p:cNvSpPr>
            <a:spLocks noGrp="1"/>
          </p:cNvSpPr>
          <p:nvPr>
            <p:ph type="pic" sz="quarter" idx="1" hasCustomPrompt="1"/>
          </p:nvPr>
        </p:nvSpPr>
        <p:spPr>
          <a:xfrm>
            <a:off x="0" y="0"/>
            <a:ext cx="5486400" cy="6170400"/>
          </a:xfrm>
          <a:blipFill dpi="0" rotWithShape="1">
            <a:blip r:embed="rId3">
              <a:alphaModFix amt="70000"/>
            </a:blip>
            <a:srcRect/>
            <a:stretch>
              <a:fillRect/>
            </a:stretch>
          </a:blipFill>
        </p:spPr>
        <p:txBody>
          <a:bodyPr anchor="ctr"/>
          <a:lstStyle>
            <a:lvl1pPr marL="0" indent="0" algn="ctr">
              <a:lnSpc>
                <a:spcPct val="600000"/>
              </a:lnSpc>
              <a:buFontTx/>
              <a:buNone/>
              <a:defRPr sz="900"/>
            </a:lvl1pPr>
          </a:lstStyle>
          <a:p>
            <a:r>
              <a:rPr lang="en-US" noProof="1"/>
              <a:t>Insert photo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sz="quarter" idx="2" hasCustomPrompt="1"/>
          </p:nvPr>
        </p:nvSpPr>
        <p:spPr>
          <a:xfrm>
            <a:off x="5895302" y="410492"/>
            <a:ext cx="4596486" cy="5126308"/>
          </a:xfr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/>
            </a:lvl1pPr>
            <a:lvl2pPr marL="198120" indent="0">
              <a:buFontTx/>
              <a:buNone/>
              <a:defRPr/>
            </a:lvl2pPr>
            <a:lvl3pPr marL="414020" indent="0">
              <a:buFontTx/>
              <a:buNone/>
              <a:defRPr/>
            </a:lvl3pPr>
            <a:lvl4pPr marL="612140" indent="0">
              <a:buFontTx/>
              <a:buNone/>
              <a:defRPr/>
            </a:lvl4pPr>
            <a:lvl5pPr marL="612140" indent="0">
              <a:buFontTx/>
              <a:buNone/>
              <a:defRPr/>
            </a:lvl5pPr>
          </a:lstStyle>
          <a:p>
            <a:pPr lvl="0"/>
            <a:r>
              <a:rPr lang="en-US" noProof="1"/>
              <a:t>Add Text</a:t>
            </a:r>
          </a:p>
        </p:txBody>
      </p:sp>
      <p:pic>
        <p:nvPicPr>
          <p:cNvPr id="6" name="SuperGraphic"/>
          <p:cNvPicPr>
            <a:picLocks noSelect="1"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0799" y="0"/>
            <a:ext cx="68562" cy="6170613"/>
          </a:xfrm>
          <a:prstGeom prst="rect">
            <a:avLst/>
          </a:prstGeom>
        </p:spPr>
      </p:pic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 Content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205200" y="648000"/>
            <a:ext cx="10558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Add Slide Title</a:t>
            </a:r>
          </a:p>
        </p:txBody>
      </p:sp>
      <p:sp>
        <p:nvSpPr>
          <p:cNvPr id="15" name="Chapter_titleonly"/>
          <p:cNvSpPr>
            <a:spLocks noGrp="1"/>
          </p:cNvSpPr>
          <p:nvPr>
            <p:ph type="body" sz="quarter" idx="15" hasCustomPrompt="1"/>
          </p:nvPr>
        </p:nvSpPr>
        <p:spPr>
          <a:xfrm>
            <a:off x="205200" y="259200"/>
            <a:ext cx="10558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680" indent="0">
              <a:buNone/>
              <a:defRPr sz="2800"/>
            </a:lvl2pPr>
            <a:lvl3pPr marL="525780" indent="0">
              <a:buNone/>
              <a:defRPr sz="2800"/>
            </a:lvl3pPr>
            <a:lvl4pPr marL="748665" indent="0">
              <a:buNone/>
              <a:defRPr sz="2800"/>
            </a:lvl4pPr>
            <a:lvl5pPr marL="748665" indent="0">
              <a:buNone/>
              <a:defRPr sz="2800"/>
            </a:lvl5pPr>
          </a:lstStyle>
          <a:p>
            <a:pPr lvl="0"/>
            <a:r>
              <a:rPr lang="en-US" noProof="1"/>
              <a:t>Add Chapter Title</a:t>
            </a:r>
          </a:p>
        </p:txBody>
      </p:sp>
      <p:sp>
        <p:nvSpPr>
          <p:cNvPr id="10" name="AttachmentRemark"/>
          <p:cNvSpPr/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34" charset="0"/>
              </a:rPr>
              <a:t> </a:t>
            </a:r>
          </a:p>
        </p:txBody>
      </p:sp>
      <p:sp>
        <p:nvSpPr>
          <p:cNvPr id="5" name="Inhaltsplatzhalter 4"/>
          <p:cNvSpPr>
            <a:spLocks noGrp="1"/>
          </p:cNvSpPr>
          <p:nvPr>
            <p:ph sz="quarter" idx="1" hasCustomPrompt="1"/>
          </p:nvPr>
        </p:nvSpPr>
        <p:spPr>
          <a:xfrm>
            <a:off x="205200" y="1296000"/>
            <a:ext cx="10558800" cy="4240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t>‹#›</a:t>
            </a:fld>
            <a:endParaRPr lang="en-US" noProof="1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Vertical contents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pter_titleonly"/>
          <p:cNvSpPr>
            <a:spLocks noGrp="1"/>
          </p:cNvSpPr>
          <p:nvPr>
            <p:ph type="body" sz="quarter" idx="15" hasCustomPrompt="1"/>
          </p:nvPr>
        </p:nvSpPr>
        <p:spPr>
          <a:xfrm>
            <a:off x="205200" y="259200"/>
            <a:ext cx="10558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680" indent="0">
              <a:buNone/>
              <a:defRPr sz="2800"/>
            </a:lvl2pPr>
            <a:lvl3pPr marL="525780" indent="0">
              <a:buNone/>
              <a:defRPr sz="2800"/>
            </a:lvl3pPr>
            <a:lvl4pPr marL="748665" indent="0">
              <a:buNone/>
              <a:defRPr sz="2800"/>
            </a:lvl4pPr>
            <a:lvl5pPr marL="748665" indent="0">
              <a:buNone/>
              <a:defRPr sz="2800"/>
            </a:lvl5pPr>
          </a:lstStyle>
          <a:p>
            <a:pPr lvl="0"/>
            <a:r>
              <a:rPr lang="en-US" noProof="1"/>
              <a:t>Add Chapter Title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205200" y="648000"/>
            <a:ext cx="10558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Add Slide Title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205200" y="1296000"/>
            <a:ext cx="4914000" cy="4240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half" idx="2" hasCustomPrompt="1"/>
          </p:nvPr>
        </p:nvSpPr>
        <p:spPr>
          <a:xfrm>
            <a:off x="5853600" y="1295999"/>
            <a:ext cx="4914000" cy="4240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2" name="AttachmentRemark"/>
          <p:cNvSpPr/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34" charset="0"/>
              </a:rPr>
              <a:t> 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t>‹#›</a:t>
            </a:fld>
            <a:endParaRPr lang="en-US" noProof="1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3 Vertical contents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hapter_titleonly"/>
          <p:cNvSpPr>
            <a:spLocks noGrp="1"/>
          </p:cNvSpPr>
          <p:nvPr>
            <p:ph type="body" sz="quarter" idx="15" hasCustomPrompt="1"/>
          </p:nvPr>
        </p:nvSpPr>
        <p:spPr>
          <a:xfrm>
            <a:off x="205200" y="259200"/>
            <a:ext cx="10558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680" indent="0">
              <a:buNone/>
              <a:defRPr sz="2800"/>
            </a:lvl2pPr>
            <a:lvl3pPr marL="525780" indent="0">
              <a:buNone/>
              <a:defRPr sz="2800"/>
            </a:lvl3pPr>
            <a:lvl4pPr marL="748665" indent="0">
              <a:buNone/>
              <a:defRPr sz="2800"/>
            </a:lvl4pPr>
            <a:lvl5pPr marL="748665" indent="0">
              <a:buNone/>
              <a:defRPr sz="2800"/>
            </a:lvl5pPr>
          </a:lstStyle>
          <a:p>
            <a:pPr lvl="0"/>
            <a:r>
              <a:rPr lang="en-US" noProof="1"/>
              <a:t>Add Chapter Title</a:t>
            </a:r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>
          <a:xfrm>
            <a:off x="205200" y="648000"/>
            <a:ext cx="10558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Add Slide Title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205200" y="1296000"/>
            <a:ext cx="3168000" cy="4240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47" name="Content Placeholder 2"/>
          <p:cNvSpPr>
            <a:spLocks noGrp="1"/>
          </p:cNvSpPr>
          <p:nvPr>
            <p:ph sz="half" idx="2" hasCustomPrompt="1"/>
          </p:nvPr>
        </p:nvSpPr>
        <p:spPr>
          <a:xfrm>
            <a:off x="3900600" y="1296000"/>
            <a:ext cx="3168000" cy="4240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3" hasCustomPrompt="1"/>
          </p:nvPr>
        </p:nvSpPr>
        <p:spPr>
          <a:xfrm>
            <a:off x="7596000" y="1295999"/>
            <a:ext cx="3168000" cy="4240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3" name="AttachmentRemark"/>
          <p:cNvSpPr/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34" charset="0"/>
              </a:rPr>
              <a:t> 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t>‹#›</a:t>
            </a:fld>
            <a:endParaRPr lang="en-US" noProof="1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4 Vertical contents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hapter_titleonly"/>
          <p:cNvSpPr>
            <a:spLocks noGrp="1"/>
          </p:cNvSpPr>
          <p:nvPr>
            <p:ph type="body" sz="quarter" idx="15" hasCustomPrompt="1"/>
          </p:nvPr>
        </p:nvSpPr>
        <p:spPr>
          <a:xfrm>
            <a:off x="205200" y="259200"/>
            <a:ext cx="10558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680" indent="0">
              <a:buNone/>
              <a:defRPr sz="2800"/>
            </a:lvl2pPr>
            <a:lvl3pPr marL="525780" indent="0">
              <a:buNone/>
              <a:defRPr sz="2800"/>
            </a:lvl3pPr>
            <a:lvl4pPr marL="748665" indent="0">
              <a:buNone/>
              <a:defRPr sz="2800"/>
            </a:lvl4pPr>
            <a:lvl5pPr marL="748665" indent="0">
              <a:buNone/>
              <a:defRPr sz="2800"/>
            </a:lvl5pPr>
          </a:lstStyle>
          <a:p>
            <a:pPr lvl="0"/>
            <a:r>
              <a:rPr lang="en-US" noProof="1"/>
              <a:t>Add Chapter Title</a:t>
            </a:r>
          </a:p>
        </p:txBody>
      </p:sp>
      <p:sp>
        <p:nvSpPr>
          <p:cNvPr id="15" name="Title 1"/>
          <p:cNvSpPr>
            <a:spLocks noGrp="1"/>
          </p:cNvSpPr>
          <p:nvPr>
            <p:ph type="title" hasCustomPrompt="1"/>
          </p:nvPr>
        </p:nvSpPr>
        <p:spPr>
          <a:xfrm>
            <a:off x="205200" y="648000"/>
            <a:ext cx="10558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Add Slide Title</a:t>
            </a:r>
          </a:p>
        </p:txBody>
      </p:sp>
      <p:sp>
        <p:nvSpPr>
          <p:cNvPr id="5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205200" y="1295399"/>
            <a:ext cx="2541600" cy="4240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half" idx="2" hasCustomPrompt="1"/>
          </p:nvPr>
        </p:nvSpPr>
        <p:spPr>
          <a:xfrm>
            <a:off x="2877600" y="1295400"/>
            <a:ext cx="2541600" cy="4240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half" idx="3" hasCustomPrompt="1"/>
          </p:nvPr>
        </p:nvSpPr>
        <p:spPr>
          <a:xfrm>
            <a:off x="5550000" y="1295399"/>
            <a:ext cx="2541600" cy="4240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half" idx="4" hasCustomPrompt="1"/>
          </p:nvPr>
        </p:nvSpPr>
        <p:spPr>
          <a:xfrm>
            <a:off x="8222400" y="1295400"/>
            <a:ext cx="2541600" cy="4240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4" name="AttachmentRemark"/>
          <p:cNvSpPr/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34" charset="0"/>
              </a:rPr>
              <a:t> 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t>‹#›</a:t>
            </a:fld>
            <a:endParaRPr lang="en-US" noProof="1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2 Horizontal contents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pter_titleonly"/>
          <p:cNvSpPr>
            <a:spLocks noGrp="1"/>
          </p:cNvSpPr>
          <p:nvPr>
            <p:ph type="body" sz="quarter" idx="15" hasCustomPrompt="1"/>
          </p:nvPr>
        </p:nvSpPr>
        <p:spPr>
          <a:xfrm>
            <a:off x="205200" y="259200"/>
            <a:ext cx="10558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680" indent="0">
              <a:buNone/>
              <a:defRPr sz="2800"/>
            </a:lvl2pPr>
            <a:lvl3pPr marL="525780" indent="0">
              <a:buNone/>
              <a:defRPr sz="2800"/>
            </a:lvl3pPr>
            <a:lvl4pPr marL="748665" indent="0">
              <a:buNone/>
              <a:defRPr sz="2800"/>
            </a:lvl4pPr>
            <a:lvl5pPr marL="748665" indent="0">
              <a:buNone/>
              <a:defRPr sz="2800"/>
            </a:lvl5pPr>
          </a:lstStyle>
          <a:p>
            <a:pPr lvl="0"/>
            <a:r>
              <a:rPr lang="en-US" noProof="1"/>
              <a:t>Add Chapter Title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205200" y="648000"/>
            <a:ext cx="10558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Add Slide Title</a:t>
            </a:r>
          </a:p>
        </p:txBody>
      </p:sp>
      <p:sp>
        <p:nvSpPr>
          <p:cNvPr id="5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205200" y="1296000"/>
            <a:ext cx="105588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half" idx="2" hasCustomPrompt="1"/>
          </p:nvPr>
        </p:nvSpPr>
        <p:spPr>
          <a:xfrm>
            <a:off x="205200" y="3481200"/>
            <a:ext cx="105588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2" name="AttachmentRemark"/>
          <p:cNvSpPr/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34" charset="0"/>
              </a:rPr>
              <a:t> 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t>‹#›</a:t>
            </a:fld>
            <a:endParaRPr lang="en-US" noProof="1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2 x 2 Contents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hapter_titleonly"/>
          <p:cNvSpPr>
            <a:spLocks noGrp="1"/>
          </p:cNvSpPr>
          <p:nvPr>
            <p:ph type="body" sz="quarter" idx="15" hasCustomPrompt="1"/>
          </p:nvPr>
        </p:nvSpPr>
        <p:spPr>
          <a:xfrm>
            <a:off x="205200" y="259200"/>
            <a:ext cx="10558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680" indent="0">
              <a:buNone/>
              <a:defRPr sz="2800"/>
            </a:lvl2pPr>
            <a:lvl3pPr marL="525780" indent="0">
              <a:buNone/>
              <a:defRPr sz="2800"/>
            </a:lvl3pPr>
            <a:lvl4pPr marL="748665" indent="0">
              <a:buNone/>
              <a:defRPr sz="2800"/>
            </a:lvl4pPr>
            <a:lvl5pPr marL="748665" indent="0">
              <a:buNone/>
              <a:defRPr sz="2800"/>
            </a:lvl5pPr>
          </a:lstStyle>
          <a:p>
            <a:pPr lvl="0"/>
            <a:r>
              <a:rPr lang="en-US" noProof="1"/>
              <a:t>Add Chapter Title</a:t>
            </a:r>
          </a:p>
        </p:txBody>
      </p:sp>
      <p:sp>
        <p:nvSpPr>
          <p:cNvPr id="15" name="Title 1"/>
          <p:cNvSpPr>
            <a:spLocks noGrp="1"/>
          </p:cNvSpPr>
          <p:nvPr>
            <p:ph type="title" hasCustomPrompt="1"/>
          </p:nvPr>
        </p:nvSpPr>
        <p:spPr>
          <a:xfrm>
            <a:off x="205200" y="648000"/>
            <a:ext cx="10558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Add Slide Title</a:t>
            </a:r>
          </a:p>
        </p:txBody>
      </p:sp>
      <p:sp>
        <p:nvSpPr>
          <p:cNvPr id="5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205200" y="1296000"/>
            <a:ext cx="49140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half" idx="3" hasCustomPrompt="1"/>
          </p:nvPr>
        </p:nvSpPr>
        <p:spPr>
          <a:xfrm>
            <a:off x="5850000" y="1295999"/>
            <a:ext cx="49140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205200" y="3481200"/>
            <a:ext cx="49140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half" idx="4" hasCustomPrompt="1"/>
          </p:nvPr>
        </p:nvSpPr>
        <p:spPr>
          <a:xfrm>
            <a:off x="5850000" y="3481200"/>
            <a:ext cx="49140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4" name="AttachmentRemark"/>
          <p:cNvSpPr/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34" charset="0"/>
              </a:rPr>
              <a:t> 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t>‹#›</a:t>
            </a:fld>
            <a:endParaRPr lang="en-US" noProof="1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3 x 2 Contents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hapter_titleonly"/>
          <p:cNvSpPr>
            <a:spLocks noGrp="1"/>
          </p:cNvSpPr>
          <p:nvPr>
            <p:ph type="body" sz="quarter" idx="15" hasCustomPrompt="1"/>
          </p:nvPr>
        </p:nvSpPr>
        <p:spPr>
          <a:xfrm>
            <a:off x="205200" y="259200"/>
            <a:ext cx="10558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680" indent="0">
              <a:buNone/>
              <a:defRPr sz="2800"/>
            </a:lvl2pPr>
            <a:lvl3pPr marL="525780" indent="0">
              <a:buNone/>
              <a:defRPr sz="2800"/>
            </a:lvl3pPr>
            <a:lvl4pPr marL="748665" indent="0">
              <a:buNone/>
              <a:defRPr sz="2800"/>
            </a:lvl4pPr>
            <a:lvl5pPr marL="748665" indent="0">
              <a:buNone/>
              <a:defRPr sz="2800"/>
            </a:lvl5pPr>
          </a:lstStyle>
          <a:p>
            <a:pPr lvl="0"/>
            <a:r>
              <a:rPr lang="en-US" noProof="1"/>
              <a:t>Add Chapter Title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 hasCustomPrompt="1"/>
          </p:nvPr>
        </p:nvSpPr>
        <p:spPr>
          <a:xfrm>
            <a:off x="205200" y="648000"/>
            <a:ext cx="10558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Add Slide Title</a:t>
            </a:r>
          </a:p>
        </p:txBody>
      </p:sp>
      <p:sp>
        <p:nvSpPr>
          <p:cNvPr id="5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205200" y="1296000"/>
            <a:ext cx="31680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half" idx="3" hasCustomPrompt="1"/>
          </p:nvPr>
        </p:nvSpPr>
        <p:spPr>
          <a:xfrm>
            <a:off x="3900600" y="1295999"/>
            <a:ext cx="31680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half" idx="5" hasCustomPrompt="1"/>
          </p:nvPr>
        </p:nvSpPr>
        <p:spPr>
          <a:xfrm>
            <a:off x="7596000" y="1295999"/>
            <a:ext cx="31680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half" idx="2" hasCustomPrompt="1"/>
          </p:nvPr>
        </p:nvSpPr>
        <p:spPr>
          <a:xfrm>
            <a:off x="205200" y="3481200"/>
            <a:ext cx="31680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0" name="Content Placeholder 5"/>
          <p:cNvSpPr>
            <a:spLocks noGrp="1"/>
          </p:cNvSpPr>
          <p:nvPr>
            <p:ph sz="half" idx="4" hasCustomPrompt="1"/>
          </p:nvPr>
        </p:nvSpPr>
        <p:spPr>
          <a:xfrm>
            <a:off x="3900600" y="3481200"/>
            <a:ext cx="31680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1" name="Content Placeholder 6"/>
          <p:cNvSpPr>
            <a:spLocks noGrp="1"/>
          </p:cNvSpPr>
          <p:nvPr>
            <p:ph sz="half" idx="6" hasCustomPrompt="1"/>
          </p:nvPr>
        </p:nvSpPr>
        <p:spPr>
          <a:xfrm>
            <a:off x="7596000" y="3481200"/>
            <a:ext cx="31680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6" name="AttachmentRemark"/>
          <p:cNvSpPr/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34" charset="0"/>
              </a:rPr>
              <a:t> 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t>‹#›</a:t>
            </a:fld>
            <a:endParaRPr lang="en-US" noProof="1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4 x 2 Contents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hapter_titleonly"/>
          <p:cNvSpPr>
            <a:spLocks noGrp="1"/>
          </p:cNvSpPr>
          <p:nvPr>
            <p:ph type="body" sz="quarter" idx="15" hasCustomPrompt="1"/>
          </p:nvPr>
        </p:nvSpPr>
        <p:spPr>
          <a:xfrm>
            <a:off x="205200" y="259200"/>
            <a:ext cx="10558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680" indent="0">
              <a:buNone/>
              <a:defRPr sz="2800"/>
            </a:lvl2pPr>
            <a:lvl3pPr marL="525780" indent="0">
              <a:buNone/>
              <a:defRPr sz="2800"/>
            </a:lvl3pPr>
            <a:lvl4pPr marL="748665" indent="0">
              <a:buNone/>
              <a:defRPr sz="2800"/>
            </a:lvl4pPr>
            <a:lvl5pPr marL="748665" indent="0">
              <a:buNone/>
              <a:defRPr sz="2800"/>
            </a:lvl5pPr>
          </a:lstStyle>
          <a:p>
            <a:pPr lvl="0"/>
            <a:r>
              <a:rPr lang="en-US" noProof="1"/>
              <a:t>Add Chapter Title</a:t>
            </a:r>
          </a:p>
        </p:txBody>
      </p:sp>
      <p:sp>
        <p:nvSpPr>
          <p:cNvPr id="19" name="Title 1"/>
          <p:cNvSpPr>
            <a:spLocks noGrp="1"/>
          </p:cNvSpPr>
          <p:nvPr>
            <p:ph type="title" hasCustomPrompt="1"/>
          </p:nvPr>
        </p:nvSpPr>
        <p:spPr>
          <a:xfrm>
            <a:off x="205200" y="648000"/>
            <a:ext cx="10558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Add Slide Title</a:t>
            </a:r>
          </a:p>
        </p:txBody>
      </p:sp>
      <p:sp>
        <p:nvSpPr>
          <p:cNvPr id="5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205200" y="1296000"/>
            <a:ext cx="25416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half" idx="3" hasCustomPrompt="1"/>
          </p:nvPr>
        </p:nvSpPr>
        <p:spPr>
          <a:xfrm>
            <a:off x="2877600" y="1295999"/>
            <a:ext cx="25416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7" name="Content Placeholder 3"/>
          <p:cNvSpPr>
            <a:spLocks noGrp="1"/>
          </p:cNvSpPr>
          <p:nvPr>
            <p:ph sz="half" idx="5" hasCustomPrompt="1"/>
          </p:nvPr>
        </p:nvSpPr>
        <p:spPr>
          <a:xfrm>
            <a:off x="5550000" y="1296000"/>
            <a:ext cx="25416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8" name="Content Placeholder 4"/>
          <p:cNvSpPr>
            <a:spLocks noGrp="1"/>
          </p:cNvSpPr>
          <p:nvPr>
            <p:ph sz="half" idx="7" hasCustomPrompt="1"/>
          </p:nvPr>
        </p:nvSpPr>
        <p:spPr>
          <a:xfrm>
            <a:off x="8222400" y="1295999"/>
            <a:ext cx="25416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half" idx="2" hasCustomPrompt="1"/>
          </p:nvPr>
        </p:nvSpPr>
        <p:spPr>
          <a:xfrm>
            <a:off x="205200" y="3481200"/>
            <a:ext cx="25416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0" name="Content Placeholder 6"/>
          <p:cNvSpPr>
            <a:spLocks noGrp="1"/>
          </p:cNvSpPr>
          <p:nvPr>
            <p:ph sz="half" idx="4" hasCustomPrompt="1"/>
          </p:nvPr>
        </p:nvSpPr>
        <p:spPr>
          <a:xfrm>
            <a:off x="2877600" y="3481200"/>
            <a:ext cx="25416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8" name="Content Placeholder 7"/>
          <p:cNvSpPr>
            <a:spLocks noGrp="1"/>
          </p:cNvSpPr>
          <p:nvPr>
            <p:ph sz="half" idx="6" hasCustomPrompt="1"/>
          </p:nvPr>
        </p:nvSpPr>
        <p:spPr>
          <a:xfrm>
            <a:off x="5550000" y="3481200"/>
            <a:ext cx="25416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1" name="Content Placeholder 8"/>
          <p:cNvSpPr>
            <a:spLocks noGrp="1"/>
          </p:cNvSpPr>
          <p:nvPr>
            <p:ph sz="half" idx="8" hasCustomPrompt="1"/>
          </p:nvPr>
        </p:nvSpPr>
        <p:spPr>
          <a:xfrm>
            <a:off x="8222400" y="3481200"/>
            <a:ext cx="25416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21" name="AttachmentRemark"/>
          <p:cNvSpPr/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34" charset="0"/>
              </a:rPr>
              <a:t> 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t>‹#›</a:t>
            </a:fld>
            <a:endParaRPr lang="en-US" noProof="1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only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hapter_titleonly"/>
          <p:cNvSpPr>
            <a:spLocks noGrp="1"/>
          </p:cNvSpPr>
          <p:nvPr>
            <p:ph type="body" sz="quarter" idx="15" hasCustomPrompt="1"/>
          </p:nvPr>
        </p:nvSpPr>
        <p:spPr>
          <a:xfrm>
            <a:off x="205200" y="259200"/>
            <a:ext cx="10558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680" indent="0">
              <a:buNone/>
              <a:defRPr sz="2800"/>
            </a:lvl2pPr>
            <a:lvl3pPr marL="525780" indent="0">
              <a:buNone/>
              <a:defRPr sz="2800"/>
            </a:lvl3pPr>
            <a:lvl4pPr marL="748665" indent="0">
              <a:buNone/>
              <a:defRPr sz="2800"/>
            </a:lvl4pPr>
            <a:lvl5pPr marL="748665" indent="0">
              <a:buNone/>
              <a:defRPr sz="2800"/>
            </a:lvl5pPr>
          </a:lstStyle>
          <a:p>
            <a:pPr lvl="0"/>
            <a:r>
              <a:rPr lang="en-US" noProof="1"/>
              <a:t>Add Chapter Title</a:t>
            </a:r>
          </a:p>
        </p:txBody>
      </p:sp>
      <p:sp>
        <p:nvSpPr>
          <p:cNvPr id="10" name="AttachmentRemark"/>
          <p:cNvSpPr/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34" charset="0"/>
              </a:rPr>
              <a:t> 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Slide Title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t>‹#›</a:t>
            </a:fld>
            <a:endParaRPr lang="en-US" noProof="1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ttachmentRemark"/>
          <p:cNvSpPr/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34" charset="0"/>
              </a:rPr>
              <a:t> 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t>‹#›</a:t>
            </a:fld>
            <a:endParaRPr lang="en-US" noProof="1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2.emf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IPGWMV_P-F403_T-3_U-1048B823" descr="IPGWMV_P-F403_T-3_U-1048B823"/>
          <p:cNvSpPr/>
          <p:nvPr userDrawn="1"/>
        </p:nvSpPr>
        <p:spPr>
          <a:xfrm>
            <a:off x="0" y="0"/>
            <a:ext cx="10963275" cy="6162675"/>
          </a:xfrm>
          <a:prstGeom prst="rect">
            <a:avLst/>
          </a:prstGeom>
          <a:blipFill dpi="0" rotWithShape="1">
            <a:blip r:embed="rId20" cstate="print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dirty="0">
              <a:ln>
                <a:noFill/>
              </a:ln>
              <a:noFill/>
            </a:endParaRPr>
          </a:p>
        </p:txBody>
      </p:sp>
      <p:pic>
        <p:nvPicPr>
          <p:cNvPr id="16" name="Logo"/>
          <p:cNvPicPr>
            <a:picLocks noSelect="1" noChangeAspect="1"/>
          </p:cNvPicPr>
          <p:nvPr userDrawn="1"/>
        </p:nvPicPr>
        <p:blipFill>
          <a:blip r:embed="rId21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9054" y="5676108"/>
            <a:ext cx="1015200" cy="276683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5200" y="648000"/>
            <a:ext cx="10558800" cy="388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1"/>
              <a:t>Add Slide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5200" y="1296000"/>
            <a:ext cx="10558800" cy="42408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205200" y="5666400"/>
            <a:ext cx="288290" cy="410210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1200">
                <a:solidFill>
                  <a:srgbClr val="999FA6"/>
                </a:solidFill>
                <a:latin typeface="+mn-lt"/>
              </a:defRPr>
            </a:lvl1pPr>
          </a:lstStyle>
          <a:p>
            <a:fld id="{4898AEC0-503E-4FA4-859C-D0F72D6E3F79}" type="slidenum">
              <a:rPr lang="en-US" noProof="1" dirty="0" smtClean="0"/>
              <a:t>‹#›</a:t>
            </a:fld>
            <a:endParaRPr lang="en-US" noProof="1"/>
          </a:p>
        </p:txBody>
      </p:sp>
      <p:sp>
        <p:nvSpPr>
          <p:cNvPr id="14" name="Bosch_footer_1"/>
          <p:cNvSpPr txBox="1"/>
          <p:nvPr userDrawn="1"/>
        </p:nvSpPr>
        <p:spPr>
          <a:xfrm>
            <a:off x="547200" y="5688000"/>
            <a:ext cx="9126000" cy="1079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Tx/>
              <a:buNone/>
            </a:pPr>
            <a:r>
              <a:rPr kumimoji="0" lang="en-US" sz="600" b="1" i="0" u="none" strike="noStrike" kern="0" cap="none" spc="0" normalizeH="0" baseline="0" noProof="1">
                <a:ln>
                  <a:noFill/>
                </a:ln>
                <a:solidFill>
                  <a:srgbClr val="D70012"/>
                </a:solidFill>
                <a:effectLst/>
                <a:uLnTx/>
                <a:uFillTx/>
                <a:latin typeface="Bosch Office Sans" pitchFamily="34" charset="0"/>
              </a:rPr>
              <a:t>Internal</a:t>
            </a:r>
            <a:r>
              <a:rPr kumimoji="0" lang="en-US" sz="600" b="0" i="0" u="none" strike="noStrike" kern="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osch Office Sans" pitchFamily="34" charset="0"/>
              </a:rPr>
              <a:t> | Cross-Domain Computing Solutions</a:t>
            </a:r>
          </a:p>
        </p:txBody>
      </p:sp>
      <p:sp>
        <p:nvSpPr>
          <p:cNvPr id="8" name="Bosch_footer_2"/>
          <p:cNvSpPr txBox="1"/>
          <p:nvPr userDrawn="1"/>
        </p:nvSpPr>
        <p:spPr>
          <a:xfrm>
            <a:off x="547200" y="5793901"/>
            <a:ext cx="9126000" cy="215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120000"/>
              </a:lnSpc>
              <a:spcAft>
                <a:spcPts val="100"/>
              </a:spcAft>
            </a:pPr>
            <a:r>
              <a:rPr lang="en-US" sz="600" b="0" i="0" u="none" kern="0" baseline="0" noProof="1">
                <a:solidFill>
                  <a:srgbClr val="B2B3B5"/>
                </a:solidFill>
                <a:latin typeface="Bosch Office Sans" pitchFamily="34" charset="0"/>
              </a:rPr>
              <a:t>© Robert Bosch GmbH 2023. All rights reserved, also regarding any disposal, exploitation, reproduction, editing, distribution, as well as in the event of applications for industrial property rights.</a:t>
            </a:r>
          </a:p>
        </p:txBody>
      </p:sp>
      <p:sp>
        <p:nvSpPr>
          <p:cNvPr id="15" name="Bosch_footer_1" hidden="1"/>
          <p:cNvSpPr txBox="1"/>
          <p:nvPr userDrawn="1"/>
        </p:nvSpPr>
        <p:spPr>
          <a:xfrm>
            <a:off x="816069" y="5383543"/>
            <a:ext cx="9154800" cy="108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Tx/>
              <a:buNone/>
              <a:defRPr/>
            </a:pPr>
            <a:r>
              <a:rPr lang="en-US" sz="600" b="1" kern="0" baseline="0" noProof="1">
                <a:solidFill>
                  <a:srgbClr val="D70012"/>
                </a:solidFill>
              </a:rPr>
              <a:t>%confidentiality%</a:t>
            </a:r>
            <a:r>
              <a:rPr lang="en-US" sz="600" kern="0" baseline="0" noProof="1">
                <a:solidFill>
                  <a:schemeClr val="tx1"/>
                </a:solidFill>
              </a:rPr>
              <a:t>%businessunit%%departmentshort%%dateformat%</a:t>
            </a:r>
          </a:p>
        </p:txBody>
      </p:sp>
      <p:sp>
        <p:nvSpPr>
          <p:cNvPr id="9" name="Bosch_footer_2" hidden="1"/>
          <p:cNvSpPr txBox="1"/>
          <p:nvPr userDrawn="1"/>
        </p:nvSpPr>
        <p:spPr>
          <a:xfrm>
            <a:off x="593090" y="5748656"/>
            <a:ext cx="9152890" cy="215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120000"/>
              </a:lnSpc>
              <a:spcAft>
                <a:spcPts val="100"/>
              </a:spcAft>
            </a:pPr>
            <a:r>
              <a:rPr lang="en-US" sz="600" kern="0" baseline="0" noProof="1">
                <a:solidFill>
                  <a:schemeClr val="tx1"/>
                </a:solidFill>
              </a:rPr>
              <a:t>%repositoryremark%</a:t>
            </a:r>
            <a:r>
              <a:rPr lang="en-US" sz="600" kern="0" baseline="0" noProof="1">
                <a:solidFill>
                  <a:srgbClr val="B2B3B5"/>
                </a:solidFill>
              </a:rPr>
              <a:t>%copyright%</a:t>
            </a:r>
          </a:p>
        </p:txBody>
      </p:sp>
      <p:sp>
        <p:nvSpPr>
          <p:cNvPr id="13" name="AttachmentRemark" hidden="1"/>
          <p:cNvSpPr/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+mn-lt"/>
              </a:rPr>
              <a:t>%attachmentremark% </a:t>
            </a:r>
          </a:p>
        </p:txBody>
      </p:sp>
      <p:pic>
        <p:nvPicPr>
          <p:cNvPr id="12" name="SuperGraphic"/>
          <p:cNvPicPr>
            <a:picLocks noSelect="1" noChangeAspect="1"/>
          </p:cNvPicPr>
          <p:nvPr userDrawn="1"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02000"/>
            <a:ext cx="10969200" cy="6855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hf hdr="0" ftr="0" dt="0"/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28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30505" indent="-230505" algn="l" defTabSz="914400" rtl="0" eaLnBrk="1" latinLnBrk="0" hangingPunct="1">
        <a:lnSpc>
          <a:spcPct val="107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7705" indent="-230505" algn="l" defTabSz="914400" rtl="0" eaLnBrk="1" latinLnBrk="0" hangingPunct="1">
        <a:lnSpc>
          <a:spcPct val="103000"/>
        </a:lnSpc>
        <a:spcBef>
          <a:spcPts val="5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4905" indent="-230505" algn="l" defTabSz="914400" rtl="0" eaLnBrk="1" latinLnBrk="0" hangingPunct="1">
        <a:lnSpc>
          <a:spcPct val="102000"/>
        </a:lnSpc>
        <a:spcBef>
          <a:spcPts val="5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2105" indent="-230505" algn="l" defTabSz="914400" rtl="0" eaLnBrk="1" latinLnBrk="0" hangingPunct="1">
        <a:lnSpc>
          <a:spcPct val="103000"/>
        </a:lnSpc>
        <a:spcBef>
          <a:spcPts val="500"/>
        </a:spcBef>
        <a:buFont typeface="Bosch Office Sans" pitchFamily="34" charset="0"/>
        <a:buChar char="‒"/>
        <a:defRPr sz="1300" kern="1200">
          <a:solidFill>
            <a:schemeClr val="tx1"/>
          </a:solidFill>
          <a:latin typeface="+mn-lt"/>
          <a:ea typeface="+mn-ea"/>
          <a:cs typeface="+mn-cs"/>
        </a:defRPr>
      </a:lvl4pPr>
      <a:lvl5pPr marL="1602105" indent="-230505" algn="l" defTabSz="914400" rtl="0" eaLnBrk="1" latinLnBrk="0" hangingPunct="1">
        <a:lnSpc>
          <a:spcPct val="103000"/>
        </a:lnSpc>
        <a:spcBef>
          <a:spcPts val="500"/>
        </a:spcBef>
        <a:buFont typeface="Bosch Office Sans" pitchFamily="34" charset="0"/>
        <a:buChar char="‒"/>
        <a:defRPr sz="1300" kern="1200">
          <a:solidFill>
            <a:schemeClr val="tx1"/>
          </a:solidFill>
          <a:latin typeface="+mn-lt"/>
          <a:ea typeface="+mn-ea"/>
          <a:cs typeface="+mn-cs"/>
        </a:defRPr>
      </a:lvl5pPr>
      <a:lvl6pPr marL="1602105" indent="-230505" algn="l" defTabSz="914400" rtl="0" eaLnBrk="1" latinLnBrk="0" hangingPunct="1">
        <a:lnSpc>
          <a:spcPct val="103000"/>
        </a:lnSpc>
        <a:spcBef>
          <a:spcPts val="500"/>
        </a:spcBef>
        <a:buFont typeface="Bosch Office Sans" pitchFamily="34" charset="0"/>
        <a:buChar char="‒"/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1602105" indent="-230505" algn="l" defTabSz="914400" rtl="0" eaLnBrk="1" latinLnBrk="0" hangingPunct="1">
        <a:lnSpc>
          <a:spcPct val="103000"/>
        </a:lnSpc>
        <a:spcBef>
          <a:spcPts val="500"/>
        </a:spcBef>
        <a:buFont typeface="Bosch Office Sans" pitchFamily="34" charset="0"/>
        <a:buChar char="‒"/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1602105" indent="-230505" algn="l" defTabSz="914400" rtl="0" eaLnBrk="1" latinLnBrk="0" hangingPunct="1">
        <a:lnSpc>
          <a:spcPct val="103000"/>
        </a:lnSpc>
        <a:spcBef>
          <a:spcPts val="500"/>
        </a:spcBef>
        <a:buFont typeface="Bosch Office Sans" pitchFamily="34" charset="0"/>
        <a:buChar char="‒"/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1602105" indent="-230505" algn="l" defTabSz="914400" rtl="0" eaLnBrk="1" latinLnBrk="0" hangingPunct="1">
        <a:lnSpc>
          <a:spcPct val="103000"/>
        </a:lnSpc>
        <a:spcBef>
          <a:spcPts val="500"/>
        </a:spcBef>
        <a:buFont typeface="Bosch Office Sans" pitchFamily="34" charset="0"/>
        <a:buChar char="‒"/>
        <a:defRPr sz="13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"/>
          </p:nvPr>
        </p:nvSpPr>
        <p:spPr>
          <a:xfrm>
            <a:off x="550051" y="4348708"/>
            <a:ext cx="9268637" cy="451892"/>
          </a:xfrm>
        </p:spPr>
        <p:txBody>
          <a:bodyPr wrap="square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altLang="zh-CN" sz="1400">
                <a:solidFill>
                  <a:srgbClr val="999FA6"/>
                </a:solidFill>
                <a:latin typeface="Microsoft YaHei UI" panose="020B0503020204020204" pitchFamily="34" charset="-122"/>
              </a:rPr>
              <a:t>BCSC/EPA | GAO Chao | 2026.04</a:t>
            </a:r>
            <a:endParaRPr lang="en-US" sz="1400">
              <a:solidFill>
                <a:srgbClr val="999FA6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547200" y="2599261"/>
            <a:ext cx="9193148" cy="1464734"/>
          </a:xfrm>
        </p:spPr>
        <p:txBody>
          <a:bodyPr wrap="square" anchor="ctr">
            <a:noAutofit/>
          </a:bodyPr>
          <a:lstStyle/>
          <a:p>
            <a:r>
              <a:rPr lang="en-US" sz="2000">
                <a:solidFill>
                  <a:srgbClr val="007BC0"/>
                </a:solidFill>
                <a:latin typeface="Microsoft YaHei UI" panose="020B0503020204020204" pitchFamily="34" charset="-122"/>
                <a:cs typeface="Arial" panose="020B0604020202020204" pitchFamily="34" charset="0"/>
              </a:rPr>
              <a:t>Flow Planner</a:t>
            </a:r>
            <a:endParaRPr lang="en-US" sz="2000" dirty="0">
              <a:solidFill>
                <a:srgbClr val="007BC0"/>
              </a:solidFill>
              <a:latin typeface="Microsoft YaHei U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A9FE333-ED1E-801E-991B-ABC5D872869F}"/>
              </a:ext>
            </a:extLst>
          </p:cNvPr>
          <p:cNvSpPr txBox="1"/>
          <p:nvPr/>
        </p:nvSpPr>
        <p:spPr>
          <a:xfrm>
            <a:off x="1524000" y="3556000"/>
            <a:ext cx="63500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R="0" algn="ctr" defTabSz="91440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600" i="0" u="none" strike="noStrike" kern="0" cap="none" spc="0" normalizeH="0" baseline="0" noProof="0">
                <a:ln>
                  <a:noFill/>
                </a:ln>
                <a:solidFill>
                  <a:srgbClr val="999FA6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基于 </a:t>
            </a:r>
            <a:r>
              <a:rPr kumimoji="0" lang="en-US" altLang="zh-CN" sz="1600" i="0" u="none" strike="noStrike" kern="0" cap="none" spc="0" normalizeH="0" baseline="0" noProof="0">
                <a:ln>
                  <a:noFill/>
                </a:ln>
                <a:solidFill>
                  <a:srgbClr val="999FA6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Flow Matching </a:t>
            </a:r>
            <a:r>
              <a:rPr kumimoji="0" lang="zh-CN" altLang="en-US" sz="1600" i="0" u="none" strike="noStrike" kern="0" cap="none" spc="0" normalizeH="0" baseline="0" noProof="0">
                <a:ln>
                  <a:noFill/>
                </a:ln>
                <a:solidFill>
                  <a:srgbClr val="999FA6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的自适应安全轨迹规划 </a:t>
            </a:r>
            <a:r>
              <a:rPr kumimoji="0" lang="en-US" altLang="zh-CN" sz="1600" i="0" u="none" strike="noStrike" kern="0" cap="none" spc="0" normalizeH="0" baseline="0" noProof="0">
                <a:ln>
                  <a:noFill/>
                </a:ln>
                <a:solidFill>
                  <a:srgbClr val="999FA6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| BCSC </a:t>
            </a:r>
            <a:r>
              <a:rPr kumimoji="0" lang="zh-CN" altLang="en-US" sz="1600" i="0" u="none" strike="noStrike" kern="0" cap="none" spc="0" normalizeH="0" baseline="0" noProof="0">
                <a:ln>
                  <a:noFill/>
                </a:ln>
                <a:solidFill>
                  <a:srgbClr val="999FA6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创新项目答辩</a:t>
            </a:r>
            <a:endParaRPr kumimoji="0" lang="en-US" sz="1600" i="0" u="none" strike="noStrike" kern="0" cap="none" spc="0" normalizeH="0" baseline="0" noProof="0">
              <a:ln>
                <a:noFill/>
              </a:ln>
              <a:solidFill>
                <a:srgbClr val="999FA6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 wrap="square">
            <a:noAutofit/>
          </a:bodyPr>
          <a:lstStyle/>
          <a:p>
            <a:r>
              <a:rPr lang="en-US" sz="1000">
                <a:latin typeface="Microsoft YaHei UI" panose="020B0503020204020204" pitchFamily="34" charset="-122"/>
              </a:rPr>
              <a:t>2</a:t>
            </a:r>
            <a:endParaRPr lang="en-US" sz="1000" noProof="1">
              <a:latin typeface="Microsoft YaHei UI" panose="020B0503020204020204" pitchFamily="34" charset="-122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0" y="1295400"/>
            <a:ext cx="1539631" cy="4170363"/>
          </a:xfrm>
          <a:prstGeom prst="rect">
            <a:avLst/>
          </a:prstGeom>
          <a:solidFill>
            <a:srgbClr val="EFF1F2"/>
          </a:solidFill>
          <a:ln w="9525" cap="flat" cmpd="sng" algn="ctr">
            <a:noFill/>
            <a:prstDash val="solid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grpSp>
        <p:nvGrpSpPr>
          <p:cNvPr id="6" name="Gruppieren 5"/>
          <p:cNvGrpSpPr/>
          <p:nvPr/>
        </p:nvGrpSpPr>
        <p:grpSpPr>
          <a:xfrm>
            <a:off x="1309551" y="1581150"/>
            <a:ext cx="8423897" cy="468922"/>
            <a:chOff x="2457554" y="1295400"/>
            <a:chExt cx="8423897" cy="468922"/>
          </a:xfrm>
        </p:grpSpPr>
        <p:sp>
          <p:nvSpPr>
            <p:cNvPr id="7" name="Ellipse 6"/>
            <p:cNvSpPr/>
            <p:nvPr/>
          </p:nvSpPr>
          <p:spPr>
            <a:xfrm>
              <a:off x="2457554" y="1295400"/>
              <a:ext cx="468922" cy="468922"/>
            </a:xfrm>
            <a:prstGeom prst="ellipse">
              <a:avLst/>
            </a:prstGeom>
            <a:solidFill>
              <a:schemeClr val="bg1"/>
            </a:solidFill>
            <a:ln w="9525" cap="flat" cmpd="sng" algn="ctr">
              <a:solidFill>
                <a:schemeClr val="bg1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de-DE" sz="18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Bosch Office Sans"/>
                <a:ea typeface="+mn-ea"/>
                <a:cs typeface="+mn-cs"/>
              </a:endParaRPr>
            </a:p>
          </p:txBody>
        </p:sp>
        <p:sp>
          <p:nvSpPr>
            <p:cNvPr id="8" name="Ellipse 7"/>
            <p:cNvSpPr/>
            <p:nvPr/>
          </p:nvSpPr>
          <p:spPr>
            <a:xfrm>
              <a:off x="2524894" y="1354925"/>
              <a:ext cx="348966" cy="348966"/>
            </a:xfrm>
            <a:prstGeom prst="ellipse">
              <a:avLst/>
            </a:prstGeom>
            <a:solidFill>
              <a:schemeClr val="accent1"/>
            </a:solidFill>
            <a:ln w="9525" cap="flat" cmpd="sng" algn="ctr">
              <a:solidFill>
                <a:schemeClr val="bg1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r>
                <a:rPr kumimoji="0" lang="de-DE" sz="1600" b="1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Bosch Office Sans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feld 8"/>
            <p:cNvSpPr txBox="1"/>
            <p:nvPr/>
          </p:nvSpPr>
          <p:spPr>
            <a:xfrm>
              <a:off x="3175899" y="1295400"/>
              <a:ext cx="7705552" cy="46892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marL="0" indent="0" fontAlgn="auto">
                <a:spcAft>
                  <a:spcPts val="0"/>
                </a:spcAft>
                <a:buNone/>
              </a:pPr>
              <a:r>
                <a:rPr lang="zh-CN" altLang="en-US" sz="2000" kern="0">
                  <a:latin typeface="Bosch Office Sans" pitchFamily="34" charset="0"/>
                </a:rPr>
                <a:t>背景与动机</a:t>
              </a:r>
              <a:endParaRPr lang="de-DE" sz="2000" kern="0"/>
            </a:p>
          </p:txBody>
        </p:sp>
      </p:grpSp>
      <p:grpSp>
        <p:nvGrpSpPr>
          <p:cNvPr id="10" name="Gruppieren 9"/>
          <p:cNvGrpSpPr/>
          <p:nvPr/>
        </p:nvGrpSpPr>
        <p:grpSpPr>
          <a:xfrm>
            <a:off x="1309551" y="2613234"/>
            <a:ext cx="8423897" cy="468922"/>
            <a:chOff x="2457554" y="1295400"/>
            <a:chExt cx="8423897" cy="468922"/>
          </a:xfrm>
        </p:grpSpPr>
        <p:sp>
          <p:nvSpPr>
            <p:cNvPr id="11" name="Ellipse 10"/>
            <p:cNvSpPr/>
            <p:nvPr/>
          </p:nvSpPr>
          <p:spPr>
            <a:xfrm>
              <a:off x="2457554" y="1295400"/>
              <a:ext cx="468922" cy="468922"/>
            </a:xfrm>
            <a:prstGeom prst="ellipse">
              <a:avLst/>
            </a:prstGeom>
            <a:solidFill>
              <a:schemeClr val="bg1"/>
            </a:solidFill>
            <a:ln w="9525" cap="flat" cmpd="sng" algn="ctr">
              <a:solidFill>
                <a:schemeClr val="bg1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de-DE" sz="18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Bosch Office Sans"/>
                <a:ea typeface="+mn-ea"/>
                <a:cs typeface="+mn-cs"/>
              </a:endParaRPr>
            </a:p>
          </p:txBody>
        </p:sp>
        <p:sp>
          <p:nvSpPr>
            <p:cNvPr id="12" name="Ellipse 11"/>
            <p:cNvSpPr/>
            <p:nvPr/>
          </p:nvSpPr>
          <p:spPr>
            <a:xfrm>
              <a:off x="2524894" y="1354925"/>
              <a:ext cx="348966" cy="348966"/>
            </a:xfrm>
            <a:prstGeom prst="ellipse">
              <a:avLst/>
            </a:prstGeom>
            <a:solidFill>
              <a:schemeClr val="accent1"/>
            </a:solidFill>
            <a:ln w="9525" cap="flat" cmpd="sng" algn="ctr">
              <a:solidFill>
                <a:schemeClr val="bg1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r>
                <a:rPr lang="de-DE" sz="1600" b="1" kern="0">
                  <a:solidFill>
                    <a:schemeClr val="bg1"/>
                  </a:solidFill>
                  <a:latin typeface="Bosch Office Sans"/>
                </a:rPr>
                <a:t>2</a:t>
              </a:r>
              <a:endParaRPr kumimoji="0" lang="de-DE" sz="1600" b="1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endParaRPr>
            </a:p>
          </p:txBody>
        </p:sp>
        <p:sp>
          <p:nvSpPr>
            <p:cNvPr id="13" name="Textfeld 12"/>
            <p:cNvSpPr txBox="1"/>
            <p:nvPr/>
          </p:nvSpPr>
          <p:spPr>
            <a:xfrm>
              <a:off x="3175899" y="1295400"/>
              <a:ext cx="7705552" cy="46892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marL="0" indent="0" fontAlgn="auto">
                <a:spcAft>
                  <a:spcPts val="0"/>
                </a:spcAft>
                <a:buNone/>
              </a:pPr>
              <a:r>
                <a:rPr lang="zh-CN" altLang="en-US" sz="2000">
                  <a:latin typeface="Bosch Office Sans" pitchFamily="34" charset="0"/>
                </a:rPr>
                <a:t>技术方案与创新</a:t>
              </a:r>
              <a:endParaRPr lang="de-DE" sz="2000" kern="0"/>
            </a:p>
          </p:txBody>
        </p:sp>
      </p:grpSp>
      <p:grpSp>
        <p:nvGrpSpPr>
          <p:cNvPr id="18" name="Gruppieren 17"/>
          <p:cNvGrpSpPr/>
          <p:nvPr/>
        </p:nvGrpSpPr>
        <p:grpSpPr>
          <a:xfrm>
            <a:off x="1309551" y="3645318"/>
            <a:ext cx="9411459" cy="483108"/>
            <a:chOff x="2457554" y="1281214"/>
            <a:chExt cx="8342291" cy="483108"/>
          </a:xfrm>
        </p:grpSpPr>
        <p:sp>
          <p:nvSpPr>
            <p:cNvPr id="19" name="Ellipse 18"/>
            <p:cNvSpPr/>
            <p:nvPr/>
          </p:nvSpPr>
          <p:spPr>
            <a:xfrm>
              <a:off x="2457554" y="1295400"/>
              <a:ext cx="468922" cy="468922"/>
            </a:xfrm>
            <a:prstGeom prst="ellipse">
              <a:avLst/>
            </a:prstGeom>
            <a:solidFill>
              <a:schemeClr val="bg1"/>
            </a:solidFill>
            <a:ln w="9525" cap="flat" cmpd="sng" algn="ctr">
              <a:solidFill>
                <a:schemeClr val="bg1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de-DE" sz="18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Bosch Office Sans"/>
                <a:ea typeface="+mn-ea"/>
                <a:cs typeface="+mn-cs"/>
              </a:endParaRPr>
            </a:p>
          </p:txBody>
        </p:sp>
        <p:sp>
          <p:nvSpPr>
            <p:cNvPr id="21" name="Textfeld 20"/>
            <p:cNvSpPr txBox="1"/>
            <p:nvPr/>
          </p:nvSpPr>
          <p:spPr>
            <a:xfrm>
              <a:off x="3094293" y="1281214"/>
              <a:ext cx="7705552" cy="46892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marL="0" indent="0" fontAlgn="auto">
                <a:spcAft>
                  <a:spcPts val="0"/>
                </a:spcAft>
                <a:buNone/>
              </a:pPr>
              <a:r>
                <a:rPr lang="zh-CN" altLang="en-US" sz="2000">
                  <a:latin typeface="Bosch Office Sans" pitchFamily="34" charset="0"/>
                </a:rPr>
                <a:t>商业价值与落地</a:t>
              </a:r>
              <a:endParaRPr lang="de-DE" sz="2000" kern="0"/>
            </a:p>
          </p:txBody>
        </p:sp>
      </p:grpSp>
      <p:grpSp>
        <p:nvGrpSpPr>
          <p:cNvPr id="22" name="Gruppieren 21"/>
          <p:cNvGrpSpPr/>
          <p:nvPr/>
        </p:nvGrpSpPr>
        <p:grpSpPr>
          <a:xfrm>
            <a:off x="1309551" y="4691588"/>
            <a:ext cx="8423897" cy="469375"/>
            <a:chOff x="2457554" y="1294947"/>
            <a:chExt cx="8423897" cy="469375"/>
          </a:xfrm>
        </p:grpSpPr>
        <p:sp>
          <p:nvSpPr>
            <p:cNvPr id="23" name="Ellipse 22"/>
            <p:cNvSpPr/>
            <p:nvPr/>
          </p:nvSpPr>
          <p:spPr>
            <a:xfrm>
              <a:off x="2457554" y="1295400"/>
              <a:ext cx="468922" cy="468922"/>
            </a:xfrm>
            <a:prstGeom prst="ellipse">
              <a:avLst/>
            </a:prstGeom>
            <a:solidFill>
              <a:schemeClr val="bg1"/>
            </a:solidFill>
            <a:ln w="9525" cap="flat" cmpd="sng" algn="ctr">
              <a:solidFill>
                <a:schemeClr val="bg1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de-DE" sz="18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Bosch Office Sans"/>
                <a:ea typeface="+mn-ea"/>
                <a:cs typeface="+mn-cs"/>
              </a:endParaRPr>
            </a:p>
          </p:txBody>
        </p:sp>
        <p:sp>
          <p:nvSpPr>
            <p:cNvPr id="24" name="Ellipse 23"/>
            <p:cNvSpPr/>
            <p:nvPr/>
          </p:nvSpPr>
          <p:spPr>
            <a:xfrm>
              <a:off x="2524894" y="1354925"/>
              <a:ext cx="348966" cy="348966"/>
            </a:xfrm>
            <a:prstGeom prst="ellipse">
              <a:avLst/>
            </a:prstGeom>
            <a:solidFill>
              <a:schemeClr val="accent1"/>
            </a:solidFill>
            <a:ln w="9525" cap="flat" cmpd="sng" algn="ctr">
              <a:solidFill>
                <a:schemeClr val="bg1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r>
                <a:rPr lang="de-DE" sz="1600" b="1" kern="0">
                  <a:solidFill>
                    <a:schemeClr val="bg1"/>
                  </a:solidFill>
                  <a:latin typeface="Bosch Office Sans"/>
                </a:rPr>
                <a:t>4</a:t>
              </a:r>
              <a:endParaRPr kumimoji="0" lang="de-DE" sz="1600" b="1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endParaRPr>
            </a:p>
          </p:txBody>
        </p:sp>
        <p:sp>
          <p:nvSpPr>
            <p:cNvPr id="25" name="Textfeld 24"/>
            <p:cNvSpPr txBox="1"/>
            <p:nvPr/>
          </p:nvSpPr>
          <p:spPr>
            <a:xfrm>
              <a:off x="3175899" y="1294947"/>
              <a:ext cx="7705552" cy="46892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marL="0" indent="0" fontAlgn="auto">
                <a:spcAft>
                  <a:spcPts val="0"/>
                </a:spcAft>
                <a:buNone/>
              </a:pPr>
              <a:r>
                <a:rPr lang="zh-CN" altLang="en-US" sz="2000">
                  <a:latin typeface="Bosch Office Sans" pitchFamily="34" charset="0"/>
                </a:rPr>
                <a:t>资源需求</a:t>
              </a:r>
              <a:endParaRPr lang="de-DE" sz="2000">
                <a:latin typeface="Bosch Office Sans" pitchFamily="34" charset="0"/>
              </a:endParaRPr>
            </a:p>
          </p:txBody>
        </p:sp>
      </p:grpSp>
      <p:sp>
        <p:nvSpPr>
          <p:cNvPr id="38" name="Text Placeholder 2"/>
          <p:cNvSpPr>
            <a:spLocks noGrp="1"/>
          </p:cNvSpPr>
          <p:nvPr>
            <p:ph type="body" sz="quarter" idx="15"/>
          </p:nvPr>
        </p:nvSpPr>
        <p:spPr>
          <a:xfrm>
            <a:off x="205200" y="259200"/>
            <a:ext cx="10558800" cy="388800"/>
          </a:xfrm>
        </p:spPr>
        <p:txBody>
          <a:bodyPr wrap="square">
            <a:noAutofit/>
          </a:bodyPr>
          <a:lstStyle/>
          <a:p>
            <a:pPr>
              <a:lnSpc>
                <a:spcPct val="100000"/>
              </a:lnSpc>
            </a:pPr>
            <a:r>
              <a:rPr lang="zh-CN" altLang="en-US" sz="1200" b="1">
                <a:solidFill>
                  <a:srgbClr val="000000"/>
                </a:solidFill>
                <a:latin typeface="Microsoft YaHei UI" panose="020B0503020204020204" pitchFamily="34" charset="-122"/>
              </a:rPr>
              <a:t>目录</a:t>
            </a:r>
            <a:endParaRPr lang="de-DE" sz="1200" b="1">
              <a:solidFill>
                <a:srgbClr val="000000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2" name="Ellipse 23"/>
          <p:cNvSpPr/>
          <p:nvPr/>
        </p:nvSpPr>
        <p:spPr>
          <a:xfrm>
            <a:off x="1376029" y="3713618"/>
            <a:ext cx="348966" cy="348966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bg1"/>
            </a:solidFill>
            <a:prstDash val="solid"/>
          </a:ln>
          <a:effectLst/>
        </p:spPr>
        <p:txBody>
          <a:bodyPr wrap="square" rtlCol="0" anchor="ctr"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de-DE" sz="1600" b="1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543E0F2-B93C-199E-1AC1-2AC877B67CC3}"/>
              </a:ext>
            </a:extLst>
          </p:cNvPr>
          <p:cNvSpPr txBox="1"/>
          <p:nvPr/>
        </p:nvSpPr>
        <p:spPr>
          <a:xfrm>
            <a:off x="762000" y="1270000"/>
            <a:ext cx="7620000" cy="444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R="0" algn="l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</a:pPr>
            <a:r>
              <a:rPr kumimoji="0" lang="en-US" altLang="zh-CN" sz="1400" i="0" u="none" strike="noStrike" kern="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01  </a:t>
            </a:r>
            <a:r>
              <a:rPr kumimoji="0" lang="zh-CN" altLang="en-US" sz="1400" i="0" u="none" strike="noStrike" kern="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技术背景                                               </a:t>
            </a:r>
            <a:r>
              <a:rPr kumimoji="0" lang="en-US" altLang="zh-CN" sz="1400" i="0" u="none" strike="noStrike" kern="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S3-S5</a:t>
            </a:r>
          </a:p>
          <a:p>
            <a:pPr marR="0" algn="l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</a:pPr>
            <a:endParaRPr kumimoji="0" lang="en-US" altLang="zh-CN" sz="1400" i="0" u="none" strike="noStrike" kern="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</a:pPr>
            <a:r>
              <a:rPr kumimoji="0" lang="en-US" altLang="zh-CN" sz="1400" i="0" u="none" strike="noStrike" kern="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02  </a:t>
            </a:r>
            <a:r>
              <a:rPr kumimoji="0" lang="zh-CN" altLang="en-US" sz="1400" i="0" u="none" strike="noStrike" kern="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技术方案与五大创新                                    </a:t>
            </a:r>
            <a:r>
              <a:rPr kumimoji="0" lang="en-US" altLang="zh-CN" sz="1400" i="0" u="none" strike="noStrike" kern="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S6-S13</a:t>
            </a:r>
          </a:p>
          <a:p>
            <a:pPr marR="0" algn="l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</a:pPr>
            <a:endParaRPr kumimoji="0" lang="en-US" altLang="zh-CN" sz="1400" i="0" u="none" strike="noStrike" kern="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</a:pPr>
            <a:r>
              <a:rPr kumimoji="0" lang="en-US" altLang="zh-CN" sz="1400" i="0" u="none" strike="noStrike" kern="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03  </a:t>
            </a:r>
            <a:r>
              <a:rPr kumimoji="0" lang="zh-CN" altLang="en-US" sz="1400" i="0" u="none" strike="noStrike" kern="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实验验证与性能对比                                 </a:t>
            </a:r>
            <a:r>
              <a:rPr kumimoji="0" lang="en-US" altLang="zh-CN" sz="1400" i="0" u="none" strike="noStrike" kern="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S14-S16</a:t>
            </a:r>
          </a:p>
          <a:p>
            <a:pPr marR="0" algn="l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</a:pPr>
            <a:endParaRPr kumimoji="0" lang="en-US" altLang="zh-CN" sz="1400" i="0" u="none" strike="noStrike" kern="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</a:pPr>
            <a:r>
              <a:rPr kumimoji="0" lang="en-US" altLang="zh-CN" sz="1400" i="0" u="none" strike="noStrike" kern="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04  </a:t>
            </a:r>
            <a:r>
              <a:rPr kumimoji="0" lang="zh-CN" altLang="en-US" sz="1400" i="0" u="none" strike="noStrike" kern="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商业价值与落地路径                                 </a:t>
            </a:r>
            <a:r>
              <a:rPr kumimoji="0" lang="en-US" altLang="zh-CN" sz="1400" i="0" u="none" strike="noStrike" kern="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S17-S20</a:t>
            </a:r>
          </a:p>
          <a:p>
            <a:pPr marR="0" algn="l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</a:pPr>
            <a:endParaRPr kumimoji="0" lang="en-US" altLang="zh-CN" sz="1400" i="0" u="none" strike="noStrike" kern="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</a:pPr>
            <a:r>
              <a:rPr kumimoji="0" lang="en-US" altLang="zh-CN" sz="1400" i="0" u="none" strike="noStrike" kern="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05  </a:t>
            </a:r>
            <a:r>
              <a:rPr kumimoji="0" lang="zh-CN" altLang="en-US" sz="1400" i="0" u="none" strike="noStrike" kern="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资源规划与风险评估                                </a:t>
            </a:r>
            <a:r>
              <a:rPr kumimoji="0" lang="en-US" altLang="zh-CN" sz="1400" i="0" u="none" strike="noStrike" kern="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S21-S23</a:t>
            </a:r>
            <a:endParaRPr kumimoji="0" lang="en-US" sz="1400" i="0" u="none" strike="noStrike" kern="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5"/>
          </p:nvPr>
        </p:nvSpPr>
        <p:spPr/>
        <p:txBody>
          <a:bodyPr wrap="square">
            <a:noAutofit/>
          </a:bodyPr>
          <a:lstStyle/>
          <a:p>
            <a:pPr marL="0" indent="0" fontAlgn="auto">
              <a:lnSpc>
                <a:spcPct val="100000"/>
              </a:lnSpc>
              <a:buNone/>
            </a:pPr>
            <a:r>
              <a:rPr lang="zh-CN" altLang="en-US" sz="1200" b="1">
                <a:solidFill>
                  <a:srgbClr val="000000"/>
                </a:solidFill>
                <a:latin typeface="Microsoft YaHei UI" panose="020B0503020204020204" pitchFamily="34" charset="-122"/>
              </a:rPr>
              <a:t>技术背景</a:t>
            </a:r>
            <a:endParaRPr lang="de-DE" sz="1200" b="1" kern="0">
              <a:solidFill>
                <a:srgbClr val="000000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>
              <a:lnSpc>
                <a:spcPct val="100000"/>
              </a:lnSpc>
            </a:pPr>
            <a:r>
              <a:rPr lang="zh-CN" altLang="en-US" sz="2000" b="1">
                <a:solidFill>
                  <a:srgbClr val="007BC0"/>
                </a:solidFill>
                <a:latin typeface="Microsoft YaHei UI" panose="020B0503020204020204" pitchFamily="34" charset="-122"/>
              </a:rPr>
              <a:t>行业趋势：从规则驱动到数据驱动</a:t>
            </a:r>
            <a:endParaRPr lang="en-US" sz="2000" b="1">
              <a:solidFill>
                <a:srgbClr val="007BC0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 wrap="square">
            <a:noAutofit/>
          </a:bodyPr>
          <a:lstStyle/>
          <a:p>
            <a:r>
              <a:rPr lang="en-US" sz="1000">
                <a:latin typeface="Microsoft YaHei UI" panose="020B0503020204020204" pitchFamily="34" charset="-122"/>
              </a:rPr>
              <a:t>3</a:t>
            </a:r>
            <a:endParaRPr lang="en-US" sz="1000" noProof="1">
              <a:latin typeface="Microsoft YaHei UI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481" y="1542653"/>
            <a:ext cx="9872662" cy="390818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行业趋势：规划模块正从「写规则」变成「学经验」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endParaRPr lang="zh-CN" altLang="en-US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传统方法（规则驱动）：工程师手写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if-else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逻辑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→ 简单场景好用，但复杂交互场景（如抢道、避让行人）规则写不完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endParaRPr lang="zh-CN" altLang="en-US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学习方法（数据驱动）：让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AI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从海量真实驾驶数据中学习怎么开车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→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Tesla FSD v12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、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Waymo EMMA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等均已转向端到端学习方法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endParaRPr lang="zh-CN" altLang="en-US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生成式模型是学习方法中最新的方向：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不是给一个固定答案，而是生成多种可能的驾驶轨迹，选最优的执行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endParaRPr lang="zh-CN" altLang="en-US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学术顶会趋势：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NeurIPS 2025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、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ICLR 2025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的自动驾驶规划论文中，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生成式方法已成为绝对主流（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Diffusion Planner, Flow Planner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等）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endParaRPr lang="zh-CN" altLang="en-US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Flow Planner (NeurIPS 2025)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以纯学习方法首次突破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nuPlan Val14 90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分大关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endParaRPr lang="zh-CN" altLang="en-US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关键挑战：如何从学术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Benchmark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走向实车部署？需要自适应能力和安全保证</a:t>
            </a:r>
            <a:endParaRPr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5"/>
          </p:nvPr>
        </p:nvSpPr>
        <p:spPr/>
        <p:txBody>
          <a:bodyPr wrap="square">
            <a:noAutofit/>
          </a:bodyPr>
          <a:lstStyle/>
          <a:p>
            <a:pPr marL="0" indent="0" fontAlgn="auto">
              <a:lnSpc>
                <a:spcPct val="100000"/>
              </a:lnSpc>
              <a:buNone/>
            </a:pPr>
            <a:r>
              <a:rPr lang="zh-CN" altLang="en-US" sz="1200" b="1">
                <a:solidFill>
                  <a:srgbClr val="000000"/>
                </a:solidFill>
                <a:latin typeface="Microsoft YaHei UI" panose="020B0503020204020204" pitchFamily="34" charset="-122"/>
              </a:rPr>
              <a:t>技术背景</a:t>
            </a:r>
            <a:endParaRPr lang="de-DE" sz="1200" b="1" kern="0">
              <a:solidFill>
                <a:srgbClr val="000000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>
              <a:lnSpc>
                <a:spcPct val="100000"/>
              </a:lnSpc>
            </a:pPr>
            <a:r>
              <a:rPr lang="zh-CN" altLang="en-US" sz="2000" b="1">
                <a:solidFill>
                  <a:srgbClr val="007BC0"/>
                </a:solidFill>
                <a:latin typeface="Microsoft YaHei UI" panose="020B0503020204020204" pitchFamily="34" charset="-122"/>
              </a:rPr>
              <a:t>自动驾驶规划方法的技术演进</a:t>
            </a:r>
            <a:endParaRPr lang="en-US" sz="2000" b="1">
              <a:solidFill>
                <a:srgbClr val="007BC0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 wrap="square">
            <a:noAutofit/>
          </a:bodyPr>
          <a:lstStyle/>
          <a:p>
            <a:r>
              <a:rPr lang="en-US" sz="1000">
                <a:latin typeface="Microsoft YaHei UI" panose="020B0503020204020204" pitchFamily="34" charset="-122"/>
              </a:rPr>
              <a:t>4</a:t>
            </a:r>
            <a:endParaRPr lang="en-US" sz="1000" noProof="1">
              <a:latin typeface="Microsoft YaHei UI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10686" y="996553"/>
            <a:ext cx="9872662" cy="390818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规划模块负责决定车辆未来怎么走，方法不断进化：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endParaRPr lang="zh-CN" altLang="en-US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1.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回归式（直接预测轨迹）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输入环境信息，直接输出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8s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坐标序列（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L2 Loss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拟合）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优势：极快（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~5ms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），轻量 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| 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局限：单模态，无法处理多意图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代表：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PlanTF (NR=84.72), PLUTO (NR=88.89)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endParaRPr lang="en-US" altLang="zh-CN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2.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扩散模型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Diffusion Model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前向加噪 → 反向去噪，从噪声恢复轨迹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优势：多模态生成 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| 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局限：需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20-100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步，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~100ms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延迟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代表：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Diffusion Planner (ICLR 2025, NR=89.87)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endParaRPr lang="en-US" altLang="zh-CN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3.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流匹配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Flow Matching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（我们的选择）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学习噪声→轨迹的最短传输路径（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ODE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向量场）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与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Diffusion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的关键区别：走近似直线，不绕弯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仅需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4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步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ODE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，速度比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Diffusion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快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5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倍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代表：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Flow Planner (NeurIPS 2025, NR=90.43) SOTA</a:t>
            </a:r>
            <a:endParaRPr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>
              <a:lnSpc>
                <a:spcPct val="100000"/>
              </a:lnSpc>
            </a:pPr>
            <a:r>
              <a:rPr lang="zh-CN" altLang="en-US" sz="2000" b="1">
                <a:solidFill>
                  <a:srgbClr val="007BC0"/>
                </a:solidFill>
                <a:latin typeface="Microsoft YaHei UI" panose="020B0503020204020204" pitchFamily="34" charset="-122"/>
              </a:rPr>
              <a:t>基线架构：</a:t>
            </a:r>
            <a:r>
              <a:rPr lang="en-US" sz="2000" b="1">
                <a:solidFill>
                  <a:srgbClr val="007BC0"/>
                </a:solidFill>
                <a:latin typeface="Microsoft YaHei UI" panose="020B0503020204020204" pitchFamily="34" charset="-122"/>
              </a:rPr>
              <a:t>Flow Planner (NeurIPS 2025)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5"/>
          </p:nvPr>
        </p:nvSpPr>
        <p:spPr/>
        <p:txBody>
          <a:bodyPr wrap="square">
            <a:noAutofit/>
          </a:bodyPr>
          <a:lstStyle/>
          <a:p>
            <a:pPr>
              <a:lnSpc>
                <a:spcPct val="100000"/>
              </a:lnSpc>
            </a:pPr>
            <a:r>
              <a:rPr lang="zh-CN" altLang="en-US" sz="1200" b="1">
                <a:solidFill>
                  <a:srgbClr val="000000"/>
                </a:solidFill>
                <a:latin typeface="Microsoft YaHei UI" panose="020B0503020204020204" pitchFamily="34" charset="-122"/>
              </a:rPr>
              <a:t>技术方案</a:t>
            </a:r>
            <a:endParaRPr lang="en-US" sz="1200" b="1">
              <a:solidFill>
                <a:srgbClr val="000000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 wrap="square">
            <a:noAutofit/>
          </a:bodyPr>
          <a:lstStyle/>
          <a:p>
            <a:r>
              <a:rPr lang="en-US" sz="1000">
                <a:latin typeface="Microsoft YaHei UI" panose="020B0503020204020204" pitchFamily="34" charset="-122"/>
              </a:rPr>
              <a:t>5</a:t>
            </a:r>
            <a:endParaRPr lang="en-US" sz="1000" noProof="1">
              <a:latin typeface="Microsoft YaHei UI" panose="020B0503020204020204" pitchFamily="3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547846" y="1313084"/>
            <a:ext cx="9872662" cy="345165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Flow Planner — NeurIPS 2025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，纯学习方法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SOTA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endParaRPr lang="en-US" altLang="zh-CN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核心思路：用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Flow Matching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从随机噪声直接生成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8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秒驾驶轨迹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endParaRPr lang="zh-CN" altLang="en-US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模型架构（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14.28M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参数，轻量化）：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编码器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Encoder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：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MLP-Mixer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编码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ego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历史、邻居、车道线、路由、静态物体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解码器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Decoder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：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4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层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DiT Block + AdaLN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条件注入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+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重叠轨迹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Token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化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CFG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引导：有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/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无邻车条件加权融合，提升交互反应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endParaRPr lang="zh-CN" altLang="en-US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关键优势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vs Diffusion Planner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：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推理速度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4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步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vs 20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步 → 快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5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倍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性能更优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Val14 NR 90.43 vs 89.87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轨迹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Token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化：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80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帧切为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7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个重叠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Token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，捕捉精细时序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endParaRPr lang="zh-CN" altLang="en-US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基线性能：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Val14 NR = 90.43 | InterPlan = 61.82 |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参数量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14.28M</a:t>
            </a:r>
            <a:endParaRPr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>
              <a:lnSpc>
                <a:spcPct val="100000"/>
              </a:lnSpc>
            </a:pPr>
            <a:r>
              <a:rPr lang="zh-CN" altLang="en-US" sz="2000" b="1" i="0">
                <a:solidFill>
                  <a:srgbClr val="007BC0"/>
                </a:solidFill>
                <a:latin typeface="Microsoft YaHei UI" panose="020B0503020204020204" pitchFamily="34" charset="-122"/>
              </a:rPr>
              <a:t>技术方案总览</a:t>
            </a:r>
            <a:endParaRPr lang="en-US" sz="2000" b="1">
              <a:solidFill>
                <a:srgbClr val="007BC0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5"/>
          </p:nvPr>
        </p:nvSpPr>
        <p:spPr/>
        <p:txBody>
          <a:bodyPr wrap="square">
            <a:noAutofit/>
          </a:bodyPr>
          <a:lstStyle/>
          <a:p>
            <a:pPr>
              <a:lnSpc>
                <a:spcPct val="100000"/>
              </a:lnSpc>
            </a:pPr>
            <a:r>
              <a:rPr lang="zh-CN" altLang="en-US" sz="1200" b="1" i="0">
                <a:solidFill>
                  <a:srgbClr val="000000"/>
                </a:solidFill>
                <a:latin typeface="Microsoft YaHei UI" panose="020B0503020204020204" pitchFamily="34" charset="-122"/>
              </a:rPr>
              <a:t>技术方案</a:t>
            </a:r>
            <a:endParaRPr lang="en-US" sz="1200" b="1">
              <a:solidFill>
                <a:srgbClr val="000000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 wrap="square">
            <a:noAutofit/>
          </a:bodyPr>
          <a:lstStyle/>
          <a:p>
            <a:r>
              <a:rPr lang="en-US" sz="1000">
                <a:latin typeface="Microsoft YaHei UI" panose="020B0503020204020204" pitchFamily="34" charset="-122"/>
              </a:rPr>
              <a:t>6</a:t>
            </a:r>
            <a:endParaRPr lang="en-US" sz="1000" noProof="1">
              <a:latin typeface="Microsoft YaHei UI" panose="020B0503020204020204" pitchFamily="34" charset="-122"/>
            </a:endParaRPr>
          </a:p>
        </p:txBody>
      </p:sp>
      <p:pic>
        <p:nvPicPr>
          <p:cNvPr id="6" name="Picture 5" descr="FlowPlanner_项目流程图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70" y="1110710"/>
            <a:ext cx="9214485" cy="481307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556" y="329082"/>
            <a:ext cx="9461119" cy="40011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rPr lang="zh-CN" altLang="en-US" sz="2000" b="1">
                <a:solidFill>
                  <a:srgbClr val="FFFFFF"/>
                </a:solidFill>
                <a:latin typeface="Microsoft YaHei UI" panose="020B0503020204020204" pitchFamily="34" charset="-122"/>
              </a:rPr>
              <a:t>创新点</a:t>
            </a:r>
            <a:r>
              <a:rPr lang="en-US" altLang="zh-CN" sz="2000" b="1">
                <a:solidFill>
                  <a:srgbClr val="FFFFFF"/>
                </a:solidFill>
                <a:latin typeface="Microsoft YaHei UI" panose="020B0503020204020204" pitchFamily="34" charset="-122"/>
              </a:rPr>
              <a:t>1</a:t>
            </a:r>
            <a:r>
              <a:rPr lang="zh-CN" altLang="en-US" sz="2000" b="1">
                <a:solidFill>
                  <a:srgbClr val="FFFFFF"/>
                </a:solidFill>
                <a:latin typeface="Microsoft YaHei UI" panose="020B0503020204020204" pitchFamily="34" charset="-122"/>
              </a:rPr>
              <a:t>：</a:t>
            </a:r>
            <a:r>
              <a:rPr lang="en-US" altLang="zh-CN" sz="2000" b="1">
                <a:solidFill>
                  <a:srgbClr val="FFFFFF"/>
                </a:solidFill>
                <a:latin typeface="Microsoft YaHei UI" panose="020B0503020204020204" pitchFamily="34" charset="-122"/>
              </a:rPr>
              <a:t>Scene-Adaptive CFG </a:t>
            </a:r>
            <a:r>
              <a:rPr lang="zh-CN" altLang="en-US" sz="2000" b="1">
                <a:solidFill>
                  <a:srgbClr val="FFFFFF"/>
                </a:solidFill>
                <a:latin typeface="Microsoft YaHei UI" panose="020B0503020204020204" pitchFamily="34" charset="-122"/>
              </a:rPr>
              <a:t>引导权重  🔒 可申请专利</a:t>
            </a:r>
            <a:endParaRPr sz="2000" b="1">
              <a:solidFill>
                <a:srgbClr val="FFFFFF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8481" y="546837"/>
            <a:ext cx="2371162" cy="30777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i="1">
                <a:solidFill>
                  <a:srgbClr val="00D2FF"/>
                </a:solidFill>
              </a:defRPr>
            </a:pPr>
            <a:r>
              <a:rPr lang="zh-CN" altLang="en-US" sz="1400" b="1" i="0">
                <a:solidFill>
                  <a:srgbClr val="007BC0"/>
                </a:solidFill>
                <a:latin typeface="Microsoft YaHei UI" panose="020B0503020204020204" pitchFamily="34" charset="-122"/>
                <a:ea typeface="+mj-ea"/>
                <a:cs typeface="+mj-cs"/>
                <a:sym typeface="+mn-ea"/>
              </a:rPr>
              <a:t> 场景自适应 </a:t>
            </a:r>
            <a:r>
              <a:rPr lang="en-US" altLang="zh-CN" sz="1400" b="1" i="0">
                <a:solidFill>
                  <a:srgbClr val="007BC0"/>
                </a:solidFill>
                <a:latin typeface="Microsoft YaHei UI" panose="020B0503020204020204" pitchFamily="34" charset="-122"/>
                <a:ea typeface="+mj-ea"/>
                <a:cs typeface="+mj-cs"/>
                <a:sym typeface="+mn-ea"/>
              </a:rPr>
              <a:t>CFG </a:t>
            </a:r>
            <a:r>
              <a:rPr lang="zh-CN" altLang="en-US" sz="1400" b="1" i="0">
                <a:solidFill>
                  <a:srgbClr val="007BC0"/>
                </a:solidFill>
                <a:latin typeface="Microsoft YaHei UI" panose="020B0503020204020204" pitchFamily="34" charset="-122"/>
                <a:ea typeface="+mj-ea"/>
                <a:cs typeface="+mj-cs"/>
                <a:sym typeface="+mn-ea"/>
              </a:rPr>
              <a:t>引导权重 </a:t>
            </a:r>
            <a:endParaRPr sz="1400" b="1" i="0">
              <a:solidFill>
                <a:srgbClr val="007BC0"/>
              </a:solidFill>
              <a:latin typeface="Microsoft YaHei UI" panose="020B0503020204020204" pitchFamily="34" charset="-122"/>
              <a:ea typeface="+mj-ea"/>
              <a:cs typeface="+mj-cs"/>
              <a:sym typeface="+mn-ea"/>
            </a:endParaRPr>
          </a:p>
        </p:txBody>
      </p:sp>
      <p:sp>
        <p:nvSpPr>
          <p:cNvPr id="6" name="Text Placeholder 1"/>
          <p:cNvSpPr>
            <a:spLocks noGrp="1"/>
          </p:cNvSpPr>
          <p:nvPr/>
        </p:nvSpPr>
        <p:spPr>
          <a:xfrm>
            <a:off x="205200" y="259200"/>
            <a:ext cx="10558800" cy="3888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Wingdings" panose="05000000000000000000" pitchFamily="2" charset="2"/>
              <a:buNone/>
              <a:defRPr sz="2800" kern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33680" indent="0" algn="l" defTabSz="914400" rtl="0" eaLnBrk="1" latinLnBrk="0" hangingPunct="1">
              <a:lnSpc>
                <a:spcPct val="103000"/>
              </a:lnSpc>
              <a:spcBef>
                <a:spcPts val="500"/>
              </a:spcBef>
              <a:buFont typeface="Symbol" panose="05050102010706020507" pitchFamily="18" charset="2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0" algn="l" defTabSz="914400" rtl="0" eaLnBrk="1" latinLnBrk="0" hangingPunct="1">
              <a:lnSpc>
                <a:spcPct val="102000"/>
              </a:lnSpc>
              <a:spcBef>
                <a:spcPts val="500"/>
              </a:spcBef>
              <a:buFont typeface="Symbol" panose="05050102010706020507" pitchFamily="18" charset="2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8665" indent="0" algn="l" defTabSz="914400" rtl="0" eaLnBrk="1" latinLnBrk="0" hangingPunct="1">
              <a:lnSpc>
                <a:spcPct val="103000"/>
              </a:lnSpc>
              <a:spcBef>
                <a:spcPts val="500"/>
              </a:spcBef>
              <a:buFont typeface="Bosch Office Sans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48665" indent="0" algn="l" defTabSz="914400" rtl="0" eaLnBrk="1" latinLnBrk="0" hangingPunct="1">
              <a:lnSpc>
                <a:spcPct val="103000"/>
              </a:lnSpc>
              <a:spcBef>
                <a:spcPts val="500"/>
              </a:spcBef>
              <a:buFont typeface="Bosch Office Sans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2105" indent="-230505" algn="l" defTabSz="914400" rtl="0" eaLnBrk="1" latinLnBrk="0" hangingPunct="1">
              <a:lnSpc>
                <a:spcPct val="103000"/>
              </a:lnSpc>
              <a:spcBef>
                <a:spcPts val="500"/>
              </a:spcBef>
              <a:buFont typeface="Bosch Office Sans" pitchFamily="34" charset="0"/>
              <a:buChar char="‒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602105" indent="-230505" algn="l" defTabSz="914400" rtl="0" eaLnBrk="1" latinLnBrk="0" hangingPunct="1">
              <a:lnSpc>
                <a:spcPct val="103000"/>
              </a:lnSpc>
              <a:spcBef>
                <a:spcPts val="500"/>
              </a:spcBef>
              <a:buFont typeface="Bosch Office Sans" pitchFamily="34" charset="0"/>
              <a:buChar char="‒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2105" indent="-230505" algn="l" defTabSz="914400" rtl="0" eaLnBrk="1" latinLnBrk="0" hangingPunct="1">
              <a:lnSpc>
                <a:spcPct val="103000"/>
              </a:lnSpc>
              <a:spcBef>
                <a:spcPts val="500"/>
              </a:spcBef>
              <a:buFont typeface="Bosch Office Sans" pitchFamily="34" charset="0"/>
              <a:buChar char="‒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2105" indent="-230505" algn="l" defTabSz="914400" rtl="0" eaLnBrk="1" latinLnBrk="0" hangingPunct="1">
              <a:lnSpc>
                <a:spcPct val="103000"/>
              </a:lnSpc>
              <a:spcBef>
                <a:spcPts val="500"/>
              </a:spcBef>
              <a:buFont typeface="Bosch Office Sans" pitchFamily="34" charset="0"/>
              <a:buChar char="‒"/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lnSpc>
                <a:spcPct val="100000"/>
              </a:lnSpc>
              <a:spcAft>
                <a:spcPts val="0"/>
              </a:spcAft>
              <a:buNone/>
            </a:pPr>
            <a:r>
              <a:rPr lang="zh-CN" altLang="en-US" sz="1200" b="1">
                <a:solidFill>
                  <a:srgbClr val="000000"/>
                </a:solidFill>
                <a:latin typeface="Microsoft YaHei UI" panose="020B0503020204020204" pitchFamily="34" charset="-122"/>
                <a:ea typeface="+mj-ea"/>
                <a:cs typeface="+mj-cs"/>
                <a:sym typeface="+mn-ea"/>
              </a:rPr>
              <a:t>创新点</a:t>
            </a:r>
            <a:r>
              <a:rPr lang="en-US" altLang="zh-CN" sz="1200" b="1">
                <a:solidFill>
                  <a:srgbClr val="000000"/>
                </a:solidFill>
                <a:latin typeface="Microsoft YaHei UI" panose="020B0503020204020204" pitchFamily="34" charset="-122"/>
                <a:ea typeface="+mj-ea"/>
                <a:cs typeface="+mj-cs"/>
                <a:sym typeface="+mn-ea"/>
              </a:rPr>
              <a:t>1</a:t>
            </a:r>
            <a:endParaRPr lang="de-DE" sz="1200" b="1" kern="0">
              <a:solidFill>
                <a:srgbClr val="000000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8D7F478-A3D9-082F-DADC-751CA6E685DF}"/>
              </a:ext>
            </a:extLst>
          </p:cNvPr>
          <p:cNvSpPr txBox="1"/>
          <p:nvPr/>
        </p:nvSpPr>
        <p:spPr>
          <a:xfrm>
            <a:off x="658556" y="1316330"/>
            <a:ext cx="4524883" cy="3556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痛点：所有 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CFG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方法使用固定权重 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w，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不区分场景复杂度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•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简单直道 → 过度干预（轨迹抖动）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•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密集路口 → 干预不足（碰撞风险）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endParaRPr kumimoji="0" lang="zh-CN" alt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方案：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Scenario-Conditioned CFG Weight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•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按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14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种 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nuPlan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场景类型学习最优 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w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•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类比 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Tesla FSD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场景专家架构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endParaRPr kumimoji="0" lang="zh-CN" alt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   场景类型                最优 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w  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策略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   ─────────────────────────────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   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high_magnitude_speed     1.2   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少干预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   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near_multiple_vehicles   2.8   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强感知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   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starting_left_turn       3.2   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最大安全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   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changing_lane            2.5   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平衡通过率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endParaRPr kumimoji="0" lang="zh-CN" alt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实验验证：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w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从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1.0→2.5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时 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NR +9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分</a:t>
            </a:r>
            <a:endParaRPr kumimoji="0" 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5AA8472-E798-9818-94EA-0A51D9E4AD78}"/>
              </a:ext>
            </a:extLst>
          </p:cNvPr>
          <p:cNvSpPr txBox="1"/>
          <p:nvPr/>
        </p:nvSpPr>
        <p:spPr>
          <a:xfrm>
            <a:off x="5594792" y="1316330"/>
            <a:ext cx="4524883" cy="3556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技术路线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endParaRPr kumimoji="0" lang="zh-CN" alt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Step 1  Per-Scenario Grid Search（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已完成）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• 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val14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的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14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种场景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× 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w∈[0.5, 4.0]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•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记录每种场景最优 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w →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场景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-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w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映射表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endParaRPr kumimoji="0" lang="zh-CN" alt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Step 2  Risk-Aware MLP（~5K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参数）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•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输入：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TTC | THW |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邻居数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| 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ego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速度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|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场景类型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•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输出：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r∈[0,1] → w = w_min + r×(w_max - w_min)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endParaRPr kumimoji="0" 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Step 3 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融入博世超让标签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•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「超」场景 → 高 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w（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激进博弈）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•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「让」场景 → 低 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w（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保守避让）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endParaRPr kumimoji="0" lang="zh-CN" alt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专利方向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基于场景分类的 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Flow Matching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自适应引导权重方法</a:t>
            </a:r>
            <a:endParaRPr kumimoji="0" 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556" y="329082"/>
            <a:ext cx="9461119" cy="40011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rPr lang="zh-CN" altLang="en-US" sz="2000" b="1">
                <a:solidFill>
                  <a:srgbClr val="FFFFFF"/>
                </a:solidFill>
                <a:latin typeface="Microsoft YaHei UI" panose="020B0503020204020204" pitchFamily="34" charset="-122"/>
              </a:rPr>
              <a:t>创新点</a:t>
            </a:r>
            <a:r>
              <a:rPr lang="en-US" altLang="zh-CN" sz="2000" b="1">
                <a:solidFill>
                  <a:srgbClr val="FFFFFF"/>
                </a:solidFill>
                <a:latin typeface="Microsoft YaHei UI" panose="020B0503020204020204" pitchFamily="34" charset="-122"/>
              </a:rPr>
              <a:t>2</a:t>
            </a:r>
            <a:r>
              <a:rPr lang="zh-CN" altLang="en-US" sz="2000" b="1">
                <a:solidFill>
                  <a:srgbClr val="FFFFFF"/>
                </a:solidFill>
                <a:latin typeface="Microsoft YaHei UI" panose="020B0503020204020204" pitchFamily="34" charset="-122"/>
              </a:rPr>
              <a:t>：</a:t>
            </a:r>
            <a:r>
              <a:rPr lang="en-US" altLang="zh-CN" sz="2000" b="1">
                <a:solidFill>
                  <a:srgbClr val="FFFFFF"/>
                </a:solidFill>
                <a:latin typeface="Microsoft YaHei UI" panose="020B0503020204020204" pitchFamily="34" charset="-122"/>
              </a:rPr>
              <a:t>Best-of-N </a:t>
            </a:r>
            <a:r>
              <a:rPr lang="zh-CN" altLang="en-US" sz="2000" b="1">
                <a:solidFill>
                  <a:srgbClr val="FFFFFF"/>
                </a:solidFill>
                <a:latin typeface="Microsoft YaHei UI" panose="020B0503020204020204" pitchFamily="34" charset="-122"/>
              </a:rPr>
              <a:t>多候选轨迹筛选  🔒 可申请专利</a:t>
            </a:r>
            <a:endParaRPr sz="2000" b="1">
              <a:solidFill>
                <a:srgbClr val="FFFFFF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2131" y="579857"/>
            <a:ext cx="2522935" cy="30777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i="1">
                <a:solidFill>
                  <a:srgbClr val="00D2FF"/>
                </a:solidFill>
              </a:defRPr>
            </a:pPr>
            <a:r>
              <a:rPr lang="en-US" sz="1400" b="1" i="0">
                <a:solidFill>
                  <a:srgbClr val="007BC0"/>
                </a:solidFill>
                <a:latin typeface="Microsoft YaHei UI" panose="020B0503020204020204" pitchFamily="34" charset="-122"/>
                <a:ea typeface="+mj-ea"/>
                <a:cs typeface="+mj-cs"/>
              </a:rPr>
              <a:t> Best-of-N </a:t>
            </a:r>
            <a:r>
              <a:rPr lang="zh-CN" altLang="en-US" sz="1400" b="1" i="0">
                <a:solidFill>
                  <a:srgbClr val="007BC0"/>
                </a:solidFill>
                <a:latin typeface="Microsoft YaHei UI" panose="020B0503020204020204" pitchFamily="34" charset="-122"/>
                <a:ea typeface="+mj-ea"/>
                <a:cs typeface="+mj-cs"/>
              </a:rPr>
              <a:t>多候选轨迹筛选  </a:t>
            </a:r>
            <a:endParaRPr lang="en-US" sz="1400" b="1" i="0">
              <a:solidFill>
                <a:srgbClr val="007BC0"/>
              </a:solidFill>
              <a:latin typeface="Microsoft YaHei UI" panose="020B0503020204020204" pitchFamily="34" charset="-122"/>
              <a:ea typeface="+mj-ea"/>
              <a:cs typeface="+mj-cs"/>
            </a:endParaRPr>
          </a:p>
        </p:txBody>
      </p:sp>
      <p:sp>
        <p:nvSpPr>
          <p:cNvPr id="6" name="Text Placeholder 1"/>
          <p:cNvSpPr>
            <a:spLocks noGrp="1"/>
          </p:cNvSpPr>
          <p:nvPr/>
        </p:nvSpPr>
        <p:spPr>
          <a:xfrm>
            <a:off x="256635" y="283965"/>
            <a:ext cx="10558800" cy="3888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Wingdings" panose="05000000000000000000" pitchFamily="2" charset="2"/>
              <a:buNone/>
              <a:defRPr sz="2800" kern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33680" indent="0" algn="l" defTabSz="914400" rtl="0" eaLnBrk="1" latinLnBrk="0" hangingPunct="1">
              <a:lnSpc>
                <a:spcPct val="103000"/>
              </a:lnSpc>
              <a:spcBef>
                <a:spcPts val="500"/>
              </a:spcBef>
              <a:buFont typeface="Symbol" panose="05050102010706020507" pitchFamily="18" charset="2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0" algn="l" defTabSz="914400" rtl="0" eaLnBrk="1" latinLnBrk="0" hangingPunct="1">
              <a:lnSpc>
                <a:spcPct val="102000"/>
              </a:lnSpc>
              <a:spcBef>
                <a:spcPts val="500"/>
              </a:spcBef>
              <a:buFont typeface="Symbol" panose="05050102010706020507" pitchFamily="18" charset="2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8665" indent="0" algn="l" defTabSz="914400" rtl="0" eaLnBrk="1" latinLnBrk="0" hangingPunct="1">
              <a:lnSpc>
                <a:spcPct val="103000"/>
              </a:lnSpc>
              <a:spcBef>
                <a:spcPts val="500"/>
              </a:spcBef>
              <a:buFont typeface="Bosch Office Sans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48665" indent="0" algn="l" defTabSz="914400" rtl="0" eaLnBrk="1" latinLnBrk="0" hangingPunct="1">
              <a:lnSpc>
                <a:spcPct val="103000"/>
              </a:lnSpc>
              <a:spcBef>
                <a:spcPts val="500"/>
              </a:spcBef>
              <a:buFont typeface="Bosch Office Sans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2105" indent="-230505" algn="l" defTabSz="914400" rtl="0" eaLnBrk="1" latinLnBrk="0" hangingPunct="1">
              <a:lnSpc>
                <a:spcPct val="103000"/>
              </a:lnSpc>
              <a:spcBef>
                <a:spcPts val="500"/>
              </a:spcBef>
              <a:buFont typeface="Bosch Office Sans" pitchFamily="34" charset="0"/>
              <a:buChar char="‒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602105" indent="-230505" algn="l" defTabSz="914400" rtl="0" eaLnBrk="1" latinLnBrk="0" hangingPunct="1">
              <a:lnSpc>
                <a:spcPct val="103000"/>
              </a:lnSpc>
              <a:spcBef>
                <a:spcPts val="500"/>
              </a:spcBef>
              <a:buFont typeface="Bosch Office Sans" pitchFamily="34" charset="0"/>
              <a:buChar char="‒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2105" indent="-230505" algn="l" defTabSz="914400" rtl="0" eaLnBrk="1" latinLnBrk="0" hangingPunct="1">
              <a:lnSpc>
                <a:spcPct val="103000"/>
              </a:lnSpc>
              <a:spcBef>
                <a:spcPts val="500"/>
              </a:spcBef>
              <a:buFont typeface="Bosch Office Sans" pitchFamily="34" charset="0"/>
              <a:buChar char="‒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2105" indent="-230505" algn="l" defTabSz="914400" rtl="0" eaLnBrk="1" latinLnBrk="0" hangingPunct="1">
              <a:lnSpc>
                <a:spcPct val="103000"/>
              </a:lnSpc>
              <a:spcBef>
                <a:spcPts val="500"/>
              </a:spcBef>
              <a:buFont typeface="Bosch Office Sans" pitchFamily="34" charset="0"/>
              <a:buChar char="‒"/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lnSpc>
                <a:spcPct val="100000"/>
              </a:lnSpc>
              <a:spcAft>
                <a:spcPts val="0"/>
              </a:spcAft>
              <a:buNone/>
            </a:pPr>
            <a:r>
              <a:rPr lang="zh-CN" altLang="en-US" sz="1200" b="1">
                <a:solidFill>
                  <a:srgbClr val="000000"/>
                </a:solidFill>
                <a:latin typeface="Microsoft YaHei UI" panose="020B0503020204020204" pitchFamily="34" charset="-122"/>
                <a:ea typeface="+mj-ea"/>
                <a:cs typeface="+mj-cs"/>
                <a:sym typeface="+mn-ea"/>
              </a:rPr>
              <a:t>创新点</a:t>
            </a:r>
            <a:r>
              <a:rPr lang="en-US" altLang="zh-CN" sz="1200" b="1">
                <a:solidFill>
                  <a:srgbClr val="000000"/>
                </a:solidFill>
                <a:latin typeface="Microsoft YaHei UI" panose="020B0503020204020204" pitchFamily="34" charset="-122"/>
                <a:ea typeface="+mj-ea"/>
                <a:cs typeface="+mj-cs"/>
                <a:sym typeface="+mn-ea"/>
              </a:rPr>
              <a:t>2</a:t>
            </a:r>
            <a:endParaRPr lang="en-US" sz="1200" b="1" kern="0">
              <a:solidFill>
                <a:srgbClr val="000000"/>
              </a:solidFill>
              <a:latin typeface="Microsoft YaHei UI" panose="020B0503020204020204" pitchFamily="34" charset="-122"/>
              <a:ea typeface="+mj-ea"/>
              <a:cs typeface="+mj-cs"/>
              <a:sym typeface="+mn-ea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8ED262B-D3BF-1C36-355B-828D5803308D}"/>
              </a:ext>
            </a:extLst>
          </p:cNvPr>
          <p:cNvSpPr txBox="1"/>
          <p:nvPr/>
        </p:nvSpPr>
        <p:spPr>
          <a:xfrm>
            <a:off x="658556" y="1316330"/>
            <a:ext cx="4524883" cy="3556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痛点：生成式模型每步只输出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1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条轨迹，偶发碰撞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/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偏航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endParaRPr kumimoji="0" lang="zh-CN" alt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方案：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Best-of-N Trajectory Selection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•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每步生成 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N=5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条候选（独立随机噪声）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• 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Encoder 1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次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+ 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Decoder N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次（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GPU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并行）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• 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TrajectoryScorer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选出最安全最优的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1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条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•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额外延迟仅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~30%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endParaRPr kumimoji="0" lang="en-US" altLang="zh-CN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类比理解：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• 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N=1（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基线）：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1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位司机，说往哪就往哪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• 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N=5：5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位司机各出方案，安全专家选最好的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→ 只要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5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条中有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1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条好的，最终输出就安全</a:t>
            </a:r>
            <a:endParaRPr kumimoji="0" 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DEAD799-6129-022C-5DCF-BD816F8BCCF4}"/>
              </a:ext>
            </a:extLst>
          </p:cNvPr>
          <p:cNvSpPr txBox="1"/>
          <p:nvPr/>
        </p:nvSpPr>
        <p:spPr>
          <a:xfrm>
            <a:off x="5594792" y="1316330"/>
            <a:ext cx="4524883" cy="3556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TrajectoryScorer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：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5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维度安全评分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endParaRPr kumimoji="0" lang="zh-CN" alt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① 碰撞风险（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40%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）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   自车与周围车辆最小距离，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&lt; 2m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一票否决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endParaRPr kumimoji="0" lang="zh-CN" alt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② 碰撞时间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TTC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（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20%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）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  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TTC &lt; 1.5s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直接淘汰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endParaRPr kumimoji="0" lang="zh-CN" alt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③ 路线一致性（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15%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）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   轨迹终点与导航路线横向偏差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endParaRPr kumimoji="0" lang="zh-CN" alt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④ 乘坐舒适度（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10%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）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   加速度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&lt; 4m/s²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，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Jerk &lt; 8m/s³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endParaRPr kumimoji="0" lang="en-US" altLang="zh-CN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⑤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前进进度（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15%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）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   鼓励前行，避免过度保守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endParaRPr kumimoji="0" lang="zh-CN" alt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专利方向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基于多候选安全评估的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Flow Matching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轨迹筛选方法</a:t>
            </a:r>
            <a:endParaRPr kumimoji="0" 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>
              <a:lnSpc>
                <a:spcPct val="100000"/>
              </a:lnSpc>
            </a:pPr>
            <a:r>
              <a:rPr lang="en-US" sz="2000" b="1">
                <a:solidFill>
                  <a:srgbClr val="007BC0"/>
                </a:solidFill>
                <a:latin typeface="Microsoft YaHei UI" panose="020B0503020204020204" pitchFamily="34" charset="-122"/>
              </a:rPr>
              <a:t>Risk-Adaptive ODE </a:t>
            </a:r>
            <a:r>
              <a:rPr lang="zh-CN" altLang="en-US" sz="2000" b="1">
                <a:solidFill>
                  <a:srgbClr val="007BC0"/>
                </a:solidFill>
                <a:latin typeface="Microsoft YaHei UI" panose="020B0503020204020204" pitchFamily="34" charset="-122"/>
              </a:rPr>
              <a:t>推理步数   </a:t>
            </a:r>
            <a:endParaRPr lang="en-US" sz="2000" b="1">
              <a:solidFill>
                <a:srgbClr val="007BC0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5"/>
          </p:nvPr>
        </p:nvSpPr>
        <p:spPr/>
        <p:txBody>
          <a:bodyPr wrap="square">
            <a:noAutofit/>
          </a:bodyPr>
          <a:lstStyle/>
          <a:p>
            <a:pPr>
              <a:lnSpc>
                <a:spcPct val="100000"/>
              </a:lnSpc>
            </a:pPr>
            <a:r>
              <a:rPr lang="zh-CN" altLang="en-US" sz="1200" b="1">
                <a:solidFill>
                  <a:srgbClr val="000000"/>
                </a:solidFill>
                <a:latin typeface="Microsoft YaHei UI" panose="020B0503020204020204" pitchFamily="34" charset="-122"/>
                <a:ea typeface="+mj-ea"/>
                <a:cs typeface="+mj-cs"/>
                <a:sym typeface="+mn-ea"/>
              </a:rPr>
              <a:t>创新点</a:t>
            </a:r>
            <a:r>
              <a:rPr lang="en-US" altLang="zh-CN" sz="1200" b="1">
                <a:solidFill>
                  <a:srgbClr val="000000"/>
                </a:solidFill>
                <a:latin typeface="Microsoft YaHei UI" panose="020B0503020204020204" pitchFamily="34" charset="-122"/>
                <a:ea typeface="+mj-ea"/>
                <a:cs typeface="+mj-cs"/>
                <a:sym typeface="+mn-ea"/>
              </a:rPr>
              <a:t>3</a:t>
            </a:r>
            <a:endParaRPr sz="1200" b="1">
              <a:solidFill>
                <a:srgbClr val="000000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A08121F-629F-9E9E-E7A5-F36E4BC5C10A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FC3DA3F-50B7-40E6-01FE-16F4832E2753}"/>
              </a:ext>
            </a:extLst>
          </p:cNvPr>
          <p:cNvSpPr txBox="1"/>
          <p:nvPr/>
        </p:nvSpPr>
        <p:spPr>
          <a:xfrm>
            <a:off x="205200" y="1296000"/>
            <a:ext cx="10558800" cy="4240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痛点：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FM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推理使用固定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ODE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步数（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4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步），不区分场景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•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简单直道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4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步 → 浪费算力（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2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步即可）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•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危险路口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4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步 → 精度不足（需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6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步）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endParaRPr kumimoji="0" lang="zh-CN" alt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方案：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Risk Network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动态输出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ODE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步数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•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输入：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TTC |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邻居数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| ego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速度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|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场景类型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•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输出：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r → k = 2 + round(r × 4)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endParaRPr kumimoji="0" lang="en-US" altLang="zh-CN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   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风险等级     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ODE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步数   推理频率    场景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    ──────────────────────────────────────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    低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r&lt;0.3       2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步    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~25Hz   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空旷直道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    中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r≈0.5       4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步    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~12Hz   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正常跟车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    高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r&gt;0.7       6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步     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~8Hz   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密集路口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endParaRPr kumimoji="0" lang="zh-CN" alt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核心优势：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•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平均推理速度提升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30-50%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（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vs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固定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4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步）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•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高风险场景安全性提升（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6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步精度更高）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•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与创新点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1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共享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Risk Network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，零额外参数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endParaRPr kumimoji="0" lang="zh-CN" alt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可合并入创新点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1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专利</a:t>
            </a:r>
            <a:endParaRPr kumimoji="0" 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>
              <a:lnSpc>
                <a:spcPct val="100000"/>
              </a:lnSpc>
            </a:pPr>
            <a:r>
              <a:rPr lang="en-US" sz="2000" b="1">
                <a:solidFill>
                  <a:srgbClr val="007BC0"/>
                </a:solidFill>
                <a:latin typeface="Microsoft YaHei UI" panose="020B0503020204020204" pitchFamily="34" charset="-122"/>
              </a:rPr>
              <a:t>Safety-Guided Flow Matching   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5"/>
          </p:nvPr>
        </p:nvSpPr>
        <p:spPr/>
        <p:txBody>
          <a:bodyPr wrap="square">
            <a:noAutofit/>
          </a:bodyPr>
          <a:lstStyle/>
          <a:p>
            <a:pPr>
              <a:lnSpc>
                <a:spcPct val="100000"/>
              </a:lnSpc>
            </a:pPr>
            <a:r>
              <a:rPr lang="zh-CN" altLang="en-US" sz="1200" b="1">
                <a:solidFill>
                  <a:srgbClr val="000000"/>
                </a:solidFill>
                <a:latin typeface="Microsoft YaHei UI" panose="020B0503020204020204" pitchFamily="34" charset="-122"/>
                <a:sym typeface="+mn-ea"/>
              </a:rPr>
              <a:t>创新点</a:t>
            </a:r>
            <a:r>
              <a:rPr lang="en-US" altLang="zh-CN" sz="1200" b="1">
                <a:solidFill>
                  <a:srgbClr val="000000"/>
                </a:solidFill>
                <a:latin typeface="Microsoft YaHei UI" panose="020B0503020204020204" pitchFamily="34" charset="-122"/>
                <a:sym typeface="+mn-ea"/>
              </a:rPr>
              <a:t>4</a:t>
            </a:r>
            <a:endParaRPr lang="en-US" sz="1200" b="1">
              <a:solidFill>
                <a:srgbClr val="000000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 wrap="square">
            <a:noAutofit/>
          </a:bodyPr>
          <a:lstStyle/>
          <a:p>
            <a:r>
              <a:rPr lang="en-US" sz="1000">
                <a:latin typeface="Microsoft YaHei UI" panose="020B0503020204020204" pitchFamily="34" charset="-122"/>
              </a:rPr>
              <a:t>10</a:t>
            </a:r>
            <a:endParaRPr lang="en-US" sz="1000" noProof="1">
              <a:latin typeface="Microsoft YaHei UI" panose="020B0503020204020204" pitchFamily="3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481" y="1357534"/>
            <a:ext cx="9872662" cy="322338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痛点：纯模仿学习不理解「危险」，实车部署风险高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endParaRPr lang="zh-CN" altLang="en-US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方案：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ODE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求解中注入安全梯度（零训练成本）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1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定义安全分数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S(t)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：轨迹与障碍物的最小距离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2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每步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ODE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求解后计算安全梯度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3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微调轨迹：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v_safe = v_flow + l * grad_S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endParaRPr lang="en-US" altLang="zh-CN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类比：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GPS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导航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(FM) +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避障雷达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(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安全引导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)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endParaRPr lang="en-US" altLang="zh-CN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vs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事后裁剪（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PDM-Hybrid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）：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即插即用，不改模型结构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生成过程中避碰，轨迹更自然连贯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endParaRPr lang="zh-CN" altLang="en-US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专利方向：基于安全约束梯度引导的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FM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轨迹生成方法</a:t>
            </a:r>
            <a:endParaRPr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F294959-E322-FFFB-C686-800780611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wrap="square">
            <a:noAutofit/>
          </a:bodyPr>
          <a:lstStyle/>
          <a:p>
            <a:r>
              <a:rPr lang="en-US" sz="1000" noProof="1">
                <a:latin typeface="Microsoft YaHei UI" panose="020B0503020204020204" pitchFamily="34" charset="-122"/>
              </a:rPr>
              <a:t>11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5AC0298-D296-4006-D9D8-7392E8C99B03}"/>
              </a:ext>
            </a:extLst>
          </p:cNvPr>
          <p:cNvSpPr txBox="1"/>
          <p:nvPr/>
        </p:nvSpPr>
        <p:spPr>
          <a:xfrm>
            <a:off x="165100" y="254000"/>
            <a:ext cx="95250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R="0" algn="l" defTabSz="91440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1" i="0" u="none" strike="noStrike" kern="0" cap="none" spc="0" normalizeH="0" baseline="0" noProof="0">
                <a:ln>
                  <a:noFill/>
                </a:ln>
                <a:solidFill>
                  <a:srgbClr val="007BC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技术方案</a:t>
            </a:r>
            <a:endParaRPr kumimoji="0" lang="en-US" sz="1400" b="1" i="0" u="none" strike="noStrike" kern="0" cap="none" spc="0" normalizeH="0" baseline="0" noProof="0">
              <a:ln>
                <a:noFill/>
              </a:ln>
              <a:solidFill>
                <a:srgbClr val="007BC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8950CA2-2D58-B336-9E10-B5326F0D684E}"/>
              </a:ext>
            </a:extLst>
          </p:cNvPr>
          <p:cNvSpPr txBox="1"/>
          <p:nvPr/>
        </p:nvSpPr>
        <p:spPr>
          <a:xfrm>
            <a:off x="165100" y="571500"/>
            <a:ext cx="9525000" cy="406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R="0" algn="l" defTabSz="91440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007BC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创新点</a:t>
            </a:r>
            <a:r>
              <a:rPr kumimoji="0" lang="en-US" altLang="zh-CN" sz="1600" b="1" i="0" u="none" strike="noStrike" kern="0" cap="none" spc="0" normalizeH="0" baseline="0" noProof="0">
                <a:ln>
                  <a:noFill/>
                </a:ln>
                <a:solidFill>
                  <a:srgbClr val="007BC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5: Goal Conditioning </a:t>
            </a: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007BC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驱动 </a:t>
            </a:r>
            <a:r>
              <a:rPr kumimoji="0" lang="en-US" altLang="zh-CN" sz="1600" b="1" i="0" u="none" strike="noStrike" kern="0" cap="none" spc="0" normalizeH="0" baseline="0" noProof="0">
                <a:ln>
                  <a:noFill/>
                </a:ln>
                <a:solidFill>
                  <a:srgbClr val="007BC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DPO </a:t>
            </a: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007BC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轨迹多样性</a:t>
            </a:r>
            <a:endParaRPr kumimoji="0" lang="en-US" sz="1600" b="1" i="0" u="none" strike="noStrike" kern="0" cap="none" spc="0" normalizeH="0" baseline="0" noProof="0">
              <a:ln>
                <a:noFill/>
              </a:ln>
              <a:solidFill>
                <a:srgbClr val="007BC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318C30B-8D57-52C2-0A4D-20CAD2C8F4C7}"/>
              </a:ext>
            </a:extLst>
          </p:cNvPr>
          <p:cNvSpPr txBox="1"/>
          <p:nvPr/>
        </p:nvSpPr>
        <p:spPr>
          <a:xfrm>
            <a:off x="330200" y="1117600"/>
            <a:ext cx="9144000" cy="533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核心问题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FM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（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CondOT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）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ODE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采样：噪声→轨迹近似一一对应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主模态占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95%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概率质量 → 随机采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5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条轨迹几乎相同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→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DPO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需要的「好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vs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坏」轨迹打分拉不开差距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endParaRPr kumimoji="0" lang="zh-CN" alt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解决方案：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Goal Point Conditioning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（借鉴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GoalFlow, CVPR 2025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）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Step 1 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聚类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GT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轨迹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4s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位置 →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64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个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goal vocabulary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（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k-means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）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Step 2  Decoder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加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goal_proj MLP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，通过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AdaLN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注入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goal embedding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Step 3 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重训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FM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（带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goal conditioning + CFG drop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）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Step 4 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推理时给不同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goal →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生成决策级不同轨迹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endParaRPr kumimoji="0" lang="zh-CN" alt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示例：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goal A = (25, 3.5)  →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左绕障碍物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goal B = (25, -3.5) →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右绕障碍物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goal C = (5, 0)     →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减速刹停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endParaRPr kumimoji="0" lang="zh-CN" alt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与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GoalFlow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的关键区别：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GoalFlow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：选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1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个最优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goal →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生成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1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条高质量轨迹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我们：选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5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个不同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goal → 5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条不同轨迹 → 打分 →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DPO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4s horizon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（非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8s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）：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4s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时左绕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/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右绕差异最大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endParaRPr kumimoji="0" lang="zh-CN" alt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代码已完整实现，待部署验证</a:t>
            </a:r>
          </a:p>
        </p:txBody>
      </p:sp>
    </p:spTree>
    <p:extLst>
      <p:ext uri="{BB962C8B-B14F-4D97-AF65-F5344CB8AC3E}">
        <p14:creationId xmlns:p14="http://schemas.microsoft.com/office/powerpoint/2010/main" val="35291780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28D524A-A480-D81D-7F52-465A71B60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wrap="square">
            <a:noAutofit/>
          </a:bodyPr>
          <a:lstStyle/>
          <a:p>
            <a:r>
              <a:rPr lang="en-US" sz="1000" noProof="1">
                <a:latin typeface="Microsoft YaHei UI" panose="020B0503020204020204" pitchFamily="34" charset="-122"/>
              </a:rPr>
              <a:t>12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F560A7F-5951-0BD5-13F6-323909A0DAF3}"/>
              </a:ext>
            </a:extLst>
          </p:cNvPr>
          <p:cNvSpPr txBox="1"/>
          <p:nvPr/>
        </p:nvSpPr>
        <p:spPr>
          <a:xfrm>
            <a:off x="165100" y="254000"/>
            <a:ext cx="95250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R="0" algn="l" defTabSz="91440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1" i="0" u="none" strike="noStrike" kern="0" cap="none" spc="0" normalizeH="0" baseline="0" noProof="0">
                <a:ln>
                  <a:noFill/>
                </a:ln>
                <a:solidFill>
                  <a:srgbClr val="007BC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技术方案</a:t>
            </a:r>
            <a:endParaRPr kumimoji="0" lang="en-US" sz="1400" b="1" i="0" u="none" strike="noStrike" kern="0" cap="none" spc="0" normalizeH="0" baseline="0" noProof="0">
              <a:ln>
                <a:noFill/>
              </a:ln>
              <a:solidFill>
                <a:srgbClr val="007BC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521B776-00D2-D58E-4F6D-DE87D7A4B0B6}"/>
              </a:ext>
            </a:extLst>
          </p:cNvPr>
          <p:cNvSpPr txBox="1"/>
          <p:nvPr/>
        </p:nvSpPr>
        <p:spPr>
          <a:xfrm>
            <a:off x="165100" y="571500"/>
            <a:ext cx="9525000" cy="406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R="0" algn="l" defTabSz="91440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007BC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Goal-Conditioned DPO </a:t>
            </a: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007BC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完整 </a:t>
            </a: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007BC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Pipeline（</a:t>
            </a: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007BC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已实现，待部署验证）</a:t>
            </a:r>
            <a:endParaRPr kumimoji="0" lang="en-US" sz="1600" b="1" i="0" u="none" strike="noStrike" kern="0" cap="none" spc="0" normalizeH="0" baseline="0" noProof="0">
              <a:ln>
                <a:noFill/>
              </a:ln>
              <a:solidFill>
                <a:srgbClr val="007BC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D69EC9C-394A-74E8-0D2F-CA8D91DC726E}"/>
              </a:ext>
            </a:extLst>
          </p:cNvPr>
          <p:cNvSpPr txBox="1"/>
          <p:nvPr/>
        </p:nvSpPr>
        <p:spPr>
          <a:xfrm>
            <a:off x="330200" y="1117600"/>
            <a:ext cx="9144000" cy="533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完整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Pipeline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（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6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步，一键脚本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auto_goal_dpo_pipeline.sh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）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endParaRPr kumimoji="0" lang="zh-CN" alt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Step 1  cluster_goals.py → goal_vocab.npy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（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64 clusters, 4s@10Hz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）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Step 2 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改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YAML +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重训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FM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（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Decoder +goal_proj, AdaLN, CFG drop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）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Step 3  generate_candidates_goal.py →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每场景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5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条不同决策轨迹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Step 4  score_hybrid.py →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规则打分（碰撞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/TTC/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舒适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/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进度）→ 偏好对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Step 5  train_dpo.py → LoRA(rank=4) + FM DPO Loss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微调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Decoder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Step 6 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合并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LoRA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权重 → 开环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/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闭环评估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endParaRPr kumimoji="0" lang="zh-CN" alt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代码完成情况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新增：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flow_planner/goal/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（聚类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+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工具）、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dpo/generate_candidates_goal.py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修改：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decoder.py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（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+goal_proj MLP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）、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flow_planner.py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（训练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/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推理传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goal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）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修复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13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处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Bug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：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collision detection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、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torch.norm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、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CFG argparse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、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encoder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自动化：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auto_goal_dpo_pipeline.sh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（一键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Step 1→6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）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文档：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docs/goal_conditioning_guide.md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endParaRPr kumimoji="0" lang="en-US" altLang="zh-CN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关键参数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n_clusters=64 | goal_frame=39(4s) | goal_dim=2 | cfg_prob=0.3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dpo_beta=5.0 | lora_rank=4 | lora_alpha=16 | sft_weight=0.1</a:t>
            </a:r>
            <a:endParaRPr kumimoji="0" 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386464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50A86FA-D5FC-B544-A0EA-5F2E6CAA8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wrap="square">
            <a:noAutofit/>
          </a:bodyPr>
          <a:lstStyle/>
          <a:p>
            <a:r>
              <a:rPr lang="en-US" sz="1000" noProof="1">
                <a:latin typeface="Microsoft YaHei UI" panose="020B0503020204020204" pitchFamily="34" charset="-122"/>
              </a:rPr>
              <a:t>13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04009BB-6ACA-4ADE-B0CB-3FA410AAD780}"/>
              </a:ext>
            </a:extLst>
          </p:cNvPr>
          <p:cNvSpPr txBox="1"/>
          <p:nvPr/>
        </p:nvSpPr>
        <p:spPr>
          <a:xfrm>
            <a:off x="165100" y="254000"/>
            <a:ext cx="95250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R="0" algn="l" defTabSz="91440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1" i="0" u="none" strike="noStrike" kern="0" cap="none" spc="0" normalizeH="0" baseline="0" noProof="0">
                <a:ln>
                  <a:noFill/>
                </a:ln>
                <a:solidFill>
                  <a:srgbClr val="007BC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技术方案</a:t>
            </a:r>
            <a:endParaRPr kumimoji="0" lang="en-US" sz="1400" b="1" i="0" u="none" strike="noStrike" kern="0" cap="none" spc="0" normalizeH="0" baseline="0" noProof="0">
              <a:ln>
                <a:noFill/>
              </a:ln>
              <a:solidFill>
                <a:srgbClr val="007BC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727DB2C-9A84-2A2C-DAED-31FCB2AA7B93}"/>
              </a:ext>
            </a:extLst>
          </p:cNvPr>
          <p:cNvSpPr txBox="1"/>
          <p:nvPr/>
        </p:nvSpPr>
        <p:spPr>
          <a:xfrm>
            <a:off x="165100" y="571500"/>
            <a:ext cx="9525000" cy="406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R="0" algn="l" defTabSz="91440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600" b="1" i="0" u="none" strike="noStrike" kern="0" cap="none" spc="0" normalizeH="0" baseline="0" noProof="0">
                <a:ln>
                  <a:noFill/>
                </a:ln>
                <a:solidFill>
                  <a:srgbClr val="007BC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DPO </a:t>
            </a: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007BC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轨迹多样性：已尝试方案与经验教训</a:t>
            </a:r>
            <a:endParaRPr kumimoji="0" lang="en-US" sz="1600" b="1" i="0" u="none" strike="noStrike" kern="0" cap="none" spc="0" normalizeH="0" baseline="0" noProof="0">
              <a:ln>
                <a:noFill/>
              </a:ln>
              <a:solidFill>
                <a:srgbClr val="007BC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23560FD-6CB5-C307-87A8-D1AC43BC955A}"/>
              </a:ext>
            </a:extLst>
          </p:cNvPr>
          <p:cNvSpPr txBox="1"/>
          <p:nvPr/>
        </p:nvSpPr>
        <p:spPr>
          <a:xfrm>
            <a:off x="330200" y="1117600"/>
            <a:ext cx="9144000" cy="533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已尝试方案（均不可行）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endParaRPr kumimoji="0" lang="zh-CN" alt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✗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Route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修改：推理时替换相邻车道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route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  →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模型未在替代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route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上训练 →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OOD →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轨迹不可靠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endParaRPr kumimoji="0" lang="zh-CN" alt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✗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CFG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权重调参：不同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cfg_weight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生成多条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  →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ODE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采样特性决定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95%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映射到主模态，调参无法改变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endParaRPr kumimoji="0" lang="zh-CN" alt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✗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GT +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随机噪声：在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GT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上加高斯噪声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  → 不经过模型，缺乏场景理解，轨迹物理不合理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endParaRPr kumimoji="0" lang="zh-CN" alt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最终方案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endParaRPr kumimoji="0" lang="zh-CN" alt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Goal Point Conditioning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（借鉴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GoalFlow, CVPR 2025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）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模型级解决：训练时注入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goal embedding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→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推理时不同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goal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产生不同决策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解耦「去哪」与「怎么去」→ 降低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FM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任务难度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endParaRPr kumimoji="0" lang="zh-CN" alt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核心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Insight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决策级多样性需要在模型训练层面改变</a:t>
            </a:r>
          </a:p>
          <a:p>
            <a:pPr marR="0" algn="l" defTabSz="914400" eaLnBrk="1" fontAlgn="auto" latinLnBrk="0" hangingPunct="1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纯推理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trick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无法突破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ODE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采样的模式坍缩</a:t>
            </a:r>
            <a:endParaRPr kumimoji="0" 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52080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556" y="329082"/>
            <a:ext cx="9461119" cy="40011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rPr lang="zh-CN" altLang="en-US" sz="2000" b="1">
                <a:solidFill>
                  <a:srgbClr val="FFFFFF"/>
                </a:solidFill>
                <a:latin typeface="Microsoft YaHei UI" panose="020B0503020204020204" pitchFamily="34" charset="-122"/>
              </a:rPr>
              <a:t>最新实验进展（</a:t>
            </a:r>
            <a:r>
              <a:rPr lang="en-US" altLang="zh-CN" sz="2000" b="1">
                <a:solidFill>
                  <a:srgbClr val="FFFFFF"/>
                </a:solidFill>
                <a:latin typeface="Microsoft YaHei UI" panose="020B0503020204020204" pitchFamily="34" charset="-122"/>
              </a:rPr>
              <a:t>2026.03.29 </a:t>
            </a:r>
            <a:r>
              <a:rPr lang="zh-CN" altLang="en-US" sz="2000" b="1">
                <a:solidFill>
                  <a:srgbClr val="FFFFFF"/>
                </a:solidFill>
                <a:latin typeface="Microsoft YaHei UI" panose="020B0503020204020204" pitchFamily="34" charset="-122"/>
              </a:rPr>
              <a:t>更新）</a:t>
            </a:r>
            <a:endParaRPr sz="2000" b="1">
              <a:solidFill>
                <a:srgbClr val="FFFFFF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4236" y="329032"/>
            <a:ext cx="1367682" cy="30777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1400" i="1">
                <a:solidFill>
                  <a:srgbClr val="00D2FF"/>
                </a:solidFill>
              </a:defRPr>
            </a:pPr>
            <a:r>
              <a:rPr lang="zh-CN" altLang="en-US" sz="1400" b="1" i="0">
                <a:solidFill>
                  <a:srgbClr val="007BC0"/>
                </a:solidFill>
                <a:latin typeface="Microsoft YaHei UI" panose="020B0503020204020204" pitchFamily="34" charset="-122"/>
                <a:ea typeface="+mj-ea"/>
                <a:cs typeface="+mj-cs"/>
              </a:rPr>
              <a:t>已有研究进展  </a:t>
            </a:r>
            <a:endParaRPr lang="en-US" sz="1400" b="1">
              <a:solidFill>
                <a:srgbClr val="007BC0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9183275-C143-A5F4-1FE7-1A877B3D61E3}"/>
              </a:ext>
            </a:extLst>
          </p:cNvPr>
          <p:cNvSpPr txBox="1"/>
          <p:nvPr/>
        </p:nvSpPr>
        <p:spPr>
          <a:xfrm>
            <a:off x="658556" y="1234059"/>
            <a:ext cx="4524883" cy="3683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基线复现（已完成）  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w=1.8, val14, 1118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场景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endParaRPr kumimoji="0" lang="zh-CN" alt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 指标                        平均分   通过率   权重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 ──────────────────────────────────────────────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 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driving_direction_compliance  0.9955  99.5%    5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 ego_is_making_progress        0.9964  99.6%    5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 drivable_area_compliance      0.9821  98.2%    5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 speed_limit_compliance        0.9773  84.4%    2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 ego_is_comfortable            0.9428  94.3%    2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 no_ego_at_fault_collisions    0.9378  93.6%    5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 ego_progress_along_expert     0.9319  46.1%    5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 time_to_collision             0.8864  88.6%    5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endParaRPr kumimoji="0" 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 NR-CLS = 95.56%（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超过论文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94.31%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，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+1.25%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）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1118/1118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场景全部成功（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0 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failures）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05D82BA-58B2-3D38-18B9-DC3882A71F95}"/>
              </a:ext>
            </a:extLst>
          </p:cNvPr>
          <p:cNvSpPr txBox="1"/>
          <p:nvPr/>
        </p:nvSpPr>
        <p:spPr>
          <a:xfrm>
            <a:off x="5594792" y="1234059"/>
            <a:ext cx="4524883" cy="3683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Open-Loop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复现对比（已完成）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endParaRPr kumimoji="0" lang="zh-CN" alt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 方法                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ADE(m)   FDE(m)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 ──────────────────────────────────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 Flow Planner (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官方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)  2.53    5.97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我们的复现          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2.48    5.73  ←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超越官方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endParaRPr kumimoji="0" lang="zh-CN" alt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Goal-Conditioned DPO（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代码就绪，待部署）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endParaRPr kumimoji="0" lang="zh-CN" alt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Goal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聚类（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64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个 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goal vocabulary）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代码完成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Decoder goal_proj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改造完成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DPO Pipeline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自动化脚本完成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13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处 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Bug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修复完成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待 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GPU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集群部署后执行完整训练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+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评估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endParaRPr kumimoji="0" lang="zh-CN" alt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下一步计划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• 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Goal FM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重训 → 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Goal DPO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训练 → 闭环评估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</a:t>
            </a:r>
            <a:r>
              <a:rPr kumimoji="0" lang="en-US" altLang="zh-CN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• 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Per-Scenario Grid Search（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分场景最优 </a:t>
            </a: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w）</a:t>
            </a:r>
          </a:p>
          <a:p>
            <a:pPr marR="0" algn="l" defTabSz="914400" eaLnBrk="1" fontAlgn="auto" latinLnBrk="0" hangingPunct="1"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</a:pPr>
            <a:r>
              <a:rPr kumimoji="0" 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 • Best-of-N + Scene-Adaptive w </a:t>
            </a:r>
            <a:r>
              <a:rPr kumimoji="0" lang="zh-CN" altLang="en-US" sz="10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 UI" panose="020B0503020204020204" pitchFamily="34" charset="-122"/>
              </a:rPr>
              <a:t>联合实验</a:t>
            </a:r>
            <a:endParaRPr kumimoji="0" lang="en-US" sz="1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 UI" panose="020B0503020204020204" pitchFamily="3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>
              <a:lnSpc>
                <a:spcPct val="100000"/>
              </a:lnSpc>
            </a:pPr>
            <a:r>
              <a:rPr lang="zh-CN" altLang="en-US" sz="2000" b="1" i="0">
                <a:solidFill>
                  <a:srgbClr val="007BC0"/>
                </a:solidFill>
                <a:latin typeface="Microsoft YaHei UI" panose="020B0503020204020204" pitchFamily="34" charset="-122"/>
              </a:rPr>
              <a:t>性能对比：学术基准</a:t>
            </a:r>
            <a:r>
              <a:rPr lang="en-US" altLang="zh-CN" sz="2000" b="1" i="0">
                <a:solidFill>
                  <a:srgbClr val="007BC0"/>
                </a:solidFill>
                <a:latin typeface="Microsoft YaHei UI" panose="020B0503020204020204" pitchFamily="34" charset="-122"/>
              </a:rPr>
              <a:t>SOTA</a:t>
            </a:r>
            <a:endParaRPr lang="en-US" sz="2000" b="1">
              <a:solidFill>
                <a:srgbClr val="007BC0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5"/>
          </p:nvPr>
        </p:nvSpPr>
        <p:spPr/>
        <p:txBody>
          <a:bodyPr wrap="square">
            <a:noAutofit/>
          </a:bodyPr>
          <a:lstStyle/>
          <a:p>
            <a:pPr>
              <a:lnSpc>
                <a:spcPct val="100000"/>
              </a:lnSpc>
            </a:pPr>
            <a:r>
              <a:rPr lang="zh-CN" altLang="en-US" sz="1200" b="1" i="0">
                <a:solidFill>
                  <a:srgbClr val="000000"/>
                </a:solidFill>
                <a:latin typeface="Microsoft YaHei UI" panose="020B0503020204020204" pitchFamily="34" charset="-122"/>
              </a:rPr>
              <a:t>价值与收益</a:t>
            </a:r>
            <a:endParaRPr lang="en-US" sz="1200" b="1">
              <a:solidFill>
                <a:srgbClr val="000000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 wrap="square">
            <a:noAutofit/>
          </a:bodyPr>
          <a:lstStyle/>
          <a:p>
            <a:r>
              <a:rPr lang="en-US" sz="1000">
                <a:latin typeface="Microsoft YaHei UI" panose="020B0503020204020204" pitchFamily="34" charset="-122"/>
              </a:rPr>
              <a:t>15</a:t>
            </a:r>
            <a:endParaRPr lang="en-US" sz="1000" noProof="1">
              <a:latin typeface="Microsoft YaHei UI" panose="020B0503020204020204" pitchFamily="3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902226" y="3252083"/>
            <a:ext cx="365760" cy="469128"/>
          </a:xfrm>
          <a:prstGeom prst="rect">
            <a:avLst/>
          </a:prstGeom>
          <a:noFill/>
          <a:ln w="12700" cap="flat" cmpd="sng" algn="ctr">
            <a:solidFill>
              <a:srgbClr val="ED0007"/>
            </a:solidFill>
            <a:prstDash val="solid"/>
          </a:ln>
          <a:effectLst/>
        </p:spPr>
        <p:txBody>
          <a:bodyPr wrap="square" rtlCol="0" anchor="ctr"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920161" y="3403158"/>
            <a:ext cx="1247693" cy="318052"/>
          </a:xfrm>
          <a:prstGeom prst="rect">
            <a:avLst/>
          </a:prstGeom>
          <a:noFill/>
          <a:ln w="12700" cap="flat" cmpd="sng" algn="ctr">
            <a:solidFill>
              <a:srgbClr val="ED0007"/>
            </a:solidFill>
            <a:prstDash val="solid"/>
          </a:ln>
          <a:effectLst/>
        </p:spPr>
        <p:txBody>
          <a:bodyPr wrap="square" rtlCol="0" anchor="ctr"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48481" y="1357534"/>
            <a:ext cx="9872662" cy="45929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nuPlan Val14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闭环测试（纯学习方法对比）：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endParaRPr lang="zh-CN" altLang="en-US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方法                   </a:t>
            </a:r>
            <a:r>
              <a:rPr 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Val14(NR)   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类型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────────────────────────────────────────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</a:t>
            </a:r>
            <a:r>
              <a:rPr 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PDM-Closed              92-93    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纯规则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</a:t>
            </a:r>
            <a:r>
              <a:rPr 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Flow Planner (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官方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)      90.43    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纯学习 </a:t>
            </a:r>
            <a:r>
              <a:rPr 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SOTA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Diffusion Planner        89.87    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纯学习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</a:t>
            </a:r>
            <a:r>
              <a:rPr 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PLUTO w/o refine         88.89    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纯学习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</a:t>
            </a:r>
            <a:r>
              <a:rPr 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PlanTF                   84.72    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纯学习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我们的复现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(</a:t>
            </a:r>
            <a:r>
              <a:rPr 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CFG=1.8)     81.19    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纯学习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(21%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数据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)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endParaRPr lang="en-US" altLang="zh-CN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注：官方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700</a:t>
            </a:r>
            <a:r>
              <a:rPr 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K+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场景，我们仅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150</a:t>
            </a:r>
            <a:r>
              <a:rPr 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K(~21%)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全量数据预期 </a:t>
            </a:r>
            <a:r>
              <a:rPr 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NR &gt;= 88-90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endParaRPr lang="en-US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Open-Loop：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Flow Planner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官方  </a:t>
            </a:r>
            <a:r>
              <a:rPr 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ADE=2.53  FDE=5.97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我们的复现        </a:t>
            </a:r>
            <a:r>
              <a:rPr 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ADE=2.48  FDE=5.73 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超越官方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endParaRPr lang="zh-CN" altLang="en-US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InterPlan (Reactive)：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Flow Planner: 61.82 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领先 </a:t>
            </a:r>
            <a:r>
              <a:rPr 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Diffusion Planner +16.9%</a:t>
            </a:r>
            <a:endParaRPr sz="1000" i="0">
              <a:solidFill>
                <a:srgbClr val="000000"/>
              </a:solidFill>
              <a:latin typeface="Microsoft YaHei UI" panose="020B0503020204020204" pitchFamily="34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>
              <a:lnSpc>
                <a:spcPct val="100000"/>
              </a:lnSpc>
            </a:pPr>
            <a:r>
              <a:rPr lang="zh-CN" altLang="en-US" sz="2000" b="1" i="0">
                <a:solidFill>
                  <a:srgbClr val="007BC0"/>
                </a:solidFill>
                <a:latin typeface="Microsoft YaHei UI" panose="020B0503020204020204" pitchFamily="34" charset="-122"/>
              </a:rPr>
              <a:t>评测方案与验证路径</a:t>
            </a:r>
            <a:br>
              <a:rPr lang="zh-CN" altLang="en-US" sz="2000" b="1" i="0">
                <a:solidFill>
                  <a:srgbClr val="007BC0"/>
                </a:solidFill>
                <a:latin typeface="Microsoft YaHei UI" panose="020B0503020204020204" pitchFamily="34" charset="-122"/>
              </a:rPr>
            </a:br>
            <a:endParaRPr lang="en-US" sz="2000" b="1" dirty="0">
              <a:solidFill>
                <a:srgbClr val="007BC0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5"/>
          </p:nvPr>
        </p:nvSpPr>
        <p:spPr/>
        <p:txBody>
          <a:bodyPr wrap="square">
            <a:noAutofit/>
          </a:bodyPr>
          <a:lstStyle/>
          <a:p>
            <a:pPr>
              <a:lnSpc>
                <a:spcPct val="100000"/>
              </a:lnSpc>
            </a:pPr>
            <a:r>
              <a:rPr lang="zh-CN" altLang="en-US" sz="1200" b="1" i="0">
                <a:solidFill>
                  <a:srgbClr val="000000"/>
                </a:solidFill>
                <a:latin typeface="Microsoft YaHei UI" panose="020B0503020204020204" pitchFamily="34" charset="-122"/>
              </a:rPr>
              <a:t>技术方案</a:t>
            </a:r>
            <a:endParaRPr lang="en-US" sz="1200" b="1">
              <a:solidFill>
                <a:srgbClr val="000000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 wrap="square">
            <a:noAutofit/>
          </a:bodyPr>
          <a:lstStyle/>
          <a:p>
            <a:r>
              <a:rPr lang="en-US" sz="1000">
                <a:latin typeface="Microsoft YaHei UI" panose="020B0503020204020204" pitchFamily="34" charset="-122"/>
              </a:rPr>
              <a:t>16</a:t>
            </a:r>
            <a:endParaRPr lang="en-US" sz="1000" noProof="1">
              <a:latin typeface="Microsoft YaHei UI" panose="020B0503020204020204" pitchFamily="3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481" y="1357534"/>
            <a:ext cx="9872662" cy="390818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阶段一：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nuPlan 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基准验证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 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Val14 (1118 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场景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, 14 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类型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) - 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闭环 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NR Score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 Test14-random / Test14-hard - 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鲁棒性验证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 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InterPlan (335 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场景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) - 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复杂交互能力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endParaRPr lang="zh-CN" altLang="en-US" sz="1000" i="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阶段二：消融实验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 自适应 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CFG vs 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固定 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CFG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：分场景 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NR 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对比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 安全约束 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vs 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无约束：碰撞率对比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 跨域迁移 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vs 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直接迁移：公司数据性能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endParaRPr lang="zh-CN" altLang="en-US" sz="1000" i="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阶段三：公司数据闭环仿真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 公司仿真环境闭环测试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 关键指标：碰撞率、舒适度、通过率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endParaRPr lang="zh-CN" altLang="en-US" sz="1000" i="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阶段四：实车验证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 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NVIDIA Orin 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平台部署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 路口场景实车测试</a:t>
            </a:r>
            <a:endParaRPr sz="1000" i="0">
              <a:solidFill>
                <a:srgbClr val="000000"/>
              </a:solidFill>
              <a:latin typeface="Microsoft YaHei UI" panose="020B0503020204020204" pitchFamily="3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/>
          <p:cNvSpPr>
            <a:spLocks noGrp="1"/>
          </p:cNvSpPr>
          <p:nvPr>
            <p:ph type="pic" sz="quarter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2"/>
          </p:nvPr>
        </p:nvSpPr>
        <p:spPr/>
        <p:txBody>
          <a:bodyPr wrap="square">
            <a:noAutofit/>
          </a:bodyPr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3005951" cy="40011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zh-CN" altLang="en-US" sz="2000" b="1">
                <a:solidFill>
                  <a:srgbClr val="007BC0"/>
                </a:solidFill>
                <a:latin typeface="Microsoft YaHei UI" panose="020B0503020204020204" pitchFamily="34" charset="-122"/>
              </a:rPr>
              <a:t>项目应用场景与落地路径</a:t>
            </a:r>
            <a:endParaRPr sz="2000" b="1">
              <a:solidFill>
                <a:srgbClr val="007BC0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954107" cy="2769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zh-CN" altLang="en-US" sz="1200" b="1">
                <a:solidFill>
                  <a:srgbClr val="000000"/>
                </a:solidFill>
                <a:latin typeface="Microsoft YaHei UI" panose="020B0503020204020204" pitchFamily="34" charset="-122"/>
              </a:rPr>
              <a:t>价值与收益</a:t>
            </a:r>
            <a:endParaRPr sz="1200" b="1">
              <a:solidFill>
                <a:srgbClr val="000000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74320" y="1100000"/>
            <a:ext cx="10400000" cy="431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🎯 谁来用？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— ASW Planning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模块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Flow Planner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的输出直接服务于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ASW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（自动驾驶辅助）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Planning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模块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作为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Planning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的轨迹生成核心，输出多模态候选轨迹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与现有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rule-based planner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形成互补，提升复杂场景通过率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⚙️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Planning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中怎么用？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—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三阶段渐进式部署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endParaRPr lang="zh-CN" altLang="en-US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阶段一：影子模式（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Shadow Mode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）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 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Flow Planner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与现有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rule-based planner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并行运行，不参与实际控制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 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实时对比两者输出 → 积累性能数据 → 验证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Flow Planner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的安全性和合理性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 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零风险验证，同时收集真实场景下的表现数据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阶段二：逐步互补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 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简单场景：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rule-based planner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主导（已验证可靠）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 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复杂场景（密集路口、博弈变道等）：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Flow Planner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提供候选轨迹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 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安全监控模块实时校验，不满足约束时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fallback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到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rule-based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阶段三：最终替代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 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全场景由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Flow Planner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负责轨迹生成，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rule-based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仅作安全兜底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 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实现端到端学习型规划，大幅减少人工规则维护成本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💼 谁买单？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项目阶段（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10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个月）：创新项目预算支持（约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10-14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万）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落地阶段：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ASW Planning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团队接收成果，纳入产品开发预算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专利产出归属博世，持续为公司创造知识产权价值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endParaRPr lang="zh-CN" altLang="en-US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📐 数据流：传感器输入 → 场景编码 →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Flow Planner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生成候选轨迹 → 安全校验 →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ASW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执行</a:t>
            </a:r>
            <a:endParaRPr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>
              <a:lnSpc>
                <a:spcPct val="100000"/>
              </a:lnSpc>
            </a:pPr>
            <a:r>
              <a:rPr lang="zh-CN" altLang="en-US" sz="2000" b="1">
                <a:solidFill>
                  <a:srgbClr val="007BC0"/>
                </a:solidFill>
                <a:latin typeface="Microsoft YaHei UI" panose="020B0503020204020204" pitchFamily="34" charset="-122"/>
              </a:rPr>
              <a:t> 跨域迁移学习（</a:t>
            </a:r>
            <a:r>
              <a:rPr lang="en-US" altLang="zh-CN" sz="2000" b="1">
                <a:solidFill>
                  <a:srgbClr val="007BC0"/>
                </a:solidFill>
                <a:latin typeface="Microsoft YaHei UI" panose="020B0503020204020204" pitchFamily="34" charset="-122"/>
              </a:rPr>
              <a:t>nuPlan → </a:t>
            </a:r>
            <a:r>
              <a:rPr lang="zh-CN" altLang="en-US" sz="2000" b="1">
                <a:solidFill>
                  <a:srgbClr val="007BC0"/>
                </a:solidFill>
                <a:latin typeface="Microsoft YaHei UI" panose="020B0503020204020204" pitchFamily="34" charset="-122"/>
              </a:rPr>
              <a:t>公司数据）  📋 工程落地</a:t>
            </a:r>
            <a:endParaRPr sz="2000" b="1">
              <a:solidFill>
                <a:srgbClr val="007BC0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5"/>
          </p:nvPr>
        </p:nvSpPr>
        <p:spPr/>
        <p:txBody>
          <a:bodyPr wrap="square">
            <a:noAutofit/>
          </a:bodyPr>
          <a:lstStyle/>
          <a:p>
            <a:pPr>
              <a:lnSpc>
                <a:spcPct val="100000"/>
              </a:lnSpc>
            </a:pPr>
            <a:r>
              <a:rPr lang="zh-CN" altLang="en-US" sz="1200" b="1">
                <a:solidFill>
                  <a:srgbClr val="000000"/>
                </a:solidFill>
                <a:latin typeface="Microsoft YaHei UI" panose="020B0503020204020204" pitchFamily="34" charset="-122"/>
              </a:rPr>
              <a:t>技术方案</a:t>
            </a:r>
            <a:endParaRPr lang="en-US" sz="1200" b="1">
              <a:solidFill>
                <a:srgbClr val="000000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 wrap="square">
            <a:noAutofit/>
          </a:bodyPr>
          <a:lstStyle/>
          <a:p>
            <a:r>
              <a:rPr lang="en-US" sz="1000">
                <a:latin typeface="Microsoft YaHei UI" panose="020B0503020204020204" pitchFamily="34" charset="-122"/>
              </a:rPr>
              <a:t>18</a:t>
            </a:r>
            <a:endParaRPr lang="en-US" sz="1000" noProof="1">
              <a:latin typeface="Microsoft YaHei UI" panose="020B0503020204020204" pitchFamily="34" charset="-122"/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4063112" y="3085304"/>
            <a:ext cx="2700968" cy="1701379"/>
            <a:chOff x="1011168" y="2691402"/>
            <a:chExt cx="2558968" cy="1466666"/>
          </a:xfrm>
        </p:grpSpPr>
        <p:pic>
          <p:nvPicPr>
            <p:cNvPr id="2052" name="Picture 4"/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662"/>
            <a:stretch>
              <a:fillRect/>
            </a:stretch>
          </p:blipFill>
          <p:spPr bwMode="auto">
            <a:xfrm>
              <a:off x="1011168" y="2691402"/>
              <a:ext cx="2558968" cy="14666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7" name="Straight Connector 6"/>
            <p:cNvCxnSpPr/>
            <p:nvPr/>
          </p:nvCxnSpPr>
          <p:spPr>
            <a:xfrm flipH="1" flipV="1">
              <a:off x="1011168" y="3271692"/>
              <a:ext cx="976659" cy="557552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>
              <a:endCxn id="2052" idx="3"/>
            </p:cNvCxnSpPr>
            <p:nvPr/>
          </p:nvCxnSpPr>
          <p:spPr>
            <a:xfrm flipV="1">
              <a:off x="2070334" y="3424735"/>
              <a:ext cx="1499802" cy="424674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Arrow: Right 10"/>
          <p:cNvSpPr/>
          <p:nvPr/>
        </p:nvSpPr>
        <p:spPr>
          <a:xfrm>
            <a:off x="3389831" y="3880032"/>
            <a:ext cx="566131" cy="145338"/>
          </a:xfrm>
          <a:prstGeom prst="rightArrow">
            <a:avLst/>
          </a:prstGeom>
          <a:solidFill>
            <a:srgbClr val="7030A0"/>
          </a:solidFill>
          <a:ln w="9525" cap="flat" cmpd="sng" algn="ctr">
            <a:solidFill>
              <a:srgbClr val="3F136C"/>
            </a:solidFill>
            <a:prstDash val="solid"/>
          </a:ln>
          <a:effectLst/>
        </p:spPr>
        <p:txBody>
          <a:bodyPr wrap="square" rtlCol="0" anchor="ctr"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12" name="Arrow: Right 11"/>
          <p:cNvSpPr/>
          <p:nvPr/>
        </p:nvSpPr>
        <p:spPr>
          <a:xfrm>
            <a:off x="6930597" y="3880032"/>
            <a:ext cx="566131" cy="145338"/>
          </a:xfrm>
          <a:prstGeom prst="rightArrow">
            <a:avLst/>
          </a:prstGeom>
          <a:solidFill>
            <a:srgbClr val="7030A0"/>
          </a:solidFill>
          <a:ln w="9525" cap="flat" cmpd="sng" algn="ctr">
            <a:solidFill>
              <a:srgbClr val="3F136C"/>
            </a:solidFill>
            <a:prstDash val="solid"/>
          </a:ln>
          <a:effectLst/>
        </p:spPr>
        <p:txBody>
          <a:bodyPr wrap="square" rtlCol="0" anchor="ctr"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grpSp>
        <p:nvGrpSpPr>
          <p:cNvPr id="30" name="Group 29"/>
          <p:cNvGrpSpPr/>
          <p:nvPr/>
        </p:nvGrpSpPr>
        <p:grpSpPr>
          <a:xfrm>
            <a:off x="7662247" y="3001501"/>
            <a:ext cx="2844090" cy="1789587"/>
            <a:chOff x="7662247" y="3001501"/>
            <a:chExt cx="2844090" cy="1789587"/>
          </a:xfrm>
        </p:grpSpPr>
        <p:pic>
          <p:nvPicPr>
            <p:cNvPr id="16" name="Picture 1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741760" y="3001501"/>
              <a:ext cx="2630165" cy="1013410"/>
            </a:xfrm>
            <a:prstGeom prst="rect">
              <a:avLst/>
            </a:prstGeom>
          </p:spPr>
        </p:pic>
        <p:cxnSp>
          <p:nvCxnSpPr>
            <p:cNvPr id="18" name="Straight Arrow Connector 17"/>
            <p:cNvCxnSpPr/>
            <p:nvPr/>
          </p:nvCxnSpPr>
          <p:spPr>
            <a:xfrm>
              <a:off x="8173940" y="4025370"/>
              <a:ext cx="0" cy="2683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/>
            <p:nvPr/>
          </p:nvCxnSpPr>
          <p:spPr>
            <a:xfrm>
              <a:off x="9049197" y="4025370"/>
              <a:ext cx="0" cy="2683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/>
            <p:cNvCxnSpPr/>
            <p:nvPr/>
          </p:nvCxnSpPr>
          <p:spPr>
            <a:xfrm>
              <a:off x="9907325" y="4025370"/>
              <a:ext cx="0" cy="2683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8" name="Group 27"/>
            <p:cNvGrpSpPr/>
            <p:nvPr/>
          </p:nvGrpSpPr>
          <p:grpSpPr>
            <a:xfrm>
              <a:off x="7662247" y="4351870"/>
              <a:ext cx="2844090" cy="439218"/>
              <a:chOff x="7662247" y="4351870"/>
              <a:chExt cx="2844090" cy="439218"/>
            </a:xfrm>
          </p:grpSpPr>
          <p:pic>
            <p:nvPicPr>
              <p:cNvPr id="25" name="Picture 24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670959" y="4351870"/>
                <a:ext cx="2700966" cy="285839"/>
              </a:xfrm>
              <a:prstGeom prst="rect">
                <a:avLst/>
              </a:prstGeom>
            </p:spPr>
          </p:pic>
          <p:pic>
            <p:nvPicPr>
              <p:cNvPr id="26" name="Picture 25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805371" y="4505249"/>
                <a:ext cx="2700966" cy="285839"/>
              </a:xfrm>
              <a:prstGeom prst="rect">
                <a:avLst/>
              </a:prstGeom>
            </p:spPr>
          </p:pic>
          <p:sp>
            <p:nvSpPr>
              <p:cNvPr id="27" name="TextBox 26"/>
              <p:cNvSpPr txBox="1"/>
              <p:nvPr/>
            </p:nvSpPr>
            <p:spPr>
              <a:xfrm rot="2262702">
                <a:off x="7662247" y="4616822"/>
                <a:ext cx="302149" cy="16796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marR="0" algn="l" defTabSz="914400" eaLnBrk="1" fontAlgn="auto" latinLnBrk="0" hangingPunct="1">
                  <a:spcBef>
                    <a:spcPts val="500"/>
                  </a:spcBef>
                  <a:spcAft>
                    <a:spcPts val="0"/>
                  </a:spcAft>
                  <a:buClrTx/>
                  <a:buSzTx/>
                  <a:buFontTx/>
                  <a:buNone/>
                </a:pPr>
                <a:r>
                  <a:rPr kumimoji="0" lang="en-US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…</a:t>
                </a:r>
              </a:p>
            </p:txBody>
          </p:sp>
        </p:grpSp>
      </p:grpSp>
      <p:sp>
        <p:nvSpPr>
          <p:cNvPr id="2053" name="TextBox 2052"/>
          <p:cNvSpPr txBox="1"/>
          <p:nvPr/>
        </p:nvSpPr>
        <p:spPr>
          <a:xfrm>
            <a:off x="548481" y="1357534"/>
            <a:ext cx="9872662" cy="413645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核心思想：先在美国学开车，再到中国适应本地路况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endParaRPr lang="zh-CN" altLang="en-US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Stage 1: nuPlan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预训练（学习通用驾驶能力）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在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nuPlan 4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城市、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100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万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+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场景上训练基线模型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学会通用能力：跟车、变道、转弯、避障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目标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: Val14 NR ≥ 90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（已接近达到）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endParaRPr lang="zh-CN" altLang="en-US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Stage 2: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公司数据微调（适应本地场景）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冻结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Encoder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浅层（保留通用特征），微调深层和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Decoder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Domain-Adaptive Normalization: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为公司数据学习独立的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BN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统计量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数据对齐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: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统一坐标系定义、传感器布局适配、场景标注规范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endParaRPr lang="zh-CN" altLang="en-US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优势：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降低数据需求：不需从零收集百万级数据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缩短开发周期：预训练模型提供强大初始化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保留通用能力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+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获得本地适应性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endParaRPr lang="zh-CN" altLang="en-US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关键挑战：传感器域差异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|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场景分布差异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|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数据量差异（防过拟合）</a:t>
            </a:r>
            <a:endParaRPr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10515" y="571500"/>
            <a:ext cx="4288353" cy="40011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zh-CN" altLang="en-US" sz="2000" b="1">
                <a:solidFill>
                  <a:srgbClr val="007BC0"/>
                </a:solidFill>
                <a:latin typeface="Microsoft YaHei UI" panose="020B0503020204020204" pitchFamily="34" charset="-122"/>
              </a:rPr>
              <a:t>工程价值：从学术到实车的完整链路</a:t>
            </a:r>
            <a:endParaRPr sz="2000" b="1">
              <a:solidFill>
                <a:srgbClr val="007BC0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99415" y="251460"/>
            <a:ext cx="1082348" cy="30777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zh-CN" altLang="en-US" sz="1400" b="1">
                <a:solidFill>
                  <a:srgbClr val="007BC0"/>
                </a:solidFill>
                <a:latin typeface="Microsoft YaHei UI" panose="020B0503020204020204" pitchFamily="34" charset="-122"/>
              </a:rPr>
              <a:t>价值与收益</a:t>
            </a:r>
            <a:endParaRPr sz="1400" b="1">
              <a:solidFill>
                <a:srgbClr val="007BC0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1308100"/>
            <a:ext cx="8229600" cy="3937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本项目的核心价值在于打通从学术研究到实车部署的完整链路：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endParaRPr lang="zh-CN" altLang="en-US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核心知识产权价值（专利为主）：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首次提出基于驾驶风险评估的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Flow Matching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自适应引导方法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Risk Network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同时控制引导权重和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ODE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步数，安全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+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效率双赢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预计产出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2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项发明专利，论文投稿为辅助产出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endParaRPr lang="zh-CN" altLang="en-US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工程落地价值：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自适应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CFG: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无需人工逐场景调参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,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自动适配所有场景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安全约束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: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从生成过程中保证安全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,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替代事后规则裁剪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跨域迁移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: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充分利用开源大规模数据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,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少量公司数据即可微调落地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模型仅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14.28M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参数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,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适合车端部署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endParaRPr lang="zh-CN" altLang="en-US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安全性提升：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案例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: Flow Planner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能在快车逼近时放弃变道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(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避碰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), Diffusion Planner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发生碰撞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安全约束引导进一步强化这种主动避碰能力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endParaRPr lang="zh-CN" altLang="en-US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💼 与公司业务的关联：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可直接应用于公司自动驾驶规划模块，替代或增强现有基于规则的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Planning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方案，提升复杂场景通过率和安全性</a:t>
            </a:r>
            <a:endParaRPr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>
              <a:lnSpc>
                <a:spcPct val="100000"/>
              </a:lnSpc>
            </a:pPr>
            <a:r>
              <a:rPr lang="zh-CN" altLang="en-US" sz="2000" b="1" i="0">
                <a:solidFill>
                  <a:srgbClr val="007BC0"/>
                </a:solidFill>
                <a:latin typeface="Microsoft YaHei UI" panose="020B0503020204020204" pitchFamily="34" charset="-122"/>
              </a:rPr>
              <a:t>效率与成本优势</a:t>
            </a:r>
            <a:endParaRPr lang="en-US" altLang="zh-CN" sz="2000" b="1" i="0">
              <a:solidFill>
                <a:srgbClr val="007BC0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5"/>
          </p:nvPr>
        </p:nvSpPr>
        <p:spPr/>
        <p:txBody>
          <a:bodyPr wrap="square">
            <a:noAutofit/>
          </a:bodyPr>
          <a:lstStyle/>
          <a:p>
            <a:pPr>
              <a:lnSpc>
                <a:spcPct val="100000"/>
              </a:lnSpc>
            </a:pPr>
            <a:r>
              <a:rPr lang="zh-CN" altLang="en-US" sz="1200" b="1" i="0">
                <a:solidFill>
                  <a:srgbClr val="000000"/>
                </a:solidFill>
                <a:latin typeface="Microsoft YaHei UI" panose="020B0503020204020204" pitchFamily="34" charset="-122"/>
              </a:rPr>
              <a:t>价值与收益</a:t>
            </a:r>
            <a:endParaRPr lang="en-US" sz="1200" b="1">
              <a:solidFill>
                <a:srgbClr val="000000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 wrap="square">
            <a:noAutofit/>
          </a:bodyPr>
          <a:lstStyle/>
          <a:p>
            <a:r>
              <a:rPr lang="en-US" sz="1000">
                <a:latin typeface="Microsoft YaHei UI" panose="020B0503020204020204" pitchFamily="34" charset="-122"/>
              </a:rPr>
              <a:t>20</a:t>
            </a:r>
            <a:endParaRPr lang="en-US" sz="1000" noProof="1">
              <a:latin typeface="Microsoft YaHei UI" panose="020B0503020204020204" pitchFamily="3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481" y="1357534"/>
            <a:ext cx="9872662" cy="367991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推理效率对比：
  方法              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ODE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步数    推理频率     参数量
  ──────────────────────────────────────────────
  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Diffusion Planner   20+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步     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~5Hz        —
  Flow Planner         4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步     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~12Hz      14.28M
  + 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自适应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ODE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步数     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2-6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步    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12-25Hz     14.28M + 0.1M
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部署成本优势：
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模型仅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14.28M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参数 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(57MB), 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远小于大多数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Transformer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规划模型
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• TensorRT FP16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后模型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&lt;30MB, 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适配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NVIDIA Orin
• 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推理延迟目标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&lt;50ms, 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满足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10Hz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实时性要求
数据成本优势：
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利用开源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nuPlan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数据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(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免费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)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预训练通用能力
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仅需少量公司数据微调即可适配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,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大幅降低数据标注成本</a:t>
            </a:r>
            <a:endParaRPr sz="1000" i="0">
              <a:solidFill>
                <a:srgbClr val="000000"/>
              </a:solidFill>
              <a:latin typeface="Microsoft YaHei UI" panose="020B0503020204020204" pitchFamily="3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>
              <a:lnSpc>
                <a:spcPct val="100000"/>
              </a:lnSpc>
            </a:pPr>
            <a:r>
              <a:rPr lang="zh-CN" altLang="en-US" sz="2000" b="1" i="0">
                <a:solidFill>
                  <a:srgbClr val="007BC0"/>
                </a:solidFill>
                <a:latin typeface="Microsoft YaHei UI" panose="020B0503020204020204" pitchFamily="34" charset="-122"/>
              </a:rPr>
              <a:t>项目时间规划 </a:t>
            </a:r>
            <a:r>
              <a:rPr lang="en-US" altLang="zh-CN" sz="2000" b="1" i="0">
                <a:solidFill>
                  <a:srgbClr val="007BC0"/>
                </a:solidFill>
                <a:latin typeface="Microsoft YaHei UI" panose="020B0503020204020204" pitchFamily="34" charset="-122"/>
              </a:rPr>
              <a:t>(10</a:t>
            </a:r>
            <a:r>
              <a:rPr lang="zh-CN" altLang="en-US" sz="2000" b="1" i="0">
                <a:solidFill>
                  <a:srgbClr val="007BC0"/>
                </a:solidFill>
                <a:latin typeface="Microsoft YaHei UI" panose="020B0503020204020204" pitchFamily="34" charset="-122"/>
              </a:rPr>
              <a:t>个月</a:t>
            </a:r>
            <a:r>
              <a:rPr lang="en-US" altLang="zh-CN" sz="2000" b="1" i="0">
                <a:solidFill>
                  <a:srgbClr val="007BC0"/>
                </a:solidFill>
                <a:latin typeface="Microsoft YaHei UI" panose="020B0503020204020204" pitchFamily="34" charset="-122"/>
              </a:rPr>
              <a:t>)</a:t>
            </a:r>
            <a:endParaRPr sz="2000" b="1">
              <a:solidFill>
                <a:srgbClr val="007BC0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5"/>
          </p:nvPr>
        </p:nvSpPr>
        <p:spPr/>
        <p:txBody>
          <a:bodyPr wrap="square">
            <a:noAutofit/>
          </a:bodyPr>
          <a:lstStyle/>
          <a:p>
            <a:pPr>
              <a:lnSpc>
                <a:spcPct val="100000"/>
              </a:lnSpc>
            </a:pPr>
            <a:r>
              <a:rPr lang="zh-CN" altLang="en-US" sz="1200" b="1" i="0">
                <a:solidFill>
                  <a:srgbClr val="000000"/>
                </a:solidFill>
                <a:latin typeface="Microsoft YaHei UI" panose="020B0503020204020204" pitchFamily="34" charset="-122"/>
              </a:rPr>
              <a:t>技术方案</a:t>
            </a:r>
            <a:endParaRPr lang="en-US" sz="1200" b="1">
              <a:solidFill>
                <a:srgbClr val="000000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 wrap="square">
            <a:noAutofit/>
          </a:bodyPr>
          <a:lstStyle/>
          <a:p>
            <a:r>
              <a:rPr lang="en-US" sz="1000">
                <a:latin typeface="Microsoft YaHei UI" panose="020B0503020204020204" pitchFamily="34" charset="-122"/>
              </a:rPr>
              <a:t>21</a:t>
            </a:r>
            <a:endParaRPr lang="en-US" sz="1000" noProof="1">
              <a:latin typeface="Microsoft YaHei UI" panose="020B0503020204020204" pitchFamily="3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47846" y="1222914"/>
            <a:ext cx="9872662" cy="322338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第一阶段（基线复现）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| 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第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1-3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月
  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• nuPlan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全量数据预处理 → 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Flow Planner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基线复现 → 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Val14 NR≥90
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第二阶段（创新研发）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| 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第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4-6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月
  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自适应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CFG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模块开发 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+ 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安全约束引导方案实现 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+ 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消融实验
  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目标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: Val14 NR&gt;91, InterPlan&gt;65
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第三阶段（跨域迁移）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| 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第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7-8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月
  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公司数据适配 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+ 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迁移训练 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+ TensorRT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量化
  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目标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: 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公司仿真通过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, 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延迟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&lt;50ms
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第四阶段（实车验证）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| 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第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9-10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月
  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• Orin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平台部署 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+ 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实车路口场景调试 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+ 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论文撰写
  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目标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: 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实车验证通过</a:t>
            </a:r>
            <a:r>
              <a:rPr lang="en-US" altLang="zh-CN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, </a:t>
            </a:r>
            <a:r>
              <a:rPr lang="zh-CN" altLang="en-US" sz="1000" i="0">
                <a:solidFill>
                  <a:srgbClr val="000000"/>
                </a:solidFill>
                <a:latin typeface="Microsoft YaHei UI" panose="020B0503020204020204" pitchFamily="34" charset="-122"/>
              </a:rPr>
              <a:t>发表专利</a:t>
            </a:r>
            <a:endParaRPr lang="zh-CN" sz="1000" i="0">
              <a:solidFill>
                <a:srgbClr val="000000"/>
              </a:solidFill>
              <a:latin typeface="Microsoft YaHei UI" panose="020B0503020204020204" pitchFamily="34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2750" y="279400"/>
            <a:ext cx="4572000" cy="40011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zh-CN" altLang="en-US" sz="2000" b="1">
                <a:solidFill>
                  <a:srgbClr val="007BC0"/>
                </a:solidFill>
                <a:latin typeface="Microsoft YaHei UI" panose="020B0503020204020204" pitchFamily="34" charset="-122"/>
              </a:rPr>
              <a:t>预算明细与资源需求</a:t>
            </a:r>
            <a:endParaRPr sz="2000" b="1">
              <a:solidFill>
                <a:srgbClr val="007BC0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74320" y="820000"/>
            <a:ext cx="10400000" cy="431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Bef>
                <a:spcPct val="100000"/>
              </a:spcBef>
              <a:spcAft>
                <a:spcPts val="1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💰 项目总预算：约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10-14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万元（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10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个月周期）</a:t>
            </a:r>
          </a:p>
          <a:p>
            <a:pPr>
              <a:spcBef>
                <a:spcPct val="100000"/>
              </a:spcBef>
              <a:spcAft>
                <a:spcPts val="1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📌 第一阶段（第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1-6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月）：算法创新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— AutoDL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云端</a:t>
            </a:r>
          </a:p>
          <a:p>
            <a:pPr>
              <a:spcBef>
                <a:spcPct val="100000"/>
              </a:spcBef>
              <a:spcAft>
                <a:spcPts val="1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使用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nuPlan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开源数据，可部署到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AutoDL</a:t>
            </a:r>
          </a:p>
          <a:p>
            <a:pPr>
              <a:spcBef>
                <a:spcPct val="100000"/>
              </a:spcBef>
              <a:spcAft>
                <a:spcPts val="1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• A100 × 4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卡 训练（约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5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元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/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卡时）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× 2000-3000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卡时 → 约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2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万</a:t>
            </a:r>
          </a:p>
          <a:p>
            <a:pPr>
              <a:spcBef>
                <a:spcPct val="100000"/>
              </a:spcBef>
              <a:spcAft>
                <a:spcPts val="1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A100 × 2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卡 消融实验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× 800-1200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卡时 → 约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0.4-0.6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万</a:t>
            </a:r>
          </a:p>
          <a:p>
            <a:pPr>
              <a:spcBef>
                <a:spcPct val="100000"/>
              </a:spcBef>
              <a:spcAft>
                <a:spcPts val="1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RTX 4090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日常开发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× 1500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卡时 → 约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0.3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万</a:t>
            </a:r>
          </a:p>
          <a:p>
            <a:pPr>
              <a:spcBef>
                <a:spcPct val="100000"/>
              </a:spcBef>
              <a:spcAft>
                <a:spcPts val="1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AutoDL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数据盘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200GB →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约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0.3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万</a:t>
            </a:r>
          </a:p>
          <a:p>
            <a:pPr>
              <a:spcBef>
                <a:spcPct val="100000"/>
              </a:spcBef>
              <a:spcAft>
                <a:spcPts val="1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阶段一小计：约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2-3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万（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AutoDL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）</a:t>
            </a:r>
          </a:p>
          <a:p>
            <a:pPr>
              <a:spcBef>
                <a:spcPct val="100000"/>
              </a:spcBef>
              <a:spcAft>
                <a:spcPts val="1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📌 第二阶段（第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7-10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月）：跨域迁移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—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公司内部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GPU</a:t>
            </a:r>
          </a:p>
          <a:p>
            <a:pPr>
              <a:spcBef>
                <a:spcPct val="100000"/>
              </a:spcBef>
              <a:spcAft>
                <a:spcPts val="1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⚠️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使用公司数据，不可上传第三方平台，必须内部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GPU</a:t>
            </a:r>
          </a:p>
          <a:p>
            <a:pPr>
              <a:spcBef>
                <a:spcPct val="100000"/>
              </a:spcBef>
              <a:spcAft>
                <a:spcPts val="1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需申请公司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A100/4090 GPU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使用配额</a:t>
            </a:r>
          </a:p>
          <a:p>
            <a:pPr>
              <a:spcBef>
                <a:spcPct val="100000"/>
              </a:spcBef>
              <a:spcAft>
                <a:spcPts val="1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迁移训练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+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微调实验，预计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GPU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占用约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4-6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周</a:t>
            </a:r>
          </a:p>
          <a:p>
            <a:pPr>
              <a:spcBef>
                <a:spcPct val="100000"/>
              </a:spcBef>
              <a:spcAft>
                <a:spcPts val="1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公司数据格式适配（新增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data_process_company.py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）</a:t>
            </a:r>
          </a:p>
          <a:p>
            <a:pPr>
              <a:spcBef>
                <a:spcPct val="100000"/>
              </a:spcBef>
              <a:spcAft>
                <a:spcPts val="1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阶段二小计：公司内部资源（需提前协调）</a:t>
            </a:r>
          </a:p>
          <a:p>
            <a:pPr>
              <a:spcBef>
                <a:spcPct val="100000"/>
              </a:spcBef>
              <a:spcAft>
                <a:spcPts val="1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👥 人力成本（全周期）</a:t>
            </a:r>
          </a:p>
          <a:p>
            <a:pPr>
              <a:spcBef>
                <a:spcPct val="100000"/>
              </a:spcBef>
              <a:spcAft>
                <a:spcPts val="1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算法工程师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×1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（全职，已有）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+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实习生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×1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（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3-5K/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月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, 10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个月约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3-5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万）</a:t>
            </a:r>
          </a:p>
          <a:p>
            <a:pPr>
              <a:spcBef>
                <a:spcPct val="100000"/>
              </a:spcBef>
              <a:spcAft>
                <a:spcPts val="1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指导教师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×1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（兼职，不额外计费）</a:t>
            </a:r>
          </a:p>
          <a:p>
            <a:pPr>
              <a:spcBef>
                <a:spcPct val="100000"/>
              </a:spcBef>
              <a:spcAft>
                <a:spcPts val="1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人力小计：约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3-5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万</a:t>
            </a:r>
          </a:p>
          <a:p>
            <a:pPr>
              <a:spcBef>
                <a:spcPct val="100000"/>
              </a:spcBef>
              <a:spcAft>
                <a:spcPts val="1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📊 数据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+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存储</a:t>
            </a:r>
          </a:p>
          <a:p>
            <a:pPr>
              <a:spcBef>
                <a:spcPct val="100000"/>
              </a:spcBef>
              <a:spcAft>
                <a:spcPts val="1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nuPlan / InterPlan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：开源免费 ✅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| SSD 4TB: ~0.3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万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|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公司数据：内部资源</a:t>
            </a:r>
          </a:p>
          <a:p>
            <a:pPr>
              <a:spcBef>
                <a:spcPct val="100000"/>
              </a:spcBef>
              <a:spcAft>
                <a:spcPts val="1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📋 其他：专利申请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×2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（约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1-2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万）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+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差旅（约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0.5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万）</a:t>
            </a:r>
          </a:p>
          <a:p>
            <a:pPr>
              <a:spcBef>
                <a:spcPct val="100000"/>
              </a:spcBef>
              <a:spcAft>
                <a:spcPts val="1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═══════════════════════════════════════════════════════════</a:t>
            </a:r>
          </a:p>
          <a:p>
            <a:pPr>
              <a:spcBef>
                <a:spcPct val="100000"/>
              </a:spcBef>
              <a:spcAft>
                <a:spcPts val="1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💡 前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6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月用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AutoDL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按需租用（灵活、零维护）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|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后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4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月需提前协调公司内部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GPU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资源</a:t>
            </a:r>
            <a:endParaRPr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74320" y="5346965"/>
            <a:ext cx="10400000" cy="255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  <a:spcBef>
                <a:spcPct val="200000"/>
              </a:spcBef>
              <a:spcAft>
                <a:spcPct val="200000"/>
              </a:spcAft>
            </a:pPr>
            <a:r>
              <a:rPr 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🎯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预期成果：发明专利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2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项（自适应</a:t>
            </a:r>
            <a:r>
              <a:rPr 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CFG + Safety-Guided） | nuPlan Val14 NR ≥ 91 | InterPlan ≥ 65 |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推理延迟 ≤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50</a:t>
            </a:r>
            <a:r>
              <a:rPr 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ms |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论文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1-2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篇（辅助产出）</a:t>
            </a:r>
            <a:endParaRPr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71805"/>
            <a:ext cx="8229600" cy="40011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zh-CN" altLang="en-US" sz="2000" b="1">
                <a:solidFill>
                  <a:srgbClr val="007BC0"/>
                </a:solidFill>
                <a:latin typeface="Microsoft YaHei UI" panose="020B0503020204020204" pitchFamily="34" charset="-122"/>
              </a:rPr>
              <a:t>风险评估与应对策略</a:t>
            </a:r>
            <a:endParaRPr sz="2000" b="1">
              <a:solidFill>
                <a:srgbClr val="007BC0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208280"/>
            <a:ext cx="902811" cy="30777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zh-CN" altLang="en-US" sz="1400" b="1">
                <a:solidFill>
                  <a:srgbClr val="007BC0"/>
                </a:solidFill>
                <a:latin typeface="Microsoft YaHei UI" panose="020B0503020204020204" pitchFamily="34" charset="-122"/>
              </a:rPr>
              <a:t>技术方案</a:t>
            </a:r>
            <a:endParaRPr sz="1400" b="1">
              <a:solidFill>
                <a:srgbClr val="007BC0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51155" y="885825"/>
            <a:ext cx="8595360" cy="431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技术风险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endParaRPr lang="zh-CN" altLang="en-US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风险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1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：自适应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CFG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增益不显著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概率：中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|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影响：高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应对：聚焦特定场景提升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+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碰撞率维度价值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endParaRPr lang="zh-CN" altLang="en-US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风险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2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：跨域迁移「水土不服」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概率：中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|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影响：高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应对：冻结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Encoder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微调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Decoder +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超让标签引导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endParaRPr lang="zh-CN" altLang="en-US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风险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3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：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Safety-Guided ODE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破坏轨迹物理性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概率：中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|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影响：中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应对：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clip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梯度幅度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+ Best-of-N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兜底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endParaRPr lang="zh-CN" altLang="en-US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项目风险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endParaRPr lang="zh-CN" altLang="en-US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风险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4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：专利新颖性被同期工作覆盖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概率：中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|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影响：高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应对：尽快提交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+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强调博世独有差异点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endParaRPr lang="zh-CN" altLang="en-US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风险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5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：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ASW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团队对学习型方案接受度低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概率：中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|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影响：中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应对：三阶段渐进部署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+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安全评分可审计</a:t>
            </a:r>
          </a:p>
          <a:p>
            <a:pPr>
              <a:spcBef>
                <a:spcPct val="100000"/>
              </a:spcBef>
              <a:spcAft>
                <a:spcPct val="100000"/>
              </a:spcAft>
            </a:pPr>
            <a:endParaRPr lang="zh-CN" altLang="en-US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spcBef>
                <a:spcPct val="100000"/>
              </a:spcBef>
              <a:spcAft>
                <a:spcPct val="1000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总体：技术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fallback (Best-of-N)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，项目不会空转</a:t>
            </a:r>
            <a:endParaRPr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850663" y="548640"/>
            <a:ext cx="1268296" cy="64633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zh-CN" altLang="en-US" sz="3600" b="1">
                <a:solidFill>
                  <a:srgbClr val="007BC0"/>
                </a:solidFill>
                <a:latin typeface="Microsoft YaHei UI" panose="020B0503020204020204" pitchFamily="34" charset="-122"/>
              </a:rPr>
              <a:t>谢谢</a:t>
            </a:r>
            <a:r>
              <a:rPr lang="en-US" altLang="zh-CN" sz="3600" b="1">
                <a:solidFill>
                  <a:srgbClr val="007BC0"/>
                </a:solidFill>
                <a:latin typeface="Microsoft YaHei UI" panose="020B0503020204020204" pitchFamily="34" charset="-122"/>
              </a:rPr>
              <a:t>!</a:t>
            </a:r>
            <a:endParaRPr sz="3600" b="1">
              <a:solidFill>
                <a:srgbClr val="007BC0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920299" y="1463040"/>
            <a:ext cx="1129027" cy="30777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en-US" sz="1400" b="1">
                <a:solidFill>
                  <a:srgbClr val="007BC0"/>
                </a:solidFill>
                <a:latin typeface="Microsoft YaHei UI" panose="020B0503020204020204" pitchFamily="34" charset="-122"/>
              </a:rPr>
              <a:t>Thank You</a:t>
            </a:r>
            <a:endParaRPr sz="1400" b="1">
              <a:solidFill>
                <a:srgbClr val="007BC0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9140825" cy="25400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2560320"/>
            <a:ext cx="1415772" cy="33855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zh-CN" altLang="en-US" sz="1600" b="1">
                <a:solidFill>
                  <a:srgbClr val="007BC0"/>
                </a:solidFill>
                <a:latin typeface="Microsoft YaHei UI" panose="020B0503020204020204" pitchFamily="34" charset="-122"/>
              </a:rPr>
              <a:t>核心优势总结</a:t>
            </a:r>
            <a:endParaRPr sz="1600" b="1">
              <a:solidFill>
                <a:srgbClr val="007BC0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97280" y="3108960"/>
            <a:ext cx="7772400" cy="22971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  <a:spcBef>
                <a:spcPct val="200000"/>
              </a:spcBef>
              <a:spcAft>
                <a:spcPts val="200"/>
              </a:spcAft>
            </a:pPr>
            <a:r>
              <a:rPr 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✅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创新点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1: </a:t>
            </a:r>
            <a:r>
              <a:rPr 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Scene-Adaptive CFG —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场景自适应引导权重</a:t>
            </a:r>
          </a:p>
          <a:p>
            <a:pPr>
              <a:lnSpc>
                <a:spcPct val="115000"/>
              </a:lnSpc>
              <a:spcBef>
                <a:spcPct val="200000"/>
              </a:spcBef>
              <a:spcAft>
                <a:spcPts val="200"/>
              </a:spcAft>
            </a:pPr>
            <a:r>
              <a:rPr 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✅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创新点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2: </a:t>
            </a:r>
            <a:r>
              <a:rPr 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Best-of-N —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多候选轨迹安全筛选</a:t>
            </a:r>
          </a:p>
          <a:p>
            <a:pPr>
              <a:lnSpc>
                <a:spcPct val="115000"/>
              </a:lnSpc>
              <a:spcBef>
                <a:spcPct val="200000"/>
              </a:spcBef>
              <a:spcAft>
                <a:spcPts val="200"/>
              </a:spcAft>
            </a:pPr>
            <a:r>
              <a:rPr 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✅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创新点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3: </a:t>
            </a:r>
            <a:r>
              <a:rPr 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Risk-Adaptive ODE —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风险自适应推理步数</a:t>
            </a:r>
          </a:p>
          <a:p>
            <a:pPr>
              <a:lnSpc>
                <a:spcPct val="115000"/>
              </a:lnSpc>
              <a:spcBef>
                <a:spcPct val="200000"/>
              </a:spcBef>
              <a:spcAft>
                <a:spcPts val="200"/>
              </a:spcAft>
            </a:pPr>
            <a:r>
              <a:rPr 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✅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创新点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4: </a:t>
            </a:r>
            <a:r>
              <a:rPr 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Safety-Guided FM —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安全约束梯度引导</a:t>
            </a:r>
          </a:p>
          <a:p>
            <a:pPr>
              <a:lnSpc>
                <a:spcPct val="115000"/>
              </a:lnSpc>
              <a:spcBef>
                <a:spcPct val="200000"/>
              </a:spcBef>
              <a:spcAft>
                <a:spcPts val="200"/>
              </a:spcAft>
            </a:pPr>
            <a:r>
              <a:rPr 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✅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创新点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5: </a:t>
            </a:r>
            <a:r>
              <a:rPr 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Goal-Conditioned DPO —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目标条件偏好优化（借鉴 </a:t>
            </a:r>
            <a:r>
              <a:rPr 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GoalFlow）</a:t>
            </a:r>
            <a:endParaRPr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5"/>
          </p:nvPr>
        </p:nvSpPr>
        <p:spPr/>
        <p:txBody>
          <a:bodyPr wrap="square">
            <a:noAutofit/>
          </a:bodyPr>
          <a:lstStyle/>
          <a:p>
            <a:pPr>
              <a:lnSpc>
                <a:spcPct val="100000"/>
              </a:lnSpc>
            </a:pPr>
            <a:r>
              <a:rPr lang="zh-CN" altLang="en-US" sz="1200" b="1">
                <a:solidFill>
                  <a:srgbClr val="000000"/>
                </a:solidFill>
                <a:latin typeface="Microsoft YaHei UI" panose="020B0503020204020204" pitchFamily="34" charset="-122"/>
              </a:rPr>
              <a:t>附录</a:t>
            </a:r>
            <a:endParaRPr sz="1200" b="1">
              <a:solidFill>
                <a:srgbClr val="000000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>
              <a:lnSpc>
                <a:spcPct val="100000"/>
              </a:lnSpc>
            </a:pPr>
            <a:r>
              <a:rPr lang="zh-CN" altLang="en-US" sz="2000" b="1">
                <a:solidFill>
                  <a:srgbClr val="007BC0"/>
                </a:solidFill>
                <a:latin typeface="Microsoft YaHei UI" panose="020B0503020204020204" pitchFamily="34" charset="-122"/>
              </a:rPr>
              <a:t>附录</a:t>
            </a:r>
            <a:r>
              <a:rPr lang="en-US" altLang="zh-CN" sz="2000" b="1">
                <a:solidFill>
                  <a:srgbClr val="007BC0"/>
                </a:solidFill>
                <a:latin typeface="Microsoft YaHei UI" panose="020B0503020204020204" pitchFamily="34" charset="-122"/>
              </a:rPr>
              <a:t>B</a:t>
            </a:r>
            <a:r>
              <a:rPr lang="zh-CN" altLang="en-US" sz="2000" b="1">
                <a:solidFill>
                  <a:srgbClr val="007BC0"/>
                </a:solidFill>
                <a:latin typeface="Microsoft YaHei UI" panose="020B0503020204020204" pitchFamily="34" charset="-122"/>
              </a:rPr>
              <a:t>：为什么需要多模态轨迹生成？</a:t>
            </a:r>
            <a:endParaRPr sz="2000" b="1">
              <a:solidFill>
                <a:srgbClr val="007BC0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2286" y="1037110"/>
            <a:ext cx="9872662" cy="45929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场景：前方静止车辆，可以左绕或右绕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endParaRPr lang="zh-CN" altLang="en-US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❌ 回归模型（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Regression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）的致命问题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—— Mode Averaging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训练集中同一类场景有不同的人类决策：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司机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A →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左绕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(-3, 10)    |   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司机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B →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右绕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(+3, 10)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L2 Loss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的最优解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=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两种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GT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的均值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= (0, 10) →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直行撞车！💥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根因：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L2 Loss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的数学性质迫使模型输出条件均值，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而两个合理模式的均值本身不是一个合理的模式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endParaRPr lang="zh-CN" altLang="en-US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✅ 生成模型（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Flow Matching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）的解法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——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学习完整概率分布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模型学到的不是一个点，而是一个双峰分布：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左绕峰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(x=-3)  ████        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右绕峰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(x=+3)  ████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中间区域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(x=0)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概率密度 ≈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0 →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永远不会采样到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"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直行撞车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"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的轨迹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每次采样都落在某个合理模式上 → 要么左绕，要么右绕，都安全 ✅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endParaRPr lang="zh-CN" altLang="en-US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方法对比：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回归模型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:   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学点估计（条件均值）  →  一条确定路径  → 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Mode Averaging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💥（撞车）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  生成模型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:   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学完整概率分布          →  采样多条路径  →  每条都是合理模式 ✅（安全）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endParaRPr lang="zh-CN" altLang="en-US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核心价值：不是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GT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不对，而是回归模型无法正确利用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GT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中的多样性信息</a:t>
            </a:r>
            <a:endParaRPr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>
              <a:lnSpc>
                <a:spcPct val="100000"/>
              </a:lnSpc>
            </a:pPr>
            <a:r>
              <a:rPr lang="zh-CN" altLang="en-US" sz="2000" b="1">
                <a:solidFill>
                  <a:srgbClr val="007BC0"/>
                </a:solidFill>
                <a:latin typeface="Microsoft YaHei UI" panose="020B0503020204020204" pitchFamily="34" charset="-122"/>
              </a:rPr>
              <a:t>附录</a:t>
            </a:r>
            <a:r>
              <a:rPr lang="en-US" sz="2000" b="1">
                <a:solidFill>
                  <a:srgbClr val="007BC0"/>
                </a:solidFill>
                <a:latin typeface="Microsoft YaHei UI" panose="020B0503020204020204" pitchFamily="34" charset="-122"/>
              </a:rPr>
              <a:t>G：Flow Planner </a:t>
            </a:r>
            <a:r>
              <a:rPr lang="zh-CN" altLang="en-US" sz="2000" b="1">
                <a:solidFill>
                  <a:srgbClr val="007BC0"/>
                </a:solidFill>
                <a:latin typeface="Microsoft YaHei UI" panose="020B0503020204020204" pitchFamily="34" charset="-122"/>
              </a:rPr>
              <a:t>的三大设计创新</a:t>
            </a:r>
            <a:endParaRPr lang="en-US" sz="2000" b="1">
              <a:solidFill>
                <a:srgbClr val="007BC0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5"/>
          </p:nvPr>
        </p:nvSpPr>
        <p:spPr/>
        <p:txBody>
          <a:bodyPr wrap="square">
            <a:noAutofit/>
          </a:bodyPr>
          <a:lstStyle/>
          <a:p>
            <a:pPr>
              <a:lnSpc>
                <a:spcPct val="100000"/>
              </a:lnSpc>
            </a:pPr>
            <a:r>
              <a:rPr lang="zh-CN" altLang="en-US" sz="1200" b="1">
                <a:solidFill>
                  <a:srgbClr val="000000"/>
                </a:solidFill>
                <a:latin typeface="Microsoft YaHei UI" panose="020B0503020204020204" pitchFamily="34" charset="-122"/>
              </a:rPr>
              <a:t>技术方案</a:t>
            </a:r>
            <a:endParaRPr lang="en-US" sz="1200" b="1">
              <a:solidFill>
                <a:srgbClr val="000000"/>
              </a:solidFill>
              <a:latin typeface="Microsoft YaHei UI" panose="020B0503020204020204" pitchFamily="34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 wrap="square">
            <a:noAutofit/>
          </a:bodyPr>
          <a:lstStyle/>
          <a:p>
            <a:r>
              <a:rPr lang="en-US" sz="1000">
                <a:latin typeface="Microsoft YaHei UI" panose="020B0503020204020204" pitchFamily="34" charset="-122"/>
              </a:rPr>
              <a:t>26</a:t>
            </a:r>
            <a:endParaRPr lang="en-US" sz="1000" noProof="1">
              <a:latin typeface="Microsoft YaHei UI" panose="020B0503020204020204" pitchFamily="3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27831" y="1129569"/>
            <a:ext cx="9872662" cy="390818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整体流程：场景数据 →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Encoder →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场景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Tokens +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条件 → 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Decoder(DiT×4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层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) → ODE(4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步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) → 8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秒轨迹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endParaRPr lang="zh-CN" altLang="en-US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创新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1: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细粒度轨迹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Token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化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80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帧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(8s)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切分为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7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个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Token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，每个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Token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覆盖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20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帧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(2s)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相邻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Token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重叠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10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帧 → 推理时对重叠区取平均，保证轨迹连贯性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意义：比直接预测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80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个坐标点更精细，模型可学习局部时序模式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endParaRPr lang="zh-CN" altLang="en-US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创新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2: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多模态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Joint Attention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三种模态联合做注意力：邻居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Agent(37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个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) +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车道线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(70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条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) +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轨迹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Token(7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个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)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将不同模态投影到统一维度，使用距离感知的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attention bias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意义：让轨迹生成能同时感知周围车辆、道路结构，提升交互建模能力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endParaRPr lang="zh-CN" altLang="en-US"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创新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3: Flow Matching + CFG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联合使用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Flow Matching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提供高效的轨迹生成框架（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4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步推理）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CFG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在推理时增强对周围环境的响应（无需额外训练）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仅掩码最近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10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个邻居进行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CFG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训练，聚焦最关键的交互</a:t>
            </a:r>
          </a:p>
          <a:p>
            <a:pPr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• Midpoint ODE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求解器：比</a:t>
            </a:r>
            <a:r>
              <a:rPr lang="en-US" altLang="zh-CN" sz="1000">
                <a:solidFill>
                  <a:srgbClr val="000000"/>
                </a:solidFill>
                <a:latin typeface="Microsoft YaHei UI" panose="020B0503020204020204" pitchFamily="34" charset="-122"/>
              </a:rPr>
              <a:t>Euler</a:t>
            </a:r>
            <a:r>
              <a:rPr lang="zh-CN" altLang="en-US" sz="1000">
                <a:solidFill>
                  <a:srgbClr val="000000"/>
                </a:solidFill>
                <a:latin typeface="Microsoft YaHei UI" panose="020B0503020204020204" pitchFamily="34" charset="-122"/>
              </a:rPr>
              <a:t>方法更精确，步数更少</a:t>
            </a:r>
            <a:endParaRPr sz="1000">
              <a:solidFill>
                <a:srgbClr val="000000"/>
              </a:solidFill>
              <a:latin typeface="Microsoft YaHei UI" panose="020B0503020204020204" pitchFamily="3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AXMLTEMPLATE" val="presentation_169"/>
  <p:tag name="SAXMLCOMPANYNAME" val="bosch"/>
  <p:tag name="MLTEMPLATEVERSION" val="2.0"/>
  <p:tag name="MLLANGUAGE" val="eng"/>
  <p:tag name="SAXCONVERSION" val="2"/>
</p:tagLst>
</file>

<file path=ppt/theme/theme1.xml><?xml version="1.0" encoding="utf-8"?>
<a:theme xmlns:a="http://schemas.openxmlformats.org/drawingml/2006/main" name="Bosch 2022">
  <a:themeElements>
    <a:clrScheme name="Bosch Blau">
      <a:dk1>
        <a:sysClr val="windowText" lastClr="000000"/>
      </a:dk1>
      <a:lt1>
        <a:sysClr val="window" lastClr="FFFFFF"/>
      </a:lt1>
      <a:dk2>
        <a:srgbClr val="424C58"/>
      </a:dk2>
      <a:lt2>
        <a:srgbClr val="B2B3B5"/>
      </a:lt2>
      <a:accent1>
        <a:srgbClr val="007BC0"/>
      </a:accent1>
      <a:accent2>
        <a:srgbClr val="004975"/>
      </a:accent2>
      <a:accent3>
        <a:srgbClr val="007BC0"/>
      </a:accent3>
      <a:accent4>
        <a:srgbClr val="004975"/>
      </a:accent4>
      <a:accent5>
        <a:srgbClr val="007BC0"/>
      </a:accent5>
      <a:accent6>
        <a:srgbClr val="004975"/>
      </a:accent6>
      <a:hlink>
        <a:srgbClr val="738CB4"/>
      </a:hlink>
      <a:folHlink>
        <a:srgbClr val="B0BBD0"/>
      </a:folHlink>
    </a:clrScheme>
    <a:fontScheme name="Bosch">
      <a:majorFont>
        <a:latin typeface="Bosch Office Sans"/>
        <a:ea typeface=""/>
        <a:cs typeface=""/>
      </a:majorFont>
      <a:minorFont>
        <a:latin typeface="Bosch Office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9525" cap="flat" cmpd="sng" algn="ctr">
          <a:solidFill>
            <a:srgbClr val="3F136C"/>
          </a:solidFill>
          <a:prstDash val="solid"/>
        </a:ln>
      </a:spPr>
      <a:bodyPr rtlCol="0" anchor="ctr"/>
      <a:lstStyle>
        <a:defPPr marL="0" marR="0" indent="0" algn="ctr" defTabSz="914400" eaLnBrk="1" fontAlgn="auto" latinLnBrk="0" hangingPunct="1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kern="0" cap="none" spc="0" normalizeH="0" baseline="0" noProof="0" dirty="0" smtClean="0">
            <a:ln>
              <a:noFill/>
            </a:ln>
            <a:solidFill>
              <a:srgbClr val="000000"/>
            </a:solidFill>
            <a:effectLst/>
            <a:uLnTx/>
            <a:uFillTx/>
            <a:latin typeface="Bosch Office Sans"/>
            <a:ea typeface="+mn-ea"/>
            <a:cs typeface="+mn-cs"/>
          </a:defRPr>
        </a:defPPr>
      </a:lstStyle>
    </a:spDef>
    <a:txDef>
      <a:spPr>
        <a:noFill/>
      </a:spPr>
      <a:bodyPr wrap="square" lIns="0" tIns="0" rIns="0" bIns="0" rtlCol="0">
        <a:noAutofit/>
      </a:bodyPr>
      <a:lstStyle>
        <a:defPPr marR="0" algn="l" defTabSz="914400" eaLnBrk="1" fontAlgn="auto" latinLnBrk="0" hangingPunct="1">
          <a:spcBef>
            <a:spcPts val="500"/>
          </a:spcBef>
          <a:spcAft>
            <a:spcPts val="0"/>
          </a:spcAft>
          <a:buClrTx/>
          <a:buSzTx/>
          <a:buFontTx/>
          <a:buNone/>
          <a:defRPr kumimoji="0" sz="1800" b="0" i="0" u="none" strike="noStrike" kern="0" cap="none" spc="0" normalizeH="0" baseline="0" noProof="0" smtClean="0">
            <a:ln>
              <a:noFill/>
            </a:ln>
            <a:solidFill>
              <a:srgbClr val="000000"/>
            </a:solidFill>
            <a:effectLst/>
            <a:uLnTx/>
            <a:uFillTx/>
          </a:defRPr>
        </a:defPPr>
      </a:lstStyle>
    </a:txDef>
  </a:objectDefaults>
  <a:extraClrSchemeLst/>
  <a:custClrLst>
    <a:custClr name="Bosch Red 50">
      <a:srgbClr val="ED0007"/>
    </a:custClr>
    <a:custClr name="Bosch Purple 40">
      <a:srgbClr val="9E2896"/>
    </a:custClr>
    <a:custClr name="Bosch Purple 20">
      <a:srgbClr val="551151"/>
    </a:custClr>
    <a:custClr name="Bosch Blue 50">
      <a:srgbClr val="007BC0"/>
    </a:custClr>
    <a:custClr name="Bosch Blue 30">
      <a:srgbClr val="004975"/>
    </a:custClr>
    <a:custClr name="Bosch Turquoise 50">
      <a:srgbClr val="18837E"/>
    </a:custClr>
    <a:custClr name="Bosch Turquoise 30">
      <a:srgbClr val="0A4F4B"/>
    </a:custClr>
    <a:custClr name="Bosch Green 50">
      <a:srgbClr val="00884A"/>
    </a:custClr>
    <a:custClr name="Bosch Green 30">
      <a:srgbClr val="00512A"/>
    </a:custClr>
    <a:custClr name="Bosch Gray 50">
      <a:srgbClr val="71767C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item1.xml><?xml version="1.0" encoding="utf-8"?>
<sax_Colors>
  <Line size="7">
    <Color val="9e2896" tooltip="Bosch Purple 40"/>
    <Color val="551151" tooltip="Bosch Purple 20"/>
  </Line>
  <Line size="7">
    <Color val="007bc0" tooltip="Bosch Blue 50"/>
    <Color val="004975" tooltip="Bosch Blue 30"/>
  </Line>
  <Line size="7">
    <Color val="18837e" tooltip="Bosch Turquoise 50"/>
    <Color val="0a4f4b" tooltip="Bosch Turquoise 30"/>
  </Line>
  <Line size="7">
    <Color val="00884a" tooltip="Bosch Green 50"/>
    <Color val="00512a" tooltip="Bosch Green 30"/>
  </Line>
</sax_Color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48A8CD93FE89745BEFE607995392A2F" ma:contentTypeVersion="6" ma:contentTypeDescription="Create a new document." ma:contentTypeScope="" ma:versionID="9560ae0c8eae06252f90b248c09fa616">
  <xsd:schema xmlns:xsd="http://www.w3.org/2001/XMLSchema" xmlns:xs="http://www.w3.org/2001/XMLSchema" xmlns:p="http://schemas.microsoft.com/office/2006/metadata/properties" xmlns:ns2="e4e84562-1a18-42c0-bfbd-f9b4b2b43f43" xmlns:ns3="5af31109-1c53-409a-84e3-92a138e7abac" targetNamespace="http://schemas.microsoft.com/office/2006/metadata/properties" ma:root="true" ma:fieldsID="4049bc1277235997aee3cf0fb2258a8c" ns2:_="" ns3:_="">
    <xsd:import namespace="e4e84562-1a18-42c0-bfbd-f9b4b2b43f43"/>
    <xsd:import namespace="5af31109-1c53-409a-84e3-92a138e7aba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e84562-1a18-42c0-bfbd-f9b4b2b43f4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af31109-1c53-409a-84e3-92a138e7aba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5af31109-1c53-409a-84e3-92a138e7abac">
      <UserInfo>
        <DisplayName>HUANG Decen (XC-CP/EPM-CN)</DisplayName>
        <AccountId>30</AccountId>
        <AccountType/>
      </UserInfo>
      <UserInfo>
        <DisplayName>ZHANG Guozhen (BCSC/EPA4-Sgh, XC-CP/EPM-CN)</DisplayName>
        <AccountId>31</AccountId>
        <AccountType/>
      </UserInfo>
      <UserInfo>
        <DisplayName>LUO Yanlong (XC-CP/PRM-CN)</DisplayName>
        <AccountId>32</AccountId>
        <AccountType/>
      </UserInfo>
      <UserInfo>
        <DisplayName>LYU Abner (XC-CP/PRM-CN)</DisplayName>
        <AccountId>33</AccountId>
        <AccountType/>
      </UserInfo>
      <UserInfo>
        <DisplayName>Zheng Xinfen (XC-CP/RBU-CN, XC-CP/ENG-CN, XC/ENG-CN)</DisplayName>
        <AccountId>34</AccountId>
        <AccountType/>
      </UserInfo>
      <UserInfo>
        <DisplayName>LI Mengxue (XC-CP/RBU-CN)</DisplayName>
        <AccountId>35</AccountId>
        <AccountType/>
      </UserInfo>
      <UserInfo>
        <DisplayName>CHEN Marvel (XC-CP/ESR-CN XC-CP/PRM-CN)</DisplayName>
        <AccountId>16</AccountId>
        <AccountType/>
      </UserInfo>
      <UserInfo>
        <DisplayName>ZHANG Bin (XC-CP/EPM-CN)</DisplayName>
        <AccountId>23</AccountId>
        <AccountType/>
      </UserInfo>
      <UserInfo>
        <DisplayName>GONG Baohua (XC-CP/ESW-CN XC-CP/ESW4-CN)</DisplayName>
        <AccountId>24</AccountId>
        <AccountType/>
      </UserInfo>
      <UserInfo>
        <DisplayName>LI Easley (XC-CP/ESA2-CN)</DisplayName>
        <AccountId>25</AccountId>
        <AccountType/>
      </UserInfo>
      <UserInfo>
        <DisplayName>Stein Andreas (XC-CP/ESY)</DisplayName>
        <AccountId>36</AccountId>
        <AccountType/>
      </UserInfo>
      <UserInfo>
        <DisplayName>Diekmann Christian (XC-CP/ESY1)</DisplayName>
        <AccountId>40</AccountId>
        <AccountType/>
      </UserInfo>
      <UserInfo>
        <DisplayName>Nadzeika Arwed (XC-CP/EMB1)</DisplayName>
        <AccountId>41</AccountId>
        <AccountType/>
      </UserInfo>
      <UserInfo>
        <DisplayName>Kram Michael (XC-CP/NE)</DisplayName>
        <AccountId>44</AccountId>
        <AccountType/>
      </UserInfo>
      <UserInfo>
        <DisplayName>Goetzl Markus Benjamin (XC-CP/PRM)</DisplayName>
        <AccountId>45</AccountId>
        <AccountType/>
      </UserInfo>
      <UserInfo>
        <DisplayName>Schwarzer Henning (XC-CP/PRM1)</DisplayName>
        <AccountId>46</AccountId>
        <AccountType/>
      </UserInfo>
      <UserInfo>
        <DisplayName>Bannow Nils-Jochen (XC-CP/PRM1)</DisplayName>
        <AccountId>47</AccountId>
        <AccountType/>
      </UserInfo>
    </SharedWithUsers>
  </documentManagement>
</p:properties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5.xml><?xml version="1.0" encoding="utf-8"?>
<saxML>
  <saxMLTemplate>presentation_169</saxMLTemplate>
  <Variablen>
    <Variable>
      <Name>attachmentremark</Name>
      <OrgInhalt/>
      <Wert/>
      <Platzhalter>False</Platzhalter>
      <DocDatenDialog>True</DocDatenDialog>
      <Label>Attachment</Label>
      <FrageVar>False</FrageVar>
      <Prefix/>
      <Suffix/>
      <WegfallVar/>
      <MussFeld>False</MussFeld>
      <InDokument>True</InDokument>
      <Sektion>AttachmentRemark</Sektion>
      <Reihenfolge>0</Reihenfolge>
    </Variable>
    <Variable>
      <Name>departmentshort</Name>
      <OrgInhalt>XC/ESX</OrgInhalt>
      <Wert/>
      <Platzhalter>False</Platzhalter>
      <DocDatenDialog>True</DocDatenDialog>
      <Label>Authoring</Label>
      <FrageVar>False</FrageVar>
      <Prefix/>
      <Suffix/>
      <WegfallVar/>
      <MussFeld>False</MussFeld>
      <Trenner>
        <VariableVor>confidentiality</VariableVor>
        <VariableVor>businessunit</VariableVor>
        <Zwischen> | </Zwischen>
        <VariableNach>departmentshort</VariableNach>
      </Trenner>
      <InDokument>True</InDokument>
      <Sektion>Bosch_footer_1</Sektion>
      <Reihenfolge/>
    </Variable>
    <Variable>
      <Name>confidentiality</Name>
      <OrgInhalt>Internal</OrgInhalt>
      <Wert>Internal</Wert>
      <Platzhalter>False</Platzhalter>
      <DocDatenDialog>True</DocDatenDialog>
      <Label>Notation of confidentiality</Label>
      <FrageVar>False</FrageVar>
      <Prefix/>
      <Suffix/>
      <WegfallVar/>
      <ComboBox>
        <Option>Internal</Option>
        <Option>Confidential</Option>
        <Option>Strictly confidential</Option>
        <Option/>
      </ComboBox>
      <MussFeld>False</MussFeld>
      <InDokument>True</InDokument>
      <Sektion>Bosch_footer_1</Sektion>
      <Reihenfolge>0</Reihenfolge>
    </Variable>
    <Variable>
      <Name>copyright</Name>
      <OrgInhalt>© Robert Bosch GmbH 2023. All rights reserved, also regarding any disposal, exploitation, reproduction, editing, distribution, as well as in the event of applications for industrial property rights.</OrgInhalt>
      <Wert>© Robert Bosch GmbH 2023. All rights reserved, also regarding any disposal, exploitation, reproduction, editing, distribution, as well as in the event of applications for industrial property rights.</Wert>
      <Platzhalter>False</Platzhalter>
      <DocDatenDialog>False</DocDatenDialog>
      <Label>$tr_copyright$</Label>
      <FrageVar>False</FrageVar>
      <Prefix/>
      <Suffix/>
      <WegfallVar/>
      <MussFeld>False</MussFeld>
      <Trenner>
        <VariableVor>repositoryremark</VariableVor>
        <Zwischen>&lt;br&gt;</Zwischen>
        <VariableNach>copyright</VariableNach>
      </Trenner>
      <InDokument>True</InDokument>
      <Sektion>Bosch_footer_2</Sektion>
      <Reihenfolge/>
    </Variable>
    <Variable>
      <Name>dateformat</Name>
      <OrgInhalt>2023-04-19</OrgInhalt>
      <Wert/>
      <Platzhalter>False</Platzhalter>
      <DocDatenDialog>True</DocDatenDialog>
      <Label>Date</Label>
      <FrageVar>False</FrageVar>
      <Prefix/>
      <Suffix/>
      <WegfallVar/>
      <MussFeld>False</MussFeld>
      <Trenner>
        <VariableVor>departmentshort</VariableVor>
        <VariableVor>confidentiality</VariableVor>
        <VariableVor>businessunit</VariableVor>
        <Zwischen> | </Zwischen>
        <VariableNach>dateformat</VariableNach>
      </Trenner>
      <InDokument>True</InDokument>
      <Sektion>Bosch_footer_1</Sektion>
      <Reihenfolge>0</Reihenfolge>
    </Variable>
    <Variable>
      <Name>businessunit</Name>
      <OrgInhalt>Cross-Domain Computing Solutions</OrgInhalt>
      <Wert>Cross-Domain Computing Solutions</Wert>
      <Platzhalter>False</Platzhalter>
      <DocDatenDialog>False</DocDatenDialog>
      <Label>$tr_businessunit$</Label>
      <FrageVar>False</FrageVar>
      <Prefix/>
      <Suffix/>
      <WegfallVar/>
      <MussFeld>False</MussFeld>
      <Trenner>
        <VariableVor>confidentiality</VariableVor>
        <Zwischen> | </Zwischen>
        <VariableNach>businessunit</VariableNach>
      </Trenner>
      <InDokument>True</InDokument>
      <Sektion>Bosch_footer_1</Sektion>
      <Reihenfolge>0</Reihenfolge>
    </Variable>
    <Variable>
      <Name>repositoryremark</Name>
      <OrgInhalt/>
      <Wert/>
      <Platzhalter>False</Platzhalter>
      <DocDatenDialog>True</DocDatenDialog>
      <Label>Filing note</Label>
      <FrageVar>False</FrageVar>
      <Prefix/>
      <Suffix/>
      <WegfallVar/>
      <MussFeld>False</MussFeld>
      <InDokument>True</InDokument>
      <Sektion>Bosch_footer_2</Sektion>
      <Reihenfolge>0</Reihenfolge>
    </Variable>
  </Variablen>
</saxML>
</file>

<file path=customXml/itemProps1.xml><?xml version="1.0" encoding="utf-8"?>
<ds:datastoreItem xmlns:ds="http://schemas.openxmlformats.org/officeDocument/2006/customXml" ds:itemID="{D0252559-44F8-474C-B66D-E357B88E32C2}">
  <ds:schemaRefs/>
</ds:datastoreItem>
</file>

<file path=customXml/itemProps2.xml><?xml version="1.0" encoding="utf-8"?>
<ds:datastoreItem xmlns:ds="http://schemas.openxmlformats.org/officeDocument/2006/customXml" ds:itemID="{81FFB0BC-22C2-4F86-9C80-0F3094B3BE5E}">
  <ds:schemaRefs/>
</ds:datastoreItem>
</file>

<file path=customXml/itemProps3.xml><?xml version="1.0" encoding="utf-8"?>
<ds:datastoreItem xmlns:ds="http://schemas.openxmlformats.org/officeDocument/2006/customXml" ds:itemID="{8C32E9E7-B86E-4C61-B4BE-B97B5DB6E8B7}">
  <ds:schemaRefs/>
</ds:datastoreItem>
</file>

<file path=customXml/itemProps4.xml><?xml version="1.0" encoding="utf-8"?>
<ds:datastoreItem xmlns:ds="http://schemas.openxmlformats.org/officeDocument/2006/customXml" ds:itemID="{E466FEE4-C72E-487D-81E9-B648C30F14DC}">
  <ds:schemaRefs/>
</ds:datastoreItem>
</file>

<file path=customXml/itemProps5.xml><?xml version="1.0" encoding="utf-8"?>
<ds:datastoreItem xmlns:ds="http://schemas.openxmlformats.org/officeDocument/2006/customXml" ds:itemID="{D1063AF6-BE13-4A24-AD71-6B30BFDE1904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presentation_169_1</Template>
  <TotalTime>0</TotalTime>
  <Words>5993</Words>
  <Application>Microsoft Office PowerPoint</Application>
  <PresentationFormat>自定义</PresentationFormat>
  <Paragraphs>546</Paragraphs>
  <Slides>26</Slides>
  <Notes>18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26</vt:i4>
      </vt:variant>
    </vt:vector>
  </HeadingPairs>
  <TitlesOfParts>
    <vt:vector size="32" baseType="lpstr">
      <vt:lpstr>Microsoft YaHei UI</vt:lpstr>
      <vt:lpstr>Bosch Office Sans</vt:lpstr>
      <vt:lpstr>Calibri</vt:lpstr>
      <vt:lpstr>Symbol</vt:lpstr>
      <vt:lpstr>Wingdings</vt:lpstr>
      <vt:lpstr>Bosch 2022</vt:lpstr>
      <vt:lpstr>Flow Planner</vt:lpstr>
      <vt:lpstr>PowerPoint 演示文稿</vt:lpstr>
      <vt:lpstr>行业趋势：从规则驱动到数据驱动</vt:lpstr>
      <vt:lpstr>自动驾驶规划方法的技术演进</vt:lpstr>
      <vt:lpstr>基线架构：Flow Planner (NeurIPS 2025)</vt:lpstr>
      <vt:lpstr>技术方案总览</vt:lpstr>
      <vt:lpstr>PowerPoint 演示文稿</vt:lpstr>
      <vt:lpstr>PowerPoint 演示文稿</vt:lpstr>
      <vt:lpstr>Risk-Adaptive ODE 推理步数   </vt:lpstr>
      <vt:lpstr>Safety-Guided Flow Matching   </vt:lpstr>
      <vt:lpstr>PowerPoint 演示文稿</vt:lpstr>
      <vt:lpstr>PowerPoint 演示文稿</vt:lpstr>
      <vt:lpstr>PowerPoint 演示文稿</vt:lpstr>
      <vt:lpstr>PowerPoint 演示文稿</vt:lpstr>
      <vt:lpstr>性能对比：学术基准SOTA</vt:lpstr>
      <vt:lpstr>评测方案与验证路径 </vt:lpstr>
      <vt:lpstr>PowerPoint 演示文稿</vt:lpstr>
      <vt:lpstr> 跨域迁移学习（nuPlan → 公司数据）  📋 工程落地</vt:lpstr>
      <vt:lpstr>PowerPoint 演示文稿</vt:lpstr>
      <vt:lpstr>效率与成本优势</vt:lpstr>
      <vt:lpstr>项目时间规划 (10个月)</vt:lpstr>
      <vt:lpstr>PowerPoint 演示文稿</vt:lpstr>
      <vt:lpstr>PowerPoint 演示文稿</vt:lpstr>
      <vt:lpstr>PowerPoint 演示文稿</vt:lpstr>
      <vt:lpstr>附录B：为什么需要多模态轨迹生成？</vt:lpstr>
      <vt:lpstr>附录G：Flow Planner 的三大设计创新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Vision Software Architecture 2028</dc:title>
  <dc:creator>Christian Wehebrink</dc:creator>
  <cp:lastModifiedBy>GAO Chao (BCSC/EPA1, XC-AS/ENG-ASW1-CN)</cp:lastModifiedBy>
  <cp:revision>29</cp:revision>
  <dcterms:created xsi:type="dcterms:W3CDTF">2023-04-19T19:27:00Z</dcterms:created>
  <dcterms:modified xsi:type="dcterms:W3CDTF">2026-04-11T06:20:16Z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ttachmentremark">
    <vt:lpwstr>$attachmentremark$</vt:lpwstr>
  </property>
  <property fmtid="{D5CDD505-2E9C-101B-9397-08002B2CF9AE}" pid="3" name="confidentiality">
    <vt:lpwstr>$confidentiality_internal$</vt:lpwstr>
  </property>
  <property fmtid="{D5CDD505-2E9C-101B-9397-08002B2CF9AE}" pid="4" name="copyright">
    <vt:lpwstr>$copyright$</vt:lpwstr>
  </property>
  <property fmtid="{D5CDD505-2E9C-101B-9397-08002B2CF9AE}" pid="5" name="dateformat">
    <vt:lpwstr>$dateformat$</vt:lpwstr>
  </property>
  <property fmtid="{D5CDD505-2E9C-101B-9397-08002B2CF9AE}" pid="6" name="businessunit">
    <vt:lpwstr>$businessunit$</vt:lpwstr>
  </property>
  <property fmtid="{D5CDD505-2E9C-101B-9397-08002B2CF9AE}" pid="7" name="repositoryremark">
    <vt:lpwstr>$repositoryremark$</vt:lpwstr>
  </property>
  <property fmtid="{D5CDD505-2E9C-101B-9397-08002B2CF9AE}" pid="8" name="ContentTypeId">
    <vt:lpwstr>0x010100148A8CD93FE89745BEFE607995392A2F</vt:lpwstr>
  </property>
  <property fmtid="{D5CDD505-2E9C-101B-9397-08002B2CF9AE}" pid="9" name="_IPGFID">
    <vt:lpwstr>[DocID]=64B5A9DE-A742-4873-9B88-09592DC0B804</vt:lpwstr>
  </property>
  <property fmtid="{D5CDD505-2E9C-101B-9397-08002B2CF9AE}" pid="10" name="_IPGFLOW_P-F403_E-1_FP-1_SP-1_CV-CBC389DF_CN-5642E118">
    <vt:lpwstr>sCW24w1bcCV+0qYGP/Ws1ia82GdqmGQhes+tXVwRoRzT8ejquP/q9T4QSNyVH+vNmcGTM5ZWL47HiQjim7ib29jrU4qVIDRA4cXcVOF/Pt0hxAkcFRjiqRUtoiwCWWG9kOv+iZkyDYyxRgsKQGN15DGk0Z1H4wRsO5RGkcAJimBPYNWOXCSKNRlbq3kR7kP2R+/aYmZ7ngo4ONq7lMLy9Il1vPgfNn8mYsRI40Ot4YUUm2EEhAe8gUDuKOh0KJp</vt:lpwstr>
  </property>
  <property fmtid="{D5CDD505-2E9C-101B-9397-08002B2CF9AE}" pid="11" name="_IPGFLOW_P-F403_E-1_FP-1_SP-2_CV-3B02FD20_CN-E0C46C4C">
    <vt:lpwstr>tljNnHZaAnUrlXmJHGJMJEZlkPuhJ1VmeJg8+0vXotdXQc0ebbYbfVU2fiyFylM8v9fLM0K4XZptOpsUoK0UeZLFK3BZ8d2dlH20doxWWqp8=</vt:lpwstr>
  </property>
  <property fmtid="{D5CDD505-2E9C-101B-9397-08002B2CF9AE}" pid="12" name="_IPGFLOW_P-F403_E-0_FP-1_CV-2D4294F3_CN-DA978F19">
    <vt:lpwstr>DPSPMK|3|364|2|0</vt:lpwstr>
  </property>
  <property fmtid="{D5CDD505-2E9C-101B-9397-08002B2CF9AE}" pid="13" name="_IPGFLOW_P-F403_E-1_FP-2_SP-1_CV-DA82E4EB_CN-5497E506">
    <vt:lpwstr>X9R+igj7Z76en93rzAcIwMXvjJnfunW6j+1YolRx95GDMNEd/fKoxfupznPB1rKDAvxoHrWRmQ59eUIdU8IEtJ493DDOM8mKFX59An0pT4BQ00C9gYmyRdKRs2xuRESZMRdF4rUwp9kavl6Wk/9wE8wWf05Y170zgH85vo/A1Xj7Tjrlyi92TanVaPjquKdzBRDiepQVVr8Za2gDACjNfrFC6KfnU0ikxa9aAcJWhlCjlZkXCjKSHKDMyR9c1VP</vt:lpwstr>
  </property>
  <property fmtid="{D5CDD505-2E9C-101B-9397-08002B2CF9AE}" pid="14" name="_IPGFLOW_P-F403_E-1_FP-2_SP-2_CV-1C1963EE_CN-280CEB98">
    <vt:lpwstr>42Ebxx0n7Q3MYq6AivMlIQeK5SKnRm67AnsquJm+a7C/qzy9Bu3m5bdS1qPGHnUaCqCaLKg/ynocoD/F98A+Zh2ZG5m+3UfCWj58+6wWbqI0=</vt:lpwstr>
  </property>
  <property fmtid="{D5CDD505-2E9C-101B-9397-08002B2CF9AE}" pid="15" name="_IPGFLOW_P-F403_E-0_FP-2_CV-2D4294F3_CN-675DE3D7">
    <vt:lpwstr>DPSPMK|3|364|2|0</vt:lpwstr>
  </property>
  <property fmtid="{D5CDD505-2E9C-101B-9397-08002B2CF9AE}" pid="16" name="_IPGFLOW_P-F403_E-1_FP-3_SP-1_CV-B11B7489_CN-D36FFC54">
    <vt:lpwstr>X9R+igj7Z76en93rzAcIwEwWS491ympX2lJpKjVhQ80WPLZe8PqR8R32QatmtnADv+UmDeBJHAzQ3e8IuJU020qPCUOKwGFI6SRubnKpUNWzH0saudHYFIUswe3AeF1exO1qJlKmTKck/hHk7zkSJP9Z6PD/6giknJHTgBcUpxcb26JmondfDYRye0xDvEoKGKMCJRMELxFDDVOf4YsOsminGQgYSfiaFxynIuHE92A4Qb6ZWIU/2Yp/u0y6QCO</vt:lpwstr>
  </property>
  <property fmtid="{D5CDD505-2E9C-101B-9397-08002B2CF9AE}" pid="17" name="_IPGFLOW_P-F403_E-1_FP-3_SP-2_CV-F2A6F26_CN-4A7904D7">
    <vt:lpwstr>eZGEChePK8Yn43+jKsFVgF5i3IOEcXy7mL4cy5EdwdOy9x06GiFh/gzAGx3ACOdCzElthJbvbA67GxWvcz6oPFhwT+0wVsB9mr4ONHCuc9w2PO5Gd2VU1/8BtHq/lzKFLZm+4rb40l78yo+Ms6h+29PbdrafGjsvHvDmg2f6tPTg=</vt:lpwstr>
  </property>
  <property fmtid="{D5CDD505-2E9C-101B-9397-08002B2CF9AE}" pid="18" name="_IPGFLOW_P-F403_E-0_FP-3_CV-B684056A_CN-78101340">
    <vt:lpwstr>DPSPMK|3|428|2|0</vt:lpwstr>
  </property>
  <property fmtid="{D5CDD505-2E9C-101B-9397-08002B2CF9AE}" pid="19" name="KSOProductBuildVer">
    <vt:lpwstr>2052-12.1.0.25225</vt:lpwstr>
  </property>
  <property fmtid="{D5CDD505-2E9C-101B-9397-08002B2CF9AE}" pid="20" name="ICV">
    <vt:lpwstr>BF78626F74DF41C08E74C313C82C9E53_12</vt:lpwstr>
  </property>
  <property fmtid="{D5CDD505-2E9C-101B-9397-08002B2CF9AE}" pid="21" name="_IPGFLOW_P-F403_E-1_FP-4_SP-1_CV-7BF94B8F_CN-11279874">
    <vt:lpwstr>c+0th2aQ5e4sgVyx3nGXEorvXk0OiyH4N/n3MqCc+zJh0U4V3IRcvZGtLlakIm8y1SKztrTy1YT9RODc8QRuldsfxuZFL7s+r+/Sys0KMB+O/8EhV3EHKNKmoJt7inRm0sEKikzD/Cr6ADHwQ9F61Mvx76RrONBWyTbh3Gftk+TOeotG3GnIgfXwM6QkEHfdxvPGOqUV4Rp+Xp7X0Qlj0auDRHpZZ1w1f7RhgDyNeIV4KmFFG1bV80W5YmxXE4Y</vt:lpwstr>
  </property>
  <property fmtid="{D5CDD505-2E9C-101B-9397-08002B2CF9AE}" pid="22" name="_IPGFLOW_P-F403_E-1_FP-4_SP-2_CV-E582DCCC_CN-FBF34F4B">
    <vt:lpwstr>ahGbM1iTXEeklYq47Mqlnrzp4i+icHjZh9tYkEjbD6K0u1m7s8Pbsb4C+A4Rw/cDQS11L6FmS7B4rjezwORDoLc9SD3EOu7suNJ8rJ3JTl+8=</vt:lpwstr>
  </property>
  <property fmtid="{D5CDD505-2E9C-101B-9397-08002B2CF9AE}" pid="23" name="_IPGFLOW_P-F403_E-0_FP-4_CV-2D4294F3_CN-C7B83C0A">
    <vt:lpwstr>DPSPMK|3|364|2|0</vt:lpwstr>
  </property>
  <property fmtid="{D5CDD505-2E9C-101B-9397-08002B2CF9AE}" pid="24" name="_IPGFLOW_P-F403_E-0_CV-8F5BA430_CN-4D4D5E63">
    <vt:lpwstr>DPFPMK|3|50|5|0</vt:lpwstr>
  </property>
  <property fmtid="{D5CDD505-2E9C-101B-9397-08002B2CF9AE}" pid="25" name="_IPGFLOW_P-F403_E-1_FP-5_SP-1_CV-843DD010_CN-A6AE12C6">
    <vt:lpwstr>c+0th2aQ5e4sgVyx3nGXEj8J7K7k+WhuDiMFQm5R3OVIyt0XLusPv48uP8D2tGTAqoDSXiSaoAAFWyNeYEYVNcUAsyhdp0MjOTvetVcuKxRYbbsHGUPCim1JIWc/lS1VuFYAIqNykGX36JaiKbZtYhjTB2xuSLmtXBmVsPCQsE46bi9HMX2DWrc6AzD634r5FtUhgmA5je4V3Z6jgByGg+QYmucY4ThY39zW4syy5RAn1CNIE/7k4G0lddSBEAo</vt:lpwstr>
  </property>
  <property fmtid="{D5CDD505-2E9C-101B-9397-08002B2CF9AE}" pid="26" name="_IPGFLOW_P-F403_E-1_FP-5_SP-2_CV-72542857_CN-3450A413">
    <vt:lpwstr>p7if+4hbqn1on+UqnYABLPZE0h0wtMNT6/MbD/4DM2J+W+ZfgYi4UxU8UGKyLWcqhR4ywSZUi2/ou3Ecc7tedbzGsvUqlWfxGyQ6pkIsQm9M=</vt:lpwstr>
  </property>
  <property fmtid="{D5CDD505-2E9C-101B-9397-08002B2CF9AE}" pid="27" name="_IPGFLOW_P-F403_E-0_FP-5_CV-2D4294F3_CN-1A2EE58F">
    <vt:lpwstr>DPSPMK|3|364|2|0</vt:lpwstr>
  </property>
  <property fmtid="{D5CDD505-2E9C-101B-9397-08002B2CF9AE}" pid="28" name="_IPGLAB_P-F403_E-1_CV-84A3D8DA_CN-28939CE">
    <vt:lpwstr>6pjvvBNY7rWyDVaj2jNocpFT7g5q25Fnw9qKrDjd13E6YnxcHs00x/McuK9N76O9VBmAaSNTlporjPuwGZ+VBEo2s3voX0PgxN45QXCP9Jk=</vt:lpwstr>
  </property>
</Properties>
</file>