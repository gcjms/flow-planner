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1677665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16776740" r:id="rId20"/>
    <p:sldId id="16776741" r:id="rId21"/>
    <p:sldId id="16776746" r:id="rId22"/>
    <p:sldId id="16776749" r:id="rId23"/>
    <p:sldId id="16776748" r:id="rId24"/>
    <p:sldId id="16776742" r:id="rId25"/>
    <p:sldId id="16776714" r:id="rId26"/>
    <p:sldId id="16776750" r:id="rId27"/>
    <p:sldId id="274" r:id="rId28"/>
    <p:sldId id="275" r:id="rId29"/>
  </p:sldIdLst>
  <p:sldSz cx="10969625" cy="6170613"/>
  <p:notesSz cx="6858000" cy="914400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1pPr>
    <a:lvl2pPr marL="41084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2pPr>
    <a:lvl3pPr marL="82232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3pPr>
    <a:lvl4pPr marL="123317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4pPr>
    <a:lvl5pPr marL="164465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5pPr>
    <a:lvl6pPr marL="2055495" algn="l" defTabSz="82232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6pPr>
    <a:lvl7pPr marL="2466975" algn="l" defTabSz="82232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7pPr>
    <a:lvl8pPr marL="2877820" algn="l" defTabSz="82232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8pPr>
    <a:lvl9pPr marL="3289300" algn="l" defTabSz="822325" rtl="0" eaLnBrk="1" latinLnBrk="0" hangingPunct="1">
      <a:defRPr kern="1200">
        <a:solidFill>
          <a:schemeClr val="tx1"/>
        </a:solidFill>
        <a:latin typeface="Bosch Office Sans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4375" autoAdjust="0"/>
  </p:normalViewPr>
  <p:slideViewPr>
    <p:cSldViewPr snapToGrid="0" snapToObjects="1">
      <p:cViewPr varScale="1">
        <p:scale>
          <a:sx n="89" d="100"/>
          <a:sy n="89" d="100"/>
        </p:scale>
        <p:origin x="77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F8681-D8A9-4E84-92C1-47BE170CC83D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3DC5FE-4988-47A9-9065-DBCC9EC75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698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本页是项目封面。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Planner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是一个基于生成式模型的自动驾驶轨迹规划方案，目前处于内部创新项目阶段。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核心卖点：用生成式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AI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（而非传统规则）来做规划，能处理复杂交互场景，同时兼顾安全性。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本页说明项目整体定位。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四个象限分别对应：技术核心、创新方向、商业落地、资源需求。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关键信息：项目主线已收敛，不是从零开始探索，而是在成熟基线上做增量创新。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重点：我们做的不是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又一个规划器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，而是把生成式模型的优势（多样性、灵活性）转化为实际可部署的规划能力。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051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本页介绍技术背景。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传统规划器靠规则和优化，遇到复杂场景（博弈、多车交互）很难穷举所有情况。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行业趋势：用生成式模型（</a:t>
            </a:r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</a:rPr>
              <a:t>Diffusion</a:t>
            </a:r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、</a:t>
            </a:r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</a:t>
            </a:r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）替代传统规划。</a:t>
            </a:r>
          </a:p>
          <a:p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我们选择 </a:t>
            </a:r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路线，因为它比 </a:t>
            </a:r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</a:rPr>
              <a:t>Diffusion </a:t>
            </a:r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快 </a:t>
            </a:r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</a:rPr>
              <a:t>5-10 </a:t>
            </a:r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倍，且在 </a:t>
            </a:r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</a:rPr>
              <a:t>benchmark </a:t>
            </a:r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上更优。</a:t>
            </a:r>
          </a:p>
          <a:p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</a:rPr>
              <a:t>Flow Planner </a:t>
            </a:r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基线已发表于 </a:t>
            </a:r>
            <a:r>
              <a:rPr lang="en-US" altLang="zh-CN" dirty="0" err="1">
                <a:solidFill>
                  <a:srgbClr val="000000"/>
                </a:solidFill>
                <a:latin typeface="Microsoft YaHei UI" panose="020B0503020204020204" pitchFamily="34" charset="-122"/>
              </a:rPr>
              <a:t>NeurIPS</a:t>
            </a:r>
            <a:r>
              <a:rPr lang="en-US" altLang="zh-CN" dirty="0">
                <a:solidFill>
                  <a:srgbClr val="000000"/>
                </a:solidFill>
                <a:latin typeface="Microsoft YaHei UI" panose="020B0503020204020204" pitchFamily="34" charset="-122"/>
              </a:rPr>
              <a:t> 2025</a:t>
            </a:r>
            <a:r>
              <a:rPr lang="zh-CN" altLang="en-US" dirty="0">
                <a:solidFill>
                  <a:srgbClr val="000000"/>
                </a:solidFill>
                <a:latin typeface="Microsoft YaHei UI" panose="020B0503020204020204" pitchFamily="34" charset="-122"/>
              </a:rPr>
              <a:t>，说明技术底子是被学术界认可的。</a:t>
            </a:r>
            <a:endParaRPr lang="en-US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442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这页讲的是：我们的模型在学术评测上已经达到顶尖水平（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NR=90.43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），但要真正用到公司车上，还有三个关键瓶颈。
第一，现在模型一次只能给出一条轨迹。但实际开车时，前方有障碍物，你得同时考虑左绕、右绕、刹停三种选择，然后挑最好的。模型做不到这一点，就没法进行方案择优。
第二，模型是从学术数据里学来的驾驶习惯，但每家公司对「什么叫好的驾驶」定义不同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比如我们可能要求「宁可早减速，也不冒险加速超车」。现在模型没法学到这种公司级别的偏好。
第三，学术数据是美国路况，我们的场景是国内，存在差距。从训练到部署需要一套完整的迁移和适配流程。
所以我们的创新分两条线：算法创新解决前两个问题（多方案生成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偏好学习），工程创新解决第三个问题（迁移部署）。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569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本页展示技术路线图。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近期目标：完成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微调，让模型能根据不同目标点生成不同风格的轨迹。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中期目标：加入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scorer + DPO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，让模型学会公司偏好，并将安全约束嵌入推理流程。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整体思路是分步推进、逐步验证，不是一步到位。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848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本页是技术路径总览，分三个阶段。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第一阶段（意图注入）：给模型加一个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目标点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条件，让它能按不同意图生成不同轨迹。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第二阶段（偏好对齐）：用打分器构造好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/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坏轨迹对，通过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DPO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训练让模型学会偏好。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第三阶段（安全落地）：加安全约束、做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domain transfer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，让模型在公司真实场景可部署。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三个阶段层层递进，每一步都有明确的验证指标。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646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创新矩阵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四个创新点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两个技术亮点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】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A1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）和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A2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DPO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）是核心创新。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B1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（安全推理）和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B2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（领域迁移）是落地创新。</a:t>
            </a:r>
          </a:p>
          <a:p>
            <a:endParaRPr lang="zh-CN" alt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两个新增亮点：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1. A2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中新增了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VLM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多模态评分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不只是规则打分，还用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Gemini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大模型看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BEV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图来理解场景语义，判断哪条轨迹更好。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2. B1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中新增了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Scene-Adaptive CFG——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根据场景复杂度自动调节引导强度，零训练成本就能提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9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分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NR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endParaRPr lang="zh-CN" alt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这两个点分别代表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评分端的前沿性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推理端的高性价比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303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本页详细说明核心创新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A1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做法：从训练数据中聚类出多个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目标点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（轨迹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秒后的终点位置），推理时给不同的目标点，模型就会生成不同风格的轨迹。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类比：相当于告诉导航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我要去左前方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"vs"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我要去右前方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，规划出来的路线自然不同。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这解决了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模型的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模式坍塌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问题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之前不管怎么采样，生成的轨迹都差不多。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技术细节：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point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通过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MLP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映射后，用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AdaLN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注入到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decoder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中，对现有架构改动很小。</a:t>
            </a:r>
            <a:endParaRPr lang="en-US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699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核心创新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A2——DPO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偏好对齐，两大亮点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】</a:t>
            </a:r>
          </a:p>
          <a:p>
            <a:endParaRPr lang="en-US" altLang="zh-CN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亮点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Hybrid Scoring Pipeline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业界做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DPO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偏好对，普遍只用规则打分。我们额外实现了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VLM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评分通道：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把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BEV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鸟瞰图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候选轨迹可视化发给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Gemini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，让大模型像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安全评审专家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一样判断。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VLM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能捕捉规则打分捕捉不到的语义信息（如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虽然没碰撞但加塞太激进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只在高分散复杂场景用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VLM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（成本可控），简单场景用规则兜底。</a:t>
            </a:r>
          </a:p>
          <a:p>
            <a:endParaRPr lang="zh-CN" alt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亮点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LoRA + DPO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只改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3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万参数，成本极低，效果不好随时回退。偏好是可学习的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换打分标准重跑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DPO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就能适配不同驾驶风格。</a:t>
            </a:r>
          </a:p>
          <a:p>
            <a:endParaRPr lang="zh-CN" alt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知识产权方向：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VLM 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规则混合评分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pipeline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本身就是一个可申请专利的技术方案。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1028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应用创新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B1——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安全推理，重点卖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Scene-Adaptive CFG】</a:t>
            </a:r>
          </a:p>
          <a:p>
            <a:endParaRPr lang="en-US" altLang="zh-CN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领导最关心：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AI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生成的轨迹安全吗？三重保障：碰撞预检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多选一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精度自适应。</a:t>
            </a:r>
          </a:p>
          <a:p>
            <a:endParaRPr lang="zh-CN" alt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但这页最值得说的是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Scene-Adaptive CFG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做法：根据场景类型自动选最优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CFG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引导权重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数据：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Val14 NR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从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71.2% → 80.2%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+9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分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成本：零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纯推理参数，不改模型不改训练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Oracle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上界：每场景都选到最优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w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ADE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理论改善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28%</a:t>
            </a:r>
          </a:p>
          <a:p>
            <a:endParaRPr lang="en-US" altLang="zh-CN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一句话：不花钱、不改模型、光调参数就提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9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分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性价比最高的单点。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14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本页说明应用创新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B2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：领域迁移。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问题：模型用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nuPlan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等开源数据训练，但公司的传感器、场景分布、驾驶风格都不同。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方案：迁移学习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数据适配，逐步从开源数据过渡到公司数据。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这是后续落地的关键步骤，目前已有初步方案设计。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696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本页是验证规划。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说明如何量化地证明每个创新点有效：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多样性指标（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spread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）：衡量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是否真的让轨迹发散了；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对齐指标（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accuracy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、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delta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）：衡量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DPO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后模型是否更倾向安全轨迹；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案例分析：在典型场景（障碍物绕行、交叉口博弈等）中对比前后效果。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整体验证思路：先在开源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benchmark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上验证，再在公司场景上验证。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3291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本页是资源需求。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核心需求：约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15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万预算，主要用于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GPU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算力（训练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实验）。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人力：现有团队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少量外部协作即可。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这个投入规模在创新项目中属于轻量级，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ROI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预期较高。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070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本页是风险分析。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三个主要风险：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1.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技术风险：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或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DPO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效果不达预期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缓解措施是分阶段验证、快速迭代。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2.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数据风险：开源数据与公司场景差异大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缓解措施是渐进式迁移。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3.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落地风险：生成式模型的安全性被质疑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缓解措施是完善的安全推理机制（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B1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3098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这页回答领导最关心的问题：钱花了，能拿到什么？
短期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6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个月：在仿真环境里验证完整方案。模型能同时给出多种驾驶方案并挑最优的，而且学会了咱们公司的驾驶偏好（比如优先安全），评测指标超过当前最好的方案。同时产出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篇论文和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项专利。
中期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6-12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个月：部署到实车。最大的产品价值是解决现有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rule-based planner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处理不好的场景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——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路口多车博弈、交互礼让这类复杂场景。我们不是一步全换，而是先影子模式跑对比数据，再按场景难度逐步让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Planner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接管。部署在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Orin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上，延迟小于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50ms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，满足量产要求。
长期：公司拥有了生成式规划的完整技术能力，这是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Tesla FSD v12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和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Waymo EMMA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正在走的方向。而且我们的方案可以通过换打分标准来适配不同客户的驾驶风格，有很强的可复用性。
具体产出：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3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项专利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+ 2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篇顶会论文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完整部署包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实车验证报告。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045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本页是商业价值。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核心论点：生成式规划是行业趋势，提前布局有战略意义。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具体价值：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技术储备：掌握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规划的核心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know-how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；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产品差异化：相比竞品的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rule-based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方案，生成式规划在复杂场景有明显优势；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-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成本效率：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GPU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投入可控，且模型轻量（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14M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参数），部署成本低。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3982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本页是总结。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一句话总结：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Planner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10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人月级别的投入，在成熟基线上做增量创新，目标是让生成式规划从学术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demo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走向可部署的安全规划方案。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核心交付：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提升多样性 →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DPO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对齐公司偏好 → 安全推理保障落地。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6585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本页是附录总览页。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后续附录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A-J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提供技术细节，供感兴趣的评委深入了解。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主要涵盖：规划方法演进、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 vs 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对比、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Planner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架构细节、以及我们为什么选择这条技术路线。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69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：自动驾驶规划方法从回归式 →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 → 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的三代演进。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核心信息：回归式方法快但只能输出单一轨迹；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能多模态但太慢（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20-100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步）；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只要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步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ODE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，兼顾速度和多模态能力。</a:t>
            </a:r>
            <a:endParaRPr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120971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和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的技术对比。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两者都是生成式模型，但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直接学习向量场（速度场），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ODE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求解只需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步，推理延迟约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20ms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，远低于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的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100ms+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  <a:endParaRPr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3099953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C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：为什么需要多模态轨迹生成。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传统回归方法用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L2 loss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优化，遇到多种合理行为时会输出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均值解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mode averaging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），在复杂场景下不安全。生成式方法可以输出多条候选，让后续模块选择最优的。</a:t>
            </a:r>
            <a:endParaRPr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7025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 Model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的训练和推理流程。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加噪→去噪的过程，以及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Truncated Diffusion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变体如何将推理步数从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20+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压缩到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3-5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步。</a:t>
            </a:r>
            <a:endParaRPr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272184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E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的训练和推理流程。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直接学习从噪声到目标轨迹的线性传输路径，训练是回归向量场，推理是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步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ODE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积分。比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简洁很多。</a:t>
            </a:r>
            <a:endParaRPr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45089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：为什么选择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而不是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三个原因：训练更稳定、推理更快（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4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步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vs 20+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步）、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benchmark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性能更好（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NR 90.43 vs 89.87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这也是我们选择在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基础上做后续创新的原因。</a:t>
            </a:r>
            <a:endParaRPr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1319204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Flow Planner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的完整架构说明。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Encoder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处理五类输入（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ego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、邻车、车道、路由、静态障碍物），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Decoder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个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DiT Block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做条件去噪，输出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8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秒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16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个路点的轨迹。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参数量仅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14.28M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，推理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步即可，部署友好。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D48B2-9EB0-4B37-9B35-FC11E2EA535A}" type="slidenum">
              <a:rPr lang="de-DE" smtClean="0"/>
              <a:t>25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06249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H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DiT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和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CFG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两个核心机制的作用。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DiT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Diffusion Transformer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）用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AdaLN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做条件注入，让模型在去噪过程中持续感知场景信息。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CFG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Classifier-Free Guidance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）让模型同时学习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有条件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无条件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生成，推理时可以调节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guidance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强度来平衡安全和效率。</a:t>
            </a:r>
            <a:endParaRPr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1138573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I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：补充参考材料。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展示项目的技术参考来源和相关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benchmark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数据，佐证技术路线的可靠性。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1642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【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J——Scene-Adaptive CFG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实验验证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】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这不是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失败的旧方向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，而是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已验证的高收益储备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"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endParaRPr lang="zh-CN" alt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数据：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cfg_weight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从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1.0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调到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2.5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NR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从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71.2%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提到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80.2%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，碰撞率从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25%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降到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8.3%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Oracle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上界：如果每个场景都能自动选最优权重，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ADE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理论改善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28%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endParaRPr lang="zh-CN" alt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当前做法：作为推理增强模块即插即用。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后续方向：结合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的场景特征做权重预测，逼近 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oracle 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上界。</a:t>
            </a:r>
          </a:p>
          <a:p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与主线（</a:t>
            </a:r>
            <a:r>
              <a:rPr lang="en-US" altLang="zh-CN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+ DPO</a:t>
            </a:r>
            <a:r>
              <a:rPr lang="zh-CN" altLang="en-US">
                <a:solidFill>
                  <a:srgbClr val="000000"/>
                </a:solidFill>
                <a:latin typeface="Microsoft YaHei UI" panose="020B0503020204020204" pitchFamily="34" charset="-122"/>
              </a:rPr>
              <a:t>）互补，不冲突。</a:t>
            </a:r>
            <a:endParaRPr lang="en-US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3DC5FE-4988-47A9-9065-DBCC9EC7520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19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/>
          <p:cNvPicPr>
            <a:picLocks noSelect="1"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547200" y="2602898"/>
            <a:ext cx="9268637" cy="1507549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" hasCustomPrompt="1"/>
          </p:nvPr>
        </p:nvSpPr>
        <p:spPr>
          <a:xfrm>
            <a:off x="547200" y="4241130"/>
            <a:ext cx="9268637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4" name="SuperGraphic"/>
          <p:cNvPicPr>
            <a:picLocks noSelect="1"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0969200" cy="2056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491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/>
          <p:cNvPicPr>
            <a:picLocks noSelect="1"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3289593" y="1152144"/>
            <a:ext cx="7132831" cy="2044365"/>
          </a:xfrm>
          <a:ln w="0">
            <a:noFill/>
          </a:ln>
          <a:effectLst/>
        </p:spPr>
        <p:txBody>
          <a:bodyPr anchor="b" anchorCtr="0">
            <a:normAutofit/>
          </a:bodyPr>
          <a:lstStyle>
            <a:lvl1pPr algn="l">
              <a:lnSpc>
                <a:spcPct val="100000"/>
              </a:lnSpc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Presentation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" hasCustomPrompt="1"/>
          </p:nvPr>
        </p:nvSpPr>
        <p:spPr>
          <a:xfrm>
            <a:off x="3289593" y="3327191"/>
            <a:ext cx="7132831" cy="1254369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noProof="1"/>
              <a:t>Name, Department, Date</a:t>
            </a:r>
          </a:p>
        </p:txBody>
      </p:sp>
      <p:pic>
        <p:nvPicPr>
          <p:cNvPr id="3" name="SuperGraphic"/>
          <p:cNvPicPr>
            <a:picLocks noSelect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742494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6688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Logo"/>
          <p:cNvPicPr>
            <a:picLocks noSelect="1"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47200" y="2602896"/>
            <a:ext cx="9268637" cy="2892602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/>
          <p:cNvSpPr>
            <a:spLocks noSelect="1" noChangeAspect="1"/>
          </p:cNvSpPr>
          <p:nvPr/>
        </p:nvSpPr>
        <p:spPr>
          <a:xfrm>
            <a:off x="0" y="99"/>
            <a:ext cx="10969625" cy="2055600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ctrTitle" hasCustomPrompt="1"/>
          </p:nvPr>
        </p:nvSpPr>
        <p:spPr>
          <a:xfrm>
            <a:off x="465781" y="98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120" indent="0">
              <a:buFontTx/>
              <a:buNone/>
              <a:defRPr/>
            </a:lvl2pPr>
            <a:lvl3pPr marL="414020" indent="0">
              <a:buFontTx/>
              <a:buNone/>
              <a:defRPr/>
            </a:lvl3pPr>
            <a:lvl4pPr marL="612140" indent="0">
              <a:buFontTx/>
              <a:buNone/>
              <a:defRPr/>
            </a:lvl4pPr>
            <a:lvl5pPr marL="61214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7" name="SuperGraphic"/>
          <p:cNvPicPr>
            <a:picLocks noSelect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8533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hapter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/>
          <p:cNvPicPr>
            <a:picLocks noSelect="1"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6" name="Chapter_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3279831" y="1200075"/>
            <a:ext cx="7072741" cy="3142785"/>
          </a:xfrm>
          <a:ln w="0">
            <a:noFill/>
          </a:ln>
          <a:effectLst/>
        </p:spPr>
        <p:txBody>
          <a:bodyPr anchor="t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4000" b="1" kern="0" cap="none" baseline="0">
                <a:solidFill>
                  <a:schemeClr val="tx1"/>
                </a:solidFill>
              </a:defRPr>
            </a:lvl1pPr>
          </a:lstStyle>
          <a:p>
            <a:r>
              <a:rPr lang="en-US" noProof="1"/>
              <a:t>Chapter title</a:t>
            </a:r>
          </a:p>
        </p:txBody>
      </p:sp>
      <p:sp>
        <p:nvSpPr>
          <p:cNvPr id="3" name="RectangleCol"/>
          <p:cNvSpPr>
            <a:spLocks noSelect="1" noChangeAspect="1"/>
          </p:cNvSpPr>
          <p:nvPr/>
        </p:nvSpPr>
        <p:spPr>
          <a:xfrm>
            <a:off x="-1" y="99"/>
            <a:ext cx="2739600" cy="6170514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ctrTitle" hasCustomPrompt="1"/>
          </p:nvPr>
        </p:nvSpPr>
        <p:spPr>
          <a:xfrm>
            <a:off x="464400" y="99"/>
            <a:ext cx="2207942" cy="2055600"/>
          </a:xfrm>
        </p:spPr>
        <p:txBody>
          <a:bodyPr bIns="72000" anchor="ctr"/>
          <a:lstStyle>
            <a:lvl1pPr marL="0" indent="0">
              <a:lnSpc>
                <a:spcPct val="100000"/>
              </a:lnSpc>
              <a:spcBef>
                <a:spcPts val="500"/>
              </a:spcBef>
              <a:buFontTx/>
              <a:buNone/>
              <a:defRPr sz="15000" b="1" kern="0" baseline="0">
                <a:solidFill>
                  <a:schemeClr val="bg1"/>
                </a:solidFill>
              </a:defRPr>
            </a:lvl1pPr>
            <a:lvl2pPr marL="198120" indent="0">
              <a:buFontTx/>
              <a:buNone/>
              <a:defRPr/>
            </a:lvl2pPr>
            <a:lvl3pPr marL="414020" indent="0">
              <a:buFontTx/>
              <a:buNone/>
              <a:defRPr/>
            </a:lvl3pPr>
            <a:lvl4pPr marL="612140" indent="0">
              <a:buFontTx/>
              <a:buNone/>
              <a:defRPr/>
            </a:lvl4pPr>
            <a:lvl5pPr marL="612140" indent="0">
              <a:buFontTx/>
              <a:buNone/>
              <a:defRPr/>
            </a:lvl5pPr>
          </a:lstStyle>
          <a:p>
            <a:pPr lvl="0"/>
            <a:r>
              <a:rPr lang="en-US"/>
              <a:t>00</a:t>
            </a:r>
          </a:p>
        </p:txBody>
      </p:sp>
      <p:pic>
        <p:nvPicPr>
          <p:cNvPr id="5" name="SuperGraphic"/>
          <p:cNvPicPr>
            <a:picLocks noSelect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982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icture without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/>
          <p:cNvPicPr>
            <a:picLocks noSelect="1"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/>
          <p:cNvPicPr>
            <a:picLocks noSelect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</p:spTree>
    <p:extLst>
      <p:ext uri="{BB962C8B-B14F-4D97-AF65-F5344CB8AC3E}">
        <p14:creationId xmlns:p14="http://schemas.microsoft.com/office/powerpoint/2010/main" val="3429218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icture with tex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/>
          <p:cNvPicPr>
            <a:picLocks noSelect="1"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/>
          <p:cNvPicPr>
            <a:picLocks noSelect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9" name="Picture Placeholder 4"/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55368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2" hasCustomPrompt="1"/>
          </p:nvPr>
        </p:nvSpPr>
        <p:spPr>
          <a:xfrm>
            <a:off x="406800" y="1036800"/>
            <a:ext cx="3780000" cy="2484000"/>
          </a:xfrm>
          <a:solidFill>
            <a:schemeClr val="bg1"/>
          </a:solidFill>
        </p:spPr>
        <p:txBody>
          <a:bodyPr lIns="252000" tIns="216000" rIns="252000" bIns="216000">
            <a:normAutofit/>
          </a:bodyPr>
          <a:lstStyle>
            <a:lvl1pPr marL="0" indent="0">
              <a:buFontTx/>
              <a:buNone/>
              <a:defRPr/>
            </a:lvl1pPr>
            <a:lvl2pPr marL="198120" indent="0">
              <a:buFontTx/>
              <a:buNone/>
              <a:defRPr/>
            </a:lvl2pPr>
            <a:lvl3pPr marL="414020" indent="0">
              <a:buFontTx/>
              <a:buNone/>
              <a:defRPr/>
            </a:lvl3pPr>
            <a:lvl4pPr marL="612140" indent="0">
              <a:buFontTx/>
              <a:buNone/>
              <a:defRPr/>
            </a:lvl4pPr>
            <a:lvl5pPr marL="61214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40700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lit horizont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/>
          <p:cNvPicPr>
            <a:picLocks noSelect="1"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pic>
        <p:nvPicPr>
          <p:cNvPr id="7" name="SuperGraphic"/>
          <p:cNvPicPr>
            <a:picLocks noSelect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10969625" cy="3085200"/>
          </a:xfr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2" hasCustomPrompt="1"/>
          </p:nvPr>
        </p:nvSpPr>
        <p:spPr>
          <a:xfrm>
            <a:off x="205199" y="3495705"/>
            <a:ext cx="10558800" cy="2041094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120" indent="0">
              <a:buFontTx/>
              <a:buNone/>
              <a:defRPr/>
            </a:lvl2pPr>
            <a:lvl3pPr marL="414020" indent="0">
              <a:buFontTx/>
              <a:buNone/>
              <a:defRPr/>
            </a:lvl3pPr>
            <a:lvl4pPr marL="612140" indent="0">
              <a:buFontTx/>
              <a:buNone/>
              <a:defRPr/>
            </a:lvl4pPr>
            <a:lvl5pPr marL="61214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</p:spTree>
    <p:extLst>
      <p:ext uri="{BB962C8B-B14F-4D97-AF65-F5344CB8AC3E}">
        <p14:creationId xmlns:p14="http://schemas.microsoft.com/office/powerpoint/2010/main" val="94644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plit vertical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Logo"/>
          <p:cNvPicPr>
            <a:picLocks noSelect="1"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" hasCustomPrompt="1"/>
          </p:nvPr>
        </p:nvSpPr>
        <p:spPr>
          <a:xfrm>
            <a:off x="0" y="0"/>
            <a:ext cx="5486400" cy="6170400"/>
          </a:xfrm>
          <a:blipFill dpi="0" rotWithShape="1">
            <a:blip r:embed="rId3">
              <a:alphaModFix amt="70000"/>
            </a:blip>
            <a:srcRect/>
            <a:stretch>
              <a:fillRect/>
            </a:stretch>
          </a:blipFill>
        </p:spPr>
        <p:txBody>
          <a:bodyPr anchor="ctr"/>
          <a:lstStyle>
            <a:lvl1pPr marL="0" indent="0" algn="ctr">
              <a:lnSpc>
                <a:spcPct val="600000"/>
              </a:lnSpc>
              <a:buFontTx/>
              <a:buNone/>
              <a:defRPr sz="900"/>
            </a:lvl1pPr>
          </a:lstStyle>
          <a:p>
            <a:r>
              <a:rPr lang="en-US" noProof="1"/>
              <a:t>Insert photo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2" hasCustomPrompt="1"/>
          </p:nvPr>
        </p:nvSpPr>
        <p:spPr>
          <a:xfrm>
            <a:off x="5895302" y="410492"/>
            <a:ext cx="4596486" cy="5126308"/>
          </a:xfr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/>
            </a:lvl1pPr>
            <a:lvl2pPr marL="198120" indent="0">
              <a:buFontTx/>
              <a:buNone/>
              <a:defRPr/>
            </a:lvl2pPr>
            <a:lvl3pPr marL="414020" indent="0">
              <a:buFontTx/>
              <a:buNone/>
              <a:defRPr/>
            </a:lvl3pPr>
            <a:lvl4pPr marL="612140" indent="0">
              <a:buFontTx/>
              <a:buNone/>
              <a:defRPr/>
            </a:lvl4pPr>
            <a:lvl5pPr marL="612140" indent="0">
              <a:buFontTx/>
              <a:buNone/>
              <a:defRPr/>
            </a:lvl5pPr>
          </a:lstStyle>
          <a:p>
            <a:pPr lvl="0"/>
            <a:r>
              <a:rPr lang="en-US" noProof="1"/>
              <a:t>Add Text</a:t>
            </a:r>
          </a:p>
        </p:txBody>
      </p:sp>
      <p:pic>
        <p:nvPicPr>
          <p:cNvPr id="6" name="SuperGraphic"/>
          <p:cNvPicPr>
            <a:picLocks noSelect="1"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00799" y="0"/>
            <a:ext cx="68562" cy="617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85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Content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15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1" hasCustomPrompt="1"/>
          </p:nvPr>
        </p:nvSpPr>
        <p:spPr>
          <a:xfrm>
            <a:off x="205200" y="1296000"/>
            <a:ext cx="105588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647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5853600" y="1295999"/>
            <a:ext cx="4914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9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7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900600" y="1296000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7596000" y="1295999"/>
            <a:ext cx="31680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3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2461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Vertic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8776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3" hasCustomPrompt="1"/>
          </p:nvPr>
        </p:nvSpPr>
        <p:spPr>
          <a:xfrm>
            <a:off x="5550000" y="1295399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8222400" y="1295400"/>
            <a:ext cx="2541600" cy="4240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034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Horizontal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105588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2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037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2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5850000" y="1295999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4" hasCustomPrompt="1"/>
          </p:nvPr>
        </p:nvSpPr>
        <p:spPr>
          <a:xfrm>
            <a:off x="5850000" y="3481200"/>
            <a:ext cx="4914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4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5886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3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39006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7596000" y="1295999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4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half" idx="4" hasCustomPrompt="1"/>
          </p:nvPr>
        </p:nvSpPr>
        <p:spPr>
          <a:xfrm>
            <a:off x="39006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6"/>
          <p:cNvSpPr>
            <a:spLocks noGrp="1"/>
          </p:cNvSpPr>
          <p:nvPr>
            <p:ph sz="half" idx="6" hasCustomPrompt="1"/>
          </p:nvPr>
        </p:nvSpPr>
        <p:spPr>
          <a:xfrm>
            <a:off x="7596000" y="3481200"/>
            <a:ext cx="31680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6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1982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4 x 2 Contents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205200" y="648000"/>
            <a:ext cx="10558800" cy="388800"/>
          </a:xfrm>
        </p:spPr>
        <p:txBody>
          <a:bodyPr/>
          <a:lstStyle>
            <a:lvl1pPr>
              <a:defRPr kern="1200" baseline="0"/>
            </a:lvl1pPr>
          </a:lstStyle>
          <a:p>
            <a:r>
              <a:rPr lang="en-US" noProof="1"/>
              <a:t>Add Slide Title</a:t>
            </a:r>
          </a:p>
        </p:txBody>
      </p:sp>
      <p:sp>
        <p:nvSpPr>
          <p:cNvPr id="5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2052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3" hasCustomPrompt="1"/>
          </p:nvPr>
        </p:nvSpPr>
        <p:spPr>
          <a:xfrm>
            <a:off x="28776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7" name="Content Placeholder 3"/>
          <p:cNvSpPr>
            <a:spLocks noGrp="1"/>
          </p:cNvSpPr>
          <p:nvPr>
            <p:ph sz="half" idx="5" hasCustomPrompt="1"/>
          </p:nvPr>
        </p:nvSpPr>
        <p:spPr>
          <a:xfrm>
            <a:off x="5550000" y="12960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half" idx="7" hasCustomPrompt="1"/>
          </p:nvPr>
        </p:nvSpPr>
        <p:spPr>
          <a:xfrm>
            <a:off x="8222400" y="1295999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half" idx="2" hasCustomPrompt="1"/>
          </p:nvPr>
        </p:nvSpPr>
        <p:spPr>
          <a:xfrm>
            <a:off x="2052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half" idx="4" hasCustomPrompt="1"/>
          </p:nvPr>
        </p:nvSpPr>
        <p:spPr>
          <a:xfrm>
            <a:off x="28776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8" name="Content Placeholder 7"/>
          <p:cNvSpPr>
            <a:spLocks noGrp="1"/>
          </p:cNvSpPr>
          <p:nvPr>
            <p:ph sz="half" idx="6" hasCustomPrompt="1"/>
          </p:nvPr>
        </p:nvSpPr>
        <p:spPr>
          <a:xfrm>
            <a:off x="55500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11" name="Content Placeholder 8"/>
          <p:cNvSpPr>
            <a:spLocks noGrp="1"/>
          </p:cNvSpPr>
          <p:nvPr>
            <p:ph sz="half" idx="8" hasCustomPrompt="1"/>
          </p:nvPr>
        </p:nvSpPr>
        <p:spPr>
          <a:xfrm>
            <a:off x="8222400" y="3481200"/>
            <a:ext cx="2541600" cy="2055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1"/>
              <a:t>Add Text </a:t>
            </a:r>
          </a:p>
          <a:p>
            <a:pPr lvl="1"/>
            <a:r>
              <a:rPr lang="en-US" noProof="1"/>
              <a:t>Zweite Ebene</a:t>
            </a:r>
          </a:p>
          <a:p>
            <a:pPr lvl="2"/>
            <a:r>
              <a:rPr lang="en-US" noProof="1"/>
              <a:t>Dritte Ebene</a:t>
            </a:r>
          </a:p>
          <a:p>
            <a:pPr lvl="3"/>
            <a:r>
              <a:rPr lang="en-US" noProof="1"/>
              <a:t>Vierte Ebene</a:t>
            </a:r>
          </a:p>
          <a:p>
            <a:pPr lvl="4"/>
            <a:r>
              <a:rPr lang="en-US" noProof="1"/>
              <a:t>Fünfte Ebene</a:t>
            </a:r>
          </a:p>
        </p:txBody>
      </p:sp>
      <p:sp>
        <p:nvSpPr>
          <p:cNvPr id="21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2965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 only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apter_titleonly"/>
          <p:cNvSpPr>
            <a:spLocks noGrp="1"/>
          </p:cNvSpPr>
          <p:nvPr>
            <p:ph type="body" sz="quarter" idx="15" hasCustomPrompt="1"/>
          </p:nvPr>
        </p:nvSpPr>
        <p:spPr>
          <a:xfrm>
            <a:off x="205200" y="259200"/>
            <a:ext cx="10558800" cy="388800"/>
          </a:xfrm>
        </p:spPr>
        <p:txBody>
          <a:bodyPr/>
          <a:lstStyle>
            <a:lvl1pPr marL="0" indent="0">
              <a:lnSpc>
                <a:spcPct val="89000"/>
              </a:lnSpc>
              <a:spcBef>
                <a:spcPts val="0"/>
              </a:spcBef>
              <a:buNone/>
              <a:defRPr sz="2800" kern="0" baseline="0">
                <a:solidFill>
                  <a:schemeClr val="tx1"/>
                </a:solidFill>
              </a:defRPr>
            </a:lvl1pPr>
            <a:lvl2pPr marL="233680" indent="0">
              <a:buNone/>
              <a:defRPr sz="2800"/>
            </a:lvl2pPr>
            <a:lvl3pPr marL="525780" indent="0">
              <a:buNone/>
              <a:defRPr sz="2800"/>
            </a:lvl3pPr>
            <a:lvl4pPr marL="748665" indent="0">
              <a:buNone/>
              <a:defRPr sz="2800"/>
            </a:lvl4pPr>
            <a:lvl5pPr marL="748665" indent="0">
              <a:buNone/>
              <a:defRPr sz="2800"/>
            </a:lvl5pPr>
          </a:lstStyle>
          <a:p>
            <a:pPr lvl="0"/>
            <a:r>
              <a:rPr lang="en-US" noProof="1"/>
              <a:t>Add Chapter Title</a:t>
            </a:r>
          </a:p>
        </p:txBody>
      </p:sp>
      <p:sp>
        <p:nvSpPr>
          <p:cNvPr id="10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Add Slide Title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3463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ttachmentRemark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Bosch Office Sans" pitchFamily="34" charset="0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PGWMV_P-F403_T-3_U-1048B823" descr="IPGWMV_P-F403_T-3_U-1048B823"/>
          <p:cNvSpPr/>
          <p:nvPr/>
        </p:nvSpPr>
        <p:spPr>
          <a:xfrm>
            <a:off x="0" y="0"/>
            <a:ext cx="10963275" cy="6162675"/>
          </a:xfrm>
          <a:prstGeom prst="rect">
            <a:avLst/>
          </a:prstGeom>
          <a:blipFill dpi="0" rotWithShape="1">
            <a:blip r:embed="rId20" cstate="print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dirty="0">
              <a:ln>
                <a:noFill/>
              </a:ln>
              <a:noFill/>
            </a:endParaRPr>
          </a:p>
        </p:txBody>
      </p:sp>
      <p:pic>
        <p:nvPicPr>
          <p:cNvPr id="16" name="Logo"/>
          <p:cNvPicPr>
            <a:picLocks noSelect="1" noChangeAspect="1"/>
          </p:cNvPicPr>
          <p:nvPr/>
        </p:nvPicPr>
        <p:blipFill>
          <a:blip r:embed="rId2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9054" y="5676108"/>
            <a:ext cx="1015200" cy="276683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5200" y="648000"/>
            <a:ext cx="10558800" cy="388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1"/>
              <a:t>Add Slide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200" y="1296000"/>
            <a:ext cx="10558800" cy="424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05200" y="5666400"/>
            <a:ext cx="288290" cy="41021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200">
                <a:solidFill>
                  <a:srgbClr val="999FA6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Bosch_footer_1"/>
          <p:cNvSpPr txBox="1"/>
          <p:nvPr/>
        </p:nvSpPr>
        <p:spPr>
          <a:xfrm>
            <a:off x="547200" y="5688000"/>
            <a:ext cx="9126000" cy="1079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defTabSz="91440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</a:pPr>
            <a:r>
              <a:rPr kumimoji="0" lang="en-US" sz="600" b="1" i="0" u="none" strike="noStrike" kern="0" cap="none" spc="0" normalizeH="0" baseline="0" noProof="1">
                <a:ln>
                  <a:noFill/>
                </a:ln>
                <a:solidFill>
                  <a:srgbClr val="D70012"/>
                </a:solidFill>
                <a:effectLst/>
                <a:uLnTx/>
                <a:uFillTx/>
                <a:latin typeface="Bosch Office Sans" pitchFamily="34" charset="0"/>
              </a:rPr>
              <a:t>Internal</a:t>
            </a:r>
            <a:r>
              <a:rPr kumimoji="0" lang="en-US" sz="600" b="0" i="0" u="none" strike="noStrike" kern="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Bosch Office Sans" pitchFamily="34" charset="0"/>
              </a:rPr>
              <a:t> | Cross-Domain Computing Solutions</a:t>
            </a:r>
          </a:p>
        </p:txBody>
      </p:sp>
      <p:sp>
        <p:nvSpPr>
          <p:cNvPr id="8" name="Bosch_footer_2"/>
          <p:cNvSpPr txBox="1"/>
          <p:nvPr/>
        </p:nvSpPr>
        <p:spPr>
          <a:xfrm>
            <a:off x="547200" y="5793901"/>
            <a:ext cx="912600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b="0" i="0" u="none" kern="0" baseline="0" noProof="1">
                <a:solidFill>
                  <a:srgbClr val="B2B3B5"/>
                </a:solidFill>
                <a:latin typeface="Bosch Office Sans" pitchFamily="34" charset="0"/>
              </a:rPr>
              <a:t>© Robert Bosch GmbH 2023. All rights reserved, also regarding any disposal, exploitation, reproduction, editing, distribution, as well as in the event of applications for industrial property rights.</a:t>
            </a:r>
          </a:p>
        </p:txBody>
      </p:sp>
      <p:sp>
        <p:nvSpPr>
          <p:cNvPr id="15" name="Bosch_footer_1" hidden="1"/>
          <p:cNvSpPr txBox="1"/>
          <p:nvPr/>
        </p:nvSpPr>
        <p:spPr>
          <a:xfrm>
            <a:off x="816069" y="5383543"/>
            <a:ext cx="9154800" cy="10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7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defRPr/>
            </a:pPr>
            <a:r>
              <a:rPr lang="en-US" sz="600" b="1" kern="0" baseline="0" noProof="1">
                <a:solidFill>
                  <a:srgbClr val="D70012"/>
                </a:solidFill>
              </a:rPr>
              <a:t>%confidentiality%</a:t>
            </a:r>
            <a:r>
              <a:rPr lang="en-US" sz="600" kern="0" baseline="0" noProof="1">
                <a:solidFill>
                  <a:schemeClr val="tx1"/>
                </a:solidFill>
              </a:rPr>
              <a:t>%businessunit%%departmentshort%%dateformat%</a:t>
            </a:r>
          </a:p>
        </p:txBody>
      </p:sp>
      <p:sp>
        <p:nvSpPr>
          <p:cNvPr id="9" name="Bosch_footer_2" hidden="1"/>
          <p:cNvSpPr txBox="1"/>
          <p:nvPr/>
        </p:nvSpPr>
        <p:spPr>
          <a:xfrm>
            <a:off x="593090" y="5748656"/>
            <a:ext cx="9152890" cy="2159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120000"/>
              </a:lnSpc>
              <a:spcAft>
                <a:spcPts val="100"/>
              </a:spcAft>
            </a:pPr>
            <a:r>
              <a:rPr lang="en-US" sz="600" kern="0" baseline="0" noProof="1">
                <a:solidFill>
                  <a:schemeClr val="tx1"/>
                </a:solidFill>
              </a:rPr>
              <a:t>%repositoryremark%</a:t>
            </a:r>
            <a:r>
              <a:rPr lang="en-US" sz="600" kern="0" baseline="0" noProof="1">
                <a:solidFill>
                  <a:srgbClr val="B2B3B5"/>
                </a:solidFill>
              </a:rPr>
              <a:t>%copyright%</a:t>
            </a:r>
          </a:p>
        </p:txBody>
      </p:sp>
      <p:sp>
        <p:nvSpPr>
          <p:cNvPr id="13" name="AttachmentRemark" hidden="1"/>
          <p:cNvSpPr/>
          <p:nvPr/>
        </p:nvSpPr>
        <p:spPr>
          <a:xfrm>
            <a:off x="9224010" y="259080"/>
            <a:ext cx="1691640" cy="777240"/>
          </a:xfrm>
          <a:prstGeom prst="rect">
            <a:avLst/>
          </a:prstGeom>
          <a:noFill/>
          <a:ln w="0" cap="flat" cmpd="sng" algn="ctr">
            <a:noFill/>
            <a:prstDash val="solid"/>
          </a:ln>
          <a:effectLst/>
        </p:spPr>
        <p:txBody>
          <a:bodyPr wrap="square" lIns="0" tIns="17779" rIns="0" bIns="0" rtlCol="0" anchor="t">
            <a:normAutofit/>
          </a:bodyPr>
          <a:lstStyle/>
          <a:p>
            <a:pPr rtl="0">
              <a:lnSpc>
                <a:spcPts val="900"/>
              </a:lnSpc>
            </a:pPr>
            <a:r>
              <a:rPr lang="en-US" sz="550" b="0" i="0" u="none" strike="noStrike" kern="0" baseline="0" noProof="1">
                <a:solidFill>
                  <a:srgbClr val="000000"/>
                </a:solidFill>
                <a:latin typeface="+mn-lt"/>
              </a:rPr>
              <a:t>%attachmentremark% </a:t>
            </a:r>
          </a:p>
        </p:txBody>
      </p:sp>
      <p:pic>
        <p:nvPicPr>
          <p:cNvPr id="12" name="SuperGraphic"/>
          <p:cNvPicPr>
            <a:picLocks noSelect="1"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102000"/>
            <a:ext cx="10969200" cy="68556"/>
          </a:xfrm>
          <a:prstGeom prst="rect">
            <a:avLst/>
          </a:prstGeom>
        </p:spPr>
      </p:pic>
      <p:sp>
        <p:nvSpPr>
          <p:cNvPr id="4" name="IPGWMV_P-F403_T-3_U-14BEC0CB" descr="IPGWMV_P-F403_T-3_U-14BEC0CB">
            <a:extLst>
              <a:ext uri="{FF2B5EF4-FFF2-40B4-BE49-F238E27FC236}">
                <a16:creationId xmlns:a16="http://schemas.microsoft.com/office/drawing/2014/main" id="{89C01B9F-F9FE-2644-92D2-27DBC8049C6A}"/>
              </a:ext>
            </a:extLst>
          </p:cNvPr>
          <p:cNvSpPr/>
          <p:nvPr userDrawn="1"/>
        </p:nvSpPr>
        <p:spPr>
          <a:xfrm>
            <a:off x="0" y="0"/>
            <a:ext cx="10963275" cy="6162675"/>
          </a:xfrm>
          <a:prstGeom prst="rect">
            <a:avLst/>
          </a:prstGeom>
          <a:blipFill dpi="0" rotWithShape="1">
            <a:blip r:embed="rId23" cstate="print">
              <a:alphaModFix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 dirty="0">
              <a:ln>
                <a:noFill/>
              </a:ln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564446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0505" indent="-230505" algn="l" defTabSz="914400" rtl="0" eaLnBrk="1" latinLnBrk="0" hangingPunct="1">
        <a:lnSpc>
          <a:spcPct val="107000"/>
        </a:lnSpc>
        <a:spcBef>
          <a:spcPts val="5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7705" indent="-230505" algn="l" defTabSz="914400" rtl="0" eaLnBrk="1" latinLnBrk="0" hangingPunct="1">
        <a:lnSpc>
          <a:spcPct val="103000"/>
        </a:lnSpc>
        <a:spcBef>
          <a:spcPts val="5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4905" indent="-230505" algn="l" defTabSz="914400" rtl="0" eaLnBrk="1" latinLnBrk="0" hangingPunct="1">
        <a:lnSpc>
          <a:spcPct val="102000"/>
        </a:lnSpc>
        <a:spcBef>
          <a:spcPts val="500"/>
        </a:spcBef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2105" indent="-230505" algn="l" defTabSz="914400" rtl="0" eaLnBrk="1" latinLnBrk="0" hangingPunct="1">
        <a:lnSpc>
          <a:spcPct val="103000"/>
        </a:lnSpc>
        <a:spcBef>
          <a:spcPts val="500"/>
        </a:spcBef>
        <a:buFont typeface="Bosch Office Sans" pitchFamily="34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602105" indent="-230505" algn="l" defTabSz="914400" rtl="0" eaLnBrk="1" latinLnBrk="0" hangingPunct="1">
        <a:lnSpc>
          <a:spcPct val="103000"/>
        </a:lnSpc>
        <a:spcBef>
          <a:spcPts val="500"/>
        </a:spcBef>
        <a:buFont typeface="Bosch Office Sans" pitchFamily="34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02105" indent="-230505" algn="l" defTabSz="914400" rtl="0" eaLnBrk="1" latinLnBrk="0" hangingPunct="1">
        <a:lnSpc>
          <a:spcPct val="103000"/>
        </a:lnSpc>
        <a:spcBef>
          <a:spcPts val="500"/>
        </a:spcBef>
        <a:buFont typeface="Bosch Office Sans" pitchFamily="34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602105" indent="-230505" algn="l" defTabSz="914400" rtl="0" eaLnBrk="1" latinLnBrk="0" hangingPunct="1">
        <a:lnSpc>
          <a:spcPct val="103000"/>
        </a:lnSpc>
        <a:spcBef>
          <a:spcPts val="500"/>
        </a:spcBef>
        <a:buFont typeface="Bosch Office Sans" pitchFamily="34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602105" indent="-230505" algn="l" defTabSz="914400" rtl="0" eaLnBrk="1" latinLnBrk="0" hangingPunct="1">
        <a:lnSpc>
          <a:spcPct val="103000"/>
        </a:lnSpc>
        <a:spcBef>
          <a:spcPts val="500"/>
        </a:spcBef>
        <a:buFont typeface="Bosch Office Sans" pitchFamily="34" charset="0"/>
        <a:buChar char="‒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602105" indent="-230505" algn="l" defTabSz="914400" rtl="0" eaLnBrk="1" latinLnBrk="0" hangingPunct="1">
        <a:lnSpc>
          <a:spcPct val="103000"/>
        </a:lnSpc>
        <a:spcBef>
          <a:spcPts val="500"/>
        </a:spcBef>
        <a:buFont typeface="Bosch Office Sans" pitchFamily="34" charset="0"/>
        <a:buChar char="‒"/>
        <a:defRPr sz="13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>
            <a:extLst>
              <a:ext uri="{FF2B5EF4-FFF2-40B4-BE49-F238E27FC236}">
                <a16:creationId xmlns:a16="http://schemas.microsoft.com/office/drawing/2014/main" id="{5EBD5CB8-77E5-8994-FBE5-486722A9C968}"/>
              </a:ext>
            </a:extLst>
          </p:cNvPr>
          <p:cNvSpPr/>
          <p:nvPr/>
        </p:nvSpPr>
        <p:spPr>
          <a:xfrm>
            <a:off x="1" y="5440680"/>
            <a:ext cx="11076854" cy="729933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AF012C75-0A2B-2EE4-9223-7729250C8B83}"/>
              </a:ext>
            </a:extLst>
          </p:cNvPr>
          <p:cNvSpPr txBox="1"/>
          <p:nvPr/>
        </p:nvSpPr>
        <p:spPr>
          <a:xfrm>
            <a:off x="490556" y="50749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Microsoft YaHei UI"/>
              </a:rPr>
              <a:t>项目关键词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"/>
          </p:nvPr>
        </p:nvSpPr>
        <p:spPr>
          <a:xfrm>
            <a:off x="550051" y="4653508"/>
            <a:ext cx="9268637" cy="451892"/>
          </a:xfrm>
        </p:spPr>
        <p:txBody>
          <a:bodyPr>
            <a:normAutofit/>
          </a:bodyPr>
          <a:lstStyle/>
          <a:p>
            <a:r>
              <a:rPr lang="en-US" altLang="zh-CN" sz="1050" dirty="0">
                <a:solidFill>
                  <a:srgbClr val="666666"/>
                </a:solidFill>
                <a:latin typeface="Microsoft YaHei UI"/>
              </a:rPr>
              <a:t>Lu Stella  	  BCSC/EPA1.2</a:t>
            </a:r>
          </a:p>
          <a:p>
            <a:r>
              <a:rPr lang="en-US" altLang="zh-CN" sz="1050" dirty="0">
                <a:solidFill>
                  <a:srgbClr val="666666"/>
                </a:solidFill>
                <a:latin typeface="Microsoft YaHei UI"/>
              </a:rPr>
              <a:t>Gao </a:t>
            </a:r>
            <a:r>
              <a:rPr lang="en-US" altLang="zh-CN" sz="1050">
                <a:solidFill>
                  <a:srgbClr val="666666"/>
                </a:solidFill>
                <a:latin typeface="Microsoft YaHei UI"/>
              </a:rPr>
              <a:t>Chao         BCSC</a:t>
            </a:r>
            <a:r>
              <a:rPr lang="en-US" altLang="zh-CN" sz="1050" dirty="0">
                <a:solidFill>
                  <a:srgbClr val="666666"/>
                </a:solidFill>
                <a:latin typeface="Microsoft YaHei UI"/>
              </a:rPr>
              <a:t>/EPA1.2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547200" y="2599261"/>
            <a:ext cx="9193148" cy="1464734"/>
          </a:xfrm>
        </p:spPr>
        <p:txBody>
          <a:bodyPr anchor="ctr">
            <a:noAutofit/>
          </a:bodyPr>
          <a:lstStyle/>
          <a:p>
            <a:pPr>
              <a:lnSpc>
                <a:spcPct val="115000"/>
              </a:lnSpc>
            </a:pPr>
            <a:r>
              <a:rPr lang="en-US" sz="2000" dirty="0">
                <a:solidFill>
                  <a:srgbClr val="1A3C6E"/>
                </a:solidFill>
                <a:latin typeface="Microsoft YaHei UI"/>
              </a:rPr>
              <a:t>Flow Planner: </a:t>
            </a:r>
            <a:r>
              <a:rPr lang="zh-CN" altLang="en-US" sz="2000" dirty="0">
                <a:solidFill>
                  <a:srgbClr val="1A3C6E"/>
                </a:solidFill>
                <a:latin typeface="Microsoft YaHei UI"/>
              </a:rPr>
              <a:t>生成式自动驾驶安全规划</a:t>
            </a:r>
            <a:br>
              <a:rPr lang="zh-CN" altLang="en-US" sz="2000" dirty="0">
                <a:solidFill>
                  <a:srgbClr val="1A3C6E"/>
                </a:solidFill>
                <a:latin typeface="Microsoft YaHei UI"/>
              </a:rPr>
            </a:br>
            <a:r>
              <a:rPr lang="en-US" altLang="zh-CN" sz="2000" dirty="0">
                <a:solidFill>
                  <a:srgbClr val="333333"/>
                </a:solidFill>
                <a:latin typeface="Microsoft YaHei UI"/>
              </a:rPr>
              <a:t> </a:t>
            </a:r>
            <a:endParaRPr lang="zh-CN" altLang="en-US" sz="200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E82B22BE-5C1D-1BEA-3954-391F6F5E1B03}"/>
              </a:ext>
            </a:extLst>
          </p:cNvPr>
          <p:cNvSpPr txBox="1"/>
          <p:nvPr/>
        </p:nvSpPr>
        <p:spPr>
          <a:xfrm>
            <a:off x="500447" y="3689725"/>
            <a:ext cx="7772400" cy="37427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 dirty="0">
                <a:solidFill>
                  <a:srgbClr val="333333"/>
                </a:solidFill>
                <a:latin typeface="Microsoft YaHei UI"/>
              </a:rPr>
              <a:t>面向复杂交互场景的意图控制、偏好对齐与安全落地</a:t>
            </a:r>
            <a:endParaRPr sz="1400" b="1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A9C6758-1933-1FBF-7553-4AA7B04AD6AC}"/>
              </a:ext>
            </a:extLst>
          </p:cNvPr>
          <p:cNvSpPr txBox="1"/>
          <p:nvPr/>
        </p:nvSpPr>
        <p:spPr>
          <a:xfrm>
            <a:off x="500447" y="4037197"/>
            <a:ext cx="4114800" cy="31765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050" b="0" dirty="0">
                <a:solidFill>
                  <a:srgbClr val="666666"/>
                </a:solidFill>
                <a:latin typeface="Microsoft YaHei UI"/>
              </a:rPr>
              <a:t>内部创新项目答辩 </a:t>
            </a:r>
            <a:r>
              <a:rPr lang="en-US" altLang="zh-CN" sz="1050" b="0" dirty="0">
                <a:solidFill>
                  <a:srgbClr val="666666"/>
                </a:solidFill>
                <a:latin typeface="Microsoft YaHei UI"/>
              </a:rPr>
              <a:t>| 2026.04</a:t>
            </a:r>
            <a:endParaRPr sz="1050" b="0" dirty="0">
              <a:solidFill>
                <a:srgbClr val="666666"/>
              </a:solidFill>
              <a:latin typeface="Microsoft YaHei UI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E1B9939-E41D-3762-5508-BF26BEEA8D28}"/>
              </a:ext>
            </a:extLst>
          </p:cNvPr>
          <p:cNvSpPr txBox="1"/>
          <p:nvPr/>
        </p:nvSpPr>
        <p:spPr>
          <a:xfrm>
            <a:off x="362585" y="5574012"/>
            <a:ext cx="6583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>
                <a:solidFill>
                  <a:srgbClr val="FFFFFF"/>
                </a:solidFill>
                <a:latin typeface="Microsoft YaHei UI"/>
              </a:rPr>
              <a:t>Goal-conditioned generation | DPO alignment | Safety-aware inference | Domain transfer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项目概览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立项摘要：为什么现在要做这件事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2514600" cy="16002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444752"/>
            <a:ext cx="23317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业务问题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755648"/>
            <a:ext cx="2368296" cy="114300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复杂交互场景规则覆盖成本高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纯模仿学习缺乏显式安全和可控性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en-US" altLang="zh-CN" sz="1100" b="0" dirty="0" err="1">
                <a:solidFill>
                  <a:srgbClr val="333333"/>
                </a:solidFill>
                <a:latin typeface="Microsoft YaHei UI"/>
              </a:rPr>
              <a:t>planning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需要一条可解释、可迁移的学习型规划路线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291840" y="1371600"/>
            <a:ext cx="2514600" cy="16002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444752"/>
            <a:ext cx="23317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项目目标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755648"/>
            <a:ext cx="2368296" cy="114300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先用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 goal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点注入意图，再生成多模态轨迹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通过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 scorer + DPO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学出偏好一致的规划行为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形成可申请专利的算法与落地方案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943600" y="1371600"/>
            <a:ext cx="2514600" cy="16002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35040" y="1444752"/>
            <a:ext cx="23317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预期产出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1755648"/>
            <a:ext cx="2368296" cy="91166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创新项目</a:t>
            </a:r>
            <a:r>
              <a:rPr lang="zh-CN" altLang="en-US" sz="1100" dirty="0">
                <a:solidFill>
                  <a:srgbClr val="333333"/>
                </a:solidFill>
                <a:latin typeface="Microsoft YaHei UI"/>
              </a:rPr>
              <a:t>代码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与技术方案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2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条可拆分的知识产权方向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规划模型、训练链路、评测闭环和部署脚本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595360" y="1371600"/>
            <a:ext cx="1874519" cy="16002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1444752"/>
            <a:ext cx="1691639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资源请求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68512" y="1755648"/>
            <a:ext cx="1728215" cy="114300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10 个月项目窗口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云算力 + 内部 GPU 配额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算法/仿真/数据接口协同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246120"/>
            <a:ext cx="10058400" cy="4094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dirty="0" err="1">
                <a:solidFill>
                  <a:srgbClr val="1A3C6E"/>
                </a:solidFill>
                <a:latin typeface="Microsoft YaHei UI"/>
              </a:rPr>
              <a:t>把“会生成轨迹”的学术模型，升级为“可注入意图、可偏好对齐、可安全落地”的</a:t>
            </a:r>
            <a:r>
              <a:rPr lang="en-US" sz="1600" b="1" dirty="0" err="1">
                <a:solidFill>
                  <a:srgbClr val="1A3C6E"/>
                </a:solidFill>
                <a:latin typeface="Microsoft YaHei UI"/>
              </a:rPr>
              <a:t>P</a:t>
            </a:r>
            <a:r>
              <a:rPr lang="en-US" altLang="zh-CN" sz="1600" b="1" dirty="0" err="1">
                <a:solidFill>
                  <a:srgbClr val="1A3C6E"/>
                </a:solidFill>
                <a:latin typeface="Microsoft YaHei UI"/>
              </a:rPr>
              <a:t>lanning</a:t>
            </a:r>
            <a:r>
              <a:rPr sz="1600" b="1" dirty="0" err="1">
                <a:solidFill>
                  <a:srgbClr val="1A3C6E"/>
                </a:solidFill>
                <a:latin typeface="Microsoft YaHei UI"/>
              </a:rPr>
              <a:t>能力底座</a:t>
            </a:r>
            <a:r>
              <a:rPr sz="1600" b="1" dirty="0">
                <a:solidFill>
                  <a:srgbClr val="1A3C6E"/>
                </a:solidFill>
                <a:latin typeface="Microsoft YaHei UI"/>
              </a:rPr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故事背景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行业与公司现状：规划正在从规则工程走向生成式建模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246120" cy="20574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90472"/>
            <a:ext cx="3063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外部趋势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01368"/>
            <a:ext cx="3099816" cy="160020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端到端与生成式规划已成为主流研究方向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Flow Matching 相比 diffusion 更适合低步数实时推理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SOTA 模型正在把“单轨迹回归”切到“多模态生成 + 选择”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417320"/>
            <a:ext cx="3246120" cy="20574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87952" y="1490472"/>
            <a:ext cx="3063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公司机会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9664" y="1801368"/>
            <a:ext cx="3099816" cy="160020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已有超让等决策经验和场景理解资产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现有规则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 planner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在复杂博弈场景下维护成本高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内部创新项目可先完成技术沉淀，再承接产品化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534656" y="1417320"/>
            <a:ext cx="3246120" cy="20574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6096" y="1490472"/>
            <a:ext cx="306324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为什么是现在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1809994"/>
            <a:ext cx="3099816" cy="160020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Flow Planner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基线已复现，可作为高质量起点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goal + DPO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方案可以在现有代码链路上迭代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项目窗口允许我们先做验证，再逐步接入公司数据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3822191"/>
            <a:ext cx="10058400" cy="76072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dirty="0">
                <a:solidFill>
                  <a:srgbClr val="1A3C6E"/>
                </a:solidFill>
                <a:latin typeface="Microsoft YaHei UI"/>
              </a:rPr>
              <a:t>项目真正要解决的不是“再训练一个轨迹网络”，</a:t>
            </a:r>
            <a:r>
              <a:rPr sz="1800" b="1" dirty="0" err="1">
                <a:solidFill>
                  <a:srgbClr val="1A3C6E"/>
                </a:solidFill>
                <a:latin typeface="Microsoft YaHei UI"/>
              </a:rPr>
              <a:t>而是把“意图表达、偏好对齐、安全选择、域迁移”串成一条能支撑落地的完整方法链</a:t>
            </a:r>
            <a:r>
              <a:rPr sz="1800" b="1" dirty="0">
                <a:solidFill>
                  <a:srgbClr val="1A3C6E"/>
                </a:solidFill>
                <a:latin typeface="Microsoft YaHei UI"/>
              </a:rPr>
              <a:t>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问题定义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2734" y="573354"/>
            <a:ext cx="9509760" cy="52392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2300" b="1">
                <a:solidFill>
                  <a:srgbClr val="1A3C6E"/>
                </a:solidFill>
                <a:latin typeface="Microsoft YaHei UI"/>
              </a:rPr>
              <a:t>从学术验证到量产落地，还差什么？</a:t>
            </a:r>
            <a:endParaRPr sz="2300" b="1" dirty="0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417320"/>
            <a:ext cx="3246120" cy="242316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490472"/>
            <a:ext cx="3063240" cy="37670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1A3C6E"/>
                </a:solidFill>
                <a:latin typeface="Microsoft YaHei UI"/>
              </a:rPr>
              <a:t>瓶颈 </a:t>
            </a:r>
            <a:r>
              <a:rPr lang="en-US" altLang="zh-CN" sz="1400" b="1">
                <a:solidFill>
                  <a:srgbClr val="1A3C6E"/>
                </a:solidFill>
                <a:latin typeface="Microsoft YaHei UI"/>
              </a:rPr>
              <a:t>1</a:t>
            </a:r>
            <a:r>
              <a:rPr lang="zh-CN" altLang="en-US" sz="1400" b="1">
                <a:solidFill>
                  <a:srgbClr val="1A3C6E"/>
                </a:solidFill>
                <a:latin typeface="Microsoft YaHei UI"/>
              </a:rPr>
              <a:t>：只能生成一种轨迹</a:t>
            </a:r>
            <a:endParaRPr sz="1400" b="1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1801368"/>
            <a:ext cx="3099816" cy="91166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遇到障碍物时，模型只会输出一条轨迹
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无法同时提出「左绕」「右绕」「刹停」多种方案
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没有备选方案，就无法挑出最优解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96512" y="1417320"/>
            <a:ext cx="3246120" cy="242316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87952" y="1490472"/>
            <a:ext cx="3063240" cy="37670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1A3C6E"/>
                </a:solidFill>
                <a:latin typeface="Microsoft YaHei UI"/>
              </a:rPr>
              <a:t>瓶颈 </a:t>
            </a:r>
            <a:r>
              <a:rPr lang="en-US" altLang="zh-CN" sz="1400" b="1">
                <a:solidFill>
                  <a:srgbClr val="1A3C6E"/>
                </a:solidFill>
                <a:latin typeface="Microsoft YaHei UI"/>
              </a:rPr>
              <a:t>2</a:t>
            </a:r>
            <a:r>
              <a:rPr lang="zh-CN" altLang="en-US" sz="1400" b="1">
                <a:solidFill>
                  <a:srgbClr val="1A3C6E"/>
                </a:solidFill>
                <a:latin typeface="Microsoft YaHei UI"/>
              </a:rPr>
              <a:t>：不懂公司的驾驶偏好</a:t>
            </a:r>
            <a:endParaRPr sz="1400" b="1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69664" y="1801368"/>
            <a:ext cx="3099816" cy="716991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模型只学了学术数据里的驾驶行为
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不知道公司要求「宁可早刹停，也不冒险变道」
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安全、舒适、效率的优先级无法定制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534656" y="1417320"/>
            <a:ext cx="3246120" cy="242316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626096" y="1490472"/>
            <a:ext cx="3063240" cy="37670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1A3C6E"/>
                </a:solidFill>
                <a:latin typeface="Microsoft YaHei UI"/>
              </a:rPr>
              <a:t>瓶颈 </a:t>
            </a:r>
            <a:r>
              <a:rPr lang="en-US" altLang="zh-CN" sz="1400" b="1">
                <a:solidFill>
                  <a:srgbClr val="1A3C6E"/>
                </a:solidFill>
                <a:latin typeface="Microsoft YaHei UI"/>
              </a:rPr>
              <a:t>3</a:t>
            </a:r>
            <a:r>
              <a:rPr lang="zh-CN" altLang="en-US" sz="1400" b="1">
                <a:solidFill>
                  <a:srgbClr val="1A3C6E"/>
                </a:solidFill>
                <a:latin typeface="Microsoft YaHei UI"/>
              </a:rPr>
              <a:t>：学术模型到实车有落差</a:t>
            </a:r>
            <a:endParaRPr sz="1400" b="1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607808" y="1801368"/>
            <a:ext cx="3099816" cy="716991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训练用的是开源数据（美国路况），公司场景不同
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需要一套完整的适配和部署流程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" y="4160520"/>
            <a:ext cx="10149840" cy="409407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600" b="1">
                <a:solidFill>
                  <a:srgbClr val="E65100"/>
                </a:solidFill>
                <a:latin typeface="Microsoft YaHei UI"/>
              </a:rPr>
              <a:t>我们的方案：算法创新解决「轨迹质量」，工程创新解决「真正能用」。</a:t>
            </a:r>
            <a:endParaRPr sz="1600" b="1" dirty="0">
              <a:solidFill>
                <a:srgbClr val="E65100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项目目标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目标拆解：一条主线、两类创新、四个验收结果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98396"/>
              </p:ext>
            </p:extLst>
          </p:nvPr>
        </p:nvGraphicFramePr>
        <p:xfrm>
          <a:off x="713232" y="1417320"/>
          <a:ext cx="100584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维度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验收目标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判断方式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模型能力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goal 注入后生成具有可分辨的多模态候选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checkpoint 中 goal head 有效训练，候选 spread 明显提升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偏好对齐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DPO 学到 chosen 优于 rejected 的稳定偏好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accuracy、delta、人工 case 检查同步改善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工程链路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训练-候选生成-打分-DPO-评估可无人值守串联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业务价值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形成专利/项目/落地三位一体成果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答辩材料、专利交底、后续部署计划齐备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206240"/>
            <a:ext cx="9966960" cy="554254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2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200" b="1">
                <a:solidFill>
                  <a:srgbClr val="006EAF"/>
                </a:solidFill>
                <a:latin typeface="Microsoft YaHei UI"/>
              </a:rPr>
              <a:t>近期目标：完成 </a:t>
            </a:r>
            <a:r>
              <a:rPr lang="en-US" altLang="zh-CN" sz="1200" b="1">
                <a:solidFill>
                  <a:srgbClr val="006EAF"/>
                </a:solidFill>
                <a:latin typeface="Microsoft YaHei UI"/>
              </a:rPr>
              <a:t>goal-conditioned finetune</a:t>
            </a:r>
            <a:r>
              <a:rPr lang="zh-CN" altLang="en-US" sz="1200" b="1">
                <a:solidFill>
                  <a:srgbClr val="006EAF"/>
                </a:solidFill>
                <a:latin typeface="Microsoft YaHei UI"/>
              </a:rPr>
              <a:t>、候选生成与偏好对齐训练闭环，验证多样性提升与偏好学习效果。</a:t>
            </a:r>
          </a:p>
          <a:p>
            <a:pPr algn="l">
              <a:lnSpc>
                <a:spcPct val="115000"/>
              </a:lnSpc>
            </a:pPr>
            <a:r>
              <a:rPr lang="en-US" altLang="zh-CN" sz="12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200" b="1">
                <a:solidFill>
                  <a:srgbClr val="006EAF"/>
                </a:solidFill>
                <a:latin typeface="Microsoft YaHei UI"/>
              </a:rPr>
              <a:t>中期目标：将开源基线能力迁移到公司场景与公司偏好，形成可复用的 </a:t>
            </a:r>
            <a:r>
              <a:rPr lang="en-US" altLang="zh-CN" sz="1200" b="1">
                <a:solidFill>
                  <a:srgbClr val="006EAF"/>
                </a:solidFill>
                <a:latin typeface="Microsoft YaHei UI"/>
              </a:rPr>
              <a:t>planning </a:t>
            </a:r>
            <a:r>
              <a:rPr lang="zh-CN" altLang="en-US" sz="1200" b="1">
                <a:solidFill>
                  <a:srgbClr val="006EAF"/>
                </a:solidFill>
                <a:latin typeface="Microsoft YaHei UI"/>
              </a:rPr>
              <a:t>创新资产。</a:t>
            </a:r>
            <a:endParaRPr sz="1200" b="0">
              <a:solidFill>
                <a:srgbClr val="333333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方案总览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586047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dirty="0" err="1">
                <a:solidFill>
                  <a:srgbClr val="1A3C6E"/>
                </a:solidFill>
                <a:latin typeface="Microsoft YaHei UI"/>
              </a:rPr>
              <a:t>总体技术路线：从基线生成器升级为“意图可控</a:t>
            </a:r>
            <a:r>
              <a:rPr sz="2300" b="1" dirty="0">
                <a:solidFill>
                  <a:srgbClr val="1A3C6E"/>
                </a:solidFill>
                <a:latin typeface="Microsoft YaHei UI"/>
              </a:rPr>
              <a:t> + </a:t>
            </a:r>
            <a:r>
              <a:rPr sz="2300" b="1" dirty="0" err="1">
                <a:solidFill>
                  <a:srgbClr val="1A3C6E"/>
                </a:solidFill>
                <a:latin typeface="Microsoft YaHei UI"/>
              </a:rPr>
              <a:t>偏好对齐</a:t>
            </a:r>
            <a:r>
              <a:rPr sz="2300" b="1" dirty="0">
                <a:solidFill>
                  <a:srgbClr val="1A3C6E"/>
                </a:solidFill>
                <a:latin typeface="Microsoft YaHei UI"/>
              </a:rPr>
              <a:t> + </a:t>
            </a:r>
            <a:r>
              <a:rPr sz="2300" b="1" dirty="0" err="1">
                <a:solidFill>
                  <a:srgbClr val="1A3C6E"/>
                </a:solidFill>
                <a:latin typeface="Microsoft YaHei UI"/>
              </a:rPr>
              <a:t>可落地”系统</a:t>
            </a:r>
            <a:endParaRPr sz="2300" b="1" dirty="0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pic>
        <p:nvPicPr>
          <p:cNvPr id="7" name="Picture 6" descr="frame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9784080" cy="3557847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31520" y="4572000"/>
            <a:ext cx="3200400" cy="1012566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4645152"/>
            <a:ext cx="30175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第一层：核心生成创新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56048"/>
            <a:ext cx="3054096" cy="77724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goal point 作为意图注入 decoder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构建可控、多样的候选轨迹空间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4572000"/>
            <a:ext cx="3200400" cy="1012566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60" y="4645152"/>
            <a:ext cx="30175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6EAF"/>
                </a:solidFill>
                <a:latin typeface="Microsoft YaHei UI"/>
              </a:rPr>
              <a:t>第二层：偏好对齐创新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4956048"/>
            <a:ext cx="3054096" cy="77724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scorer 构建 preference pair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LoRA + DPO 学到公司偏好的规划行为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4572000"/>
            <a:ext cx="3200400" cy="1012566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80960" y="4645152"/>
            <a:ext cx="30175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65100"/>
                </a:solidFill>
                <a:latin typeface="Microsoft YaHei UI"/>
              </a:rPr>
              <a:t>第三层：工程落地创新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62672" y="4956048"/>
            <a:ext cx="3054096" cy="77724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安全评分、自动链路、domain transfer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让创新项目能交付而不是停在实验室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创新分组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创新点重构：核心算法创新 + 工程落地创新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484632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1A3C6E"/>
                </a:solidFill>
                <a:latin typeface="Microsoft YaHei UI"/>
              </a:rPr>
              <a:t>A. 核心算法创新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475488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创新 A1：Goal-Conditioned Intention Injection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212848"/>
            <a:ext cx="4608576" cy="96012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把 goal 点作为显式意图嵌入 decoder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让模型学会“同场景多意图”的候选生成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为后续 preference construction 提供足够分散的样本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475488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502152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6EAF"/>
                </a:solidFill>
                <a:latin typeface="Microsoft YaHei UI"/>
              </a:rPr>
              <a:t>创新 A2：Preference Alignment via DPO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3813048"/>
            <a:ext cx="4608576" cy="91166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 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从 </a:t>
            </a:r>
            <a:r>
              <a:rPr lang="en-US" sz="1100" b="1">
                <a:solidFill>
                  <a:srgbClr val="006EAF"/>
                </a:solidFill>
                <a:latin typeface="Microsoft YaHei UI"/>
              </a:rPr>
              <a:t>scorer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得到 </a:t>
            </a:r>
            <a:r>
              <a:rPr lang="en-US" sz="1100" b="1">
                <a:solidFill>
                  <a:srgbClr val="006EAF"/>
                </a:solidFill>
                <a:latin typeface="Microsoft YaHei UI"/>
              </a:rPr>
              <a:t>chosen / rejected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轨迹对
 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支持规则评分 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+ </a:t>
            </a:r>
            <a:r>
              <a:rPr lang="en-US" sz="1100" b="1">
                <a:solidFill>
                  <a:srgbClr val="006EAF"/>
                </a:solidFill>
                <a:latin typeface="Microsoft YaHei UI"/>
              </a:rPr>
              <a:t>VLM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多模态评分混合 </a:t>
            </a:r>
            <a:r>
              <a:rPr lang="en-US" sz="1100" b="1">
                <a:solidFill>
                  <a:srgbClr val="006EAF"/>
                </a:solidFill>
                <a:latin typeface="Microsoft YaHei UI"/>
              </a:rPr>
              <a:t>pipeline
 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用 </a:t>
            </a:r>
            <a:r>
              <a:rPr lang="en-US" sz="1100" b="1">
                <a:solidFill>
                  <a:srgbClr val="006EAF"/>
                </a:solidFill>
                <a:latin typeface="Microsoft YaHei UI"/>
              </a:rPr>
              <a:t>LoRA + DPO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低成本注入公司偏好
 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把安全、舒适、效率从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"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规则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"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升级为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"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模型偏好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"</a:t>
            </a:r>
            <a:endParaRPr sz="1100" b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852160" y="14173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E65100"/>
                </a:solidFill>
                <a:latin typeface="Microsoft YaHei UI"/>
              </a:rPr>
              <a:t>B. 工程落地创新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0" y="1828800"/>
            <a:ext cx="475488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0" y="1901952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65100"/>
                </a:solidFill>
                <a:latin typeface="Microsoft YaHei UI"/>
              </a:rPr>
              <a:t>创新 B1：Safety-Aware Inference &amp; Selection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25312" y="2212848"/>
            <a:ext cx="4608576" cy="91166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候选轨迹用安全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/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路线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/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舒适度指标联合打分
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Scene-Adaptive CFG: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场景自适应引导强度，实验验证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NR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提分
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可叠加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best-of-N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、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adaptive ODE step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等推理增强
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保证系统具备审计性和部署可解释性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852160" y="3429000"/>
            <a:ext cx="4754880" cy="141732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0" y="3502152"/>
            <a:ext cx="457200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65100"/>
                </a:solidFill>
                <a:latin typeface="Microsoft YaHei UI"/>
              </a:rPr>
              <a:t>创新 B2：Open Data to Company Data Transfer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25312" y="3813048"/>
            <a:ext cx="4608576" cy="96012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先在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nuPlan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 /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InterPlan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做能力预训练与验证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再接公司数据做迁移、微调和闭环验证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形成可复用的训练、评测、部署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 pipeline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核心创新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创新 A1：通过 goal 点把“意图”显式注入 decoder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846320" cy="1616083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200" b="1" dirty="0">
                <a:latin typeface="Microsoft YaHei UI"/>
              </a:rPr>
              <a:t>• </a:t>
            </a:r>
            <a:r>
              <a:rPr lang="zh-CN" altLang="en-US" sz="1200" b="1" dirty="0">
                <a:latin typeface="Microsoft YaHei UI"/>
              </a:rPr>
              <a:t>先对 </a:t>
            </a:r>
            <a:r>
              <a:rPr lang="en-US" sz="1200" b="1" dirty="0">
                <a:latin typeface="Microsoft YaHei UI"/>
              </a:rPr>
              <a:t>GT </a:t>
            </a:r>
            <a:r>
              <a:rPr lang="zh-CN" altLang="en-US" sz="1200" b="1" dirty="0">
                <a:latin typeface="Microsoft YaHei UI"/>
              </a:rPr>
              <a:t>终点进行聚类，得到可复用的 </a:t>
            </a:r>
            <a:r>
              <a:rPr lang="en-US" sz="1200" b="1" dirty="0">
                <a:latin typeface="Microsoft YaHei UI"/>
              </a:rPr>
              <a:t>goal vocabulary。</a:t>
            </a:r>
          </a:p>
          <a:p>
            <a:pPr algn="l">
              <a:lnSpc>
                <a:spcPct val="115000"/>
              </a:lnSpc>
            </a:pPr>
            <a:r>
              <a:rPr lang="en-US" sz="1200" b="1" dirty="0">
                <a:latin typeface="Microsoft YaHei UI"/>
              </a:rPr>
              <a:t>• </a:t>
            </a:r>
            <a:r>
              <a:rPr lang="zh-CN" altLang="en-US" sz="1200" b="1" dirty="0">
                <a:latin typeface="Microsoft YaHei UI"/>
              </a:rPr>
              <a:t>训练时将 </a:t>
            </a:r>
            <a:r>
              <a:rPr lang="en-US" sz="1200" b="1" dirty="0">
                <a:latin typeface="Microsoft YaHei UI"/>
              </a:rPr>
              <a:t>goal point </a:t>
            </a:r>
            <a:r>
              <a:rPr lang="zh-CN" altLang="en-US" sz="1200" b="1" dirty="0">
                <a:latin typeface="Microsoft YaHei UI"/>
              </a:rPr>
              <a:t>通过 </a:t>
            </a:r>
            <a:r>
              <a:rPr lang="en-US" sz="1200" b="1" dirty="0" err="1">
                <a:latin typeface="Microsoft YaHei UI"/>
              </a:rPr>
              <a:t>goal_proj</a:t>
            </a:r>
            <a:r>
              <a:rPr lang="en-US" sz="1200" b="1" dirty="0">
                <a:latin typeface="Microsoft YaHei UI"/>
              </a:rPr>
              <a:t> MLP </a:t>
            </a:r>
            <a:r>
              <a:rPr lang="zh-CN" altLang="en-US" sz="1200" b="1" dirty="0">
                <a:latin typeface="Microsoft YaHei UI"/>
              </a:rPr>
              <a:t>注入 </a:t>
            </a:r>
            <a:r>
              <a:rPr lang="en-US" sz="1200" b="1" dirty="0">
                <a:latin typeface="Microsoft YaHei UI"/>
              </a:rPr>
              <a:t>decoder，</a:t>
            </a:r>
            <a:r>
              <a:rPr lang="zh-CN" altLang="en-US" sz="1200" b="1" dirty="0">
                <a:latin typeface="Microsoft YaHei UI"/>
              </a:rPr>
              <a:t>使同一场景可稳定产生不同决策方向。</a:t>
            </a:r>
          </a:p>
          <a:p>
            <a:pPr algn="l">
              <a:lnSpc>
                <a:spcPct val="115000"/>
              </a:lnSpc>
            </a:pPr>
            <a:r>
              <a:rPr lang="en-US" altLang="zh-CN" sz="1200" b="1" dirty="0">
                <a:latin typeface="Microsoft YaHei UI"/>
              </a:rPr>
              <a:t>• </a:t>
            </a:r>
            <a:r>
              <a:rPr lang="zh-CN" altLang="en-US" sz="1200" b="1" dirty="0">
                <a:latin typeface="Microsoft YaHei UI"/>
              </a:rPr>
              <a:t>推理时以不同 </a:t>
            </a:r>
            <a:r>
              <a:rPr lang="en-US" sz="1200" b="1" dirty="0">
                <a:latin typeface="Microsoft YaHei UI"/>
              </a:rPr>
              <a:t>goal </a:t>
            </a:r>
            <a:r>
              <a:rPr lang="zh-CN" altLang="en-US" sz="1200" b="1" dirty="0">
                <a:latin typeface="Microsoft YaHei UI"/>
              </a:rPr>
              <a:t>生成候选轨迹，从源头缓解“多样性不足导致 </a:t>
            </a:r>
            <a:r>
              <a:rPr lang="en-US" sz="1200" b="1" dirty="0">
                <a:latin typeface="Microsoft YaHei UI"/>
              </a:rPr>
              <a:t>DPO </a:t>
            </a:r>
            <a:r>
              <a:rPr lang="zh-CN" altLang="en-US" sz="1200" b="1" dirty="0">
                <a:latin typeface="Microsoft YaHei UI"/>
              </a:rPr>
              <a:t>无法有效学习”的问题。</a:t>
            </a:r>
          </a:p>
          <a:p>
            <a:pPr algn="l">
              <a:lnSpc>
                <a:spcPct val="115000"/>
              </a:lnSpc>
            </a:pPr>
            <a:r>
              <a:rPr lang="en-US" altLang="zh-CN" sz="1200" b="1" dirty="0">
                <a:latin typeface="Microsoft YaHei UI"/>
              </a:rPr>
              <a:t>• </a:t>
            </a:r>
            <a:r>
              <a:rPr lang="zh-CN" altLang="en-US" sz="1200" b="1" dirty="0">
                <a:latin typeface="Microsoft YaHei UI"/>
              </a:rPr>
              <a:t>当前模型链路已接入 </a:t>
            </a:r>
            <a:r>
              <a:rPr lang="en-US" sz="1200" b="1" dirty="0">
                <a:latin typeface="Microsoft YaHei UI"/>
              </a:rPr>
              <a:t>goal conditioning </a:t>
            </a:r>
            <a:r>
              <a:rPr lang="zh-CN" altLang="en-US" sz="1200" b="1" dirty="0">
                <a:latin typeface="Microsoft YaHei UI"/>
              </a:rPr>
              <a:t>接口，为后续训练与验证提供基础。</a:t>
            </a:r>
            <a:endParaRPr sz="1200" b="0" dirty="0">
              <a:latin typeface="Microsoft YaHei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897880" y="1417320"/>
            <a:ext cx="4663440" cy="132588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89320" y="1490472"/>
            <a:ext cx="44805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解决了什么问题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2" y="1801368"/>
            <a:ext cx="4517136" cy="86868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从“靠随机噪声碰运气”转为“可控地产生意图差异</a:t>
            </a:r>
            <a:r>
              <a:rPr sz="1100" b="0" dirty="0">
                <a:solidFill>
                  <a:srgbClr val="333333"/>
                </a:solidFill>
                <a:latin typeface="Microsoft YaHei UI"/>
              </a:rPr>
              <a:t>”</a:t>
            </a: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让候选轨迹不再只是轻微抖动，而是具备决策层面的分叉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97880" y="2926080"/>
            <a:ext cx="4663440" cy="132588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89320" y="2999232"/>
            <a:ext cx="448056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6EAF"/>
                </a:solidFill>
                <a:latin typeface="Microsoft YaHei UI"/>
              </a:rPr>
              <a:t>为什么对项目重要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1032" y="3310128"/>
            <a:ext cx="4517136" cy="86868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这是后续 scorer、preference pair、DPO 是否有效的前提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也给将来的意图接口、策略控制和专利描述提供了抓手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572000"/>
            <a:ext cx="9784080" cy="42575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dirty="0" err="1">
                <a:solidFill>
                  <a:srgbClr val="1A3C6E"/>
                </a:solidFill>
                <a:latin typeface="Microsoft YaHei UI"/>
              </a:rPr>
              <a:t>意义：我们不是简单增加一个</a:t>
            </a:r>
            <a:r>
              <a:rPr sz="1700" b="1" dirty="0">
                <a:solidFill>
                  <a:srgbClr val="1A3C6E"/>
                </a:solidFill>
                <a:latin typeface="Microsoft YaHei UI"/>
              </a:rPr>
              <a:t> </a:t>
            </a:r>
            <a:r>
              <a:rPr sz="1700" b="1" dirty="0" err="1">
                <a:solidFill>
                  <a:srgbClr val="1A3C6E"/>
                </a:solidFill>
                <a:latin typeface="Microsoft YaHei UI"/>
              </a:rPr>
              <a:t>head，而是给规划模型补上“可表达意图”的能力入口</a:t>
            </a:r>
            <a:r>
              <a:rPr sz="1700" b="1" dirty="0">
                <a:solidFill>
                  <a:srgbClr val="1A3C6E"/>
                </a:solidFill>
                <a:latin typeface="Microsoft YaHei UI"/>
              </a:rPr>
              <a:t>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核心创新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dirty="0" err="1">
                <a:solidFill>
                  <a:srgbClr val="1A3C6E"/>
                </a:solidFill>
                <a:latin typeface="Microsoft YaHei UI"/>
              </a:rPr>
              <a:t>创新</a:t>
            </a:r>
            <a:r>
              <a:rPr sz="2300" b="1" dirty="0">
                <a:solidFill>
                  <a:srgbClr val="1A3C6E"/>
                </a:solidFill>
                <a:latin typeface="Microsoft YaHei UI"/>
              </a:rPr>
              <a:t> A2：通过 scorer + DPO </a:t>
            </a:r>
            <a:r>
              <a:rPr sz="2300" b="1" dirty="0" err="1">
                <a:solidFill>
                  <a:srgbClr val="1A3C6E"/>
                </a:solidFill>
                <a:latin typeface="Microsoft YaHei UI"/>
              </a:rPr>
              <a:t>学到公司偏好的轨迹选择逻辑</a:t>
            </a:r>
            <a:endParaRPr sz="2300" b="1" dirty="0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983480" cy="2255297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200" b="1" dirty="0">
                <a:latin typeface="Microsoft YaHei UI"/>
              </a:rPr>
              <a:t> </a:t>
            </a:r>
            <a:r>
              <a:rPr lang="en-US" altLang="zh-CN" sz="1200" b="1" dirty="0">
                <a:latin typeface="Microsoft YaHei UI"/>
              </a:rPr>
              <a:t>• </a:t>
            </a:r>
            <a:r>
              <a:rPr lang="zh-CN" altLang="en-US" sz="1200" b="1" dirty="0">
                <a:latin typeface="Microsoft YaHei UI"/>
              </a:rPr>
              <a:t>通过不同 </a:t>
            </a:r>
            <a:r>
              <a:rPr lang="en-US" altLang="zh-CN" sz="1200" b="1" dirty="0">
                <a:latin typeface="Microsoft YaHei UI"/>
              </a:rPr>
              <a:t>goal </a:t>
            </a:r>
            <a:r>
              <a:rPr lang="zh-CN" altLang="en-US" sz="1200" b="1" dirty="0">
                <a:latin typeface="Microsoft YaHei UI"/>
              </a:rPr>
              <a:t>生成可比较的候选轨迹，形成真实 </a:t>
            </a:r>
            <a:r>
              <a:rPr lang="en-US" altLang="zh-CN" sz="1200" b="1" dirty="0">
                <a:latin typeface="Microsoft YaHei UI"/>
              </a:rPr>
              <a:t>planning options
 • Hybrid Scoring Pipeline: </a:t>
            </a:r>
            <a:r>
              <a:rPr lang="zh-CN" altLang="en-US" sz="1200" b="1" dirty="0">
                <a:latin typeface="Microsoft YaHei UI"/>
              </a:rPr>
              <a:t>规则评分（安全</a:t>
            </a:r>
            <a:r>
              <a:rPr lang="en-US" altLang="zh-CN" sz="1200" b="1" dirty="0">
                <a:latin typeface="Microsoft YaHei UI"/>
              </a:rPr>
              <a:t>/</a:t>
            </a:r>
            <a:r>
              <a:rPr lang="zh-CN" altLang="en-US" sz="1200" b="1" dirty="0">
                <a:latin typeface="Microsoft YaHei UI"/>
              </a:rPr>
              <a:t>舒适</a:t>
            </a:r>
            <a:r>
              <a:rPr lang="en-US" altLang="zh-CN" sz="1200" b="1" dirty="0">
                <a:latin typeface="Microsoft YaHei UI"/>
              </a:rPr>
              <a:t>/</a:t>
            </a:r>
            <a:r>
              <a:rPr lang="zh-CN" altLang="en-US" sz="1200" b="1" dirty="0">
                <a:latin typeface="Microsoft YaHei UI"/>
              </a:rPr>
              <a:t>效率指标）</a:t>
            </a:r>
            <a:r>
              <a:rPr lang="en-US" altLang="zh-CN" sz="1200" b="1" dirty="0">
                <a:latin typeface="Microsoft YaHei UI"/>
              </a:rPr>
              <a:t>+ VLM </a:t>
            </a:r>
            <a:r>
              <a:rPr lang="zh-CN" altLang="en-US" sz="1200" b="1" dirty="0">
                <a:latin typeface="Microsoft YaHei UI"/>
              </a:rPr>
              <a:t>多模态评分（</a:t>
            </a:r>
            <a:r>
              <a:rPr lang="en-US" altLang="zh-CN" sz="1200" b="1" dirty="0">
                <a:latin typeface="Microsoft YaHei UI"/>
              </a:rPr>
              <a:t>Gemini BEV </a:t>
            </a:r>
            <a:r>
              <a:rPr lang="zh-CN" altLang="en-US" sz="1200" b="1" dirty="0">
                <a:latin typeface="Microsoft YaHei UI"/>
              </a:rPr>
              <a:t>图像理解）双通道打分
 </a:t>
            </a:r>
            <a:r>
              <a:rPr lang="en-US" altLang="zh-CN" sz="1200" b="1" dirty="0">
                <a:latin typeface="Microsoft YaHei UI"/>
              </a:rPr>
              <a:t>• </a:t>
            </a:r>
            <a:r>
              <a:rPr lang="zh-CN" altLang="en-US" sz="1200" b="1" dirty="0">
                <a:latin typeface="Microsoft YaHei UI"/>
              </a:rPr>
              <a:t>高分散场景由 </a:t>
            </a:r>
            <a:r>
              <a:rPr lang="en-US" altLang="zh-CN" sz="1200" b="1" dirty="0">
                <a:latin typeface="Microsoft YaHei UI"/>
              </a:rPr>
              <a:t>VLM </a:t>
            </a:r>
            <a:r>
              <a:rPr lang="zh-CN" altLang="en-US" sz="1200" b="1" dirty="0">
                <a:latin typeface="Microsoft YaHei UI"/>
              </a:rPr>
              <a:t>裁判（理解语义），低分散场景由规则兜底（保证效率）
 </a:t>
            </a:r>
            <a:r>
              <a:rPr lang="en-US" altLang="zh-CN" sz="1200" b="1" dirty="0">
                <a:latin typeface="Microsoft YaHei UI"/>
              </a:rPr>
              <a:t>• </a:t>
            </a:r>
            <a:r>
              <a:rPr lang="zh-CN" altLang="en-US" sz="1200" b="1" dirty="0">
                <a:latin typeface="Microsoft YaHei UI"/>
              </a:rPr>
              <a:t>基于 </a:t>
            </a:r>
            <a:r>
              <a:rPr lang="en-US" altLang="zh-CN" sz="1200" b="1" dirty="0" err="1">
                <a:latin typeface="Microsoft YaHei UI"/>
              </a:rPr>
              <a:t>LoRA</a:t>
            </a:r>
            <a:r>
              <a:rPr lang="en-US" altLang="zh-CN" sz="1200" b="1" dirty="0">
                <a:latin typeface="Microsoft YaHei UI"/>
              </a:rPr>
              <a:t> + DPO </a:t>
            </a:r>
            <a:r>
              <a:rPr lang="zh-CN" altLang="en-US" sz="1200" b="1" dirty="0">
                <a:latin typeface="Microsoft YaHei UI"/>
              </a:rPr>
              <a:t>将 </a:t>
            </a:r>
            <a:r>
              <a:rPr lang="en-US" altLang="zh-CN" sz="1200" b="1" dirty="0">
                <a:latin typeface="Microsoft YaHei UI"/>
              </a:rPr>
              <a:t>chosen / rejected </a:t>
            </a:r>
            <a:r>
              <a:rPr lang="zh-CN" altLang="en-US" sz="1200" b="1" dirty="0">
                <a:latin typeface="Microsoft YaHei UI"/>
              </a:rPr>
              <a:t>的偏好差异写入模型，实现低成本增量优化
 </a:t>
            </a:r>
            <a:r>
              <a:rPr lang="en-US" altLang="zh-CN" sz="1200" b="1" dirty="0">
                <a:latin typeface="Microsoft YaHei UI"/>
              </a:rPr>
              <a:t>• </a:t>
            </a:r>
            <a:r>
              <a:rPr lang="zh-CN" altLang="en-US" sz="1200" b="1" dirty="0">
                <a:latin typeface="Microsoft YaHei UI"/>
              </a:rPr>
              <a:t>目标不是仅增加候选数量，而是让模型更稳定地输出符合公司偏好的轨迹</a:t>
            </a:r>
            <a:endParaRPr sz="1200" b="0" dirty="0">
              <a:latin typeface="Microsoft YaHei U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943600" y="1444752"/>
            <a:ext cx="4572000" cy="132588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0" y="1517904"/>
            <a:ext cx="438912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A3C6E"/>
                </a:solidFill>
                <a:latin typeface="Microsoft YaHei UI"/>
              </a:rPr>
              <a:t>相对传统做法的优势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6752" y="1828800"/>
            <a:ext cx="4425696" cy="86868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比手工规则更柔和，不容易破坏轨迹整体性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  <a:p>
            <a:pPr algn="l">
              <a:lnSpc>
                <a:spcPct val="115000"/>
              </a:lnSpc>
            </a:pPr>
            <a:r>
              <a:rPr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 dirty="0" err="1">
                <a:solidFill>
                  <a:srgbClr val="333333"/>
                </a:solidFill>
                <a:latin typeface="Microsoft YaHei UI"/>
              </a:rPr>
              <a:t>比全量重训更轻量，适合创新项目先快速验证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943600" y="2944368"/>
            <a:ext cx="4572000" cy="132588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3017520"/>
            <a:ext cx="4389120" cy="37427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006EAF"/>
                </a:solidFill>
                <a:latin typeface="Microsoft YaHei UI"/>
              </a:rPr>
              <a:t>知识产权方向</a:t>
            </a:r>
            <a:endParaRPr sz="1400" b="1">
              <a:solidFill>
                <a:srgbClr val="006EAF"/>
              </a:solidFill>
              <a:latin typeface="Microsoft YaHei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016752" y="3328416"/>
            <a:ext cx="4425696" cy="91166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基于 </a:t>
            </a:r>
            <a:r>
              <a:rPr lang="en-US" sz="1100" b="1" dirty="0">
                <a:solidFill>
                  <a:srgbClr val="006EAF"/>
                </a:solidFill>
                <a:latin typeface="Microsoft YaHei UI"/>
              </a:rPr>
              <a:t>goal-conditioned candidate generation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的 </a:t>
            </a:r>
            <a:r>
              <a:rPr lang="en-US" sz="1100" b="1" dirty="0">
                <a:solidFill>
                  <a:srgbClr val="006EAF"/>
                </a:solidFill>
                <a:latin typeface="Microsoft YaHei UI"/>
              </a:rPr>
              <a:t>preference alignment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规划方法
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en-US" sz="1100" b="1" dirty="0">
                <a:solidFill>
                  <a:srgbClr val="006EAF"/>
                </a:solidFill>
                <a:latin typeface="Microsoft YaHei UI"/>
              </a:rPr>
              <a:t>VLM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多模态偏好裁判与规则评分混合 </a:t>
            </a:r>
            <a:r>
              <a:rPr lang="en-US" sz="1100" b="1" dirty="0">
                <a:solidFill>
                  <a:srgbClr val="006EAF"/>
                </a:solidFill>
                <a:latin typeface="Microsoft YaHei UI"/>
              </a:rPr>
              <a:t>pipeline
 •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低秩适配的轨迹偏好对齐与模型增量更新机制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落地创新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创新 B1：用安全评分与推理增强把生成能力变成可交付能力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108960" cy="192024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490472"/>
            <a:ext cx="2926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65100"/>
                </a:solidFill>
                <a:latin typeface="Microsoft YaHei UI"/>
              </a:rPr>
              <a:t>显式安全评分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1801368"/>
            <a:ext cx="2962656" cy="146304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候选轨迹按碰撞风险、TTC/DRAC、路线一致性、舒适度打分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结果可审计、可回溯，便于答辩与工程评审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417320"/>
            <a:ext cx="3108960" cy="192024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60520" y="1490472"/>
            <a:ext cx="2926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65100"/>
                </a:solidFill>
                <a:latin typeface="Microsoft YaHei UI"/>
              </a:rPr>
              <a:t>推理增强策略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42232" y="1801368"/>
            <a:ext cx="2962656" cy="1495666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100" dirty="0">
                <a:latin typeface="Microsoft YaHei UI"/>
              </a:rPr>
              <a:t> </a:t>
            </a:r>
            <a:r>
              <a:rPr lang="en-US" altLang="zh-CN" sz="1100" dirty="0">
                <a:latin typeface="Microsoft YaHei UI"/>
              </a:rPr>
              <a:t>• best-of-N </a:t>
            </a:r>
            <a:r>
              <a:rPr lang="zh-CN" altLang="en-US" sz="1100" dirty="0">
                <a:latin typeface="Microsoft YaHei UI"/>
              </a:rPr>
              <a:t>多候选筛选
 </a:t>
            </a:r>
            <a:r>
              <a:rPr lang="en-US" altLang="zh-CN" sz="1100" dirty="0">
                <a:latin typeface="Microsoft YaHei UI"/>
              </a:rPr>
              <a:t>• Scene-Adaptive CFG: </a:t>
            </a:r>
            <a:r>
              <a:rPr lang="zh-CN" altLang="en-US" sz="1100" dirty="0">
                <a:latin typeface="Microsoft YaHei UI"/>
              </a:rPr>
              <a:t>不同场景自动适配最优引导强度 实验验证 </a:t>
            </a:r>
            <a:r>
              <a:rPr lang="en-US" altLang="zh-CN" sz="1100" dirty="0">
                <a:latin typeface="Microsoft YaHei UI"/>
              </a:rPr>
              <a:t>Val14 NR </a:t>
            </a:r>
            <a:r>
              <a:rPr lang="zh-CN" altLang="en-US" sz="1100" dirty="0">
                <a:latin typeface="Microsoft YaHei UI"/>
              </a:rPr>
              <a:t>从 </a:t>
            </a:r>
            <a:r>
              <a:rPr lang="en-US" altLang="zh-CN" sz="1100" dirty="0">
                <a:latin typeface="Microsoft YaHei UI"/>
              </a:rPr>
              <a:t>71.2% </a:t>
            </a:r>
            <a:r>
              <a:rPr lang="zh-CN" altLang="en-US" sz="1100" dirty="0">
                <a:latin typeface="Microsoft YaHei UI"/>
              </a:rPr>
              <a:t>提升到 </a:t>
            </a:r>
            <a:r>
              <a:rPr lang="en-US" altLang="zh-CN" sz="1100" dirty="0">
                <a:latin typeface="Microsoft YaHei UI"/>
              </a:rPr>
              <a:t>80.2%</a:t>
            </a:r>
            <a:r>
              <a:rPr lang="zh-CN" altLang="en-US" sz="1100" dirty="0">
                <a:latin typeface="Microsoft YaHei UI"/>
              </a:rPr>
              <a:t>（</a:t>
            </a:r>
            <a:r>
              <a:rPr lang="en-US" altLang="zh-CN" sz="1100" dirty="0">
                <a:latin typeface="Microsoft YaHei UI"/>
              </a:rPr>
              <a:t>+9</a:t>
            </a:r>
            <a:r>
              <a:rPr lang="zh-CN" altLang="en-US" sz="1100" dirty="0">
                <a:latin typeface="Microsoft YaHei UI"/>
              </a:rPr>
              <a:t>分），零训练成本
 </a:t>
            </a:r>
            <a:r>
              <a:rPr lang="en-US" altLang="zh-CN" sz="1100" dirty="0">
                <a:latin typeface="Microsoft YaHei UI"/>
              </a:rPr>
              <a:t>• </a:t>
            </a:r>
            <a:r>
              <a:rPr lang="zh-CN" altLang="en-US" sz="1100" dirty="0">
                <a:latin typeface="Microsoft YaHei UI"/>
              </a:rPr>
              <a:t>场景自适应 </a:t>
            </a:r>
            <a:r>
              <a:rPr lang="en-US" altLang="zh-CN" sz="1100" dirty="0">
                <a:latin typeface="Microsoft YaHei UI"/>
              </a:rPr>
              <a:t>ODE </a:t>
            </a:r>
            <a:r>
              <a:rPr lang="zh-CN" altLang="en-US" sz="1100" dirty="0">
                <a:latin typeface="Microsoft YaHei UI"/>
              </a:rPr>
              <a:t>步数（复杂场景增加推理精度）
 </a:t>
            </a:r>
            <a:r>
              <a:rPr lang="en-US" altLang="zh-CN" sz="1100" dirty="0">
                <a:latin typeface="Microsoft YaHei UI"/>
              </a:rPr>
              <a:t>• </a:t>
            </a:r>
            <a:r>
              <a:rPr lang="zh-CN" altLang="en-US" sz="1100" dirty="0">
                <a:latin typeface="Microsoft YaHei UI"/>
              </a:rPr>
              <a:t>批量并行推理降低开销</a:t>
            </a:r>
            <a:endParaRPr sz="1100" dirty="0">
              <a:latin typeface="Microsoft YaHei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06640" y="1417320"/>
            <a:ext cx="3108960" cy="192024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0" y="1490472"/>
            <a:ext cx="2926080" cy="29260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65100"/>
                </a:solidFill>
                <a:latin typeface="Microsoft YaHei UI"/>
              </a:rPr>
              <a:t>工程价值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79792" y="1801368"/>
            <a:ext cx="2962656" cy="146304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为产品化准备“最后一公里”机制</a:t>
            </a:r>
          </a:p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sz="1100" b="0">
                <a:solidFill>
                  <a:srgbClr val="333333"/>
                </a:solidFill>
                <a:latin typeface="Microsoft YaHei UI"/>
              </a:rPr>
              <a:t>不是替代模型，而是让模型能在安全边界内发挥多模态优势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749039"/>
            <a:ext cx="98755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dirty="0" err="1">
                <a:solidFill>
                  <a:srgbClr val="1A3C6E"/>
                </a:solidFill>
                <a:latin typeface="Microsoft YaHei UI"/>
              </a:rPr>
              <a:t>这里的关键词是“可解释”和“可部署</a:t>
            </a:r>
            <a:r>
              <a:rPr sz="1700" b="1" dirty="0">
                <a:solidFill>
                  <a:srgbClr val="1A3C6E"/>
                </a:solidFill>
                <a:latin typeface="Microsoft YaHei UI"/>
              </a:rPr>
              <a:t>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160520"/>
            <a:ext cx="9784080" cy="554254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2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200" b="1" dirty="0">
                <a:solidFill>
                  <a:srgbClr val="006EAF"/>
                </a:solidFill>
                <a:latin typeface="Microsoft YaHei UI"/>
              </a:rPr>
              <a:t>该部分不以单点论文创新为目标，而是为系统提供可解释、可审计、可部署的工程保障。</a:t>
            </a:r>
          </a:p>
          <a:p>
            <a:pPr algn="l">
              <a:lnSpc>
                <a:spcPct val="115000"/>
              </a:lnSpc>
            </a:pPr>
            <a:r>
              <a:rPr lang="en-US" altLang="zh-CN" sz="12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200" b="1" dirty="0">
                <a:solidFill>
                  <a:srgbClr val="006EAF"/>
                </a:solidFill>
                <a:latin typeface="Microsoft YaHei UI"/>
              </a:rPr>
              <a:t>与核心算法创新并列，是公司内部创新项目顺利落地的关键支撑。</a:t>
            </a:r>
            <a:endParaRPr sz="1200" b="0" dirty="0">
              <a:solidFill>
                <a:srgbClr val="333333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落地创新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创新 B2：从开源数据到公司数据的迁移与部署闭环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49808" y="1417320"/>
          <a:ext cx="100126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37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阶段</a:t>
                      </a:r>
                    </a:p>
                  </a:txBody>
                  <a:tcPr anchor="ctr"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主要动作</a:t>
                      </a:r>
                    </a:p>
                  </a:txBody>
                  <a:tcPr anchor="ctr"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预期输出</a:t>
                      </a:r>
                    </a:p>
                  </a:txBody>
                  <a:tcPr anchor="ctr">
                    <a:solidFill>
                      <a:srgbClr val="E6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阶段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nuPlan / InterPlan 复现与创新验证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形成可训练、可评测、可展示的基线与创新样例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阶段 2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公司数据适配、偏好迁移、闭环验证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验证 domain gap 下的稳定性和收益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阶段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部署优化与影子模式接入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形成 shadow mode -&gt; hybrid -&gt; 接管的落地方案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验证路径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评测设计与当前进展：让创新链路闭环可验证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417320"/>
            <a:ext cx="3154680" cy="210312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1490472"/>
            <a:ext cx="2971800" cy="37427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1A3C6E"/>
                </a:solidFill>
                <a:latin typeface="Microsoft YaHei UI"/>
              </a:rPr>
              <a:t>现阶段基础</a:t>
            </a:r>
            <a:endParaRPr sz="1400" b="1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801368"/>
            <a:ext cx="3008376" cy="1299074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 dirty="0">
                <a:latin typeface="Microsoft YaHei UI"/>
              </a:rPr>
              <a:t>• </a:t>
            </a:r>
            <a:r>
              <a:rPr lang="zh-CN" altLang="en-US" sz="1100" b="1" dirty="0">
                <a:latin typeface="Microsoft YaHei UI"/>
              </a:rPr>
              <a:t>已完成 </a:t>
            </a:r>
            <a:r>
              <a:rPr lang="en-US" sz="1100" b="1" dirty="0">
                <a:latin typeface="Microsoft YaHei UI"/>
              </a:rPr>
              <a:t>Flow Planner </a:t>
            </a:r>
            <a:r>
              <a:rPr lang="zh-CN" altLang="en-US" sz="1100" b="1" dirty="0">
                <a:latin typeface="Microsoft YaHei UI"/>
              </a:rPr>
              <a:t>基线复现与关键脚本链路整理。</a:t>
            </a:r>
          </a:p>
          <a:p>
            <a:pPr algn="l">
              <a:lnSpc>
                <a:spcPct val="115000"/>
              </a:lnSpc>
            </a:pPr>
            <a:r>
              <a:rPr lang="en-US" altLang="zh-CN" sz="1100" b="1" dirty="0">
                <a:latin typeface="Microsoft YaHei UI"/>
              </a:rPr>
              <a:t>• </a:t>
            </a:r>
            <a:r>
              <a:rPr lang="zh-CN" altLang="en-US" sz="1100" b="1" dirty="0">
                <a:latin typeface="Microsoft YaHei UI"/>
              </a:rPr>
              <a:t>已接入 </a:t>
            </a:r>
            <a:r>
              <a:rPr lang="en-US" sz="1100" b="1" dirty="0">
                <a:latin typeface="Microsoft YaHei UI"/>
              </a:rPr>
              <a:t>goal conditioning </a:t>
            </a:r>
            <a:r>
              <a:rPr lang="zh-CN" altLang="en-US" sz="1100" b="1" dirty="0">
                <a:latin typeface="Microsoft YaHei UI"/>
              </a:rPr>
              <a:t>相关代码、配置和候选生成链路。</a:t>
            </a:r>
          </a:p>
          <a:p>
            <a:pPr algn="l">
              <a:lnSpc>
                <a:spcPct val="115000"/>
              </a:lnSpc>
            </a:pPr>
            <a:r>
              <a:rPr lang="en-US" altLang="zh-CN" sz="1100" b="1" dirty="0">
                <a:latin typeface="Microsoft YaHei UI"/>
              </a:rPr>
              <a:t>• </a:t>
            </a:r>
            <a:r>
              <a:rPr lang="zh-CN" altLang="en-US" sz="1100" b="1" dirty="0">
                <a:latin typeface="Microsoft YaHei UI"/>
              </a:rPr>
              <a:t>已具备后续 </a:t>
            </a:r>
            <a:r>
              <a:rPr lang="en-US" sz="1100" b="1" dirty="0" err="1">
                <a:latin typeface="Microsoft YaHei UI"/>
              </a:rPr>
              <a:t>scorer、DPO</a:t>
            </a:r>
            <a:r>
              <a:rPr lang="en-US" sz="1100" b="1" dirty="0">
                <a:latin typeface="Microsoft YaHei UI"/>
              </a:rPr>
              <a:t> </a:t>
            </a:r>
            <a:r>
              <a:rPr lang="zh-CN" altLang="en-US" sz="1100" b="1" dirty="0">
                <a:latin typeface="Microsoft YaHei UI"/>
              </a:rPr>
              <a:t>与评测闭环的工程基础。</a:t>
            </a:r>
            <a:endParaRPr sz="1100" b="0" dirty="0">
              <a:latin typeface="Microsoft YaHei UI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096512" y="1417320"/>
            <a:ext cx="3154680" cy="210312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187952" y="1490472"/>
            <a:ext cx="2971800" cy="37427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006EAF"/>
                </a:solidFill>
                <a:latin typeface="Microsoft YaHei UI"/>
              </a:rPr>
              <a:t>当前重点任务</a:t>
            </a:r>
            <a:endParaRPr sz="1400" b="1">
              <a:solidFill>
                <a:srgbClr val="006EAF"/>
              </a:solidFill>
              <a:latin typeface="Microsoft YaHei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169664" y="1801368"/>
            <a:ext cx="3008376" cy="909736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 dirty="0">
                <a:latin typeface="Microsoft YaHei UI"/>
              </a:rPr>
              <a:t>• </a:t>
            </a:r>
            <a:r>
              <a:rPr lang="zh-CN" altLang="en-US" sz="1100" b="1" dirty="0">
                <a:latin typeface="Microsoft YaHei UI"/>
              </a:rPr>
              <a:t>完成 </a:t>
            </a:r>
            <a:r>
              <a:rPr lang="en-US" sz="1100" b="1" dirty="0">
                <a:latin typeface="Microsoft YaHei UI"/>
              </a:rPr>
              <a:t>goal-conditioned finetune。</a:t>
            </a:r>
          </a:p>
          <a:p>
            <a:pPr algn="l">
              <a:lnSpc>
                <a:spcPct val="115000"/>
              </a:lnSpc>
            </a:pPr>
            <a:r>
              <a:rPr lang="en-US" sz="1100" b="1" dirty="0">
                <a:latin typeface="Microsoft YaHei UI"/>
              </a:rPr>
              <a:t>• </a:t>
            </a:r>
            <a:r>
              <a:rPr lang="zh-CN" altLang="en-US" sz="1100" b="1" dirty="0">
                <a:latin typeface="Microsoft YaHei UI"/>
              </a:rPr>
              <a:t>验证 </a:t>
            </a:r>
            <a:r>
              <a:rPr lang="en-US" sz="1100" b="1" dirty="0">
                <a:latin typeface="Microsoft YaHei UI"/>
              </a:rPr>
              <a:t>goal-diverse candidate generation </a:t>
            </a:r>
            <a:r>
              <a:rPr lang="zh-CN" altLang="en-US" sz="1100" b="1" dirty="0">
                <a:latin typeface="Microsoft YaHei UI"/>
              </a:rPr>
              <a:t>效果。</a:t>
            </a:r>
          </a:p>
          <a:p>
            <a:pPr algn="l">
              <a:lnSpc>
                <a:spcPct val="115000"/>
              </a:lnSpc>
            </a:pPr>
            <a:r>
              <a:rPr lang="en-US" altLang="zh-CN" sz="1100" b="1" dirty="0">
                <a:latin typeface="Microsoft YaHei UI"/>
              </a:rPr>
              <a:t>• </a:t>
            </a:r>
            <a:r>
              <a:rPr lang="zh-CN" altLang="en-US" sz="1100" b="1" dirty="0">
                <a:latin typeface="Microsoft YaHei UI"/>
              </a:rPr>
              <a:t>衔接 </a:t>
            </a:r>
            <a:r>
              <a:rPr lang="en-US" sz="1100" b="1" dirty="0">
                <a:latin typeface="Microsoft YaHei UI"/>
              </a:rPr>
              <a:t>scorer + DPO </a:t>
            </a:r>
            <a:r>
              <a:rPr lang="zh-CN" altLang="en-US" sz="1100" b="1" dirty="0">
                <a:latin typeface="Microsoft YaHei UI"/>
              </a:rPr>
              <a:t>训练与评估。</a:t>
            </a:r>
            <a:endParaRPr sz="1100" b="0" dirty="0">
              <a:latin typeface="Microsoft YaHei UI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443216" y="1417320"/>
            <a:ext cx="3154680" cy="210312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534656" y="1490472"/>
            <a:ext cx="2971800" cy="37427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E65100"/>
                </a:solidFill>
                <a:latin typeface="Microsoft YaHei UI"/>
              </a:rPr>
              <a:t>核心验证指标</a:t>
            </a:r>
            <a:endParaRPr sz="1400" b="1">
              <a:solidFill>
                <a:srgbClr val="E65100"/>
              </a:solidFill>
              <a:latin typeface="Microsoft YaHei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16368" y="1801368"/>
            <a:ext cx="3008376" cy="909736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 dirty="0">
                <a:latin typeface="Microsoft YaHei UI"/>
              </a:rPr>
              <a:t>• </a:t>
            </a:r>
            <a:r>
              <a:rPr lang="zh-CN" altLang="en-US" sz="1100" b="1" dirty="0">
                <a:latin typeface="Microsoft YaHei UI"/>
              </a:rPr>
              <a:t>候选轨迹的 </a:t>
            </a:r>
            <a:r>
              <a:rPr lang="en-US" sz="1100" b="1" dirty="0">
                <a:latin typeface="Microsoft YaHei UI"/>
              </a:rPr>
              <a:t>spread </a:t>
            </a:r>
            <a:r>
              <a:rPr lang="zh-CN" altLang="en-US" sz="1100" b="1" dirty="0">
                <a:latin typeface="Microsoft YaHei UI"/>
              </a:rPr>
              <a:t>是否显著拉开。</a:t>
            </a:r>
          </a:p>
          <a:p>
            <a:pPr algn="l">
              <a:lnSpc>
                <a:spcPct val="115000"/>
              </a:lnSpc>
            </a:pPr>
            <a:r>
              <a:rPr lang="en-US" altLang="zh-CN" sz="1100" b="1" dirty="0">
                <a:latin typeface="Microsoft YaHei UI"/>
              </a:rPr>
              <a:t>• </a:t>
            </a:r>
            <a:r>
              <a:rPr lang="en-US" sz="1100" b="1" dirty="0">
                <a:latin typeface="Microsoft YaHei UI"/>
              </a:rPr>
              <a:t>goal conditioning </a:t>
            </a:r>
            <a:r>
              <a:rPr lang="zh-CN" altLang="en-US" sz="1100" b="1" dirty="0">
                <a:latin typeface="Microsoft YaHei UI"/>
              </a:rPr>
              <a:t>是否稳定影响轨迹决策。</a:t>
            </a:r>
          </a:p>
          <a:p>
            <a:pPr algn="l">
              <a:lnSpc>
                <a:spcPct val="115000"/>
              </a:lnSpc>
            </a:pPr>
            <a:r>
              <a:rPr lang="en-US" altLang="zh-CN" sz="1100" b="1" dirty="0">
                <a:latin typeface="Microsoft YaHei UI"/>
              </a:rPr>
              <a:t>• </a:t>
            </a:r>
            <a:r>
              <a:rPr lang="en-US" sz="1100" b="1" dirty="0">
                <a:latin typeface="Microsoft YaHei UI"/>
              </a:rPr>
              <a:t>DPO </a:t>
            </a:r>
            <a:r>
              <a:rPr lang="zh-CN" altLang="en-US" sz="1100" b="1" dirty="0">
                <a:latin typeface="Microsoft YaHei UI"/>
              </a:rPr>
              <a:t>训练后 </a:t>
            </a:r>
            <a:r>
              <a:rPr lang="en-US" sz="1100" b="1" dirty="0" err="1">
                <a:latin typeface="Microsoft YaHei UI"/>
              </a:rPr>
              <a:t>accuracy、delta</a:t>
            </a:r>
            <a:r>
              <a:rPr lang="en-US" sz="1100" b="1" dirty="0">
                <a:latin typeface="Microsoft YaHei UI"/>
              </a:rPr>
              <a:t> </a:t>
            </a:r>
            <a:r>
              <a:rPr lang="zh-CN" altLang="en-US" sz="1100" b="1" dirty="0">
                <a:latin typeface="Microsoft YaHei UI"/>
              </a:rPr>
              <a:t>与典型 </a:t>
            </a:r>
            <a:r>
              <a:rPr lang="en-US" sz="1100" b="1" dirty="0">
                <a:latin typeface="Microsoft YaHei UI"/>
              </a:rPr>
              <a:t>case </a:t>
            </a:r>
            <a:r>
              <a:rPr lang="zh-CN" altLang="en-US" sz="1100" b="1" dirty="0">
                <a:latin typeface="Microsoft YaHei UI"/>
              </a:rPr>
              <a:t>质量是否同步改善。</a:t>
            </a:r>
            <a:endParaRPr sz="1100" b="0" dirty="0">
              <a:latin typeface="Microsoft YaHei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8" y="3886200"/>
            <a:ext cx="9875520" cy="554254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2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200" b="1" dirty="0">
                <a:solidFill>
                  <a:srgbClr val="006EAF"/>
                </a:solidFill>
                <a:latin typeface="Microsoft YaHei UI"/>
              </a:rPr>
              <a:t>项目并非从零开始，而是建立在已复现基线、已有代码链路和已有实验基础上的升级方案。</a:t>
            </a:r>
          </a:p>
          <a:p>
            <a:pPr algn="l">
              <a:lnSpc>
                <a:spcPct val="115000"/>
              </a:lnSpc>
            </a:pPr>
            <a:r>
              <a:rPr lang="en-US" altLang="zh-CN" sz="12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200" b="1" dirty="0">
                <a:solidFill>
                  <a:srgbClr val="006EAF"/>
                </a:solidFill>
                <a:latin typeface="Microsoft YaHei UI"/>
              </a:rPr>
              <a:t>主线方案已收敛到更可控的 </a:t>
            </a:r>
            <a:r>
              <a:rPr lang="en-US" altLang="zh-CN" sz="1200" b="1" dirty="0">
                <a:solidFill>
                  <a:srgbClr val="006EAF"/>
                </a:solidFill>
                <a:latin typeface="Microsoft YaHei UI"/>
              </a:rPr>
              <a:t>goal conditioning + DPO </a:t>
            </a:r>
            <a:r>
              <a:rPr lang="zh-CN" altLang="en-US" sz="1200" b="1" dirty="0">
                <a:solidFill>
                  <a:srgbClr val="006EAF"/>
                </a:solidFill>
                <a:latin typeface="Microsoft YaHei UI"/>
              </a:rPr>
              <a:t>路线，资源投入后可快速形成完整成果。</a:t>
            </a:r>
            <a:endParaRPr sz="1200" b="0" dirty="0">
              <a:solidFill>
                <a:srgbClr val="333333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资源需求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资源需求必须写清楚：人、算力、数据、专利和协作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6204163"/>
              </p:ext>
            </p:extLst>
          </p:nvPr>
        </p:nvGraphicFramePr>
        <p:xfrm>
          <a:off x="713232" y="1389888"/>
          <a:ext cx="100584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资源项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需求说明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预算 / 方式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人力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算法工程师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1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名全程主导；实习生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1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名支持数据、评测和材料；规划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/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仿真接口同学阶段性配合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已有主责人 + 3-5 万辅助人力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云算力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A100 4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卡训练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2000-3000 卡时；A100 2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卡消融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800-1200 卡时；4090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日常开发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1500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卡时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约 2-3 万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内部算力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公司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GPU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配额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</a:t>
                      </a:r>
                      <a:r>
                        <a:rPr 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8-10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周，用于公司数据迁移与闭环验证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需提前协调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数据与存储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nuPlan / InterPlan 开源数据 + 公司样本；至少 200GB 数据盘 + 4TB SSD 归档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约 0.3-0.5 万 + 内部资源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知识产权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专利交底、代理与答辩材料整理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526280"/>
            <a:ext cx="9784080" cy="3904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500" b="1" dirty="0">
                <a:solidFill>
                  <a:srgbClr val="E65100"/>
                </a:solidFill>
                <a:latin typeface="Microsoft YaHei UI"/>
              </a:rPr>
              <a:t>资源配置原则：总预算控制在 </a:t>
            </a:r>
            <a:r>
              <a:rPr lang="en-US" altLang="zh-CN" sz="1500" b="1" dirty="0">
                <a:solidFill>
                  <a:srgbClr val="E65100"/>
                </a:solidFill>
                <a:latin typeface="Microsoft YaHei UI"/>
              </a:rPr>
              <a:t>15 </a:t>
            </a:r>
            <a:r>
              <a:rPr lang="zh-CN" altLang="en-US" sz="1500" b="1" dirty="0">
                <a:solidFill>
                  <a:srgbClr val="E65100"/>
                </a:solidFill>
                <a:latin typeface="Microsoft YaHei UI"/>
              </a:rPr>
              <a:t>万元；前期以弹性云算力为主，后期锁定内部 </a:t>
            </a:r>
            <a:r>
              <a:rPr lang="en-US" altLang="zh-CN" sz="1500" b="1" dirty="0">
                <a:solidFill>
                  <a:srgbClr val="E65100"/>
                </a:solidFill>
                <a:latin typeface="Microsoft YaHei UI"/>
              </a:rPr>
              <a:t>GPU </a:t>
            </a:r>
            <a:r>
              <a:rPr lang="zh-CN" altLang="en-US" sz="1500" b="1" dirty="0">
                <a:solidFill>
                  <a:srgbClr val="E65100"/>
                </a:solidFill>
                <a:latin typeface="Microsoft YaHei UI"/>
              </a:rPr>
              <a:t>与数据接口资源。</a:t>
            </a:r>
            <a:endParaRPr sz="1500" b="1" dirty="0">
              <a:solidFill>
                <a:srgbClr val="E65100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时间规划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项目推进节奏：先闭环实验，再迁移落地，最后沉淀成果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417320"/>
          <a:ext cx="10012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31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031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03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阶段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时间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重点任务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阶段结果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阶段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1-3 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基线复现、goal 方案接入、链路跑通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模型与脚本稳定可复现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阶段 2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4-6 月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候选生成、打分、DPO、消融与专利交底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形成核心创新结果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阶段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7-8 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公司数据适配、迁移验证、部署优化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验证可迁移与可部署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阶段 4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9-10 月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影子模式方案、答辩收尾、论文/专利材料沉淀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项目收口并准备成果转化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应用价值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" y="556703"/>
            <a:ext cx="9509760" cy="52392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2300" b="1">
                <a:solidFill>
                  <a:srgbClr val="1A3C6E"/>
                </a:solidFill>
                <a:latin typeface="Microsoft YaHei UI"/>
              </a:rPr>
              <a:t>这个项目做完之后，能给公司带来什么？</a:t>
            </a:r>
            <a:endParaRPr sz="2300" b="1" dirty="0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pic>
        <p:nvPicPr>
          <p:cNvPr id="7" name="Picture 6" descr="cas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508760"/>
            <a:ext cx="3200400" cy="83623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9808" y="1417320"/>
            <a:ext cx="2880360" cy="18288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1248" y="1490472"/>
            <a:ext cx="2697480" cy="37670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400" b="1">
                <a:solidFill>
                  <a:srgbClr val="1A3C6E"/>
                </a:solidFill>
                <a:latin typeface="Microsoft YaHei UI"/>
              </a:rPr>
              <a:t>6 </a:t>
            </a:r>
            <a:r>
              <a:rPr lang="zh-CN" altLang="en-US" sz="1400" b="1">
                <a:solidFill>
                  <a:srgbClr val="1A3C6E"/>
                </a:solidFill>
                <a:latin typeface="Microsoft YaHei UI"/>
              </a:rPr>
              <a:t>个月内（仿真阶段）</a:t>
            </a:r>
            <a:endParaRPr sz="1400" b="1">
              <a:solidFill>
                <a:srgbClr val="1A3C6E"/>
              </a:solidFill>
              <a:latin typeface="Microsoft YaHei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1801368"/>
            <a:ext cx="2734056" cy="1300997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一个能同时提出多种驾驶方案（左绕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/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右绕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/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刹停）并自动选最优的模型
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模型学会公司的驾驶偏好，不再只是模仿学术数据
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仿真评测超越当前最好方案（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NR &gt; 91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），论文 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1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篇 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+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专利 </a:t>
            </a:r>
            <a:r>
              <a:rPr lang="en-US" altLang="zh-CN" sz="1100" b="1">
                <a:solidFill>
                  <a:srgbClr val="006EAF"/>
                </a:solidFill>
                <a:latin typeface="Microsoft YaHei UI"/>
              </a:rPr>
              <a:t>1 </a:t>
            </a:r>
            <a:r>
              <a:rPr lang="zh-CN" altLang="en-US" sz="1100" b="1">
                <a:solidFill>
                  <a:srgbClr val="006EAF"/>
                </a:solidFill>
                <a:latin typeface="Microsoft YaHei UI"/>
              </a:rPr>
              <a:t>项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794760" y="1417320"/>
            <a:ext cx="2880360" cy="18288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886200" y="1490472"/>
            <a:ext cx="2697480" cy="37670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400" b="1">
                <a:solidFill>
                  <a:srgbClr val="006EAF"/>
                </a:solidFill>
                <a:latin typeface="Microsoft YaHei UI"/>
              </a:rPr>
              <a:t>6-12 </a:t>
            </a:r>
            <a:r>
              <a:rPr lang="zh-CN" altLang="en-US" sz="1400" b="1">
                <a:solidFill>
                  <a:srgbClr val="006EAF"/>
                </a:solidFill>
                <a:latin typeface="Microsoft YaHei UI"/>
              </a:rPr>
              <a:t>个月（实车阶段）</a:t>
            </a:r>
            <a:endParaRPr sz="1400" b="1">
              <a:solidFill>
                <a:srgbClr val="006EAF"/>
              </a:solidFill>
              <a:latin typeface="Microsoft YaHei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867912" y="1801368"/>
            <a:ext cx="2734056" cy="1300997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dirty="0">
                <a:latin typeface="Microsoft YaHei UI"/>
              </a:rPr>
              <a:t>• </a:t>
            </a:r>
            <a:r>
              <a:rPr lang="zh-CN" altLang="en-US" sz="1100" dirty="0">
                <a:latin typeface="Microsoft YaHei UI"/>
              </a:rPr>
              <a:t>解决 </a:t>
            </a:r>
            <a:r>
              <a:rPr lang="en-US" altLang="zh-CN" sz="1100" dirty="0">
                <a:latin typeface="Microsoft YaHei UI"/>
              </a:rPr>
              <a:t>rule-based planner </a:t>
            </a:r>
            <a:r>
              <a:rPr lang="zh-CN" altLang="en-US" sz="1100" dirty="0">
                <a:latin typeface="Microsoft YaHei UI"/>
              </a:rPr>
              <a:t>的盲区：路口博弈、多车交互、礼让等复杂场景
</a:t>
            </a:r>
            <a:r>
              <a:rPr lang="en-US" altLang="zh-CN" sz="1100" dirty="0">
                <a:latin typeface="Microsoft YaHei UI"/>
              </a:rPr>
              <a:t>• </a:t>
            </a:r>
            <a:r>
              <a:rPr lang="zh-CN" altLang="en-US" sz="1100" dirty="0">
                <a:latin typeface="Microsoft YaHei UI"/>
              </a:rPr>
              <a:t>先影子模式并行对比，再按场景难度逐步接管
</a:t>
            </a:r>
            <a:r>
              <a:rPr lang="en-US" altLang="zh-CN" sz="1100" dirty="0">
                <a:latin typeface="Microsoft YaHei UI"/>
              </a:rPr>
              <a:t>• </a:t>
            </a:r>
            <a:r>
              <a:rPr lang="en-US" altLang="zh-CN" sz="1100" dirty="0" err="1">
                <a:latin typeface="Microsoft YaHei UI"/>
              </a:rPr>
              <a:t>TensorRT</a:t>
            </a:r>
            <a:r>
              <a:rPr lang="en-US" altLang="zh-CN" sz="1100" dirty="0">
                <a:latin typeface="Microsoft YaHei UI"/>
              </a:rPr>
              <a:t> </a:t>
            </a:r>
            <a:r>
              <a:rPr lang="zh-CN" altLang="en-US" sz="1100" dirty="0">
                <a:latin typeface="Microsoft YaHei UI"/>
              </a:rPr>
              <a:t>部署到 </a:t>
            </a:r>
            <a:r>
              <a:rPr lang="en-US" altLang="zh-CN" sz="1100" dirty="0">
                <a:latin typeface="Microsoft YaHei UI"/>
              </a:rPr>
              <a:t>Orin</a:t>
            </a:r>
            <a:r>
              <a:rPr lang="zh-CN" altLang="en-US" sz="1100" dirty="0">
                <a:latin typeface="Microsoft YaHei UI"/>
              </a:rPr>
              <a:t>，延迟 </a:t>
            </a:r>
            <a:r>
              <a:rPr lang="en-US" altLang="zh-CN" sz="1100" dirty="0">
                <a:latin typeface="Microsoft YaHei UI"/>
              </a:rPr>
              <a:t>&lt;50ms</a:t>
            </a:r>
            <a:r>
              <a:rPr lang="zh-CN" altLang="en-US" sz="1100" dirty="0">
                <a:latin typeface="Microsoft YaHei UI"/>
              </a:rPr>
              <a:t>，满足量产实时性要求</a:t>
            </a:r>
            <a:endParaRPr sz="1100" dirty="0">
              <a:latin typeface="Microsoft YaHei UI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749808" y="3520440"/>
            <a:ext cx="2880360" cy="18288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" y="3593592"/>
            <a:ext cx="2697480" cy="37670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E65100"/>
                </a:solidFill>
                <a:latin typeface="Microsoft YaHei UI"/>
              </a:rPr>
              <a:t>长期战略价值</a:t>
            </a:r>
            <a:endParaRPr sz="1400" b="1">
              <a:solidFill>
                <a:srgbClr val="E65100"/>
              </a:solidFill>
              <a:latin typeface="Microsoft YaHei U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3904488"/>
            <a:ext cx="2734056" cy="91166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公司掌握行业最新的生成式规划全链路能力，超越行业内量产最新技术
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换一套打分标准就能适配不同客户、不同市场的驾驶风格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794760" y="3520440"/>
            <a:ext cx="2880360" cy="182880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86200" y="3593592"/>
            <a:ext cx="2697480" cy="37670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400" b="1">
                <a:solidFill>
                  <a:srgbClr val="E65100"/>
                </a:solidFill>
                <a:latin typeface="Microsoft YaHei UI"/>
              </a:rPr>
              <a:t>具体产出</a:t>
            </a:r>
            <a:endParaRPr sz="1400" b="1">
              <a:solidFill>
                <a:srgbClr val="E65100"/>
              </a:solidFill>
              <a:latin typeface="Microsoft YaHei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67912" y="3904488"/>
            <a:ext cx="2734056" cy="1106329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3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项发明专利（偏好对齐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+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自适应推理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+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安全引导）
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2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篇论文（</a:t>
            </a:r>
            <a:r>
              <a:rPr lang="en-US" altLang="zh-CN" sz="1100" b="1" dirty="0" err="1">
                <a:solidFill>
                  <a:srgbClr val="006EAF"/>
                </a:solidFill>
                <a:latin typeface="Microsoft YaHei UI"/>
              </a:rPr>
              <a:t>NeurIPS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/ICLR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级别）
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完整部署包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+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实车验证报告 </a:t>
            </a:r>
            <a:r>
              <a:rPr lang="en-US" altLang="zh-CN" sz="1100" b="1" dirty="0">
                <a:solidFill>
                  <a:srgbClr val="006EAF"/>
                </a:solidFill>
                <a:latin typeface="Microsoft YaHei UI"/>
              </a:rPr>
              <a:t>+ </a:t>
            </a:r>
            <a:r>
              <a:rPr lang="zh-CN" altLang="en-US" sz="1100" b="1" dirty="0">
                <a:solidFill>
                  <a:srgbClr val="006EAF"/>
                </a:solidFill>
                <a:latin typeface="Microsoft YaHei UI"/>
              </a:rPr>
              <a:t>结题报告</a:t>
            </a:r>
            <a:endParaRPr sz="1100" b="0" dirty="0">
              <a:solidFill>
                <a:srgbClr val="333333"/>
              </a:solidFill>
              <a:latin typeface="Microsoft YaHei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69480" y="5074920"/>
            <a:ext cx="2926080" cy="31951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1050" b="0">
                <a:solidFill>
                  <a:srgbClr val="666666"/>
                </a:solidFill>
                <a:latin typeface="Microsoft YaHei UI"/>
              </a:rPr>
              <a:t>复杂交互 </a:t>
            </a:r>
            <a:r>
              <a:rPr lang="en-US" altLang="zh-CN" sz="1050" b="0">
                <a:solidFill>
                  <a:srgbClr val="666666"/>
                </a:solidFill>
                <a:latin typeface="Microsoft YaHei UI"/>
              </a:rPr>
              <a:t>/ </a:t>
            </a:r>
            <a:r>
              <a:rPr lang="zh-CN" altLang="en-US" sz="1050" b="0">
                <a:solidFill>
                  <a:srgbClr val="666666"/>
                </a:solidFill>
                <a:latin typeface="Microsoft YaHei UI"/>
              </a:rPr>
              <a:t>博弈场景应用示意</a:t>
            </a:r>
            <a:endParaRPr sz="1050" b="0">
              <a:solidFill>
                <a:srgbClr val="666666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风险管理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主要风险与应对策略：提前说清楚，比回避更有说服力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0033579"/>
              </p:ext>
            </p:extLst>
          </p:nvPr>
        </p:nvGraphicFramePr>
        <p:xfrm>
          <a:off x="713232" y="1417320"/>
          <a:ext cx="100584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风险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影响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应对策略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goal 方案多样性仍不足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DPO 难以学出稳定偏好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检查 goal_proj、增大 vocab/候选数、结合 scorer spread 阈值逐步调优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</a:t>
                      </a:r>
                      <a:r>
                        <a:rPr lang="en-US" altLang="zh-CN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DPO </a:t>
                      </a:r>
                      <a:r>
                        <a:rPr lang="zh-CN" alt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训练不稳定 </a:t>
                      </a:r>
                      <a:r>
                        <a:rPr lang="en-US" altLang="zh-CN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/ </a:t>
                      </a:r>
                      <a:r>
                        <a:rPr lang="zh-CN" alt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效果不显著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偏好学习</a:t>
                      </a:r>
                      <a:r>
                        <a:rPr lang="zh-CN" alt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难以提升模型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调整 </a:t>
                      </a:r>
                      <a:r>
                        <a:rPr 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scorer </a:t>
                      </a:r>
                      <a:r>
                        <a:rPr lang="zh-CN" alt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权重、</a:t>
                      </a:r>
                      <a:r>
                        <a:rPr lang="en-US"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LoRA</a:t>
                      </a:r>
                      <a:r>
                        <a:rPr 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rank、</a:t>
                      </a:r>
                      <a:r>
                        <a:rPr lang="zh-CN" alt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学习率；必要时切换到 </a:t>
                      </a:r>
                      <a:r>
                        <a:rPr 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RLHF </a:t>
                      </a:r>
                      <a:r>
                        <a:rPr lang="zh-CN" altLang="en-US"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或 </a:t>
                      </a:r>
                      <a:r>
                        <a:rPr lang="en-US"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reward-weighted regression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domain gap 过大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公司数据上效果不稳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先冻结部分模块迁移，再分阶段混合训练，不直接端到端硬迁移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内部资源协调滞后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后半程验证卡住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在立项时同步锁定</a:t>
                      </a:r>
                      <a:r>
                        <a:rPr sz="1050" b="0" dirty="0">
                          <a:solidFill>
                            <a:srgbClr val="333333"/>
                          </a:solidFill>
                          <a:latin typeface="Microsoft YaHei UI"/>
                        </a:rPr>
                        <a:t> </a:t>
                      </a:r>
                      <a:r>
                        <a:rPr sz="1050" b="0" dirty="0" err="1">
                          <a:solidFill>
                            <a:srgbClr val="333333"/>
                          </a:solidFill>
                          <a:latin typeface="Microsoft YaHei UI"/>
                        </a:rPr>
                        <a:t>GPU、数据和仿真接口窗口</a:t>
                      </a:r>
                      <a:endParaRPr sz="1050" b="0" dirty="0">
                        <a:solidFill>
                          <a:srgbClr val="333333"/>
                        </a:solidFill>
                        <a:latin typeface="Microsoft YaHei UI"/>
                      </a:endParaRP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663440"/>
            <a:ext cx="9875520" cy="3904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1500" b="1">
                <a:solidFill>
                  <a:srgbClr val="1A3C6E"/>
                </a:solidFill>
                <a:latin typeface="Microsoft YaHei UI"/>
              </a:rPr>
              <a:t>项目风险已拆解为技术风险和实施风险两类，并配套制定了相应缓释措施，因此整体推进是可控、可复盘的。</a:t>
            </a:r>
            <a:endParaRPr sz="1500" b="1">
              <a:solidFill>
                <a:srgbClr val="1A3C6E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30175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Microsoft YaHei UI"/>
              </a:rPr>
              <a:t>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本次申请希望拿到什么，以及为什么值得投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666666"/>
                </a:solidFill>
                <a:latin typeface="Microsoft YaHei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 b="0">
                <a:solidFill>
                  <a:srgbClr val="666666"/>
                </a:solidFill>
                <a:latin typeface="Microsoft YaHei UI"/>
              </a:rPr>
              <a:t>Flow Planner internal innovation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9875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1A3C6E"/>
                </a:solidFill>
                <a:latin typeface="Microsoft YaHei UI"/>
              </a:rPr>
              <a:t>申请内容：10 个月创新项目窗口 + 云算力预算 + 内部 GPU 配额 + 数据/仿真协作接口。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148840"/>
            <a:ext cx="9784080" cy="818237"/>
          </a:xfrm>
          <a:prstGeom prst="rect">
            <a:avLst/>
          </a:prstGeom>
          <a:noFill/>
        </p:spPr>
        <p:txBody>
          <a:bodyPr wrap="square" lIns="109728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13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300" b="1" dirty="0">
                <a:solidFill>
                  <a:srgbClr val="006EAF"/>
                </a:solidFill>
                <a:latin typeface="Microsoft YaHei UI"/>
              </a:rPr>
              <a:t>项目建立在已复现基线和已有代码链路之上，具备较高起点。</a:t>
            </a:r>
          </a:p>
          <a:p>
            <a:pPr algn="l">
              <a:lnSpc>
                <a:spcPct val="115000"/>
              </a:lnSpc>
            </a:pPr>
            <a:r>
              <a:rPr lang="en-US" altLang="zh-CN" sz="13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300" b="1" dirty="0">
                <a:solidFill>
                  <a:srgbClr val="006EAF"/>
                </a:solidFill>
                <a:latin typeface="Microsoft YaHei UI"/>
              </a:rPr>
              <a:t>主线方案清晰：</a:t>
            </a:r>
            <a:r>
              <a:rPr lang="en-US" altLang="zh-CN" sz="1300" b="1" dirty="0">
                <a:solidFill>
                  <a:srgbClr val="006EAF"/>
                </a:solidFill>
                <a:latin typeface="Microsoft YaHei UI"/>
              </a:rPr>
              <a:t>goal conditioning </a:t>
            </a:r>
            <a:r>
              <a:rPr lang="zh-CN" altLang="en-US" sz="1300" b="1" dirty="0">
                <a:solidFill>
                  <a:srgbClr val="006EAF"/>
                </a:solidFill>
                <a:latin typeface="Microsoft YaHei UI"/>
              </a:rPr>
              <a:t>解决多样性，</a:t>
            </a:r>
            <a:r>
              <a:rPr lang="en-US" altLang="zh-CN" sz="1300" b="1" dirty="0">
                <a:solidFill>
                  <a:srgbClr val="006EAF"/>
                </a:solidFill>
                <a:latin typeface="Microsoft YaHei UI"/>
              </a:rPr>
              <a:t>DPO </a:t>
            </a:r>
            <a:r>
              <a:rPr lang="zh-CN" altLang="en-US" sz="1300" b="1" dirty="0">
                <a:solidFill>
                  <a:srgbClr val="006EAF"/>
                </a:solidFill>
                <a:latin typeface="Microsoft YaHei UI"/>
              </a:rPr>
              <a:t>解决偏好一致性，安全评分与迁移链路支撑落地。</a:t>
            </a:r>
          </a:p>
          <a:p>
            <a:pPr algn="l">
              <a:lnSpc>
                <a:spcPct val="115000"/>
              </a:lnSpc>
            </a:pPr>
            <a:r>
              <a:rPr lang="en-US" altLang="zh-CN" sz="1300" b="1" dirty="0">
                <a:solidFill>
                  <a:srgbClr val="006EAF"/>
                </a:solidFill>
                <a:latin typeface="Microsoft YaHei UI"/>
              </a:rPr>
              <a:t>• </a:t>
            </a:r>
            <a:r>
              <a:rPr lang="zh-CN" altLang="en-US" sz="1300" b="1" dirty="0">
                <a:solidFill>
                  <a:srgbClr val="006EAF"/>
                </a:solidFill>
                <a:latin typeface="Microsoft YaHei UI"/>
              </a:rPr>
              <a:t>成果可同步沉淀为模型、脚本、评测材料与知识产权，投入产出比高。</a:t>
            </a:r>
            <a:endParaRPr sz="1300" b="0" dirty="0">
              <a:solidFill>
                <a:srgbClr val="333333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2"/>
            <a:ext cx="1143000" cy="202620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dirty="0" err="1">
                <a:solidFill>
                  <a:schemeClr val="bg1"/>
                </a:solidFill>
                <a:latin typeface="Microsoft YaHei UI" panose="020B0503020204020204" pitchFamily="34" charset="-122"/>
              </a:rPr>
              <a:t>附录</a:t>
            </a:r>
            <a:endParaRPr sz="900" b="1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>
                <a:solidFill>
                  <a:srgbClr val="1A3C6E"/>
                </a:solidFill>
                <a:latin typeface="Microsoft YaHei UI"/>
              </a:rPr>
              <a:t>附录：技术展开与我们已经走过的关键判断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6EAF"/>
          </a:solidFill>
          <a:ln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0"/>
            <a:ext cx="320040" cy="147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>
                <a:solidFill>
                  <a:srgbClr val="999FA6"/>
                </a:solidFill>
                <a:latin typeface="Microsoft YaHei UI" panose="020B0503020204020204" pitchFamily="34" charset="-122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39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666666"/>
                </a:solidFill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965960"/>
            <a:ext cx="9601200" cy="206486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2200" b="1">
                <a:solidFill>
                  <a:srgbClr val="1A3C6E"/>
                </a:solidFill>
                <a:latin typeface="Microsoft YaHei UI"/>
              </a:rPr>
              <a:t>附录包含四部分：</a:t>
            </a:r>
          </a:p>
          <a:p>
            <a:pPr algn="ctr">
              <a:lnSpc>
                <a:spcPct val="115000"/>
              </a:lnSpc>
            </a:pPr>
            <a:r>
              <a:rPr lang="en-US" altLang="zh-CN" sz="2200" b="1">
                <a:solidFill>
                  <a:srgbClr val="1A3C6E"/>
                </a:solidFill>
                <a:latin typeface="Microsoft YaHei UI"/>
              </a:rPr>
              <a:t>1. </a:t>
            </a:r>
            <a:r>
              <a:rPr lang="zh-CN" altLang="en-US" sz="2200" b="1">
                <a:solidFill>
                  <a:srgbClr val="1A3C6E"/>
                </a:solidFill>
                <a:latin typeface="Microsoft YaHei UI"/>
              </a:rPr>
              <a:t>理论基础与方法选择</a:t>
            </a:r>
          </a:p>
          <a:p>
            <a:pPr algn="ctr">
              <a:lnSpc>
                <a:spcPct val="115000"/>
              </a:lnSpc>
            </a:pPr>
            <a:r>
              <a:rPr lang="en-US" altLang="zh-CN" sz="2200" b="1">
                <a:solidFill>
                  <a:srgbClr val="1A3C6E"/>
                </a:solidFill>
                <a:latin typeface="Microsoft YaHei UI"/>
              </a:rPr>
              <a:t>2. Flow Planner </a:t>
            </a:r>
            <a:r>
              <a:rPr lang="zh-CN" altLang="en-US" sz="2200" b="1">
                <a:solidFill>
                  <a:srgbClr val="1A3C6E"/>
                </a:solidFill>
                <a:latin typeface="Microsoft YaHei UI"/>
              </a:rPr>
              <a:t>基线机制展开</a:t>
            </a:r>
          </a:p>
          <a:p>
            <a:pPr algn="ctr">
              <a:lnSpc>
                <a:spcPct val="115000"/>
              </a:lnSpc>
            </a:pPr>
            <a:r>
              <a:rPr lang="en-US" altLang="zh-CN" sz="2200" b="1">
                <a:solidFill>
                  <a:srgbClr val="1A3C6E"/>
                </a:solidFill>
                <a:latin typeface="Microsoft YaHei UI"/>
              </a:rPr>
              <a:t>3. </a:t>
            </a:r>
            <a:r>
              <a:rPr lang="zh-CN" altLang="en-US" sz="2200" b="1">
                <a:solidFill>
                  <a:srgbClr val="1A3C6E"/>
                </a:solidFill>
                <a:latin typeface="Microsoft YaHei UI"/>
              </a:rPr>
              <a:t>项目主线技术流程与实验进展</a:t>
            </a:r>
          </a:p>
          <a:p>
            <a:pPr algn="ctr">
              <a:lnSpc>
                <a:spcPct val="115000"/>
              </a:lnSpc>
            </a:pPr>
            <a:r>
              <a:rPr lang="en-US" altLang="zh-CN" sz="2200" b="1">
                <a:solidFill>
                  <a:srgbClr val="1A3C6E"/>
                </a:solidFill>
                <a:latin typeface="Microsoft YaHei UI"/>
              </a:rPr>
              <a:t>4. </a:t>
            </a:r>
            <a:r>
              <a:rPr lang="zh-CN" altLang="en-US" sz="2200" b="1">
                <a:solidFill>
                  <a:srgbClr val="1A3C6E"/>
                </a:solidFill>
                <a:latin typeface="Microsoft YaHei UI"/>
              </a:rPr>
              <a:t>路线探索结论与主线切换依据</a:t>
            </a:r>
            <a:endParaRPr sz="2200" b="1">
              <a:solidFill>
                <a:srgbClr val="1A3C6E"/>
              </a:solidFill>
              <a:latin typeface="Microsoft YaHei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30352" y="256033"/>
            <a:ext cx="1143000" cy="202565"/>
          </a:xfrm>
          <a:solidFill>
            <a:srgbClr val="1A3C6E"/>
          </a:solidFill>
          <a:ln>
            <a:solidFill>
              <a:srgbClr val="1A3C6E"/>
            </a:solidFill>
          </a:ln>
        </p:spPr>
        <p:txBody>
          <a:bodyPr/>
          <a:lstStyle/>
          <a:p>
            <a:pPr marL="0" indent="0" algn="ctr" fontAlgn="auto">
              <a:spcAft>
                <a:spcPts val="0"/>
              </a:spcAft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A</a:t>
            </a:r>
            <a:endParaRPr lang="de-DE" sz="900" b="1" kern="0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0352" y="658368"/>
            <a:ext cx="9509760" cy="523875"/>
          </a:xfrm>
        </p:spPr>
        <p:txBody>
          <a:bodyPr/>
          <a:lstStyle/>
          <a:p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自动驾驶规划方法的技术演进</a:t>
            </a:r>
            <a:endParaRPr lang="en-US" sz="2300" b="1">
              <a:solidFill>
                <a:srgbClr val="007BC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98480" y="6263641"/>
            <a:ext cx="320040" cy="147193"/>
          </a:xfrm>
        </p:spPr>
        <p:txBody>
          <a:bodyPr/>
          <a:lstStyle/>
          <a:p>
            <a:r>
              <a:rPr lang="en-US" sz="900">
                <a:latin typeface="Microsoft YaHei UI" panose="020B0503020204020204" pitchFamily="34" charset="-122"/>
              </a:rPr>
              <a:t>19</a:t>
            </a:r>
            <a:endParaRPr lang="en-US" sz="900" noProof="1">
              <a:latin typeface="Microsoft YaHei U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11200" y="1371600"/>
            <a:ext cx="9652000" cy="4127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</a:pP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自动驾驶规划方法主要经历三次演进：</a:t>
            </a:r>
          </a:p>
          <a:p>
            <a:pPr>
              <a:lnSpc>
                <a:spcPct val="95000"/>
              </a:lnSpc>
            </a:pPr>
            <a:endParaRPr lang="zh-CN" altLang="en-US"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1.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回归式方法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直接预测未来轨迹。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优点：推理快、模型轻、部署友好。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局限：单模态，复杂交互下容易出现“均值解”。</a:t>
            </a:r>
          </a:p>
          <a:p>
            <a:pPr>
              <a:lnSpc>
                <a:spcPct val="95000"/>
              </a:lnSpc>
            </a:pPr>
            <a:endParaRPr lang="zh-CN" altLang="en-US"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2. Diffusion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通过逐步去噪生成多条候选轨迹。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优点：多模态能力强。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局限：通常需要 </a:t>
            </a: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20-100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步，实时性压力大。</a:t>
            </a:r>
          </a:p>
          <a:p>
            <a:pPr>
              <a:lnSpc>
                <a:spcPct val="95000"/>
              </a:lnSpc>
            </a:pPr>
            <a:endParaRPr lang="zh-CN" altLang="en-US"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3. Flow Matching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直接学习从噪声到轨迹的最短传输路径。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仅需 </a:t>
            </a: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步 </a:t>
            </a: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ODE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，兼顾多模态、速度与性能。</a:t>
            </a:r>
          </a:p>
          <a:p>
            <a:pPr>
              <a:lnSpc>
                <a:spcPct val="95000"/>
              </a:lnSpc>
            </a:pPr>
            <a:endParaRPr lang="zh-CN" altLang="en-US"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结论：对内部创新项目而言，</a:t>
            </a: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是当前效果、时延与部署友好性的最佳平衡点。</a:t>
            </a:r>
            <a:endParaRPr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977CAD2-C726-1F15-E40E-53CC32B234AB}"/>
              </a:ext>
            </a:extLst>
          </p:cNvPr>
          <p:cNvSpPr txBox="1"/>
          <p:nvPr/>
        </p:nvSpPr>
        <p:spPr>
          <a:xfrm>
            <a:off x="530352" y="6263641"/>
            <a:ext cx="3474720" cy="1390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5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49C256-06A6-0528-795F-1A251A978E67}"/>
              </a:ext>
            </a:extLst>
          </p:cNvPr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9525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75992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30352" y="256033"/>
            <a:ext cx="1143000" cy="202565"/>
          </a:xfrm>
          <a:solidFill>
            <a:srgbClr val="1A3C6E"/>
          </a:solidFill>
          <a:ln>
            <a:solidFill>
              <a:srgbClr val="1A3C6E"/>
            </a:solidFill>
          </a:ln>
        </p:spPr>
        <p:txBody>
          <a:bodyPr/>
          <a:lstStyle/>
          <a:p>
            <a:pPr marL="0" indent="0" algn="ctr" fontAlgn="auto">
              <a:spcAft>
                <a:spcPts val="0"/>
              </a:spcAft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B</a:t>
            </a:r>
            <a:endParaRPr lang="de-DE" sz="900" b="1" kern="0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0352" y="658368"/>
            <a:ext cx="9509760" cy="523875"/>
          </a:xfrm>
        </p:spPr>
        <p:txBody>
          <a:bodyPr/>
          <a:lstStyle/>
          <a:p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Diffusion vs Flow Matching：</a:t>
            </a:r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直觉理解</a:t>
            </a:r>
            <a:endParaRPr sz="2300" b="1">
              <a:solidFill>
                <a:srgbClr val="007BC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98480" y="6263641"/>
            <a:ext cx="320040" cy="147193"/>
          </a:xfrm>
        </p:spPr>
        <p:txBody>
          <a:bodyPr/>
          <a:lstStyle/>
          <a:p>
            <a:r>
              <a:rPr lang="en-US" sz="900">
                <a:latin typeface="Microsoft YaHei UI" panose="020B0503020204020204" pitchFamily="34" charset="-122"/>
              </a:rPr>
              <a:t>20</a:t>
            </a:r>
            <a:endParaRPr lang="en-US" sz="900" noProof="1">
              <a:latin typeface="Microsoft YaHei U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5000" y="1600200"/>
            <a:ext cx="5207000" cy="3238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共同点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都从随机噪声出发，目标都是生成合理驾驶轨迹。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都能避免回归模型的 </a:t>
            </a: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mode averaging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问题。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105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Diffusion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学“如何一步步去掉噪声”，预测噪声 </a:t>
            </a: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ε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路径弯曲，通常需要 </a:t>
            </a: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20-100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步。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推理延迟约 </a:t>
            </a: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100ms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，实时性压力较大。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105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学“当前点应该往哪里走”，预测向量场 </a:t>
            </a: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v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路径近似直线，</a:t>
            </a: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步 </a:t>
            </a: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ODE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即可到达终点。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推理约 </a:t>
            </a:r>
            <a:r>
              <a:rPr lang="en-US" altLang="zh-CN" sz="1050">
                <a:solidFill>
                  <a:srgbClr val="000000"/>
                </a:solidFill>
                <a:latin typeface="Microsoft YaHei UI" panose="020B0503020204020204" pitchFamily="34" charset="-122"/>
              </a:rPr>
              <a:t>20ms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</a:rPr>
              <a:t>，更适合车端实时规划。</a:t>
            </a:r>
            <a:endParaRPr sz="105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350000" y="1651000"/>
            <a:ext cx="3556000" cy="3048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对比总结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105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路径形状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Diffusion：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弯曲去噪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Flow Matching：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近似直线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105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训练目标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Diffusion：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预测噪声 </a:t>
            </a:r>
            <a:r>
              <a:rPr lang="el-GR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ε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Flow Matching：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预测向量场 </a:t>
            </a: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v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en-US" sz="105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推理步数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Diffusion：20-100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Flow Matching：4 </a:t>
            </a: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步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105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结论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同为生成式，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但 </a:t>
            </a:r>
            <a:r>
              <a:rPr 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Flow Matching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5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更适合实时规划。</a:t>
            </a:r>
            <a:endParaRPr kumimoji="0" sz="1050" i="0" u="none" strike="noStrike" cap="none" spc="0" normalizeH="0" baseline="0">
              <a:solidFill>
                <a:srgbClr val="0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 UI" panose="020B0503020204020204" pitchFamily="34" charset="-122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E5BAA4A-CA9C-F714-D72A-2FCD7055D5B1}"/>
              </a:ext>
            </a:extLst>
          </p:cNvPr>
          <p:cNvSpPr txBox="1"/>
          <p:nvPr/>
        </p:nvSpPr>
        <p:spPr>
          <a:xfrm>
            <a:off x="530352" y="6263641"/>
            <a:ext cx="3474720" cy="1390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5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4425B67-E777-62BB-DC09-74D12AAD20D2}"/>
              </a:ext>
            </a:extLst>
          </p:cNvPr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9525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10062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30352" y="256033"/>
            <a:ext cx="1143000" cy="202565"/>
          </a:xfrm>
          <a:solidFill>
            <a:srgbClr val="1A3C6E"/>
          </a:solidFill>
          <a:ln>
            <a:solidFill>
              <a:srgbClr val="1A3C6E"/>
            </a:solidFill>
          </a:ln>
        </p:spPr>
        <p:txBody>
          <a:bodyPr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C</a:t>
            </a:r>
            <a:endParaRPr sz="900" b="1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0352" y="658368"/>
            <a:ext cx="9509760" cy="523875"/>
          </a:xfrm>
        </p:spPr>
        <p:txBody>
          <a:bodyPr/>
          <a:lstStyle/>
          <a:p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为什么需要多模态轨迹生成？</a:t>
            </a:r>
            <a:endParaRPr sz="2300" b="1">
              <a:solidFill>
                <a:srgbClr val="007BC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600200"/>
            <a:ext cx="9499600" cy="3175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场景示例：前方静止车辆，合理行为可能是左绕、右绕或减速等待。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108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回归模型的问题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L2 / Huber </a:t>
            </a: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会逼着模型输出“条件均值”。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多个合理模式的均值本身可能并不合理。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因此在复杂交互中容易出现 </a:t>
            </a:r>
            <a:r>
              <a:rPr lang="en-US" altLang="zh-CN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mode averaging</a:t>
            </a: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108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生成模型的价值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学习的是完整轨迹分布，而不是单个点。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采样时会落在某个合理模式上，而不是模式中间。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en-US" altLang="zh-CN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这正是复杂交互规划需要的能力：允许多种策略，再从中选择。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endParaRPr lang="zh-CN" altLang="en-US" sz="108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结论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lang="zh-CN" altLang="en-US" sz="108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多模态不是“多生成几条轨迹”，而是规划系统表达决策差异的前提。</a:t>
            </a:r>
            <a:endParaRPr sz="108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22068E-58E6-4BC8-25C2-4F931E0D45B1}"/>
              </a:ext>
            </a:extLst>
          </p:cNvPr>
          <p:cNvSpPr txBox="1"/>
          <p:nvPr/>
        </p:nvSpPr>
        <p:spPr>
          <a:xfrm>
            <a:off x="530352" y="6263641"/>
            <a:ext cx="3474720" cy="1390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5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426A93A-3257-B2F1-F3E5-E9AC7ACDBF5C}"/>
              </a:ext>
            </a:extLst>
          </p:cNvPr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9525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B2866D7-132D-39E8-9E08-24C78FCDAEDA}"/>
              </a:ext>
            </a:extLst>
          </p:cNvPr>
          <p:cNvSpPr txBox="1"/>
          <p:nvPr/>
        </p:nvSpPr>
        <p:spPr>
          <a:xfrm>
            <a:off x="10698480" y="6263640"/>
            <a:ext cx="320040" cy="1471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rgbClr val="999FA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6685434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3"/>
            <a:ext cx="1143000" cy="23083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D</a:t>
            </a:r>
            <a:endParaRPr sz="900" b="1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Diffusion Model </a:t>
            </a:r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训练与推理：加噪与去噪</a:t>
            </a:r>
            <a:endParaRPr sz="2300" b="1">
              <a:solidFill>
                <a:srgbClr val="007BC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0232" y="1525268"/>
            <a:ext cx="4445000" cy="31750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一句话：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Diffusion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的训练逻辑是“先加噪，再学去噪”</a:t>
            </a:r>
            <a:endParaRPr lang="en-US" altLang="zh-CN" sz="10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endParaRPr lang="en-US" altLang="zh-CN" sz="10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训练过程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1.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从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GT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轨迹出发。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2.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按噪声调度逐步加噪，得到 </a:t>
            </a:r>
            <a:r>
              <a:rPr lang="en-US" altLang="zh-CN" sz="1000" dirty="0" err="1">
                <a:solidFill>
                  <a:srgbClr val="000000"/>
                </a:solidFill>
                <a:latin typeface="Microsoft YaHei UI" panose="020B0503020204020204" pitchFamily="34" charset="-122"/>
              </a:rPr>
              <a:t>x_t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3.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模型输入 </a:t>
            </a:r>
            <a:r>
              <a:rPr lang="en-US" altLang="zh-CN" sz="1000" dirty="0" err="1">
                <a:solidFill>
                  <a:srgbClr val="000000"/>
                </a:solidFill>
                <a:latin typeface="Microsoft YaHei UI" panose="020B0503020204020204" pitchFamily="34" charset="-122"/>
              </a:rPr>
              <a:t>x_t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和时间步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t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，预测当前噪声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ε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4.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用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MSE(</a:t>
            </a:r>
            <a:r>
              <a:rPr lang="en-US" altLang="zh-CN" sz="1000" dirty="0" err="1">
                <a:solidFill>
                  <a:srgbClr val="000000"/>
                </a:solidFill>
                <a:latin typeface="Microsoft YaHei UI" panose="020B0503020204020204" pitchFamily="34" charset="-122"/>
              </a:rPr>
              <a:t>ε_hat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, ε)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训练网络。</a:t>
            </a:r>
            <a:endParaRPr lang="en-US" altLang="zh-CN" sz="10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endParaRPr lang="zh-CN" altLang="en-US" sz="10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推理过程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从纯噪声开始。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反复执行去噪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20-100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步。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每一步只去掉一小部分噪声，因此整体延迟较高。</a:t>
            </a:r>
            <a:endParaRPr sz="10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05425" y="1778635"/>
            <a:ext cx="3238500" cy="179832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88000" y="1600200"/>
            <a:ext cx="4191000" cy="1905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spcAft>
                <a:spcPct val="200000"/>
              </a:spcAft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Truncated Diffusion</a:t>
            </a:r>
          </a:p>
          <a:p>
            <a:pPr>
              <a:spcAft>
                <a:spcPct val="200000"/>
              </a:spcAft>
            </a:pPr>
            <a:endParaRPr lang="en-US" altLang="zh-CN" sz="100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spcAft>
                <a:spcPct val="200000"/>
              </a:spcAft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不从纯噪声起步，而是从“专家轨迹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+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少量噪声”的中间状态起步。</a:t>
            </a:r>
          </a:p>
          <a:p>
            <a:pPr>
              <a:spcAft>
                <a:spcPct val="200000"/>
              </a:spcAft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目标是把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20+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步压缩到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3-5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步。</a:t>
            </a:r>
          </a:p>
          <a:p>
            <a:pPr>
              <a:spcAft>
                <a:spcPct val="200000"/>
              </a:spcAft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本质上仍属于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diffusion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路线，只是做了推理截断和加速。</a:t>
            </a:r>
            <a:endParaRPr kumimoji="0" lang="zh-CN" altLang="en-US" sz="100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icrosoft YaHei UI" panose="020B0503020204020204" pitchFamily="34" charset="-122"/>
              <a:sym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CEA06C-4D43-E744-DB34-1A92319885A8}"/>
              </a:ext>
            </a:extLst>
          </p:cNvPr>
          <p:cNvSpPr txBox="1"/>
          <p:nvPr/>
        </p:nvSpPr>
        <p:spPr>
          <a:xfrm>
            <a:off x="530352" y="6263641"/>
            <a:ext cx="3474720" cy="1390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5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8884D0-C56A-101F-801C-80F95BD787DC}"/>
              </a:ext>
            </a:extLst>
          </p:cNvPr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9525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F0AB126-8A45-657A-699A-5952D44191D0}"/>
              </a:ext>
            </a:extLst>
          </p:cNvPr>
          <p:cNvSpPr txBox="1"/>
          <p:nvPr/>
        </p:nvSpPr>
        <p:spPr>
          <a:xfrm>
            <a:off x="10698480" y="6263640"/>
            <a:ext cx="320040" cy="1471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rgbClr val="999FA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7938310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3"/>
            <a:ext cx="1143000" cy="23083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E</a:t>
            </a:r>
            <a:endParaRPr sz="900" b="1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95097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训练与推理：</a:t>
            </a:r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z </a:t>
            </a:r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和 </a:t>
            </a:r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t </a:t>
            </a:r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的作用</a:t>
            </a:r>
            <a:endParaRPr sz="2300" b="1">
              <a:solidFill>
                <a:srgbClr val="007BC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60400" y="1422400"/>
            <a:ext cx="4572000" cy="3111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一句话：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在噪声和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GT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轨迹之间随机取一点，训练模型学会从当前位置走向真实轨迹。</a:t>
            </a:r>
          </a:p>
          <a:p>
            <a:pPr>
              <a:lnSpc>
                <a:spcPct val="95000"/>
              </a:lnSpc>
            </a:pPr>
            <a:endParaRPr lang="zh-CN" altLang="en-US" sz="10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训练过程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1.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真实轨迹记为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x1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2.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采样噪声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x0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和进度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t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3.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构造 </a:t>
            </a:r>
            <a:r>
              <a:rPr lang="en-US" altLang="zh-CN" sz="1000" dirty="0" err="1">
                <a:solidFill>
                  <a:srgbClr val="000000"/>
                </a:solidFill>
                <a:latin typeface="Microsoft YaHei UI" panose="020B0503020204020204" pitchFamily="34" charset="-122"/>
              </a:rPr>
              <a:t>x_t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 = (1-t)x0 + t x1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4.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模型结合场景特征，预测轨迹方向或干净轨迹估计。</a:t>
            </a:r>
          </a:p>
          <a:p>
            <a:pPr>
              <a:lnSpc>
                <a:spcPct val="95000"/>
              </a:lnSpc>
            </a:pPr>
            <a:endParaRPr lang="zh-CN" altLang="en-US" sz="10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推理过程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从纯噪声出发。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用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4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步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ODE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沿向量场推进。</a:t>
            </a:r>
          </a:p>
          <a:p>
            <a:pPr>
              <a:lnSpc>
                <a:spcPct val="95000"/>
              </a:lnSpc>
            </a:pP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最终得到 </a:t>
            </a:r>
            <a:r>
              <a:rPr lang="en-US" altLang="zh-CN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8 </a:t>
            </a:r>
            <a:r>
              <a:rPr lang="zh-CN" altLang="en-US" sz="10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秒轨迹。</a:t>
            </a:r>
            <a:endParaRPr lang="en-US" sz="10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88000" y="1422400"/>
            <a:ext cx="3937000" cy="26035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训练 </a:t>
            </a:r>
            <a:r>
              <a:rPr lang="en-US" altLang="zh-CN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vs </a:t>
            </a: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推理</a:t>
            </a:r>
          </a:p>
          <a:p>
            <a:pPr>
              <a:lnSpc>
                <a:spcPct val="95000"/>
              </a:lnSpc>
            </a:pPr>
            <a:endParaRPr lang="zh-CN" altLang="en-US" sz="96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t</a:t>
            </a: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训练：随机采样</a:t>
            </a: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推理：固定 </a:t>
            </a:r>
            <a:r>
              <a:rPr lang="en-US" altLang="zh-CN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4 </a:t>
            </a: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步</a:t>
            </a:r>
          </a:p>
          <a:p>
            <a:pPr>
              <a:lnSpc>
                <a:spcPct val="95000"/>
              </a:lnSpc>
            </a:pPr>
            <a:endParaRPr lang="zh-CN" altLang="en-US" sz="96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输入</a:t>
            </a: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训练：</a:t>
            </a:r>
            <a:r>
              <a:rPr lang="en-US" altLang="zh-CN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x_t </a:t>
            </a: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半成品</a:t>
            </a: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推理：上一步 </a:t>
            </a:r>
            <a:r>
              <a:rPr lang="en-US" altLang="zh-CN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ODE </a:t>
            </a: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状态</a:t>
            </a:r>
          </a:p>
          <a:p>
            <a:pPr>
              <a:lnSpc>
                <a:spcPct val="95000"/>
              </a:lnSpc>
            </a:pPr>
            <a:endParaRPr lang="zh-CN" altLang="en-US" sz="96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输出</a:t>
            </a: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训练：轨迹方向 </a:t>
            </a:r>
            <a:r>
              <a:rPr lang="en-US" altLang="zh-CN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/ </a:t>
            </a: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干净轨迹估计</a:t>
            </a: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推理：下一步推进方向</a:t>
            </a:r>
          </a:p>
          <a:p>
            <a:pPr>
              <a:lnSpc>
                <a:spcPct val="95000"/>
              </a:lnSpc>
            </a:pPr>
            <a:endParaRPr lang="zh-CN" altLang="en-US" sz="960">
              <a:solidFill>
                <a:srgbClr val="000000"/>
              </a:solidFill>
              <a:latin typeface="Microsoft YaHei UI" panose="020B0503020204020204" pitchFamily="34" charset="-122"/>
              <a:sym typeface="+mn-ea"/>
            </a:endParaRPr>
          </a:p>
          <a:p>
            <a:pPr>
              <a:lnSpc>
                <a:spcPct val="95000"/>
              </a:lnSpc>
            </a:pPr>
            <a:r>
              <a:rPr lang="en-US" altLang="zh-CN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GT</a:t>
            </a: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训练需要</a:t>
            </a:r>
          </a:p>
          <a:p>
            <a:pPr>
              <a:lnSpc>
                <a:spcPct val="95000"/>
              </a:lnSpc>
            </a:pPr>
            <a:r>
              <a:rPr lang="zh-CN" altLang="en-US" sz="960">
                <a:solidFill>
                  <a:srgbClr val="000000"/>
                </a:solidFill>
                <a:latin typeface="Microsoft YaHei UI" panose="020B0503020204020204" pitchFamily="34" charset="-122"/>
                <a:sym typeface="+mn-ea"/>
              </a:rPr>
              <a:t>推理不需要</a:t>
            </a:r>
            <a:endParaRPr kumimoji="0" lang="zh-CN" sz="960" i="0" u="none" strike="noStrike" cap="none" spc="0" normalizeH="0" baseline="0">
              <a:solidFill>
                <a:srgbClr val="000000"/>
              </a:solidFill>
              <a:latin typeface="Microsoft YaHei UI" panose="020B0503020204020204" pitchFamily="34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8F573B-D188-C9DE-24D7-3129EF013401}"/>
              </a:ext>
            </a:extLst>
          </p:cNvPr>
          <p:cNvSpPr txBox="1"/>
          <p:nvPr/>
        </p:nvSpPr>
        <p:spPr>
          <a:xfrm>
            <a:off x="530352" y="6263641"/>
            <a:ext cx="3474720" cy="1390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5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EB6C122-866F-681A-114C-902CD87DA20D}"/>
              </a:ext>
            </a:extLst>
          </p:cNvPr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9525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2AA0F36-711E-5E99-FA44-06C390F3B523}"/>
              </a:ext>
            </a:extLst>
          </p:cNvPr>
          <p:cNvSpPr txBox="1"/>
          <p:nvPr/>
        </p:nvSpPr>
        <p:spPr>
          <a:xfrm>
            <a:off x="10698480" y="6263640"/>
            <a:ext cx="320040" cy="1471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rgbClr val="999FA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6054960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30352" y="256033"/>
            <a:ext cx="1143000" cy="202565"/>
          </a:xfrm>
          <a:solidFill>
            <a:srgbClr val="1A3C6E"/>
          </a:solidFill>
          <a:ln>
            <a:solidFill>
              <a:srgbClr val="1A3C6E"/>
            </a:solidFill>
          </a:ln>
        </p:spPr>
        <p:txBody>
          <a:bodyPr/>
          <a:lstStyle/>
          <a:p>
            <a:pPr marL="0" indent="0" algn="ctr" fontAlgn="auto">
              <a:spcAft>
                <a:spcPts val="0"/>
              </a:spcAft>
              <a:buNone/>
            </a:pPr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F</a:t>
            </a:r>
            <a:endParaRPr lang="de-DE" sz="900" b="1" kern="0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30352" y="658368"/>
            <a:ext cx="9509760" cy="523875"/>
          </a:xfrm>
        </p:spPr>
        <p:txBody>
          <a:bodyPr/>
          <a:lstStyle/>
          <a:p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为什么选择 </a:t>
            </a:r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Flow Matching？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698480" y="6263641"/>
            <a:ext cx="320040" cy="147193"/>
          </a:xfrm>
        </p:spPr>
        <p:txBody>
          <a:bodyPr/>
          <a:lstStyle/>
          <a:p>
            <a:r>
              <a:rPr lang="en-US" sz="900">
                <a:latin typeface="Microsoft YaHei UI" panose="020B0503020204020204" pitchFamily="34" charset="-122"/>
              </a:rPr>
              <a:t>24</a:t>
            </a:r>
            <a:endParaRPr lang="en-US" sz="900" noProof="1">
              <a:latin typeface="Microsoft YaHei UI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6600" y="1422400"/>
            <a:ext cx="9499600" cy="3238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</a:pP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选择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的三点原因</a:t>
            </a:r>
          </a:p>
          <a:p>
            <a:pPr>
              <a:lnSpc>
                <a:spcPct val="95000"/>
              </a:lnSpc>
            </a:pPr>
            <a:endParaRPr lang="zh-CN" altLang="en-US" sz="100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1.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多模态能力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保留生成式模型表达多解轨迹的优势。</a:t>
            </a:r>
          </a:p>
          <a:p>
            <a:pPr>
              <a:lnSpc>
                <a:spcPct val="95000"/>
              </a:lnSpc>
            </a:pPr>
            <a:endParaRPr lang="zh-CN" altLang="en-US" sz="100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2.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实时性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4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步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ODE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即可完成推理，显著快于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diffusion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的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20+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步去噪。</a:t>
            </a:r>
          </a:p>
          <a:p>
            <a:pPr>
              <a:lnSpc>
                <a:spcPct val="95000"/>
              </a:lnSpc>
            </a:pPr>
            <a:endParaRPr lang="zh-CN" altLang="en-US" sz="100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3. Benchmark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表现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Flow Planner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在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nuPlan Val14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上达到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90.43 NR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，高于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Diffusion Planner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的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89.87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。</a:t>
            </a:r>
          </a:p>
          <a:p>
            <a:pPr>
              <a:lnSpc>
                <a:spcPct val="95000"/>
              </a:lnSpc>
            </a:pPr>
            <a:endParaRPr lang="zh-CN" altLang="en-US" sz="100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对公司项目的意义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既能支撑复杂交互场景，又具备部署可行性。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更适合作为后续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、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DPO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和安全筛选的基线生成器。</a:t>
            </a:r>
            <a:endParaRPr sz="100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2CAA901-FFD3-7DD8-BE5C-C54BA5B8B5E8}"/>
              </a:ext>
            </a:extLst>
          </p:cNvPr>
          <p:cNvSpPr txBox="1"/>
          <p:nvPr/>
        </p:nvSpPr>
        <p:spPr>
          <a:xfrm>
            <a:off x="530352" y="6263641"/>
            <a:ext cx="3474720" cy="1390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5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AD6B20A-2D3B-3823-79C5-C401C82A537B}"/>
              </a:ext>
            </a:extLst>
          </p:cNvPr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9525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76036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658368"/>
            <a:ext cx="9509760" cy="523875"/>
          </a:xfrm>
        </p:spPr>
        <p:txBody>
          <a:bodyPr/>
          <a:lstStyle/>
          <a:p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基线架构：</a:t>
            </a:r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Flow Planner (NeurIPS 2025)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5"/>
          </p:nvPr>
        </p:nvSpPr>
        <p:spPr>
          <a:xfrm>
            <a:off x="530352" y="256033"/>
            <a:ext cx="1143000" cy="202565"/>
          </a:xfrm>
          <a:solidFill>
            <a:srgbClr val="1A3C6E"/>
          </a:solidFill>
          <a:ln>
            <a:solidFill>
              <a:srgbClr val="1A3C6E"/>
            </a:solidFill>
          </a:ln>
        </p:spPr>
        <p:txBody>
          <a:bodyPr/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G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0698480" y="6263641"/>
            <a:ext cx="320040" cy="147193"/>
          </a:xfrm>
        </p:spPr>
        <p:txBody>
          <a:bodyPr/>
          <a:lstStyle/>
          <a:p>
            <a:r>
              <a:rPr lang="en-US" sz="900">
                <a:latin typeface="Microsoft YaHei UI" panose="020B0503020204020204" pitchFamily="34" charset="-122"/>
              </a:rPr>
              <a:t>25</a:t>
            </a:r>
            <a:endParaRPr lang="en-US" sz="900" noProof="1">
              <a:latin typeface="Microsoft YaHei UI" panose="020B0503020204020204" pitchFamily="3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36600" y="1422400"/>
            <a:ext cx="9499600" cy="3365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</a:pP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Flow Planner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基线由三部分构成：</a:t>
            </a:r>
          </a:p>
          <a:p>
            <a:pPr>
              <a:lnSpc>
                <a:spcPct val="95000"/>
              </a:lnSpc>
            </a:pPr>
            <a:endParaRPr lang="zh-CN" altLang="en-US"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1.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Encoder</a:t>
            </a:r>
          </a:p>
          <a:p>
            <a:pPr>
              <a:lnSpc>
                <a:spcPct val="95000"/>
              </a:lnSpc>
            </a:pP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编码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ego history、neighbors、lanes、route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和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static objects。</a:t>
            </a:r>
          </a:p>
          <a:p>
            <a:pPr>
              <a:lnSpc>
                <a:spcPct val="95000"/>
              </a:lnSpc>
            </a:pP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使用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MLP-Mixer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形成统一场景表示。</a:t>
            </a:r>
          </a:p>
          <a:p>
            <a:pPr>
              <a:lnSpc>
                <a:spcPct val="95000"/>
              </a:lnSpc>
            </a:pPr>
            <a:endParaRPr lang="zh-CN" altLang="en-US"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2.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Decoder</a:t>
            </a:r>
          </a:p>
          <a:p>
            <a:pPr>
              <a:lnSpc>
                <a:spcPct val="95000"/>
              </a:lnSpc>
            </a:pP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4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层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DiT Block + AdaLN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条件注入。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基于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Flow Matching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生成未来 </a:t>
            </a: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8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秒轨迹。</a:t>
            </a:r>
          </a:p>
          <a:p>
            <a:pPr>
              <a:lnSpc>
                <a:spcPct val="95000"/>
              </a:lnSpc>
            </a:pPr>
            <a:endParaRPr lang="zh-CN" altLang="en-US"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3.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CFG</a:t>
            </a:r>
          </a:p>
          <a:p>
            <a:pPr>
              <a:lnSpc>
                <a:spcPct val="95000"/>
              </a:lnSpc>
            </a:pP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融合有邻车 </a:t>
            </a: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/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无邻车两种预测。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增强模型对交互参与者的响应。</a:t>
            </a:r>
          </a:p>
          <a:p>
            <a:pPr>
              <a:lnSpc>
                <a:spcPct val="95000"/>
              </a:lnSpc>
            </a:pPr>
            <a:endParaRPr lang="zh-CN" altLang="en-US"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基线优势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14.28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M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参数，结构轻量。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4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步推理，时延低。</a:t>
            </a:r>
          </a:p>
          <a:p>
            <a:pPr>
              <a:lnSpc>
                <a:spcPct val="95000"/>
              </a:lnSpc>
            </a:pPr>
            <a:r>
              <a:rPr lang="en-US" altLang="zh-CN" sz="98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Val14 NR 90.43，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是继续做 </a:t>
            </a:r>
            <a:r>
              <a:rPr 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+ DPO </a:t>
            </a:r>
            <a:r>
              <a:rPr lang="zh-CN" altLang="en-US" sz="980">
                <a:solidFill>
                  <a:srgbClr val="000000"/>
                </a:solidFill>
                <a:latin typeface="Microsoft YaHei UI" panose="020B0503020204020204" pitchFamily="34" charset="-122"/>
              </a:rPr>
              <a:t>的高质量起点。</a:t>
            </a:r>
            <a:endParaRPr sz="98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4CF147-27CE-0984-4BD2-93921651DCA1}"/>
              </a:ext>
            </a:extLst>
          </p:cNvPr>
          <p:cNvSpPr txBox="1"/>
          <p:nvPr/>
        </p:nvSpPr>
        <p:spPr>
          <a:xfrm>
            <a:off x="530352" y="6263641"/>
            <a:ext cx="3474720" cy="1390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5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2F6F66E-681A-EE5B-A9EA-7D1DF167BB02}"/>
              </a:ext>
            </a:extLst>
          </p:cNvPr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9525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81636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658368"/>
            <a:ext cx="950976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核心机制：</a:t>
            </a:r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DiT </a:t>
            </a:r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与 </a:t>
            </a:r>
            <a:r>
              <a:rPr 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CFG</a:t>
            </a:r>
            <a:endParaRPr sz="2300" b="1">
              <a:solidFill>
                <a:srgbClr val="007BC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1" y="256033"/>
            <a:ext cx="543739" cy="230832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H</a:t>
            </a:r>
            <a:endParaRPr sz="900" b="1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6600" y="1422400"/>
            <a:ext cx="9499600" cy="32385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DiT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的作用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让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decoder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不再“一个场景一个固定处理方式”。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AdaLN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根据时间步和场景条件动态调制每一层。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Gate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让不同层对条件变化的响应强弱可控。</a:t>
            </a:r>
          </a:p>
          <a:p>
            <a:pPr>
              <a:lnSpc>
                <a:spcPct val="95000"/>
              </a:lnSpc>
            </a:pPr>
            <a:endParaRPr lang="zh-CN" altLang="en-US" sz="100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CFG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的作用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同时学习“有邻居”和“无邻居”两种预测。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推理时放大两者差异，从而增强对周围车辆的反应。</a:t>
            </a:r>
          </a:p>
          <a:p>
            <a:pPr>
              <a:lnSpc>
                <a:spcPct val="95000"/>
              </a:lnSpc>
            </a:pPr>
            <a:endParaRPr lang="zh-CN" altLang="en-US" sz="1000">
              <a:solidFill>
                <a:srgbClr val="000000"/>
              </a:solidFill>
              <a:latin typeface="Microsoft YaHei UI" panose="020B0503020204020204" pitchFamily="34" charset="-122"/>
            </a:endParaRPr>
          </a:p>
          <a:p>
            <a:pPr>
              <a:lnSpc>
                <a:spcPct val="95000"/>
              </a:lnSpc>
            </a:pP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为什么对规划有用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对复杂交互更敏感。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能更好放大让行、避让、跟车等行为差异。</a:t>
            </a:r>
          </a:p>
          <a:p>
            <a:pPr>
              <a:lnSpc>
                <a:spcPct val="95000"/>
              </a:lnSpc>
            </a:pP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为后续自适应 </a:t>
            </a:r>
            <a:r>
              <a:rPr lang="en-US" altLang="zh-CN" sz="1000">
                <a:solidFill>
                  <a:srgbClr val="000000"/>
                </a:solidFill>
                <a:latin typeface="Microsoft YaHei UI" panose="020B0503020204020204" pitchFamily="34" charset="-122"/>
              </a:rPr>
              <a:t>guidance </a:t>
            </a:r>
            <a:r>
              <a:rPr lang="zh-CN" altLang="en-US" sz="1000">
                <a:solidFill>
                  <a:srgbClr val="000000"/>
                </a:solidFill>
                <a:latin typeface="Microsoft YaHei UI" panose="020B0503020204020204" pitchFamily="34" charset="-122"/>
              </a:rPr>
              <a:t>和安全筛选提供基础。</a:t>
            </a:r>
            <a:endParaRPr sz="100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866F28-4A7C-C103-D1F2-AC552A0EEC93}"/>
              </a:ext>
            </a:extLst>
          </p:cNvPr>
          <p:cNvSpPr txBox="1"/>
          <p:nvPr/>
        </p:nvSpPr>
        <p:spPr>
          <a:xfrm>
            <a:off x="530352" y="6263641"/>
            <a:ext cx="3474720" cy="139065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85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306C02-24E5-C9FB-58B5-C5DCD78D36D9}"/>
              </a:ext>
            </a:extLst>
          </p:cNvPr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9525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3F136C"/>
                </a:solidFill>
                <a:prstDash val="solid"/>
              </a14:hiddenLine>
            </a:ext>
          </a:extLst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FE1355-F46F-9053-5D88-CE45C2469C20}"/>
              </a:ext>
            </a:extLst>
          </p:cNvPr>
          <p:cNvSpPr txBox="1"/>
          <p:nvPr/>
        </p:nvSpPr>
        <p:spPr>
          <a:xfrm>
            <a:off x="10698480" y="6263640"/>
            <a:ext cx="320040" cy="147193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 marR="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900" i="0" u="none" strike="noStrike" kern="0" cap="none" spc="0" normalizeH="0" baseline="0" noProof="0">
                <a:ln>
                  <a:noFill/>
                </a:ln>
                <a:solidFill>
                  <a:srgbClr val="999FA6"/>
                </a:solidFill>
                <a:effectLst/>
                <a:uLnTx/>
                <a:uFillTx/>
                <a:latin typeface="Microsoft YaHei UI" panose="020B0503020204020204" pitchFamily="34" charset="-122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89220168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3"/>
            <a:ext cx="1143000" cy="202565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I</a:t>
            </a:r>
            <a:endParaRPr sz="900" b="1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658369"/>
            <a:ext cx="9509760" cy="5238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完整技术流程展开</a:t>
            </a:r>
            <a:endParaRPr sz="2300" b="1">
              <a:solidFill>
                <a:srgbClr val="007BC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rgbClr val="006EAF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1"/>
            <a:ext cx="320040" cy="14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>
                <a:solidFill>
                  <a:srgbClr val="999FA6"/>
                </a:solidFill>
                <a:latin typeface="Microsoft YaHei UI" panose="020B0503020204020204" pitchFamily="34" charset="-122"/>
              </a:rPr>
              <a:t>27</a:t>
            </a:r>
            <a:endParaRPr sz="900">
              <a:solidFill>
                <a:srgbClr val="999FA6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39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666666"/>
                </a:solidFill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3232" y="1417320"/>
          <a:ext cx="100584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步骤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关键动作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icrosoft YaHei UI"/>
                        </a:rPr>
                        <a:t>说明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Step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聚类 GT 终点，建立 goal vocabulary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为意图注入提供离散锚点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Step 2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重训带 goal conditioning 的 FM 模型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确认 decoder 中 goal_proj 真正生效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Step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用不同 goal 生成候选轨迹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获得决策级差异，而不是噪声级抖动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Step 4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scorer 构建 preference pairs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安全、路线、舒适度联合打分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Step 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LoRA + DPO 训练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低成本把偏好写进模型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Step 6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合并权重并评估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333333"/>
                          </a:solidFill>
                          <a:latin typeface="Microsoft YaHei UI"/>
                        </a:rPr>
                        <a:t>形成最终可部署 checkpoint</a:t>
                      </a:r>
                    </a:p>
                  </a:txBody>
                  <a:tcPr anchor="ctr">
                    <a:solidFill>
                      <a:srgbClr val="F3F7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41248" y="4617720"/>
            <a:ext cx="9784080" cy="3631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ct val="200000"/>
              </a:spcAft>
            </a:pPr>
            <a:r>
              <a:rPr lang="zh-CN" altLang="en-US" sz="14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本页展示项目从候选生成、偏好构建到增量优化的完整技术闭环，便于说明系统如何从生成能力走向偏好一致的规划能力。</a:t>
            </a:r>
            <a:endParaRPr sz="14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30352" y="256033"/>
            <a:ext cx="1143000" cy="202565"/>
          </a:xfrm>
          <a:prstGeom prst="rect">
            <a:avLst/>
          </a:prstGeom>
          <a:solidFill>
            <a:srgbClr val="1A3C6E"/>
          </a:solidFill>
          <a:ln>
            <a:solidFill>
              <a:srgbClr val="1A3C6E"/>
            </a:solidFill>
          </a:ln>
        </p:spPr>
        <p:txBody>
          <a:bodyPr wrap="square" lIns="27432" tIns="27432" rIns="27432" bIns="27432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lang="zh-CN" alt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附录 </a:t>
            </a:r>
            <a:r>
              <a:rPr lang="en-US" sz="900" b="1" dirty="0">
                <a:solidFill>
                  <a:schemeClr val="bg1"/>
                </a:solidFill>
                <a:latin typeface="Microsoft YaHei UI" panose="020B0503020204020204" pitchFamily="34" charset="-122"/>
              </a:rPr>
              <a:t>J</a:t>
            </a:r>
            <a:endParaRPr sz="900" b="1" dirty="0">
              <a:solidFill>
                <a:schemeClr val="bg1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0352" y="658369"/>
            <a:ext cx="9509760" cy="523875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n-US" altLang="zh-CN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Scene-Adaptive Guidance </a:t>
            </a:r>
            <a:r>
              <a:rPr lang="zh-CN" altLang="en-US" sz="2300" b="1">
                <a:solidFill>
                  <a:srgbClr val="007BC0"/>
                </a:solidFill>
                <a:latin typeface="Microsoft YaHei UI" panose="020B0503020204020204" pitchFamily="34" charset="-122"/>
              </a:rPr>
              <a:t>实验验证与技术储备</a:t>
            </a:r>
            <a:endParaRPr sz="2300" b="1">
              <a:solidFill>
                <a:srgbClr val="007BC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30352" y="1078992"/>
            <a:ext cx="10652760" cy="18288"/>
          </a:xfrm>
          <a:prstGeom prst="rect">
            <a:avLst/>
          </a:prstGeom>
          <a:solidFill>
            <a:srgbClr val="007BC0"/>
          </a:solidFill>
          <a:ln w="63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6350" cap="flat" cmpd="sng" algn="ctr">
                <a:solidFill>
                  <a:srgbClr val="006EAF"/>
                </a:solidFill>
                <a:prstDash val="solid"/>
                <a:miter lim="800000"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0" y="6263641"/>
            <a:ext cx="320040" cy="1471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lang="en-US" sz="900">
                <a:solidFill>
                  <a:srgbClr val="999FA6"/>
                </a:solidFill>
                <a:latin typeface="Microsoft YaHei UI" panose="020B0503020204020204" pitchFamily="34" charset="-122"/>
              </a:rPr>
              <a:t>28</a:t>
            </a:r>
            <a:endParaRPr sz="900">
              <a:solidFill>
                <a:srgbClr val="999FA6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352" y="6263640"/>
            <a:ext cx="3474720" cy="1390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50">
                <a:solidFill>
                  <a:srgbClr val="666666"/>
                </a:solidFill>
                <a:latin typeface="Microsoft YaHei UI" panose="020B0503020204020204" pitchFamily="34" charset="-122"/>
              </a:rPr>
              <a:t>Flow Planner internal innovation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417320"/>
            <a:ext cx="9875520" cy="214828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noAutofit/>
          </a:bodyPr>
          <a:lstStyle/>
          <a:p>
            <a:pPr algn="l">
              <a:spcAft>
                <a:spcPct val="200000"/>
              </a:spcAft>
            </a:pP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对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CFG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引导权重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w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做了系统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grid search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（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w=1.0~3.0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），闭环评估结果：
  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w=1.0: NR=71.2%  |  w=1.8: NR=76.8%  |  w=2.5: NR=80.2%  |  w=3.0: NR=75.8%
 •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最优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w=2.5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比默认值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NR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提升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+9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分，且碰撞率从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25%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降至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8.3%
 • Oracle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自适应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w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（每场景选最优）的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ADE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理论改善达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28%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，说明场景感知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CFG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有显著上界
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当前方案：将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Scene-Adaptive CFG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作为推理增强即插即用模块
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后续方向：结合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特征做场景感知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CFG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权重预测，进一步逼近 </a:t>
            </a:r>
            <a:r>
              <a:rPr lang="en-US" altLang="zh-CN" sz="1300">
                <a:solidFill>
                  <a:srgbClr val="000000"/>
                </a:solidFill>
                <a:latin typeface="Microsoft YaHei UI" panose="020B0503020204020204" pitchFamily="34" charset="-122"/>
              </a:rPr>
              <a:t>oracle </a:t>
            </a:r>
            <a:r>
              <a:rPr lang="zh-CN" altLang="en-US" sz="1300">
                <a:solidFill>
                  <a:srgbClr val="000000"/>
                </a:solidFill>
                <a:latin typeface="Microsoft YaHei UI" panose="020B0503020204020204" pitchFamily="34" charset="-122"/>
              </a:rPr>
              <a:t>上界</a:t>
            </a:r>
            <a:endParaRPr sz="130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41248" y="4142232"/>
            <a:ext cx="9509760" cy="1097280"/>
          </a:xfrm>
          <a:prstGeom prst="roundRect">
            <a:avLst/>
          </a:prstGeom>
          <a:solidFill>
            <a:srgbClr val="F3F7FB"/>
          </a:solidFill>
          <a:ln>
            <a:solidFill>
              <a:srgbClr val="CFDA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688" y="4142232"/>
            <a:ext cx="9326880" cy="363176"/>
          </a:xfrm>
          <a:prstGeom prst="rect">
            <a:avLst/>
          </a:prstGeom>
          <a:noFill/>
        </p:spPr>
        <p:txBody>
          <a:bodyPr wrap="square" lIns="73152" tIns="73152" rIns="73152" bIns="73152" anchor="t">
            <a:noAutofit/>
          </a:bodyPr>
          <a:lstStyle/>
          <a:p>
            <a:pPr algn="l">
              <a:spcAft>
                <a:spcPct val="200000"/>
              </a:spcAft>
            </a:pPr>
            <a:r>
              <a:rPr lang="zh-CN" altLang="en-US" sz="1400">
                <a:solidFill>
                  <a:srgbClr val="000000"/>
                </a:solidFill>
                <a:latin typeface="Microsoft YaHei UI" panose="020B0503020204020204" pitchFamily="34" charset="-122"/>
              </a:rPr>
              <a:t>技术储备价值</a:t>
            </a:r>
            <a:endParaRPr sz="140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453128"/>
            <a:ext cx="9363456" cy="317010"/>
          </a:xfrm>
          <a:prstGeom prst="rect">
            <a:avLst/>
          </a:prstGeom>
          <a:noFill/>
        </p:spPr>
        <p:txBody>
          <a:bodyPr wrap="square" lIns="109728" tIns="73152" rIns="73152" bIns="73152" anchor="t">
            <a:noAutofit/>
          </a:bodyPr>
          <a:lstStyle/>
          <a:p>
            <a:pPr algn="l">
              <a:spcAft>
                <a:spcPct val="200000"/>
              </a:spcAft>
            </a:pPr>
            <a:r>
              <a:rPr lang="en-US" sz="11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 • Scene-Adaptive CFG </a:t>
            </a:r>
            <a:r>
              <a:rPr lang="zh-CN" altLang="en-US" sz="1100">
                <a:solidFill>
                  <a:srgbClr val="000000"/>
                </a:solidFill>
                <a:latin typeface="Microsoft YaHei UI" panose="020B0503020204020204" pitchFamily="34" charset="-122"/>
              </a:rPr>
              <a:t>已验证为零训练成本的高收益推理增强方案
 </a:t>
            </a:r>
            <a:r>
              <a:rPr lang="en-US" altLang="zh-CN" sz="11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• </a:t>
            </a:r>
            <a:r>
              <a:rPr lang="zh-CN" altLang="en-US" sz="11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与 </a:t>
            </a:r>
            <a:r>
              <a:rPr lang="en-US" sz="11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Goal Conditioning + DPO </a:t>
            </a:r>
            <a:r>
              <a:rPr lang="zh-CN" altLang="en-US" sz="1100" dirty="0">
                <a:solidFill>
                  <a:srgbClr val="000000"/>
                </a:solidFill>
                <a:latin typeface="Microsoft YaHei UI" panose="020B0503020204020204" pitchFamily="34" charset="-122"/>
              </a:rPr>
              <a:t>主线互补，共同构成完整的推理优化链路</a:t>
            </a:r>
            <a:endParaRPr sz="1100" dirty="0">
              <a:solidFill>
                <a:srgbClr val="000000"/>
              </a:solidFill>
              <a:latin typeface="Microsoft YaHei UI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thm15="http://schemas.microsoft.com/office/thememl/2012/main" xmlns:a="http://schemas.openxmlformats.org/drawingml/2006/main" name="主题1">
  <a:themeElements>
    <a:clrScheme name="Bosch Blau">
      <a:dk1>
        <a:sysClr val="windowText" lastClr="000000"/>
      </a:dk1>
      <a:lt1>
        <a:sysClr val="window" lastClr="FFFFFF"/>
      </a:lt1>
      <a:dk2>
        <a:srgbClr val="424C58"/>
      </a:dk2>
      <a:lt2>
        <a:srgbClr val="B2B3B5"/>
      </a:lt2>
      <a:accent1>
        <a:srgbClr val="007BC0"/>
      </a:accent1>
      <a:accent2>
        <a:srgbClr val="004975"/>
      </a:accent2>
      <a:accent3>
        <a:srgbClr val="007BC0"/>
      </a:accent3>
      <a:accent4>
        <a:srgbClr val="004975"/>
      </a:accent4>
      <a:accent5>
        <a:srgbClr val="007BC0"/>
      </a:accent5>
      <a:accent6>
        <a:srgbClr val="004975"/>
      </a:accent6>
      <a:hlink>
        <a:srgbClr val="738CB4"/>
      </a:hlink>
      <a:folHlink>
        <a:srgbClr val="B0BBD0"/>
      </a:folHlink>
    </a:clrScheme>
    <a:fontScheme name="Bosch">
      <a:majorFont>
        <a:latin typeface="Bosch Office Sans"/>
        <a:ea typeface=""/>
        <a:cs typeface=""/>
      </a:majorFont>
      <a:minorFont>
        <a:latin typeface="Bosch Offic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3F136C"/>
          </a:solidFill>
          <a:prstDash val="solid"/>
        </a:ln>
      </a:spPr>
      <a:bodyPr rtlCol="0" anchor="ctr"/>
      <a:lstStyle>
        <a:defPPr marL="0" marR="0" indent="0" algn="ctr" defTabSz="91440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0" cap="none" spc="0" normalizeH="0" baseline="0" noProof="0" dirty="0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Bosch Office Sans"/>
            <a:ea typeface="+mn-ea"/>
            <a:cs typeface="+mn-cs"/>
          </a:defRPr>
        </a:defPPr>
      </a:lstStyle>
    </a:spDef>
    <a:txDef>
      <a:spPr>
        <a:noFill/>
      </a:spPr>
      <a:bodyPr wrap="square" lIns="0" tIns="0" rIns="0" bIns="0" rtlCol="0">
        <a:noAutofit/>
      </a:bodyPr>
      <a:lstStyle>
        <a:defPPr marR="0" algn="l" defTabSz="914400" eaLnBrk="1" fontAlgn="auto" latinLnBrk="0" hangingPunct="1">
          <a:spcBef>
            <a:spcPts val="50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0" cap="none" spc="0" normalizeH="0" baseline="0" noProof="0" smtClean="0">
            <a:ln>
              <a:noFill/>
            </a:ln>
            <a:solidFill>
              <a:srgbClr val="000000"/>
            </a:solidFill>
            <a:effectLst/>
            <a:uLnTx/>
            <a:uFillTx/>
          </a:defRPr>
        </a:defPPr>
      </a:lstStyle>
    </a:txDef>
  </a:objectDefaults>
  <a:extraClrSchemeLst/>
  <a:custClrLst>
    <a:custClr name="Bosch Red 50">
      <a:srgbClr val="ED0007"/>
    </a:custClr>
    <a:custClr name="Bosch Purple 40">
      <a:srgbClr val="9E2896"/>
    </a:custClr>
    <a:custClr name="Bosch Purple 20">
      <a:srgbClr val="551151"/>
    </a:custClr>
    <a:custClr name="Bosch Blue 50">
      <a:srgbClr val="007BC0"/>
    </a:custClr>
    <a:custClr name="Bosch Blue 30">
      <a:srgbClr val="004975"/>
    </a:custClr>
    <a:custClr name="Bosch Turquoise 50">
      <a:srgbClr val="18837E"/>
    </a:custClr>
    <a:custClr name="Bosch Turquoise 30">
      <a:srgbClr val="0A4F4B"/>
    </a:custClr>
    <a:custClr name="Bosch Green 50">
      <a:srgbClr val="00884A"/>
    </a:custClr>
    <a:custClr name="Bosch Green 30">
      <a:srgbClr val="00512A"/>
    </a:custClr>
    <a:custClr name="Bosch Gray 50">
      <a:srgbClr val="71767C"/>
    </a:custClr>
  </a:custClrLst>
  <a:extLst>
    <a:ext uri="{05A4C25C-085E-4340-85A3-A5531E510DB2}">
      <thm15:themeFamily xmlns:thm15="http://schemas.microsoft.com/office/thememl/2012/main" name="主题1" id="{6995AF9C-1E58-49AB-BE10-0994AE407CEA}" vid="{70E4A26A-3E7F-4B06-A942-22641FF4EBA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52</TotalTime>
  <Words>6017</Words>
  <Application>Microsoft Office PowerPoint</Application>
  <PresentationFormat>自定义</PresentationFormat>
  <Paragraphs>642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4" baseType="lpstr">
      <vt:lpstr>Microsoft YaHei UI</vt:lpstr>
      <vt:lpstr>Aptos</vt:lpstr>
      <vt:lpstr>Bosch Office Sans</vt:lpstr>
      <vt:lpstr>Symbol</vt:lpstr>
      <vt:lpstr>Wingdings</vt:lpstr>
      <vt:lpstr>主题1</vt:lpstr>
      <vt:lpstr>Flow Planner: 生成式自动驾驶安全规划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自动驾驶规划方法的技术演进</vt:lpstr>
      <vt:lpstr>Diffusion vs Flow Matching：直觉理解</vt:lpstr>
      <vt:lpstr>为什么需要多模态轨迹生成？</vt:lpstr>
      <vt:lpstr>PowerPoint 演示文稿</vt:lpstr>
      <vt:lpstr>PowerPoint 演示文稿</vt:lpstr>
      <vt:lpstr>为什么选择 Flow Matching？</vt:lpstr>
      <vt:lpstr>基线架构：Flow Planner (NeurIPS 2025)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GAO Chao (BCSC/EPA1, XC-AS/ENG-ASW1-CN)</cp:lastModifiedBy>
  <cp:revision>33</cp:revision>
  <dcterms:created xsi:type="dcterms:W3CDTF">2013-01-27T09:14:16Z</dcterms:created>
  <dcterms:modified xsi:type="dcterms:W3CDTF">2026-04-13T04:41:21Z</dcterms:modified>
  <cp:category/>
</cp:coreProperties>
</file>

<file path=docProps/custom.xml><?xml version="1.0" encoding="utf-8"?>
<op:Properties xmlns:vt="http://schemas.openxmlformats.org/officeDocument/2006/docPropsVTypes" xmlns:op="http://schemas.openxmlformats.org/officeDocument/2006/custom-properties">
  <op:property fmtid="{D5CDD505-2E9C-101B-9397-08002B2CF9AE}" pid="2" name="_IPGFID">
    <vt:lpwstr>[DocID]=F7D6F664-0AEC-4662-B21C-973DD11CD278</vt:lpwstr>
  </op:property>
  <op:property fmtid="{D5CDD505-2E9C-101B-9397-08002B2CF9AE}" pid="3" name="_IPGFLOW_P-F403_E-1_FP-1_SP-1_CV-82AFDABF_CN-1ABBF30B">
    <vt:lpwstr>c+0th2aQ5e4sgVyx3nGXEmucKyzu47sMbfxC379Ph3yEsOt5p81jcaAE0vYVKtttOCYPUAdOsPNNoyxRHDEAZo/HZT9//tHGiMA2FDkQOUGC5rz60HKLbKmiDtafyONfQmTgd6bxosuDI5CkX4XVzJVda97jsmUsBpNSTyWXtbdzc1gZ+ixcxDPe964cIVBgv4iBAcf1K9SkYjcEDqiLn/W0I8AZBXxGMiB8UPQTXAl8sUh6BLW/U+0forbGNgV</vt:lpwstr>
  </op:property>
  <op:property fmtid="{D5CDD505-2E9C-101B-9397-08002B2CF9AE}" pid="4" name="_IPGFLOW_P-F403_E-1_FP-1_SP-2_CV-5992B8E6_CN-B45FFCB5">
    <vt:lpwstr>g0eG7c9KWMxl+EIt41JHqkF6AOhIOkbrX5p4dGSkA3NvL7np9Y1zUZ7Amwu2yuw3nStybe1tirq62lH0TXA6zw4wkrnvHU1S//KG1CgUlpTQ=</vt:lpwstr>
  </op:property>
  <op:property fmtid="{D5CDD505-2E9C-101B-9397-08002B2CF9AE}" pid="5" name="_IPGFLOW_P-F403_E-0_FP-1_CV-2D4294F3_CN-DA978F19">
    <vt:lpwstr>DPSPMK|3|364|2|0</vt:lpwstr>
  </op:property>
  <op:property fmtid="{D5CDD505-2E9C-101B-9397-08002B2CF9AE}" pid="6" name="_IPGFLOW_P-F403_E-1_FP-2_SP-1_CV-8095D962_CN-78781ACC">
    <vt:lpwstr>c+0th2aQ5e4sgVyx3nGXEu9a/VSyT9MG+L9M8qPdP3MlP+bDJj1OS5HxvRY/Lx8R5uIISBAs7cwWPHZlDdr96thOcBZWTQlZI+kIYPDlGgdfmFzxJ7rL/dpJrRy0/eXvn5Ec700hmPr5KNFa5T0QQYTWa/kym6WC6u32B/SAFh0DHbfctwDdl6HAr7Hovh6Ag86riA0JjIr2/V0Ecq3PxgBYh5lt+ht7ZsNoYqFIDREwo7bk4zfte5Y0jjNMmzz</vt:lpwstr>
  </op:property>
  <op:property fmtid="{D5CDD505-2E9C-101B-9397-08002B2CF9AE}" pid="7" name="_IPGFLOW_P-F403_E-1_FP-2_SP-2_CV-BDBD97D2_CN-CB907520">
    <vt:lpwstr>P2DQfBr81a9lLOiRgZi+1rI7IYLYRoZadVjuY/0hFe3MNmeskn8JSAhBcaLcMGbPg2i/HizPTP4pTryD10Rei1I8Znv3itNLgPtPjFbTJdOk=</vt:lpwstr>
  </op:property>
  <op:property fmtid="{D5CDD505-2E9C-101B-9397-08002B2CF9AE}" pid="8" name="_IPGFLOW_P-F403_E-0_FP-2_CV-2D4294F3_CN-675DE3D7">
    <vt:lpwstr>DPSPMK|3|364|2|0</vt:lpwstr>
  </op:property>
  <op:property fmtid="{D5CDD505-2E9C-101B-9397-08002B2CF9AE}" pid="9" name="_IPGFLOW_P-F403_E-1_FP-3_SP-1_CV-27B1416A_CN-FB08040B">
    <vt:lpwstr>c+0th2aQ5e4sgVyx3nGXErkkO+B3Oca8y5m4P3kI1A2vvXPzoZpHRbgzkFIct8wlgKe1LtL8xUz4JGwJVcv/cEdHSMmUdiJvdHXtcDvTvne4wWvpzHgXjNuxdWRw4xdmD+HhjiQjsoKn3iaxS17cWX0Yk5AEe3qclgvtrzcCbXxlDHkBQYdQlV6y3CO7R3x8CrrBCDz7FXYYFSoxtbhgJ9KlrDKl59sa8K0H1cMvnxpWGumersk8UfCfoe1SVwG</vt:lpwstr>
  </op:property>
  <op:property fmtid="{D5CDD505-2E9C-101B-9397-08002B2CF9AE}" pid="10" name="_IPGFLOW_P-F403_E-1_FP-3_SP-2_CV-3BD3082B_CN-E5771FCC">
    <vt:lpwstr>pjKo+eYXyN3FBVTRhnvzj0QO27F7tzguMedjq+Tks2uYEOa5p3QaPFisamiYzjWccBo2MTGN8vCUEaQ7E4+U09hurfQLTdnjkajMTctSIotk=</vt:lpwstr>
  </op:property>
  <op:property fmtid="{D5CDD505-2E9C-101B-9397-08002B2CF9AE}" pid="11" name="_IPGFLOW_P-F403_E-0_FP-3_CV-2D4294F3_CN-BACB3A52">
    <vt:lpwstr>DPSPMK|3|364|2|0</vt:lpwstr>
  </op:property>
  <op:property fmtid="{D5CDD505-2E9C-101B-9397-08002B2CF9AE}" pid="12" name="_IPGFLOW_P-F403_E-1_FP-4_SP-1_CV-E87B0EF1_CN-CC6BF73">
    <vt:lpwstr>c+0th2aQ5e4sgVyx3nGXEpxFfCPyf1KtL9/mEBkSG5PhO96Y0kTd/Ke418rwa2zzuZ3VnDx3za6cY3gSGi3an2IUrtSkA0ZRguxg2xqF9sW7Jz7DSwD1qBLhxdB+SwyMDHAV/4fEsNVL+95vs5C0NueiRZQzBIP70zTz/iAU1E7/eAY9Wkgz7NVep3InH1SaJNdm3Vk05iD96syTQeqGd1B+ecJ+7ztvw9BKyWgNzvsW7fSBjzkRlgNV+sGbyiQ</vt:lpwstr>
  </op:property>
  <op:property fmtid="{D5CDD505-2E9C-101B-9397-08002B2CF9AE}" pid="13" name="_IPGFLOW_P-F403_E-1_FP-4_SP-2_CV-2A98B8F4_CN-A742049">
    <vt:lpwstr>9EFluCqt77Bn0xWh5td1Ulc5+O1Wq6u2p9Vo7/3iG3HCrQ7vpweYovnHI0h3EzgtV9DqSqkEPyWc7i+IAmp4L6o45VMRN+y/KkTk57R6LiDIyII0q/dN/qyDdvIuisr1+uzj7OdPM+ZTJFC/BZjmwx1irg8c4b4b8sf/qEy7uyA0=</vt:lpwstr>
  </op:property>
  <op:property fmtid="{D5CDD505-2E9C-101B-9397-08002B2CF9AE}" pid="14" name="_IPGFLOW_P-F403_E-0_FP-4_CV-B684056A_CN-5631518">
    <vt:lpwstr>DPSPMK|3|428|2|0</vt:lpwstr>
  </op:property>
  <op:property fmtid="{D5CDD505-2E9C-101B-9397-08002B2CF9AE}" pid="15" name="_IPGFLOW_P-F403_E-1_FP-5_SP-1_CV-45D229FB_CN-A8331FC5">
    <vt:lpwstr>c+0th2aQ5e4sgVyx3nGXEs4yvbHcP/VOJDMxyakOQexoIeoMLqdJi0AeaBY5bRXbgbwyQjPdPV5nNdIwwmUdBNCOnGcm+Lrt1Y50gEfrP/iMRPsUxwb2eQzE8vxdoEOBVXpxZThRFaS1xjxqE2bZEI3xuilBjc7+6P+/EGBo1/ZVsDkU6j25648846xzLkRGcG8hJWNi/E7Yj7HF0jvWtowAHq7ZJCiZOS0uz8EhIX10DTB7LVOw18YLLDfXli2</vt:lpwstr>
  </op:property>
  <op:property fmtid="{D5CDD505-2E9C-101B-9397-08002B2CF9AE}" pid="16" name="_IPGFLOW_P-F403_E-1_FP-5_SP-2_CV-9D09BC2D_CN-B3E9975E">
    <vt:lpwstr>lQokICmG86EojpWjtr+V80Eegh2XZe7a8ZAoOEQlU45Zl0+I97Q50bA0szVQ8P9LAA0FUrk0Gf4fEgT5vUu255GbCbdly2EvV5Iqs6EY5PMxtZxsrO98u/KvU0egC7fUGphGwHCqx3OnKzqmiH/5qlN7iVL6HVTOMxAtiWMNwJCcDTmFwd7PsUXsbn3fW23phH4IN5fVeVIcjGQsgNsEC+g==</vt:lpwstr>
  </op:property>
  <op:property fmtid="{D5CDD505-2E9C-101B-9397-08002B2CF9AE}" pid="17" name="_IPGFLOW_P-F403_E-0_FP-5_CV-ACF98C78_CN-84985826">
    <vt:lpwstr>DPSPMK|3|472|2|0</vt:lpwstr>
  </op:property>
  <op:property fmtid="{D5CDD505-2E9C-101B-9397-08002B2CF9AE}" pid="18" name="_IPGFLOW_P-F403_E-1_FP-6_SP-1_CV-A16150CD_CN-5512FD1C">
    <vt:lpwstr>c+0th2aQ5e4sgVyx3nGXEs4iNJZVL9Jbg1iS52WfF6CPS4NO/HZfxknq1zJefl9N0MMbVVdNlns7QHzyTgyljYKY2AAThXy4RYEgMyY/cuLbUv7kGZj/rnCuV680p9EqoCiBFczjFA450PHJ8+pG1tnSIGD+MxpkTUBY0fAlbH7Vun0GIIRqRkm8NLiU5ohpCYZEwM6hCCcH+lAA5TQMmvyuYAu4cwdLV4//73FRmUuIn2/7lFM1er9tAgGHvC+</vt:lpwstr>
  </op:property>
  <op:property fmtid="{D5CDD505-2E9C-101B-9397-08002B2CF9AE}" pid="19" name="_IPGFLOW_P-F403_E-1_FP-6_SP-2_CV-16B1F736_CN-FC6D010A">
    <vt:lpwstr>X+Ad6lAXEMuAMwB1boDHrHpLyZpQ1D2SXcPcgbFM+6KFONx43MpZslw3Fao8RYhZTnN1OpUxRY83yqqE3CVeoiAQ9Qq96cv/Fb9bnu2lxvqawBoRH41GSXRYOvWg32IWY4ZsDyIrTJ49wwaoxOoOjVxbosqXJBZb7AWkiKbOpmqOTZhWi8Ica/PO80+W7t1H+OuzqYs4D1O6eC54H0f4LuA==</vt:lpwstr>
  </op:property>
  <op:property fmtid="{D5CDD505-2E9C-101B-9397-08002B2CF9AE}" pid="20" name="_IPGFLOW_P-F403_E-0_FP-6_CV-ACF98C78_CN-395234E8">
    <vt:lpwstr>DPSPMK|3|472|2|0</vt:lpwstr>
  </op:property>
  <op:property fmtid="{D5CDD505-2E9C-101B-9397-08002B2CF9AE}" pid="21" name="_IPGFLOW_P-F403_E-0_CV-8CDF705E_CN-15E37CC9">
    <vt:lpwstr>DPFPMK|3|50|7|0</vt:lpwstr>
  </op:property>
  <op:property fmtid="{D5CDD505-2E9C-101B-9397-08002B2CF9AE}" pid="22" name="_IPGFLOW_P-F403_E-1_FP-7_SP-1_CV-64C95D19_CN-4537FD19">
    <vt:lpwstr>c+0th2aQ5e4sgVyx3nGXEq7xFrNswsyH9LoS8XVitFSnHIpj39J4Rk8TjxusAkmGtJIHt2B2n9HYFJ55wgkeZDn0wk9swtz/gWOzY6laMNGcLG4s4l97uks0NBkhxtWSSw9WxdwJHj+GPLUpcEqYvbldTo6vc0lKd50byfc0OZ5RYiwV9bDafT+qoRFkazLZlZG/uSN18mF5x9MfGP//E4i79hmaq8zLRK4wsoHZY/VHIcqYu9BOOC1I1HxNfmX</vt:lpwstr>
  </op:property>
  <op:property fmtid="{D5CDD505-2E9C-101B-9397-08002B2CF9AE}" pid="23" name="_IPGFLOW_P-F403_E-1_FP-7_SP-2_CV-4695711D_CN-94892B94">
    <vt:lpwstr>qX/e0v7e2NYDoZ5chHkKOMozE7AtA4/Cimgq1zc4dNqeb2VJFK8yXps0eeSCp+pRKuQIxY9WEMEjoNPfR7CvNzMyY80wLJvBczFXTozbMTCs=</vt:lpwstr>
  </op:property>
  <op:property fmtid="{D5CDD505-2E9C-101B-9397-08002B2CF9AE}" pid="24" name="_IPGFLOW_P-F403_E-0_FP-7_CV-2D4294F3_CN-7A7250C4">
    <vt:lpwstr>DPSPMK|3|364|2|0</vt:lpwstr>
  </op:property>
  <op:property fmtid="{D5CDD505-2E9C-101B-9397-08002B2CF9AE}" pid="25" name="_IPGLAB_P-F403_E-1_CV-438C4AF2_CN-8E5B1F8E">
    <vt:lpwstr>6pjvvBNY7rWyDVaj2jNocpFT7g5q25Fnw9qKrDjd13E6YnxcHs00x/McuK9N76O9mkJZ1ZFWoS5fJMhy0XCzmJddTxxnN3atLc156Sw8SMA=</vt:lpwstr>
  </op:property>
</op:Properties>
</file>