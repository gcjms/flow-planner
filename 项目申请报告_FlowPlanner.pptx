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926080"/>
            <a:ext cx="12191695" cy="508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基于 Flow Matching 的自动驾驶运动规划研究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  <a:latin typeface="Microsoft YaHei"/>
              </a:defRPr>
            </a:pPr>
            <a:r>
              <a:t>项目申请报告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Flow Matching-Based Autonomous Driving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with Advanced Interactive Behavior Modeling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参考论文: Flow Planner (NeurIPS 2025)  |  Tan et 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  <a:latin typeface="Microsoft YaHei"/>
              </a:defRPr>
            </a:pPr>
            <a:r>
              <a:t>一、研究背景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2000" b="1">
                <a:solidFill>
                  <a:srgbClr val="00E696"/>
                </a:solidFill>
                <a:latin typeface="Microsoft YaHei"/>
              </a:defRPr>
            </a:pPr>
            <a:r>
              <a:t>🏭 行业需求</a:t>
            </a:r>
          </a:p>
          <a:p>
            <a:pPr>
              <a:spcAft>
                <a:spcPts val="64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• 运动规划是自动驾驶的核心模块</a:t>
            </a:r>
          </a:p>
          <a:p>
            <a:pPr>
              <a:spcAft>
                <a:spcPts val="64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• 需根据周围车辆行为生成安全轨迹</a:t>
            </a:r>
          </a:p>
          <a:p>
            <a:pPr>
              <a:spcAft>
                <a:spcPts val="64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• 传统规则方法难以应对复杂城市交互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46304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2000" b="1">
                <a:solidFill>
                  <a:srgbClr val="FF6B35"/>
                </a:solidFill>
                <a:latin typeface="Microsoft YaHei"/>
              </a:defRPr>
            </a:pPr>
            <a:r>
              <a:t>⚡ 现有方法瓶颈</a:t>
            </a:r>
          </a:p>
          <a:p>
            <a:pPr>
              <a:spcAft>
                <a:spcPts val="64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• 扩散模型推理慢: 需 100+ 步迭代</a:t>
            </a:r>
          </a:p>
          <a:p>
            <a:pPr>
              <a:spcAft>
                <a:spcPts val="64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• 交互建模粗糙: 缺乏精细的邻居感知</a:t>
            </a:r>
          </a:p>
          <a:p>
            <a:pPr>
              <a:spcAft>
                <a:spcPts val="64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• 轨迹表达粗粒度: 直接生成完整轨迹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698480" cy="2560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23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方法对比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4805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回归式 (PlanTF, PLUTO)          → 直接回归轨迹, 难以建模多模态分布</a:t>
            </a:r>
          </a:p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扩散式 (Diffusion Planner)     → DDPM 去噪生成, 效果好但推理慢 (100+步)</a:t>
            </a:r>
          </a:p>
          <a:p>
            <a:pPr>
              <a:spcAft>
                <a:spcPts val="640"/>
              </a:spcAft>
              <a:defRPr sz="1400" b="1">
                <a:solidFill>
                  <a:srgbClr val="00E696"/>
                </a:solidFill>
                <a:latin typeface="Microsoft YaHei"/>
              </a:defRPr>
            </a:pPr>
            <a:r>
              <a:t>流匹配式 (Flow Planner) ✅      → Flow Matching 直线路径, 仅需 4 步, SOTA 性能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  <a:latin typeface="Microsoft YaHei"/>
              </a:defRPr>
            </a:pPr>
            <a:r>
              <a:t>二、理论基础 — Flow Matching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41148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6459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800" b="1">
                <a:solidFill>
                  <a:srgbClr val="00E696"/>
                </a:solidFill>
                <a:latin typeface="Microsoft YaHei"/>
              </a:defRPr>
            </a:pPr>
            <a:r>
              <a:t>核心公式 (CondOT 路径)</a:t>
            </a:r>
          </a:p>
          <a:p>
            <a:pPr>
              <a:spcAft>
                <a:spcPts val="640"/>
              </a:spcAft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x_t = t · x₁ + (1-t) · x₀     其中 x₀ ~ N(0,I) 噪声,  x₁ = 真实轨迹,  t ∈ [0,1]</a:t>
            </a:r>
          </a:p>
          <a:p>
            <a:pPr>
              <a:spcAft>
                <a:spcPts val="640"/>
              </a:spcAft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速度场: v = dx_t/dt = x₁ - x₀  (CondOT 路径下为常数, 即"从噪声到数据的方向")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5029200" cy="32004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8328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📚 训练过程</a:t>
            </a:r>
          </a:p>
          <a:p>
            <a:pPr>
              <a:spcAft>
                <a:spcPts val="64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① 取真实轨迹 x₁</a:t>
            </a:r>
          </a:p>
          <a:p>
            <a:pPr>
              <a:spcAft>
                <a:spcPts val="64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② 采样噪声 x₀ 和时间步 t</a:t>
            </a:r>
          </a:p>
          <a:p>
            <a:pPr>
              <a:spcAft>
                <a:spcPts val="64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③ 插值: x_t = t·x₁ + (1-t)·x₀</a:t>
            </a:r>
          </a:p>
          <a:p>
            <a:pPr>
              <a:spcAft>
                <a:spcPts val="64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④ 网络预测 x₁ (或速度场 v)</a:t>
            </a:r>
          </a:p>
          <a:p>
            <a:pPr>
              <a:spcAft>
                <a:spcPts val="64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⑤ 计算 MSE Loss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291840"/>
            <a:ext cx="5029200" cy="32004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38328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2000" b="1">
                <a:solidFill>
                  <a:srgbClr val="00E696"/>
                </a:solidFill>
                <a:latin typeface="Microsoft YaHei"/>
              </a:defRPr>
            </a:pPr>
            <a:r>
              <a:t>🚀 推理过程</a:t>
            </a:r>
          </a:p>
          <a:p>
            <a:pPr>
              <a:spcAft>
                <a:spcPts val="64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① 从纯噪声 x₀ 出发</a:t>
            </a:r>
          </a:p>
          <a:p>
            <a:pPr>
              <a:spcAft>
                <a:spcPts val="64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② ODE solver 沿速度场积分</a:t>
            </a:r>
          </a:p>
          <a:p>
            <a:pPr>
              <a:spcAft>
                <a:spcPts val="64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③ 仅需 4 步 (midpoint 方法)</a:t>
            </a:r>
          </a:p>
          <a:p>
            <a:pPr>
              <a:spcAft>
                <a:spcPts val="64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④ 到达 t=1 → 生成轨迹 x₁</a:t>
            </a:r>
          </a:p>
          <a:p>
            <a:pPr>
              <a:spcAft>
                <a:spcPts val="640"/>
              </a:spcAft>
              <a:defRPr sz="1500" b="1">
                <a:solidFill>
                  <a:srgbClr val="FF6B35"/>
                </a:solidFill>
                <a:latin typeface="Microsoft YaHei"/>
              </a:defRPr>
            </a:pPr>
            <a:r>
              <a:t>对比: Diffusion 需要 100+ 步!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  <a:latin typeface="Microsoft YaHei"/>
              </a:defRPr>
            </a:pPr>
            <a:r>
              <a:t>二、理论基础 — DiT &amp; CFG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36576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5029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🔧 Diffusion Transformer (DiT)</a:t>
            </a:r>
          </a:p>
          <a:p>
            <a:pPr>
              <a:spcAft>
                <a:spcPts val="640"/>
              </a:spcAft>
              <a:defRPr sz="800" b="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Aft>
                <a:spcPts val="64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对比原版 Transformer 的两个改进:</a:t>
            </a:r>
          </a:p>
          <a:p>
            <a:pPr>
              <a:spcAft>
                <a:spcPts val="640"/>
              </a:spcAft>
              <a:defRPr sz="600" b="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Aft>
                <a:spcPts val="640"/>
              </a:spcAft>
              <a:defRPr sz="1600" b="1">
                <a:solidFill>
                  <a:srgbClr val="00E696"/>
                </a:solidFill>
                <a:latin typeface="Microsoft YaHei"/>
              </a:defRPr>
            </a:pPr>
            <a:r>
              <a:t>① AdaLN (自适应层归一化)</a:t>
            </a:r>
          </a:p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   γ, β 由条件向量动态生成</a:t>
            </a:r>
          </a:p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   (而非固定参数)</a:t>
            </a:r>
          </a:p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   → 不同时间步/条件 产生不同归一化</a:t>
            </a:r>
          </a:p>
          <a:p>
            <a:pPr>
              <a:spcAft>
                <a:spcPts val="640"/>
              </a:spcAft>
              <a:defRPr sz="600" b="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Aft>
                <a:spcPts val="640"/>
              </a:spcAft>
              <a:defRPr sz="1600" b="1">
                <a:solidFill>
                  <a:srgbClr val="00E696"/>
                </a:solidFill>
                <a:latin typeface="Microsoft YaHei"/>
              </a:defRPr>
            </a:pPr>
            <a:r>
              <a:t>② Gate 门控机制</a:t>
            </a:r>
          </a:p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   output = x + gate(cond) × sublayer(x)</a:t>
            </a:r>
          </a:p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   → 条件动态控制每层贡献量</a:t>
            </a:r>
          </a:p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   → 初始化 gate≈1, 接近恒等映射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5029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46304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2000" b="1">
                <a:solidFill>
                  <a:srgbClr val="7B2FF7"/>
                </a:solidFill>
                <a:latin typeface="Microsoft YaHei"/>
              </a:defRPr>
            </a:pPr>
            <a:r>
              <a:t>🎯 Classifier-Free Guidance</a:t>
            </a:r>
          </a:p>
          <a:p>
            <a:pPr>
              <a:spcAft>
                <a:spcPts val="640"/>
              </a:spcAft>
              <a:defRPr sz="800" b="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Aft>
                <a:spcPts val="640"/>
              </a:spcAft>
              <a:defRPr sz="1600" b="1">
                <a:solidFill>
                  <a:srgbClr val="FF6B35"/>
                </a:solidFill>
                <a:latin typeface="Microsoft YaHei"/>
              </a:defRPr>
            </a:pPr>
            <a:r>
              <a:t>训练时:</a:t>
            </a:r>
          </a:p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  30% 概率掩码邻居信息 → cfg_flags=0</a:t>
            </a:r>
          </a:p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  70% 概率保留完整信息 → cfg_flags=1</a:t>
            </a:r>
          </a:p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  同一网络学会两种模式</a:t>
            </a:r>
          </a:p>
          <a:p>
            <a:pPr>
              <a:spcAft>
                <a:spcPts val="640"/>
              </a:spcAft>
              <a:defRPr sz="800" b="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Aft>
                <a:spcPts val="640"/>
              </a:spcAft>
              <a:defRPr sz="1600" b="1">
                <a:solidFill>
                  <a:srgbClr val="FF6B35"/>
                </a:solidFill>
                <a:latin typeface="Microsoft YaHei"/>
              </a:defRPr>
            </a:pPr>
            <a:r>
              <a:t>推理时:</a:t>
            </a:r>
          </a:p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  同时跑有条件+无条件</a:t>
            </a:r>
          </a:p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  v = (1-w)·v_uncond + w·v_cond</a:t>
            </a:r>
          </a:p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  w=1.8: 增强对邻居的避让/跟车</a:t>
            </a:r>
          </a:p>
          <a:p>
            <a:pPr>
              <a:spcAft>
                <a:spcPts val="640"/>
              </a:spcAft>
              <a:defRPr sz="800" b="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Aft>
                <a:spcPts val="640"/>
              </a:spcAft>
              <a:defRPr sz="1400" b="1">
                <a:solidFill>
                  <a:srgbClr val="00E696"/>
                </a:solidFill>
                <a:latin typeface="Microsoft YaHei"/>
              </a:defRPr>
            </a:pPr>
            <a:r>
              <a:t>本质: 放大"看到邻居"带来的影响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  <a:latin typeface="Microsoft YaHei"/>
              </a:defRPr>
            </a:pPr>
            <a:r>
              <a:t>三、Flow Planner 架构与创新点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50292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13716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800" b="1">
                <a:solidFill>
                  <a:srgbClr val="00E696"/>
                </a:solidFill>
                <a:latin typeface="Microsoft YaHei"/>
              </a:defRPr>
            </a:pPr>
            <a:r>
              <a:t>整体流程</a:t>
            </a:r>
          </a:p>
          <a:p>
            <a:pPr>
              <a:spcAft>
                <a:spcPts val="640"/>
              </a:spcAft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场景数据 → Encoder(邻居/车道/路由) → 场景Tokens + 条件 → Decoder(DiT×4层) → ODE(4步) → 8秒轨迹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3474720" cy="36576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创新1: 细粒度轨迹Token化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• 80帧(8s)切分为7个Token</a:t>
            </a:r>
          </a:p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• 每个Token: 20帧(2s)</a:t>
            </a:r>
          </a:p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• 重叠10帧</a:t>
            </a:r>
          </a:p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• 推理时平均组装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926080"/>
            <a:ext cx="3474720" cy="36576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3017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2FF7"/>
                </a:solidFill>
                <a:latin typeface="Microsoft YaHei"/>
              </a:defRPr>
            </a:pPr>
            <a:r>
              <a:t>创新2: 多模态Joint Attention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56616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• 3种模态联合注意力</a:t>
            </a:r>
          </a:p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• 邻居37 + 车道70 + 轨迹7</a:t>
            </a:r>
          </a:p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• 投影到统一维度做attention</a:t>
            </a:r>
          </a:p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• 距离感知bias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926080"/>
            <a:ext cx="3474720" cy="36576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3017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Microsoft YaHei"/>
              </a:defRPr>
            </a:pPr>
            <a:r>
              <a:t>创新3: Flow Matching + CFG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56616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• 仅需4步推理(vs 100+步)</a:t>
            </a:r>
          </a:p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• CFG权重w=1.8</a:t>
            </a:r>
          </a:p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• 仅掩码最近10个邻居</a:t>
            </a:r>
          </a:p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• Midpoint ODE求解器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  <a:latin typeface="Microsoft YaHei"/>
              </a:defRPr>
            </a:pPr>
            <a:r>
              <a:t>四、性能表现 (NeurIPS 2025)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45720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6858000" cy="5029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Microsoft YaHei"/>
              </a:defRPr>
            </a:pPr>
            <a:r>
              <a:t>nuPlan 闭环测试 (Learning-based SOTA)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201168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  <a:gridCol w="128016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PlanTF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PLUTO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Diff.Planner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Flow Planner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Val14 NR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84.72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88.89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89.87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696"/>
                          </a:solidFill>
                          <a:latin typeface="Microsoft YaHei"/>
                        </a:defRPr>
                      </a:pPr>
                      <a:r>
                        <a:t>90.43 ✅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Val14 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76.95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78.11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82.80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696"/>
                          </a:solidFill>
                          <a:latin typeface="Microsoft YaHei"/>
                        </a:defRPr>
                      </a:pPr>
                      <a:r>
                        <a:t>83.31 ✅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Test14-hard NR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69.70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70.03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75.99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696"/>
                          </a:solidFill>
                          <a:latin typeface="Microsoft YaHei"/>
                        </a:defRPr>
                      </a:pPr>
                      <a:r>
                        <a:t>76.47 ✅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Test14-hard 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61.61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59.74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69.22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696"/>
                          </a:solidFill>
                          <a:latin typeface="Microsoft YaHei"/>
                        </a:defRPr>
                      </a:pPr>
                      <a:r>
                        <a:t>70.42 ✅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046720" y="1371600"/>
            <a:ext cx="3383280" cy="5029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46304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800" b="1">
                <a:solidFill>
                  <a:srgbClr val="7B2FF7"/>
                </a:solidFill>
                <a:latin typeface="Microsoft YaHei"/>
              </a:defRPr>
            </a:pPr>
            <a:r>
              <a:t>InterPlan 基准</a:t>
            </a:r>
          </a:p>
          <a:p>
            <a:pPr>
              <a:spcAft>
                <a:spcPts val="640"/>
              </a:spcAft>
              <a:defRPr sz="800" b="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Aft>
                <a:spcPts val="640"/>
              </a:spcAft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Diff. Planner: 52.90</a:t>
            </a:r>
          </a:p>
          <a:p>
            <a:pPr>
              <a:spcAft>
                <a:spcPts val="640"/>
              </a:spcAft>
              <a:defRPr sz="1600" b="1">
                <a:solidFill>
                  <a:srgbClr val="00E696"/>
                </a:solidFill>
                <a:latin typeface="Microsoft YaHei"/>
              </a:defRPr>
            </a:pPr>
            <a:r>
              <a:t>Flow Planner: 61.82 ✅</a:t>
            </a:r>
          </a:p>
          <a:p>
            <a:pPr>
              <a:spcAft>
                <a:spcPts val="640"/>
              </a:spcAft>
              <a:defRPr sz="800" b="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Aft>
                <a:spcPts val="640"/>
              </a:spcAft>
              <a:defRPr sz="2000" b="1">
                <a:solidFill>
                  <a:srgbClr val="FF6B35"/>
                </a:solidFill>
                <a:latin typeface="Microsoft YaHei"/>
              </a:defRPr>
            </a:pPr>
            <a:r>
              <a:t>提升 +16.9%</a:t>
            </a:r>
          </a:p>
          <a:p>
            <a:pPr>
              <a:spcAft>
                <a:spcPts val="640"/>
              </a:spcAft>
              <a:defRPr sz="800" b="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在复杂交互场景中</a:t>
            </a:r>
          </a:p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(超车、行人横穿等)</a:t>
            </a:r>
          </a:p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表现显著优于现有方法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  <a:latin typeface="Microsoft YaHei"/>
              </a:defRPr>
            </a:pPr>
            <a:r>
              <a:t>五、研究计划 (10个月)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36576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645920" cy="8229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第1-2月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基础搭建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1600200"/>
            <a:ext cx="36576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26080" y="1280160"/>
            <a:ext cx="8503920" cy="8229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50876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数据预处理 + 基线复现  •  nuPlan全量数据处理  •  Val14 NR≥90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31720"/>
            <a:ext cx="1645920" cy="8229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3774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B2FF7"/>
                </a:solidFill>
                <a:latin typeface="Microsoft YaHei"/>
              </a:defRPr>
            </a:pPr>
            <a:r>
              <a:t>第3-4月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理论深化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2651760"/>
            <a:ext cx="365760" cy="38100"/>
          </a:xfrm>
          <a:prstGeom prst="round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26080" y="2331720"/>
            <a:ext cx="8503920" cy="8229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25603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Flow Matching前沿调研  •  不同ODE路径消融实验  •  CFG多维度探索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83280"/>
            <a:ext cx="1645920" cy="8229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4290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96"/>
                </a:solidFill>
                <a:latin typeface="Microsoft YaHei"/>
              </a:defRPr>
            </a:pPr>
            <a:r>
              <a:t>第5-7月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490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模型改进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68880" y="3703320"/>
            <a:ext cx="365760" cy="38100"/>
          </a:xfrm>
          <a:prstGeom prst="round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926080" y="3383280"/>
            <a:ext cx="8503920" cy="8229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361188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改进Encoder结构  •  自适应ODE步数策略  •  安全约束引入  •  InterPlan验证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434839"/>
            <a:ext cx="1645920" cy="8229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48055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35"/>
                </a:solidFill>
                <a:latin typeface="Microsoft YaHei"/>
              </a:defRPr>
            </a:pPr>
            <a:r>
              <a:t>第8-9月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80059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部署优化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68880" y="4754879"/>
            <a:ext cx="365760" cy="381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926080" y="4434839"/>
            <a:ext cx="8503920" cy="8229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466343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模型轻量化(蒸馏/剪枝)  •  TensorRT推理加速  •  仿真环境集成测试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486400"/>
            <a:ext cx="1645920" cy="8229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532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第10月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852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总结发表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68880" y="5806440"/>
            <a:ext cx="365760" cy="3810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926080" y="5486400"/>
            <a:ext cx="8503920" cy="8229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0" y="57150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论文撰写投稿  •  开源代码和权重  •  项目结题报告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  <a:latin typeface="Microsoft YaHei"/>
              </a:defRPr>
            </a:pPr>
            <a:r>
              <a:t>六、资源需求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2743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💻 计算资源</a:t>
            </a:r>
          </a:p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• A100/A800 × 4-8卡: 模型训练 (5-10万/年)</a:t>
            </a:r>
          </a:p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• RTX 4090 × 1-2卡: 日常开发 (2-4万)</a:t>
            </a:r>
          </a:p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• SSD 4TB+: 数据存储 (约3000元)</a:t>
            </a:r>
          </a:p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• 32核 64GB CPU: 数据预处理 (约1万/年)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2743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46304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2000" b="1">
                <a:solidFill>
                  <a:srgbClr val="00E696"/>
                </a:solidFill>
                <a:latin typeface="Microsoft YaHei"/>
              </a:defRPr>
            </a:pPr>
            <a:r>
              <a:t>📊 数据资源</a:t>
            </a:r>
          </a:p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• nuPlan: 1500h驾驶, 4个城市 (主要)</a:t>
            </a:r>
          </a:p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• InterPlan: 挑战性交互场景 (测试)</a:t>
            </a:r>
          </a:p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• nuScenes: 1000场景 (可选泛化)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5029200" cy="21031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4805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2000" b="1">
                <a:solidFill>
                  <a:srgbClr val="7B2FF7"/>
                </a:solidFill>
                <a:latin typeface="Microsoft YaHei"/>
              </a:defRPr>
            </a:pPr>
            <a:r>
              <a:t>👥 人力资源</a:t>
            </a:r>
          </a:p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• 研究生/博士生 1-2人: 核心算法研究</a:t>
            </a:r>
          </a:p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• 指导教师 1人: 方向指导</a:t>
            </a:r>
          </a:p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• 工程支持 1人 (可选): 部署优化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389120"/>
            <a:ext cx="5029200" cy="21031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44805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2000" b="1">
                <a:solidFill>
                  <a:srgbClr val="FF6B35"/>
                </a:solidFill>
                <a:latin typeface="Microsoft YaHei"/>
              </a:defRPr>
            </a:pPr>
            <a:r>
              <a:t>🎯 预期成果</a:t>
            </a:r>
          </a:p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• 顶会论文 1-2篇 (NeurIPS/CVPR等)</a:t>
            </a:r>
          </a:p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• nuPlan Val14 NR ≥ 91</a:t>
            </a:r>
          </a:p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• InterPlan Overall ≥ 65</a:t>
            </a:r>
          </a:p>
          <a:p>
            <a:pPr>
              <a:spcAft>
                <a:spcPts val="64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• 推理延迟 ≤ 50ms (满足20Hz)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0"/>
            <a:ext cx="12191695" cy="50800"/>
          </a:xfrm>
          <a:prstGeom prst="round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谢谢!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B2FF7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2200" b="1">
                <a:solidFill>
                  <a:srgbClr val="00D2FF"/>
                </a:solidFill>
                <a:latin typeface="Microsoft YaHei"/>
              </a:defRPr>
            </a:pPr>
            <a:r>
              <a:t>核心优势总结</a:t>
            </a:r>
          </a:p>
          <a:p>
            <a:pPr>
              <a:spcAft>
                <a:spcPts val="640"/>
              </a:spcAft>
              <a:defRPr sz="800" b="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Aft>
                <a:spcPts val="640"/>
              </a:spcAft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✅ Flow Matching 替代 Diffusion — 推理速度提升数十倍 (4步 vs 100+步)</a:t>
            </a:r>
          </a:p>
          <a:p>
            <a:pPr>
              <a:spcAft>
                <a:spcPts val="640"/>
              </a:spcAft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✅ 多模态 Joint Attention — 增强车辆-车道-轨迹的交互建模</a:t>
            </a:r>
          </a:p>
          <a:p>
            <a:pPr>
              <a:spcAft>
                <a:spcPts val="640"/>
              </a:spcAft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✅ CFG 引导机制 — 动态增强对周围环境的响应</a:t>
            </a:r>
          </a:p>
          <a:p>
            <a:pPr>
              <a:spcAft>
                <a:spcPts val="640"/>
              </a:spcAft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✅ 细粒度轨迹 Token — 更精细的时间窗口建模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